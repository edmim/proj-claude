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charts/chart1.xml" ContentType="application/vnd.openxmlformats-officedocument.drawingml.chart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.xml" ContentType="application/vnd.openxmlformats-officedocument.presentationml.notesSlide+xml"/>
  <Override PartName="/ppt/tags/tag40.xml" ContentType="application/vnd.openxmlformats-officedocument.presentationml.tags+xml"/>
  <Override PartName="/ppt/notesSlides/notesSlide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5.xml" ContentType="application/vnd.openxmlformats-officedocument.presentationml.notesSlid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notesSlides/notesSlide6.xml" ContentType="application/vnd.openxmlformats-officedocument.presentationml.notesSlide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7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notesSlides/notesSlide8.xml" ContentType="application/vnd.openxmlformats-officedocument.presentationml.notesSlide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notesSlides/notesSlide9.xml" ContentType="application/vnd.openxmlformats-officedocument.presentationml.notesSlide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charts/chart2.xml" ContentType="application/vnd.openxmlformats-officedocument.drawingml.chart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charts/chart3.xml" ContentType="application/vnd.openxmlformats-officedocument.drawingml.chart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charts/chart4.xml" ContentType="application/vnd.openxmlformats-officedocument.drawingml.chart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charts/chart5.xml" ContentType="application/vnd.openxmlformats-officedocument.drawingml.chart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charts/chart6.xml" ContentType="application/vnd.openxmlformats-officedocument.drawingml.chart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0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3.xml" ContentType="application/vnd.openxmlformats-officedocument.drawingml.chart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14.xml" ContentType="application/vnd.openxmlformats-officedocument.drawingml.chart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charts/chart15.xml" ContentType="application/vnd.openxmlformats-officedocument.drawingml.chart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charts/chart16.xml" ContentType="application/vnd.openxmlformats-officedocument.drawingml.chart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charts/chart17.xml" ContentType="application/vnd.openxmlformats-officedocument.drawingml.chart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18.xml" ContentType="application/vnd.openxmlformats-officedocument.drawingml.chart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4"/>
  </p:notesMasterIdLst>
  <p:handoutMasterIdLst>
    <p:handoutMasterId r:id="rId65"/>
  </p:handoutMasterIdLst>
  <p:sldIdLst>
    <p:sldId id="2141413490" r:id="rId5"/>
    <p:sldId id="2141413491" r:id="rId6"/>
    <p:sldId id="2141413492" r:id="rId7"/>
    <p:sldId id="2141413414" r:id="rId8"/>
    <p:sldId id="2141413223" r:id="rId9"/>
    <p:sldId id="2141413409" r:id="rId10"/>
    <p:sldId id="2141413225" r:id="rId11"/>
    <p:sldId id="2141413472" r:id="rId12"/>
    <p:sldId id="2141413228" r:id="rId13"/>
    <p:sldId id="2141413377" r:id="rId14"/>
    <p:sldId id="2141413229" r:id="rId15"/>
    <p:sldId id="2141413230" r:id="rId16"/>
    <p:sldId id="2141413410" r:id="rId17"/>
    <p:sldId id="2141413379" r:id="rId18"/>
    <p:sldId id="2141413415" r:id="rId19"/>
    <p:sldId id="2141413235" r:id="rId20"/>
    <p:sldId id="2141413236" r:id="rId21"/>
    <p:sldId id="2141413411" r:id="rId22"/>
    <p:sldId id="2141413372" r:id="rId23"/>
    <p:sldId id="2141413412" r:id="rId24"/>
    <p:sldId id="2141413366" r:id="rId25"/>
    <p:sldId id="2141413373" r:id="rId26"/>
    <p:sldId id="2141413482" r:id="rId27"/>
    <p:sldId id="2141413381" r:id="rId28"/>
    <p:sldId id="2141413493" r:id="rId29"/>
    <p:sldId id="2141413494" r:id="rId30"/>
    <p:sldId id="2141413495" r:id="rId31"/>
    <p:sldId id="2141413496" r:id="rId32"/>
    <p:sldId id="2141413497" r:id="rId33"/>
    <p:sldId id="2141413498" r:id="rId34"/>
    <p:sldId id="2141413499" r:id="rId35"/>
    <p:sldId id="2141413500" r:id="rId36"/>
    <p:sldId id="2141413501" r:id="rId37"/>
    <p:sldId id="2141413502" r:id="rId38"/>
    <p:sldId id="2141413503" r:id="rId39"/>
    <p:sldId id="2141413504" r:id="rId40"/>
    <p:sldId id="2141413505" r:id="rId41"/>
    <p:sldId id="2141413506" r:id="rId42"/>
    <p:sldId id="2141413507" r:id="rId43"/>
    <p:sldId id="2141413508" r:id="rId44"/>
    <p:sldId id="2141413509" r:id="rId45"/>
    <p:sldId id="2141413510" r:id="rId46"/>
    <p:sldId id="2141413511" r:id="rId47"/>
    <p:sldId id="2141413512" r:id="rId48"/>
    <p:sldId id="2141413513" r:id="rId49"/>
    <p:sldId id="2141413514" r:id="rId50"/>
    <p:sldId id="2141413515" r:id="rId51"/>
    <p:sldId id="2141413516" r:id="rId52"/>
    <p:sldId id="2141413517" r:id="rId53"/>
    <p:sldId id="2141413518" r:id="rId54"/>
    <p:sldId id="2141413519" r:id="rId55"/>
    <p:sldId id="2141413520" r:id="rId56"/>
    <p:sldId id="2141413521" r:id="rId57"/>
    <p:sldId id="2141413522" r:id="rId58"/>
    <p:sldId id="2141413523" r:id="rId59"/>
    <p:sldId id="2141413524" r:id="rId60"/>
    <p:sldId id="2141413525" r:id="rId61"/>
    <p:sldId id="2141413400" r:id="rId62"/>
    <p:sldId id="2141413526" r:id="rId63"/>
  </p:sldIdLst>
  <p:sldSz cx="12192000" cy="6858000"/>
  <p:notesSz cx="6858000" cy="9144000"/>
  <p:custDataLst>
    <p:tags r:id="rId6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4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91C6F7"/>
    <a:srgbClr val="E6E6E6"/>
    <a:srgbClr val="257CCA"/>
    <a:srgbClr val="F7F7F7"/>
    <a:srgbClr val="C8E3FB"/>
    <a:srgbClr val="7F7F7F"/>
    <a:srgbClr val="083763"/>
    <a:srgbClr val="F2F2F2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6" autoAdjust="0"/>
    <p:restoredTop sz="94660"/>
  </p:normalViewPr>
  <p:slideViewPr>
    <p:cSldViewPr snapToGrid="0">
      <p:cViewPr varScale="1">
        <p:scale>
          <a:sx n="81" d="100"/>
          <a:sy n="81" d="100"/>
        </p:scale>
        <p:origin x="379" y="34"/>
      </p:cViewPr>
      <p:guideLst>
        <p:guide orient="horz" pos="709"/>
        <p:guide pos="41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gs" Target="tags/tag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4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5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6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7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8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250145433391506E-2"/>
          <c:y val="9.9047619047619051E-2"/>
          <c:w val="0.93949970913321701"/>
          <c:h val="0.8019047619047619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78C-44C3-B99A-079B5141F139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78C-44C3-B99A-079B5141F139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50</c:v>
                </c:pt>
                <c:pt idx="1">
                  <c:v>33</c:v>
                </c:pt>
                <c:pt idx="2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8C-44C3-B99A-079B5141F139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78C-44C3-B99A-079B5141F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95855407"/>
        <c:axId val="1"/>
      </c:barChart>
      <c:catAx>
        <c:axId val="17958554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95855407"/>
        <c:crosses val="min"/>
        <c:crossBetween val="between"/>
      </c:valAx>
    </c:plotArea>
    <c:plotVisOnly val="0"/>
    <c:dispBlanksAs val="gap"/>
    <c:showDLblsOverMax val="1"/>
  </c:chart>
  <c:txPr>
    <a:bodyPr/>
    <a:lstStyle/>
    <a:p>
      <a:pPr>
        <a:defRPr>
          <a:latin typeface="Segoe UI" panose="020B0502040204020203" pitchFamily="34" charset="0"/>
          <a:cs typeface="Segoe UI" panose="020B0502040204020203" pitchFamily="34" charset="0"/>
        </a:defRPr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693092888737664E-2"/>
          <c:y val="1.9316493313521546E-2"/>
          <c:w val="0.96461381422252468"/>
          <c:h val="0.9613670133729568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FBFBF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BFBFB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CAFE-4BC8-BE05-DA2BB6648127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54FA-41D2-9EDF-928688989F79}"/>
              </c:ext>
            </c:extLst>
          </c:dPt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4FA-41D2-9EDF-928688989F79}"/>
              </c:ext>
            </c:extLst>
          </c:dPt>
          <c:dPt>
            <c:idx val="3"/>
            <c:invertIfNegative val="0"/>
            <c:bubble3D val="0"/>
            <c:spPr>
              <a:solidFill>
                <a:srgbClr val="BFBFB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CAFE-4BC8-BE05-DA2BB6648127}"/>
              </c:ext>
            </c:extLst>
          </c:dPt>
          <c:val>
            <c:numRef>
              <c:f>Sheet1!$A$1:$D$1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FE-4BC8-BE05-DA2BB6648127}"/>
            </c:ext>
          </c:extLst>
        </c:ser>
        <c:ser>
          <c:idx val="1"/>
          <c:order val="1"/>
          <c:spPr>
            <a:solidFill>
              <a:srgbClr val="BFBFBF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1">
                  <c:v>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AFE-4BC8-BE05-DA2BB66481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89671088"/>
        <c:axId val="1"/>
      </c:barChart>
      <c:catAx>
        <c:axId val="18967108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967108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636121906320311E-2"/>
          <c:y val="1.9316493313521546E-2"/>
          <c:w val="0.97872775618735941"/>
          <c:h val="0.96136701337295694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F7F7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16C-4A34-ABE5-789214CFF99E}"/>
              </c:ext>
            </c:extLst>
          </c:dPt>
          <c:dPt>
            <c:idx val="3"/>
            <c:invertIfNegative val="0"/>
            <c:bubble3D val="0"/>
            <c:spPr>
              <a:solidFill>
                <a:srgbClr val="7F7F7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16C-4A34-ABE5-789214CFF99E}"/>
              </c:ext>
            </c:extLst>
          </c:dPt>
          <c:val>
            <c:numRef>
              <c:f>Sheet1!$A$1:$D$1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6C-4A34-ABE5-789214CFF99E}"/>
            </c:ext>
          </c:extLst>
        </c:ser>
        <c:ser>
          <c:idx val="1"/>
          <c:order val="1"/>
          <c:spPr>
            <a:solidFill>
              <a:srgbClr val="7F7F7F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1">
                  <c:v>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6C-4A34-ABE5-789214CFF9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452703215"/>
        <c:axId val="1"/>
      </c:barChart>
      <c:catAx>
        <c:axId val="4527032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527032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280098280098278E-3"/>
          <c:y val="2.2118247554232241E-2"/>
          <c:w val="0.98034398034398029"/>
          <c:h val="0.95193534666099533"/>
        </c:manualLayout>
      </c:layout>
      <c:bubbleChart>
        <c:varyColors val="0"/>
        <c:ser>
          <c:idx val="0"/>
          <c:order val="0"/>
          <c:spPr>
            <a:solidFill>
              <a:srgbClr val="D9D9D9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6DE-4682-AF5A-81C4D0FE4EF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6DE-4682-AF5A-81C4D0FE4EF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A6DE-4682-AF5A-81C4D0FE4EF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6DE-4682-AF5A-81C4D0FE4EF4}"/>
              </c:ext>
            </c:extLst>
          </c:dPt>
          <c:dPt>
            <c:idx val="4"/>
            <c:invertIfNegative val="0"/>
            <c:bubble3D val="0"/>
            <c:spPr>
              <a:solidFill>
                <a:srgbClr val="BFBFB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A6DE-4682-AF5A-81C4D0FE4EF4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6DE-4682-AF5A-81C4D0FE4EF4}"/>
              </c:ext>
            </c:extLst>
          </c:dPt>
          <c:dPt>
            <c:idx val="6"/>
            <c:invertIfNegative val="0"/>
            <c:bubble3D val="0"/>
            <c:spPr>
              <a:solidFill>
                <a:srgbClr val="BFBFB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A6DE-4682-AF5A-81C4D0FE4EF4}"/>
              </c:ext>
            </c:extLst>
          </c:dPt>
          <c:dLbls>
            <c:dLbl>
              <c:idx val="0"/>
              <c:layout>
                <c:manualLayout>
                  <c:x val="-1.323001323001323E-3"/>
                  <c:y val="-4.25350914504466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+mn-ea"/>
                      <a:cs typeface="+mn-cs"/>
                      <a:sym typeface="Calibri"/>
                    </a:defRPr>
                  </a:pPr>
                  <a:endParaRPr lang="pt-B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6DE-4682-AF5A-81C4D0FE4EF4}"/>
                </c:ext>
              </c:extLst>
            </c:dLbl>
            <c:dLbl>
              <c:idx val="1"/>
              <c:layout>
                <c:manualLayout>
                  <c:x val="2.0790020790020791E-3"/>
                  <c:y val="-6.805614632071459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6DE-4682-AF5A-81C4D0FE4EF4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+mn-ea"/>
                      <a:cs typeface="+mn-cs"/>
                      <a:sym typeface="Calibri"/>
                    </a:defRPr>
                  </a:pPr>
                  <a:endParaRPr lang="pt-B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6DE-4682-AF5A-81C4D0FE4EF4}"/>
                </c:ext>
              </c:extLst>
            </c:dLbl>
            <c:dLbl>
              <c:idx val="3"/>
              <c:layout>
                <c:manualLayout>
                  <c:x val="-1.7010017010017011E-3"/>
                  <c:y val="-4.678860059549127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6DE-4682-AF5A-81C4D0FE4EF4}"/>
                </c:ext>
              </c:extLst>
            </c:dLbl>
            <c:dLbl>
              <c:idx val="4"/>
              <c:layout>
                <c:manualLayout>
                  <c:x val="0"/>
                  <c:y val="4.551254785197788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+mn-ea"/>
                      <a:cs typeface="+mn-cs"/>
                      <a:sym typeface="Calibri"/>
                    </a:defRPr>
                  </a:pPr>
                  <a:endParaRPr lang="pt-B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6DE-4682-AF5A-81C4D0FE4EF4}"/>
                </c:ext>
              </c:extLst>
            </c:dLbl>
            <c:dLbl>
              <c:idx val="5"/>
              <c:layout>
                <c:manualLayout>
                  <c:x val="2.7027027027027029E-2"/>
                  <c:y val="2.849851127179923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+mn-ea"/>
                      <a:cs typeface="+mn-cs"/>
                      <a:sym typeface="Calibri"/>
                    </a:defRPr>
                  </a:pPr>
                  <a:endParaRPr lang="pt-B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A6DE-4682-AF5A-81C4D0FE4EF4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+mn-ea"/>
                      <a:cs typeface="+mn-cs"/>
                      <a:sym typeface="Calibri"/>
                    </a:defRPr>
                  </a:pPr>
                  <a:endParaRPr lang="pt-B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A6DE-4682-AF5A-81C4D0FE4EF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Sheet1!$A$1:$A$8</c:f>
              <c:numCache>
                <c:formatCode>General</c:formatCode>
                <c:ptCount val="8"/>
                <c:pt idx="0">
                  <c:v>5.9479553903345694</c:v>
                </c:pt>
                <c:pt idx="1">
                  <c:v>1.8518518518518601</c:v>
                </c:pt>
                <c:pt idx="2">
                  <c:v>8.9230769230769234</c:v>
                </c:pt>
                <c:pt idx="3">
                  <c:v>9.2436974789915851</c:v>
                </c:pt>
                <c:pt idx="4">
                  <c:v>10.753138075313817</c:v>
                </c:pt>
                <c:pt idx="5">
                  <c:v>8.1081081081081141</c:v>
                </c:pt>
                <c:pt idx="6">
                  <c:v>11.39931740614335</c:v>
                </c:pt>
              </c:numCache>
            </c:numRef>
          </c:xVal>
          <c:yVal>
            <c:numRef>
              <c:f>Sheet1!$B$1:$B$8</c:f>
              <c:numCache>
                <c:formatCode>General</c:formatCode>
                <c:ptCount val="8"/>
                <c:pt idx="0">
                  <c:v>7.0000000000000009</c:v>
                </c:pt>
                <c:pt idx="1">
                  <c:v>5.6000000000000005</c:v>
                </c:pt>
                <c:pt idx="2">
                  <c:v>12.4</c:v>
                </c:pt>
                <c:pt idx="3">
                  <c:v>8.3000000000000007</c:v>
                </c:pt>
                <c:pt idx="4">
                  <c:v>7.5</c:v>
                </c:pt>
                <c:pt idx="5">
                  <c:v>3.3000000000000003</c:v>
                </c:pt>
                <c:pt idx="6">
                  <c:v>11.5</c:v>
                </c:pt>
              </c:numCache>
            </c:numRef>
          </c:yVal>
          <c:bubbleSize>
            <c:numRef>
              <c:f>Sheet1!$C$1:$C$8</c:f>
              <c:numCache>
                <c:formatCode>General</c:formatCode>
                <c:ptCount val="8"/>
                <c:pt idx="0">
                  <c:v>28.5</c:v>
                </c:pt>
                <c:pt idx="1">
                  <c:v>22</c:v>
                </c:pt>
                <c:pt idx="2">
                  <c:v>35.4</c:v>
                </c:pt>
                <c:pt idx="3">
                  <c:v>26</c:v>
                </c:pt>
                <c:pt idx="4">
                  <c:v>264.7</c:v>
                </c:pt>
                <c:pt idx="5">
                  <c:v>12</c:v>
                </c:pt>
                <c:pt idx="6">
                  <c:v>163.19999999999999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7-A6DE-4682-AF5A-81C4D0FE4EF4}"/>
            </c:ext>
          </c:extLst>
        </c:ser>
        <c:ser>
          <c:idx val="1"/>
          <c:order val="1"/>
          <c:spPr>
            <a:solidFill>
              <a:srgbClr val="D9D9D9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7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Calibri"/>
                      <a:ea typeface="+mn-ea"/>
                      <a:cs typeface="+mn-cs"/>
                      <a:sym typeface="Calibri"/>
                    </a:defRPr>
                  </a:pPr>
                  <a:endParaRPr lang="pt-BR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A6DE-4682-AF5A-81C4D0FE4EF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Sheet1!$A$1:$A$8</c:f>
              <c:numCache>
                <c:formatCode>General</c:formatCode>
                <c:ptCount val="8"/>
                <c:pt idx="7">
                  <c:v>10.714285714285721</c:v>
                </c:pt>
              </c:numCache>
            </c:numRef>
          </c:xVal>
          <c:yVal>
            <c:numRef>
              <c:f>Sheet1!$D$1:$D$8</c:f>
              <c:numCache>
                <c:formatCode>General</c:formatCode>
                <c:ptCount val="8"/>
                <c:pt idx="7">
                  <c:v>8.6999999999999993</c:v>
                </c:pt>
              </c:numCache>
            </c:numRef>
          </c:yVal>
          <c:bubbleSize>
            <c:numRef>
              <c:f>Sheet1!$E$1:$E$8</c:f>
              <c:numCache>
                <c:formatCode>General</c:formatCode>
                <c:ptCount val="8"/>
                <c:pt idx="7">
                  <c:v>62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9-A6DE-4682-AF5A-81C4D0FE4E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9"/>
        <c:showNegBubbles val="0"/>
        <c:axId val="1267276335"/>
        <c:axId val="1"/>
      </c:bubbleChart>
      <c:valAx>
        <c:axId val="1267276335"/>
        <c:scaling>
          <c:orientation val="minMax"/>
          <c:max val="12"/>
          <c:min val="0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in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Arial"/>
                <a:ea typeface="+mn-ea"/>
                <a:cs typeface="+mn-cs"/>
                <a:sym typeface="+mn-lt"/>
              </a:defRPr>
            </a:pPr>
            <a:endParaRPr lang="pt-BR"/>
          </a:p>
        </c:txPr>
        <c:crossAx val="1"/>
        <c:crosses val="min"/>
        <c:crossBetween val="midCat"/>
        <c:majorUnit val="1"/>
      </c:valAx>
      <c:valAx>
        <c:axId val="1"/>
        <c:scaling>
          <c:orientation val="minMax"/>
          <c:max val="14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in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Arial"/>
                <a:ea typeface="+mn-ea"/>
                <a:cs typeface="+mn-cs"/>
                <a:sym typeface="+mn-lt"/>
              </a:defRPr>
            </a:pPr>
            <a:endParaRPr lang="pt-BR"/>
          </a:p>
        </c:txPr>
        <c:crossAx val="1267276335"/>
        <c:crosses val="min"/>
        <c:crossBetween val="midCat"/>
        <c:majorUnit val="2"/>
      </c:valAx>
      <c:spPr>
        <a:noFill/>
        <a:ln w="9525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992700729927005E-3"/>
          <c:y val="2.4265048996733551E-2"/>
          <c:w val="0.98540145985401462"/>
          <c:h val="0.95146990200653292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9CF-4E9F-98D2-26A6B7CA35C7}"/>
              </c:ext>
            </c:extLst>
          </c:dPt>
          <c:dPt>
            <c:idx val="6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9CF-4E9F-98D2-26A6B7CA35C7}"/>
              </c:ext>
            </c:extLst>
          </c:dPt>
          <c:dLbls>
            <c:dLbl>
              <c:idx val="0"/>
              <c:layout>
                <c:manualLayout>
                  <c:x val="0"/>
                  <c:y val="-0.4027064862342510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+mn-ea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9CF-4E9F-98D2-26A6B7CA35C7}"/>
                </c:ext>
              </c:extLst>
            </c:dLbl>
            <c:dLbl>
              <c:idx val="6"/>
              <c:layout>
                <c:manualLayout>
                  <c:x val="0"/>
                  <c:y val="-0.421371908539430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+mn-ea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9CF-4E9F-98D2-26A6B7CA35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1590</c:v>
                </c:pt>
                <c:pt idx="1">
                  <c:v>890</c:v>
                </c:pt>
                <c:pt idx="2">
                  <c:v>890</c:v>
                </c:pt>
                <c:pt idx="3">
                  <c:v>1620</c:v>
                </c:pt>
                <c:pt idx="4">
                  <c:v>1420</c:v>
                </c:pt>
                <c:pt idx="5">
                  <c:v>1420</c:v>
                </c:pt>
                <c:pt idx="6">
                  <c:v>1670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CF-4E9F-98D2-26A6B7CA35C7}"/>
            </c:ext>
          </c:extLst>
        </c:ser>
        <c:ser>
          <c:idx val="1"/>
          <c:order val="1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8665422305179655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+mn-ea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39CF-4E9F-98D2-26A6B7CA35C7}"/>
                </c:ext>
              </c:extLst>
            </c:dLbl>
            <c:dLbl>
              <c:idx val="2"/>
              <c:layout>
                <c:manualLayout>
                  <c:x val="0"/>
                  <c:y val="-1.8665422305179655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+mn-ea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9CF-4E9F-98D2-26A6B7CA35C7}"/>
                </c:ext>
              </c:extLst>
            </c:dLbl>
            <c:dLbl>
              <c:idx val="3"/>
              <c:layout>
                <c:manualLayout>
                  <c:x val="0"/>
                  <c:y val="-1.8665422305179655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+mn-ea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39CF-4E9F-98D2-26A6B7CA35C7}"/>
                </c:ext>
              </c:extLst>
            </c:dLbl>
            <c:dLbl>
              <c:idx val="4"/>
              <c:layout>
                <c:manualLayout>
                  <c:x val="0"/>
                  <c:y val="-1.399906672888474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+mn-ea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39CF-4E9F-98D2-26A6B7CA35C7}"/>
                </c:ext>
              </c:extLst>
            </c:dLbl>
            <c:dLbl>
              <c:idx val="5"/>
              <c:layout>
                <c:manualLayout>
                  <c:x val="0"/>
                  <c:y val="-1.399906672888474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+mn-ea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39CF-4E9F-98D2-26A6B7CA35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1">
                  <c:v>700</c:v>
                </c:pt>
                <c:pt idx="2">
                  <c:v>730</c:v>
                </c:pt>
                <c:pt idx="3">
                  <c:v>450</c:v>
                </c:pt>
                <c:pt idx="4">
                  <c:v>650</c:v>
                </c:pt>
                <c:pt idx="5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9CF-4E9F-98D2-26A6B7CA3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89400880"/>
        <c:axId val="1"/>
      </c:barChart>
      <c:catAx>
        <c:axId val="289400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7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8940088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262367982212344E-3"/>
          <c:y val="2.3864157870582835E-2"/>
          <c:w val="0.98554752640355758"/>
          <c:h val="0.95227168425883435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425-4654-959C-5BCE5C8ACE5C}"/>
              </c:ext>
            </c:extLst>
          </c:dPt>
          <c:dPt>
            <c:idx val="12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425-4654-959C-5BCE5C8ACE5C}"/>
              </c:ext>
            </c:extLst>
          </c:dPt>
          <c:val>
            <c:numRef>
              <c:f>Sheet1!$A$1:$M$1</c:f>
              <c:numCache>
                <c:formatCode>General</c:formatCode>
                <c:ptCount val="13"/>
                <c:pt idx="0">
                  <c:v>821056.02065421105</c:v>
                </c:pt>
                <c:pt idx="1">
                  <c:v>613604.18336263776</c:v>
                </c:pt>
                <c:pt idx="2">
                  <c:v>411071.82603409607</c:v>
                </c:pt>
                <c:pt idx="3">
                  <c:v>284459.26658887806</c:v>
                </c:pt>
                <c:pt idx="4">
                  <c:v>201697.88286921033</c:v>
                </c:pt>
                <c:pt idx="5">
                  <c:v>141177.26822305648</c:v>
                </c:pt>
                <c:pt idx="6">
                  <c:v>108315.69440944707</c:v>
                </c:pt>
                <c:pt idx="7">
                  <c:v>80371.438034990439</c:v>
                </c:pt>
                <c:pt idx="8">
                  <c:v>54370.220197712326</c:v>
                </c:pt>
                <c:pt idx="9">
                  <c:v>34104.128779846913</c:v>
                </c:pt>
                <c:pt idx="10">
                  <c:v>20539.072815502128</c:v>
                </c:pt>
                <c:pt idx="11">
                  <c:v>11100.09533297905</c:v>
                </c:pt>
                <c:pt idx="12">
                  <c:v>11100.09533297905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25-4654-959C-5BCE5C8ACE5C}"/>
            </c:ext>
          </c:extLst>
        </c:ser>
        <c:ser>
          <c:idx val="1"/>
          <c:order val="1"/>
          <c:spPr>
            <a:solidFill>
              <a:srgbClr val="364D6E"/>
            </a:solidFill>
            <a:ln>
              <a:noFill/>
            </a:ln>
          </c:spPr>
          <c:invertIfNegative val="0"/>
          <c:val>
            <c:numRef>
              <c:f>Sheet1!$A$2:$M$2</c:f>
              <c:numCache>
                <c:formatCode>General</c:formatCode>
                <c:ptCount val="13"/>
                <c:pt idx="1">
                  <c:v>207451.83729157329</c:v>
                </c:pt>
                <c:pt idx="2">
                  <c:v>202532.35732854169</c:v>
                </c:pt>
                <c:pt idx="3">
                  <c:v>126612.55944521801</c:v>
                </c:pt>
                <c:pt idx="4">
                  <c:v>82761.383719667734</c:v>
                </c:pt>
                <c:pt idx="5">
                  <c:v>60520.614646153845</c:v>
                </c:pt>
                <c:pt idx="6">
                  <c:v>32861.573813609415</c:v>
                </c:pt>
                <c:pt idx="7">
                  <c:v>27944.256374456629</c:v>
                </c:pt>
                <c:pt idx="8">
                  <c:v>26001.217837278113</c:v>
                </c:pt>
                <c:pt idx="9">
                  <c:v>20266.091417865413</c:v>
                </c:pt>
                <c:pt idx="10">
                  <c:v>13565.055964344785</c:v>
                </c:pt>
                <c:pt idx="11">
                  <c:v>9438.9774825230779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425-4654-959C-5BCE5C8ACE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9192303"/>
        <c:axId val="1"/>
      </c:barChart>
      <c:catAx>
        <c:axId val="20919230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21056.0206542110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919230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637166143913147E-2"/>
          <c:y val="0.16196601051061665"/>
          <c:w val="0.89518340756521486"/>
          <c:h val="0.557710759410570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Impacto Mensal</c:v>
                </c:pt>
              </c:strCache>
            </c:strRef>
          </c:tx>
          <c:spPr>
            <a:solidFill>
              <a:srgbClr val="6F8DB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Planilha1!$A$2:$A$13</c:f>
              <c:numCache>
                <c:formatCode>mmm\-yy</c:formatCode>
                <c:ptCount val="12"/>
                <c:pt idx="0">
                  <c:v>44927</c:v>
                </c:pt>
                <c:pt idx="1">
                  <c:v>44958</c:v>
                </c:pt>
                <c:pt idx="2">
                  <c:v>44989</c:v>
                </c:pt>
                <c:pt idx="3">
                  <c:v>45020</c:v>
                </c:pt>
                <c:pt idx="4">
                  <c:v>45051</c:v>
                </c:pt>
                <c:pt idx="5">
                  <c:v>45082</c:v>
                </c:pt>
                <c:pt idx="6">
                  <c:v>45113</c:v>
                </c:pt>
                <c:pt idx="7">
                  <c:v>45144</c:v>
                </c:pt>
                <c:pt idx="8">
                  <c:v>45175</c:v>
                </c:pt>
                <c:pt idx="9">
                  <c:v>45206</c:v>
                </c:pt>
                <c:pt idx="10">
                  <c:v>45237</c:v>
                </c:pt>
                <c:pt idx="11">
                  <c:v>45268</c:v>
                </c:pt>
              </c:numCache>
            </c:numRef>
          </c:cat>
          <c:val>
            <c:numRef>
              <c:f>Planilha1!$B$2:$B$13</c:f>
              <c:numCache>
                <c:formatCode>General</c:formatCode>
                <c:ptCount val="12"/>
                <c:pt idx="0">
                  <c:v>125</c:v>
                </c:pt>
                <c:pt idx="1">
                  <c:v>125</c:v>
                </c:pt>
                <c:pt idx="2">
                  <c:v>125</c:v>
                </c:pt>
                <c:pt idx="3">
                  <c:v>125</c:v>
                </c:pt>
                <c:pt idx="4">
                  <c:v>125</c:v>
                </c:pt>
                <c:pt idx="5">
                  <c:v>125</c:v>
                </c:pt>
                <c:pt idx="6">
                  <c:v>125</c:v>
                </c:pt>
                <c:pt idx="7">
                  <c:v>125</c:v>
                </c:pt>
                <c:pt idx="8">
                  <c:v>125</c:v>
                </c:pt>
                <c:pt idx="9">
                  <c:v>125</c:v>
                </c:pt>
                <c:pt idx="10">
                  <c:v>125</c:v>
                </c:pt>
                <c:pt idx="11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FC-4F23-A17A-1EA22A79C6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013965360"/>
        <c:axId val="1013965776"/>
      </c:barChart>
      <c:lineChart>
        <c:grouping val="standard"/>
        <c:varyColors val="0"/>
        <c:ser>
          <c:idx val="1"/>
          <c:order val="1"/>
          <c:tx>
            <c:strRef>
              <c:f>Planilha1!$C$1</c:f>
              <c:strCache>
                <c:ptCount val="1"/>
                <c:pt idx="0">
                  <c:v>Referência 5 anos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Planilha1!$A$2:$A$13</c:f>
              <c:numCache>
                <c:formatCode>mmm\-yy</c:formatCode>
                <c:ptCount val="12"/>
                <c:pt idx="0">
                  <c:v>44927</c:v>
                </c:pt>
                <c:pt idx="1">
                  <c:v>44958</c:v>
                </c:pt>
                <c:pt idx="2">
                  <c:v>44989</c:v>
                </c:pt>
                <c:pt idx="3">
                  <c:v>45020</c:v>
                </c:pt>
                <c:pt idx="4">
                  <c:v>45051</c:v>
                </c:pt>
                <c:pt idx="5">
                  <c:v>45082</c:v>
                </c:pt>
                <c:pt idx="6">
                  <c:v>45113</c:v>
                </c:pt>
                <c:pt idx="7">
                  <c:v>45144</c:v>
                </c:pt>
                <c:pt idx="8">
                  <c:v>45175</c:v>
                </c:pt>
                <c:pt idx="9">
                  <c:v>45206</c:v>
                </c:pt>
                <c:pt idx="10">
                  <c:v>45237</c:v>
                </c:pt>
                <c:pt idx="11">
                  <c:v>45268</c:v>
                </c:pt>
              </c:numCache>
            </c:numRef>
          </c:cat>
          <c:val>
            <c:numRef>
              <c:f>Planilha1!$C$2:$C$13</c:f>
              <c:numCache>
                <c:formatCode>General</c:formatCode>
                <c:ptCount val="12"/>
                <c:pt idx="0">
                  <c:v>278.25</c:v>
                </c:pt>
                <c:pt idx="1">
                  <c:v>278.25</c:v>
                </c:pt>
                <c:pt idx="2">
                  <c:v>278.25</c:v>
                </c:pt>
                <c:pt idx="3">
                  <c:v>278.25</c:v>
                </c:pt>
                <c:pt idx="4">
                  <c:v>278.25</c:v>
                </c:pt>
                <c:pt idx="5">
                  <c:v>278.25</c:v>
                </c:pt>
                <c:pt idx="6">
                  <c:v>278.25</c:v>
                </c:pt>
                <c:pt idx="7">
                  <c:v>278.25</c:v>
                </c:pt>
                <c:pt idx="8">
                  <c:v>278.25</c:v>
                </c:pt>
                <c:pt idx="9">
                  <c:v>278.25</c:v>
                </c:pt>
                <c:pt idx="10">
                  <c:v>278.25</c:v>
                </c:pt>
                <c:pt idx="11">
                  <c:v>278.25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FC-4F23-A17A-1EA22A79C60B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Previsto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Planilha1!$A$2:$A$13</c:f>
              <c:numCache>
                <c:formatCode>mmm\-yy</c:formatCode>
                <c:ptCount val="12"/>
                <c:pt idx="0">
                  <c:v>44927</c:v>
                </c:pt>
                <c:pt idx="1">
                  <c:v>44958</c:v>
                </c:pt>
                <c:pt idx="2">
                  <c:v>44989</c:v>
                </c:pt>
                <c:pt idx="3">
                  <c:v>45020</c:v>
                </c:pt>
                <c:pt idx="4">
                  <c:v>45051</c:v>
                </c:pt>
                <c:pt idx="5">
                  <c:v>45082</c:v>
                </c:pt>
                <c:pt idx="6">
                  <c:v>45113</c:v>
                </c:pt>
                <c:pt idx="7">
                  <c:v>45144</c:v>
                </c:pt>
                <c:pt idx="8">
                  <c:v>45175</c:v>
                </c:pt>
                <c:pt idx="9">
                  <c:v>45206</c:v>
                </c:pt>
                <c:pt idx="10">
                  <c:v>45237</c:v>
                </c:pt>
                <c:pt idx="11">
                  <c:v>45268</c:v>
                </c:pt>
              </c:numCache>
            </c:numRef>
          </c:cat>
          <c:val>
            <c:numRef>
              <c:f>Planilha1!$D$2:$D$13</c:f>
              <c:numCache>
                <c:formatCode>General</c:formatCode>
                <c:ptCount val="12"/>
                <c:pt idx="0">
                  <c:v>153.25</c:v>
                </c:pt>
                <c:pt idx="1">
                  <c:v>153.25</c:v>
                </c:pt>
                <c:pt idx="2">
                  <c:v>153.25</c:v>
                </c:pt>
                <c:pt idx="3">
                  <c:v>153.25</c:v>
                </c:pt>
                <c:pt idx="4">
                  <c:v>153.25</c:v>
                </c:pt>
                <c:pt idx="5">
                  <c:v>153.25</c:v>
                </c:pt>
                <c:pt idx="6">
                  <c:v>153.25</c:v>
                </c:pt>
                <c:pt idx="7">
                  <c:v>153.25</c:v>
                </c:pt>
                <c:pt idx="8">
                  <c:v>153.25</c:v>
                </c:pt>
                <c:pt idx="9">
                  <c:v>153.25</c:v>
                </c:pt>
                <c:pt idx="10">
                  <c:v>153.25</c:v>
                </c:pt>
                <c:pt idx="11">
                  <c:v>153.25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4FC-4F23-A17A-1EA22A79C6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2976208"/>
        <c:axId val="1372972048"/>
      </c:lineChart>
      <c:dateAx>
        <c:axId val="101396536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3965776"/>
        <c:crosses val="autoZero"/>
        <c:auto val="1"/>
        <c:lblOffset val="100"/>
        <c:baseTimeUnit val="months"/>
      </c:dateAx>
      <c:valAx>
        <c:axId val="10139657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013965360"/>
        <c:crosses val="autoZero"/>
        <c:crossBetween val="between"/>
      </c:valAx>
      <c:valAx>
        <c:axId val="137297204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solidFill>
              <a:srgbClr val="F7F7F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7F7F7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72976208"/>
        <c:crosses val="max"/>
        <c:crossBetween val="between"/>
      </c:valAx>
      <c:dateAx>
        <c:axId val="1372976208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137297204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5098403663298527E-2"/>
          <c:y val="8.7142674382981025E-2"/>
          <c:w val="0.83132491072141912"/>
          <c:h val="0.617996148576084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Impacto Anual</c:v>
                </c:pt>
              </c:strCache>
            </c:strRef>
          </c:tx>
          <c:spPr>
            <a:solidFill>
              <a:srgbClr val="6F8DB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</c:numCache>
            </c:num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821</c:v>
                </c:pt>
                <c:pt idx="1">
                  <c:v>1500</c:v>
                </c:pt>
                <c:pt idx="2">
                  <c:v>1500</c:v>
                </c:pt>
                <c:pt idx="3">
                  <c:v>1500</c:v>
                </c:pt>
                <c:pt idx="4">
                  <c:v>1500</c:v>
                </c:pt>
                <c:pt idx="5">
                  <c:v>1500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5A-46BA-9F14-3DA9CC02D5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013965360"/>
        <c:axId val="1013965776"/>
      </c:barChart>
      <c:lineChart>
        <c:grouping val="standard"/>
        <c:varyColors val="0"/>
        <c:ser>
          <c:idx val="1"/>
          <c:order val="1"/>
          <c:tx>
            <c:strRef>
              <c:f>Planilha1!$C$1</c:f>
              <c:strCache>
                <c:ptCount val="1"/>
                <c:pt idx="0">
                  <c:v>Referência 5 anos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</c:numCache>
            </c:numRef>
          </c:cat>
          <c:val>
            <c:numRef>
              <c:f>Planilha1!$C$2:$C$7</c:f>
              <c:numCache>
                <c:formatCode>General</c:formatCode>
                <c:ptCount val="6"/>
                <c:pt idx="0">
                  <c:v>3339</c:v>
                </c:pt>
                <c:pt idx="1">
                  <c:v>3339</c:v>
                </c:pt>
                <c:pt idx="2">
                  <c:v>3339</c:v>
                </c:pt>
                <c:pt idx="3">
                  <c:v>3339</c:v>
                </c:pt>
                <c:pt idx="4">
                  <c:v>3339</c:v>
                </c:pt>
                <c:pt idx="5">
                  <c:v>3339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5A-46BA-9F14-3DA9CC02D5B1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Previsto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</c:numCache>
            </c:numRef>
          </c:cat>
          <c:val>
            <c:numRef>
              <c:f>Planilha1!$D$2:$D$7</c:f>
              <c:numCache>
                <c:formatCode>General</c:formatCode>
                <c:ptCount val="6"/>
                <c:pt idx="0">
                  <c:v>2518</c:v>
                </c:pt>
                <c:pt idx="1">
                  <c:v>1839</c:v>
                </c:pt>
                <c:pt idx="2">
                  <c:v>1839</c:v>
                </c:pt>
                <c:pt idx="3">
                  <c:v>1839</c:v>
                </c:pt>
                <c:pt idx="4">
                  <c:v>1839</c:v>
                </c:pt>
                <c:pt idx="5">
                  <c:v>1839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85A-46BA-9F14-3DA9CC02D5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3963280"/>
        <c:axId val="1013966192"/>
      </c:lineChart>
      <c:catAx>
        <c:axId val="10139653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3965776"/>
        <c:crosses val="autoZero"/>
        <c:auto val="1"/>
        <c:lblAlgn val="ctr"/>
        <c:lblOffset val="100"/>
        <c:noMultiLvlLbl val="0"/>
      </c:catAx>
      <c:valAx>
        <c:axId val="101396577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013965360"/>
        <c:crosses val="autoZero"/>
        <c:crossBetween val="between"/>
      </c:valAx>
      <c:valAx>
        <c:axId val="101396619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7F7F7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3963280"/>
        <c:crosses val="max"/>
        <c:crossBetween val="between"/>
      </c:valAx>
      <c:catAx>
        <c:axId val="10139632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39661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Impacto Mensal</c:v>
                </c:pt>
              </c:strCache>
            </c:strRef>
          </c:tx>
          <c:spPr>
            <a:solidFill>
              <a:srgbClr val="6F8DB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FB-4A9B-9509-B96BC407EA9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FB-4A9B-9509-B96BC407EA9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1FB-4A9B-9509-B96BC407EA9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FB-4A9B-9509-B96BC407EA9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1FB-4A9B-9509-B96BC407EA9B}"/>
                </c:ext>
              </c:extLst>
            </c:dLbl>
            <c:dLbl>
              <c:idx val="6"/>
              <c:layout>
                <c:manualLayout>
                  <c:x val="-1.1198711883596885E-3"/>
                  <c:y val="0.1696621250837449"/>
                </c:manualLayout>
              </c:layout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2969907209413268E-2"/>
                      <c:h val="7.239178811781855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E1FB-4A9B-9509-B96BC407EA9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1FB-4A9B-9509-B96BC407EA9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Planilha1!$A$2:$A$13</c:f>
              <c:numCache>
                <c:formatCode>mmm\-yy</c:formatCode>
                <c:ptCount val="12"/>
                <c:pt idx="0">
                  <c:v>44927</c:v>
                </c:pt>
                <c:pt idx="1">
                  <c:v>44958</c:v>
                </c:pt>
                <c:pt idx="2">
                  <c:v>44989</c:v>
                </c:pt>
                <c:pt idx="3">
                  <c:v>45020</c:v>
                </c:pt>
                <c:pt idx="4">
                  <c:v>45051</c:v>
                </c:pt>
                <c:pt idx="5">
                  <c:v>45082</c:v>
                </c:pt>
                <c:pt idx="6">
                  <c:v>45113</c:v>
                </c:pt>
                <c:pt idx="7">
                  <c:v>45144</c:v>
                </c:pt>
                <c:pt idx="8">
                  <c:v>45175</c:v>
                </c:pt>
                <c:pt idx="9">
                  <c:v>45206</c:v>
                </c:pt>
                <c:pt idx="10">
                  <c:v>45237</c:v>
                </c:pt>
                <c:pt idx="11">
                  <c:v>45268</c:v>
                </c:pt>
              </c:numCache>
            </c:numRef>
          </c:cat>
          <c:val>
            <c:numRef>
              <c:f>Planilha1!$B$2:$B$13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53.9</c:v>
                </c:pt>
                <c:pt idx="6">
                  <c:v>161.69999999999999</c:v>
                </c:pt>
                <c:pt idx="7">
                  <c:v>53.9</c:v>
                </c:pt>
                <c:pt idx="8">
                  <c:v>161.69999999999999</c:v>
                </c:pt>
                <c:pt idx="9">
                  <c:v>107.8</c:v>
                </c:pt>
                <c:pt idx="10">
                  <c:v>107.8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FB-4A9B-9509-B96BC407EA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013965360"/>
        <c:axId val="1013965776"/>
      </c:barChart>
      <c:lineChart>
        <c:grouping val="standard"/>
        <c:varyColors val="0"/>
        <c:ser>
          <c:idx val="1"/>
          <c:order val="1"/>
          <c:tx>
            <c:strRef>
              <c:f>Planilha1!$C$1</c:f>
              <c:strCache>
                <c:ptCount val="1"/>
                <c:pt idx="0">
                  <c:v>Referência 2022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Planilha1!$A$2:$A$13</c:f>
              <c:numCache>
                <c:formatCode>mmm\-yy</c:formatCode>
                <c:ptCount val="12"/>
                <c:pt idx="0">
                  <c:v>44927</c:v>
                </c:pt>
                <c:pt idx="1">
                  <c:v>44958</c:v>
                </c:pt>
                <c:pt idx="2">
                  <c:v>44989</c:v>
                </c:pt>
                <c:pt idx="3">
                  <c:v>45020</c:v>
                </c:pt>
                <c:pt idx="4">
                  <c:v>45051</c:v>
                </c:pt>
                <c:pt idx="5">
                  <c:v>45082</c:v>
                </c:pt>
                <c:pt idx="6">
                  <c:v>45113</c:v>
                </c:pt>
                <c:pt idx="7">
                  <c:v>45144</c:v>
                </c:pt>
                <c:pt idx="8">
                  <c:v>45175</c:v>
                </c:pt>
                <c:pt idx="9">
                  <c:v>45206</c:v>
                </c:pt>
                <c:pt idx="10">
                  <c:v>45237</c:v>
                </c:pt>
                <c:pt idx="11">
                  <c:v>45268</c:v>
                </c:pt>
              </c:numCache>
            </c:numRef>
          </c:cat>
          <c:val>
            <c:numRef>
              <c:f>Planilha1!$C$2:$C$13</c:f>
              <c:numCache>
                <c:formatCode>General</c:formatCode>
                <c:ptCount val="12"/>
                <c:pt idx="0">
                  <c:v>770</c:v>
                </c:pt>
                <c:pt idx="1">
                  <c:v>385</c:v>
                </c:pt>
                <c:pt idx="2">
                  <c:v>385</c:v>
                </c:pt>
                <c:pt idx="3">
                  <c:v>770</c:v>
                </c:pt>
                <c:pt idx="4">
                  <c:v>385</c:v>
                </c:pt>
                <c:pt idx="5">
                  <c:v>385</c:v>
                </c:pt>
                <c:pt idx="6">
                  <c:v>1155</c:v>
                </c:pt>
                <c:pt idx="7">
                  <c:v>385</c:v>
                </c:pt>
                <c:pt idx="8">
                  <c:v>1155</c:v>
                </c:pt>
                <c:pt idx="9">
                  <c:v>770</c:v>
                </c:pt>
                <c:pt idx="10">
                  <c:v>770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E1FB-4A9B-9509-B96BC407EA9B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Previsto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1FB-4A9B-9509-B96BC407EA9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1FB-4A9B-9509-B96BC407EA9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1FB-4A9B-9509-B96BC407EA9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1FB-4A9B-9509-B96BC407EA9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1FB-4A9B-9509-B96BC407EA9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Planilha1!$A$2:$A$13</c:f>
              <c:numCache>
                <c:formatCode>mmm\-yy</c:formatCode>
                <c:ptCount val="12"/>
                <c:pt idx="0">
                  <c:v>44927</c:v>
                </c:pt>
                <c:pt idx="1">
                  <c:v>44958</c:v>
                </c:pt>
                <c:pt idx="2">
                  <c:v>44989</c:v>
                </c:pt>
                <c:pt idx="3">
                  <c:v>45020</c:v>
                </c:pt>
                <c:pt idx="4">
                  <c:v>45051</c:v>
                </c:pt>
                <c:pt idx="5">
                  <c:v>45082</c:v>
                </c:pt>
                <c:pt idx="6">
                  <c:v>45113</c:v>
                </c:pt>
                <c:pt idx="7">
                  <c:v>45144</c:v>
                </c:pt>
                <c:pt idx="8">
                  <c:v>45175</c:v>
                </c:pt>
                <c:pt idx="9">
                  <c:v>45206</c:v>
                </c:pt>
                <c:pt idx="10">
                  <c:v>45237</c:v>
                </c:pt>
                <c:pt idx="11">
                  <c:v>45268</c:v>
                </c:pt>
              </c:numCache>
            </c:numRef>
          </c:cat>
          <c:val>
            <c:numRef>
              <c:f>Planilha1!$D$2:$D$13</c:f>
              <c:numCache>
                <c:formatCode>General</c:formatCode>
                <c:ptCount val="12"/>
                <c:pt idx="0">
                  <c:v>770</c:v>
                </c:pt>
                <c:pt idx="1">
                  <c:v>385</c:v>
                </c:pt>
                <c:pt idx="2">
                  <c:v>385</c:v>
                </c:pt>
                <c:pt idx="3">
                  <c:v>770</c:v>
                </c:pt>
                <c:pt idx="4">
                  <c:v>385</c:v>
                </c:pt>
                <c:pt idx="5">
                  <c:v>331.1</c:v>
                </c:pt>
                <c:pt idx="6">
                  <c:v>993.3</c:v>
                </c:pt>
                <c:pt idx="7">
                  <c:v>331.1</c:v>
                </c:pt>
                <c:pt idx="8">
                  <c:v>993.3</c:v>
                </c:pt>
                <c:pt idx="9">
                  <c:v>662.2</c:v>
                </c:pt>
                <c:pt idx="10">
                  <c:v>662.2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E1FB-4A9B-9509-B96BC407EA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2976208"/>
        <c:axId val="1372972048"/>
      </c:lineChart>
      <c:dateAx>
        <c:axId val="101396536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3965776"/>
        <c:crosses val="autoZero"/>
        <c:auto val="1"/>
        <c:lblOffset val="100"/>
        <c:baseTimeUnit val="months"/>
      </c:dateAx>
      <c:valAx>
        <c:axId val="1013965776"/>
        <c:scaling>
          <c:orientation val="minMax"/>
          <c:max val="40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solidFill>
            <a:srgbClr val="F7F7F7"/>
          </a:solidFill>
          <a:ln>
            <a:solidFill>
              <a:srgbClr val="F7F7F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7F7F7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3965360"/>
        <c:crosses val="autoZero"/>
        <c:crossBetween val="between"/>
      </c:valAx>
      <c:valAx>
        <c:axId val="1372972048"/>
        <c:scaling>
          <c:orientation val="minMax"/>
          <c:max val="2000"/>
          <c:min val="-10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solidFill>
            <a:srgbClr val="F7F7F7"/>
          </a:solidFill>
          <a:ln>
            <a:solidFill>
              <a:srgbClr val="F7F7F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7F7F7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72976208"/>
        <c:crosses val="max"/>
        <c:crossBetween val="between"/>
      </c:valAx>
      <c:dateAx>
        <c:axId val="1372976208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137297204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7F7F7"/>
    </a:solidFill>
    <a:ln>
      <a:noFill/>
    </a:ln>
    <a:effectLst>
      <a:outerShdw blurRad="50800" dist="38100" dir="5400000" algn="t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Impacto Anual</c:v>
                </c:pt>
              </c:strCache>
            </c:strRef>
          </c:tx>
          <c:spPr>
            <a:solidFill>
              <a:srgbClr val="6F8DB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B4E-436A-9E8F-9C313AA609B9}"/>
                </c:ext>
              </c:extLst>
            </c:dLbl>
            <c:dLbl>
              <c:idx val="1"/>
              <c:layout>
                <c:manualLayout>
                  <c:x val="3.1907639693907752E-3"/>
                  <c:y val="8.913526733128383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B4E-436A-9E8F-9C313AA609B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</c:numCache>
            </c:num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0</c:v>
                </c:pt>
                <c:pt idx="1">
                  <c:v>646.79999999999995</c:v>
                </c:pt>
                <c:pt idx="2">
                  <c:v>1131.9000000000001</c:v>
                </c:pt>
                <c:pt idx="3">
                  <c:v>1347.5</c:v>
                </c:pt>
                <c:pt idx="4">
                  <c:v>1131.9000000000001</c:v>
                </c:pt>
                <c:pt idx="5">
                  <c:v>1131.9000000000001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4E-436A-9E8F-9C313AA609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013965360"/>
        <c:axId val="1013965776"/>
      </c:barChart>
      <c:lineChart>
        <c:grouping val="standard"/>
        <c:varyColors val="0"/>
        <c:ser>
          <c:idx val="1"/>
          <c:order val="1"/>
          <c:tx>
            <c:strRef>
              <c:f>Planilha1!$C$1</c:f>
              <c:strCache>
                <c:ptCount val="1"/>
                <c:pt idx="0">
                  <c:v>Referência 2022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</c:numCache>
            </c:numRef>
          </c:cat>
          <c:val>
            <c:numRef>
              <c:f>Planilha1!$C$2:$C$7</c:f>
              <c:numCache>
                <c:formatCode>General</c:formatCode>
                <c:ptCount val="6"/>
                <c:pt idx="0">
                  <c:v>5775</c:v>
                </c:pt>
                <c:pt idx="1">
                  <c:v>4620</c:v>
                </c:pt>
                <c:pt idx="2">
                  <c:v>8085</c:v>
                </c:pt>
                <c:pt idx="3">
                  <c:v>9625</c:v>
                </c:pt>
                <c:pt idx="4">
                  <c:v>8085</c:v>
                </c:pt>
                <c:pt idx="5">
                  <c:v>8085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4E-436A-9E8F-9C313AA609B9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Previsto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Planilha1!$A$2:$A$7</c:f>
              <c:numCache>
                <c:formatCode>General</c:formatCode>
                <c:ptCount val="6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</c:numCache>
            </c:numRef>
          </c:cat>
          <c:val>
            <c:numRef>
              <c:f>Planilha1!$D$2:$D$7</c:f>
              <c:numCache>
                <c:formatCode>General</c:formatCode>
                <c:ptCount val="6"/>
                <c:pt idx="0">
                  <c:v>5775</c:v>
                </c:pt>
                <c:pt idx="1">
                  <c:v>3973.2</c:v>
                </c:pt>
                <c:pt idx="2">
                  <c:v>6953.1</c:v>
                </c:pt>
                <c:pt idx="3">
                  <c:v>8277.5</c:v>
                </c:pt>
                <c:pt idx="4">
                  <c:v>6953.1</c:v>
                </c:pt>
                <c:pt idx="5">
                  <c:v>6953.1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B4E-436A-9E8F-9C313AA609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3963280"/>
        <c:axId val="1013966192"/>
      </c:lineChart>
      <c:catAx>
        <c:axId val="10139653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3965776"/>
        <c:crosses val="autoZero"/>
        <c:auto val="1"/>
        <c:lblAlgn val="ctr"/>
        <c:lblOffset val="100"/>
        <c:noMultiLvlLbl val="0"/>
      </c:catAx>
      <c:valAx>
        <c:axId val="1013965776"/>
        <c:scaling>
          <c:orientation val="minMax"/>
          <c:max val="6000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7F7F7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3965360"/>
        <c:crosses val="autoZero"/>
        <c:crossBetween val="between"/>
      </c:valAx>
      <c:valAx>
        <c:axId val="1013966192"/>
        <c:scaling>
          <c:orientation val="minMax"/>
          <c:max val="1200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solidFill>
              <a:srgbClr val="F7F7F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F7F7F7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013963280"/>
        <c:crosses val="max"/>
        <c:crossBetween val="between"/>
      </c:valAx>
      <c:catAx>
        <c:axId val="101396328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139661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597292724196276E-2"/>
          <c:y val="0.38954869358669836"/>
          <c:w val="0.9648054145516074"/>
          <c:h val="0.4869358669833729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94299287410926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D5A-423E-897A-C4D2F06EF10E}"/>
                </c:ext>
              </c:extLst>
            </c:dLbl>
            <c:dLbl>
              <c:idx val="1"/>
              <c:layout>
                <c:manualLayout>
                  <c:x val="0"/>
                  <c:y val="-0.4085510688836104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D5A-423E-897A-C4D2F06EF10E}"/>
                </c:ext>
              </c:extLst>
            </c:dLbl>
            <c:dLbl>
              <c:idx val="2"/>
              <c:layout>
                <c:manualLayout>
                  <c:x val="0"/>
                  <c:y val="-0.3586698337292161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D5A-423E-897A-C4D2F06EF10E}"/>
                </c:ext>
              </c:extLst>
            </c:dLbl>
            <c:dLbl>
              <c:idx val="3"/>
              <c:layout>
                <c:manualLayout>
                  <c:x val="0"/>
                  <c:y val="-0.3016627078384798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D5A-423E-897A-C4D2F06EF10E}"/>
                </c:ext>
              </c:extLst>
            </c:dLbl>
            <c:dLbl>
              <c:idx val="4"/>
              <c:layout>
                <c:manualLayout>
                  <c:x val="0"/>
                  <c:y val="-0.223277909738717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D5A-423E-897A-C4D2F06EF10E}"/>
                </c:ext>
              </c:extLst>
            </c:dLbl>
            <c:dLbl>
              <c:idx val="5"/>
              <c:layout>
                <c:manualLayout>
                  <c:x val="0"/>
                  <c:y val="-0.3515439429928741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D5A-423E-897A-C4D2F06EF10E}"/>
                </c:ext>
              </c:extLst>
            </c:dLbl>
            <c:dLbl>
              <c:idx val="6"/>
              <c:layout>
                <c:manualLayout>
                  <c:x val="0"/>
                  <c:y val="-0.3016627078384798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D5A-423E-897A-C4D2F06EF1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566.27858158678737</c:v>
                </c:pt>
                <c:pt idx="1">
                  <c:v>544.24221284727048</c:v>
                </c:pt>
                <c:pt idx="2">
                  <c:v>511.27953515395802</c:v>
                </c:pt>
                <c:pt idx="3">
                  <c:v>470.62556599887273</c:v>
                </c:pt>
                <c:pt idx="4">
                  <c:v>432.20578730432624</c:v>
                </c:pt>
                <c:pt idx="5">
                  <c:v>506.3700967788958</c:v>
                </c:pt>
                <c:pt idx="6">
                  <c:v>470.62556599887273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D5A-423E-897A-C4D2F06EF1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7327904"/>
        <c:axId val="1"/>
      </c:barChart>
      <c:catAx>
        <c:axId val="1687327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66.27858158678737"/>
          <c:min val="400"/>
        </c:scaling>
        <c:delete val="1"/>
        <c:axPos val="l"/>
        <c:numFmt formatCode="General" sourceLinked="1"/>
        <c:majorTickMark val="out"/>
        <c:minorTickMark val="none"/>
        <c:tickLblPos val="nextTo"/>
        <c:crossAx val="16873279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F6FC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invertIfNegative val="0"/>
          <c:cat>
            <c:strRef>
              <c:f>Planilha1!$A$2:$A$7</c:f>
              <c:strCache>
                <c:ptCount val="6"/>
                <c:pt idx="0">
                  <c:v>Último Valor</c:v>
                </c:pt>
                <c:pt idx="1">
                  <c:v>Mínimo</c:v>
                </c:pt>
                <c:pt idx="2">
                  <c:v>Média Inferior</c:v>
                </c:pt>
                <c:pt idx="3">
                  <c:v>Média</c:v>
                </c:pt>
                <c:pt idx="4">
                  <c:v>Média Superior</c:v>
                </c:pt>
                <c:pt idx="5">
                  <c:v>Máximo</c:v>
                </c:pt>
              </c:strCache>
            </c:str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80</c:v>
                </c:pt>
                <c:pt idx="1">
                  <c:v>60</c:v>
                </c:pt>
                <c:pt idx="2">
                  <c:v>80</c:v>
                </c:pt>
                <c:pt idx="3">
                  <c:v>100</c:v>
                </c:pt>
                <c:pt idx="4">
                  <c:v>120</c:v>
                </c:pt>
                <c:pt idx="5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FE-4604-96BB-B37D636DF2CE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B1FE-4604-96BB-B37D636DF2CE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B1FE-4604-96BB-B37D636DF2CE}"/>
              </c:ext>
            </c:extLst>
          </c:dPt>
          <c:cat>
            <c:strRef>
              <c:f>Planilha1!$A$2:$A$7</c:f>
              <c:strCache>
                <c:ptCount val="6"/>
                <c:pt idx="0">
                  <c:v>Último Valor</c:v>
                </c:pt>
                <c:pt idx="1">
                  <c:v>Mínimo</c:v>
                </c:pt>
                <c:pt idx="2">
                  <c:v>Média Inferior</c:v>
                </c:pt>
                <c:pt idx="3">
                  <c:v>Média</c:v>
                </c:pt>
                <c:pt idx="4">
                  <c:v>Média Superior</c:v>
                </c:pt>
                <c:pt idx="5">
                  <c:v>Máximo</c:v>
                </c:pt>
              </c:strCache>
            </c:strRef>
          </c:cat>
          <c:val>
            <c:numRef>
              <c:f>Planilha1!$C$2:$C$7</c:f>
              <c:numCache>
                <c:formatCode>General</c:formatCode>
                <c:ptCount val="6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1FE-4604-96BB-B37D636DF2CE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Planilha1!$A$2:$A$7</c:f>
              <c:strCache>
                <c:ptCount val="6"/>
                <c:pt idx="0">
                  <c:v>Último Valor</c:v>
                </c:pt>
                <c:pt idx="1">
                  <c:v>Mínimo</c:v>
                </c:pt>
                <c:pt idx="2">
                  <c:v>Média Inferior</c:v>
                </c:pt>
                <c:pt idx="3">
                  <c:v>Média</c:v>
                </c:pt>
                <c:pt idx="4">
                  <c:v>Média Superior</c:v>
                </c:pt>
                <c:pt idx="5">
                  <c:v>Máximo</c:v>
                </c:pt>
              </c:strCache>
            </c:strRef>
          </c:cat>
          <c:val>
            <c:numRef>
              <c:f>Planilha1!$D$2:$D$7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6-B1FE-4604-96BB-B37D636DF2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698261376"/>
        <c:axId val="1698252640"/>
      </c:barChart>
      <c:catAx>
        <c:axId val="16982613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pPr>
            <a:endParaRPr lang="pt-BR"/>
          </a:p>
        </c:txPr>
        <c:crossAx val="1698252640"/>
        <c:crosses val="autoZero"/>
        <c:auto val="1"/>
        <c:lblAlgn val="ctr"/>
        <c:lblOffset val="100"/>
        <c:noMultiLvlLbl val="0"/>
      </c:catAx>
      <c:valAx>
        <c:axId val="16982526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98261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627118644067796E-2"/>
          <c:y val="0.29496402877697842"/>
          <c:w val="0.96474576271186441"/>
          <c:h val="0.6115107913669064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550359712230215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86A-4D00-95DE-45FD4BD38190}"/>
                </c:ext>
              </c:extLst>
            </c:dLbl>
            <c:dLbl>
              <c:idx val="1"/>
              <c:layout>
                <c:manualLayout>
                  <c:x val="0"/>
                  <c:y val="-0.4370503597122302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86A-4D00-95DE-45FD4BD38190}"/>
                </c:ext>
              </c:extLst>
            </c:dLbl>
            <c:dLbl>
              <c:idx val="2"/>
              <c:layout>
                <c:manualLayout>
                  <c:x val="0"/>
                  <c:y val="-0.390287769784172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86A-4D00-95DE-45FD4BD38190}"/>
                </c:ext>
              </c:extLst>
            </c:dLbl>
            <c:dLbl>
              <c:idx val="3"/>
              <c:layout>
                <c:manualLayout>
                  <c:x val="0"/>
                  <c:y val="-0.3201438848920863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686A-4D00-95DE-45FD4BD38190}"/>
                </c:ext>
              </c:extLst>
            </c:dLbl>
            <c:dLbl>
              <c:idx val="4"/>
              <c:layout>
                <c:manualLayout>
                  <c:x val="0"/>
                  <c:y val="-0.2787769784172661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686A-4D00-95DE-45FD4BD38190}"/>
                </c:ext>
              </c:extLst>
            </c:dLbl>
            <c:dLbl>
              <c:idx val="5"/>
              <c:layout>
                <c:manualLayout>
                  <c:x val="0"/>
                  <c:y val="-0.2787769784172661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686A-4D00-95DE-45FD4BD38190}"/>
                </c:ext>
              </c:extLst>
            </c:dLbl>
            <c:dLbl>
              <c:idx val="6"/>
              <c:layout>
                <c:manualLayout>
                  <c:x val="0"/>
                  <c:y val="-0.2787769784172661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686A-4D00-95DE-45FD4BD381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438.30896158490009</c:v>
                </c:pt>
                <c:pt idx="1">
                  <c:v>424.23427141370632</c:v>
                </c:pt>
                <c:pt idx="2">
                  <c:v>388.0974717815082</c:v>
                </c:pt>
                <c:pt idx="3">
                  <c:v>333.89227233321128</c:v>
                </c:pt>
                <c:pt idx="4">
                  <c:v>300.13906753597325</c:v>
                </c:pt>
                <c:pt idx="5">
                  <c:v>300.13906753597325</c:v>
                </c:pt>
                <c:pt idx="6">
                  <c:v>300.13906753597325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86A-4D00-95DE-45FD4BD38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21858815"/>
        <c:axId val="1"/>
      </c:barChart>
      <c:catAx>
        <c:axId val="5218588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38.30896158490009"/>
          <c:min val="200"/>
        </c:scaling>
        <c:delete val="1"/>
        <c:axPos val="l"/>
        <c:numFmt formatCode="General" sourceLinked="1"/>
        <c:majorTickMark val="out"/>
        <c:minorTickMark val="none"/>
        <c:tickLblPos val="nextTo"/>
        <c:crossAx val="5218588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3587594300083819E-2"/>
          <c:y val="1.8624641833810889E-2"/>
          <c:w val="0.9128248113998324"/>
          <c:h val="0.96275071633237819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122-43C5-95FA-CDB3855256EA}"/>
              </c:ext>
            </c:extLst>
          </c:dPt>
          <c:dPt>
            <c:idx val="1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122-43C5-95FA-CDB3855256EA}"/>
              </c:ext>
            </c:extLst>
          </c:dPt>
          <c:dPt>
            <c:idx val="2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3122-43C5-95FA-CDB3855256EA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122-43C5-95FA-CDB3855256EA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7.3194633996340794</c:v>
                </c:pt>
                <c:pt idx="1">
                  <c:v>4.2843662501779631</c:v>
                </c:pt>
                <c:pt idx="2">
                  <c:v>3.866221804577529</c:v>
                </c:pt>
                <c:pt idx="3">
                  <c:v>3.6678189690044207</c:v>
                </c:pt>
                <c:pt idx="4">
                  <c:v>1.7999999999999998</c:v>
                </c:pt>
                <c:pt idx="5">
                  <c:v>1.2303951848023771</c:v>
                </c:pt>
                <c:pt idx="6">
                  <c:v>1.1266794625719769</c:v>
                </c:pt>
                <c:pt idx="7">
                  <c:v>0.99293037431401487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22-43C5-95FA-CDB3855256EA}"/>
            </c:ext>
          </c:extLst>
        </c:ser>
        <c:ser>
          <c:idx val="1"/>
          <c:order val="1"/>
          <c:spPr>
            <a:solidFill>
              <a:schemeClr val="tx1"/>
            </a:solidFill>
            <a:ln>
              <a:noFill/>
            </a:ln>
          </c:spPr>
          <c:invertIfNegative val="0"/>
          <c:val>
            <c:numRef>
              <c:f>Sheet1!$A$2:$H$2</c:f>
              <c:numCache>
                <c:formatCode>General</c:formatCode>
                <c:ptCount val="8"/>
                <c:pt idx="0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122-43C5-95FA-CDB3855256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7776671"/>
        <c:axId val="1"/>
      </c:barChart>
      <c:catAx>
        <c:axId val="177776671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.8194633996340794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777766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6956972524624159E-2"/>
          <c:y val="1.6812156482379565E-2"/>
          <c:w val="0.94608605495075171"/>
          <c:h val="0.9663756870352409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DFE5EF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364D6E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251D-4589-9FB4-7266486F81A4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11</c:v>
                </c:pt>
                <c:pt idx="1">
                  <c:v>10.84</c:v>
                </c:pt>
                <c:pt idx="2">
                  <c:v>8.69</c:v>
                </c:pt>
                <c:pt idx="3">
                  <c:v>8.5299999999999994</c:v>
                </c:pt>
                <c:pt idx="4">
                  <c:v>4.2300000000000004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1D-4589-9FB4-7266486F81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718498352"/>
        <c:axId val="1"/>
      </c:barChart>
      <c:catAx>
        <c:axId val="71849835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7184983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8555738605161998E-2"/>
          <c:y val="1.8284106891701828E-2"/>
          <c:w val="0.94288852278967605"/>
          <c:h val="0.9634317862165963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D6D7D9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7F7F7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17C1-45C0-80DA-54175A486CC4}"/>
              </c:ext>
            </c:extLst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FCF3-4FED-A684-8F5690E8C034}"/>
              </c:ext>
            </c:extLst>
          </c:dPt>
          <c:dPt>
            <c:idx val="2"/>
            <c:invertIfNegative val="0"/>
            <c:bubble3D val="0"/>
            <c:spPr>
              <a:solidFill>
                <a:srgbClr val="BFBFB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FCF3-4FED-A684-8F5690E8C034}"/>
              </c:ext>
            </c:extLst>
          </c:dPt>
          <c:dPt>
            <c:idx val="3"/>
            <c:invertIfNegative val="0"/>
            <c:bubble3D val="0"/>
            <c:spPr>
              <a:solidFill>
                <a:srgbClr val="BFBFB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FCF3-4FED-A684-8F5690E8C034}"/>
              </c:ext>
            </c:extLst>
          </c:dPt>
          <c:dPt>
            <c:idx val="4"/>
            <c:invertIfNegative val="0"/>
            <c:bubble3D val="0"/>
            <c:spPr>
              <a:solidFill>
                <a:srgbClr val="BFBFBF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FCF3-4FED-A684-8F5690E8C034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11</c:v>
                </c:pt>
                <c:pt idx="1">
                  <c:v>10.84</c:v>
                </c:pt>
                <c:pt idx="2">
                  <c:v>8.69</c:v>
                </c:pt>
                <c:pt idx="3">
                  <c:v>8.5299999999999994</c:v>
                </c:pt>
                <c:pt idx="4">
                  <c:v>4.2300000000000004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C1-45C0-80DA-54175A486C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444390495"/>
        <c:axId val="1"/>
      </c:barChart>
      <c:catAx>
        <c:axId val="1444390495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44439049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0436648855392815E-3"/>
          <c:y val="9.4086021505376347E-3"/>
          <c:w val="0.91410514220051708"/>
          <c:h val="0.96505376344086025"/>
        </c:manualLayout>
      </c:layout>
      <c:barChart>
        <c:barDir val="bar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F535-4523-8B40-C851B2125763}"/>
              </c:ext>
            </c:extLst>
          </c:dPt>
          <c:dPt>
            <c:idx val="3"/>
            <c:invertIfNegative val="0"/>
            <c:bubble3D val="0"/>
            <c:spPr>
              <a:solidFill>
                <a:srgbClr val="D9D9D9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F535-4523-8B40-C851B2125763}"/>
              </c:ext>
            </c:extLst>
          </c:dPt>
          <c:dLbls>
            <c:dLbl>
              <c:idx val="0"/>
              <c:layout>
                <c:manualLayout>
                  <c:x val="0.28411376041367425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+mn-ea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535-4523-8B40-C851B2125763}"/>
                </c:ext>
              </c:extLst>
            </c:dLbl>
            <c:dLbl>
              <c:idx val="3"/>
              <c:layout>
                <c:manualLayout>
                  <c:x val="0.49296179258833667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535-4523-8B40-C851B212576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500.65243636363618</c:v>
                </c:pt>
                <c:pt idx="1">
                  <c:v>500.65243636363618</c:v>
                </c:pt>
                <c:pt idx="2">
                  <c:v>882.69651818181842</c:v>
                </c:pt>
                <c:pt idx="3">
                  <c:v>922.03651818181845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35-4523-8B40-C851B2125763}"/>
            </c:ext>
          </c:extLst>
        </c:ser>
        <c:ser>
          <c:idx val="1"/>
          <c:order val="1"/>
          <c:spPr>
            <a:solidFill>
              <a:srgbClr val="364D6E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9D9D9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F535-4523-8B40-C851B2125763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F535-4523-8B40-C851B2125763}"/>
              </c:ext>
            </c:extLst>
          </c:dPt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535-4523-8B40-C851B2125763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535-4523-8B40-C851B212576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1">
                  <c:v>382.04408181818224</c:v>
                </c:pt>
                <c:pt idx="2">
                  <c:v>39.340000000000032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35-4523-8B40-C851B21257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44390079"/>
        <c:axId val="1"/>
      </c:barChart>
      <c:catAx>
        <c:axId val="144439007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22.0365181818184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4443900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0436648855392815E-3"/>
          <c:y val="9.4086021505376347E-3"/>
          <c:w val="0.91410514220051708"/>
          <c:h val="0.96505376344086025"/>
        </c:manualLayout>
      </c:layout>
      <c:barChart>
        <c:barDir val="bar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F535-4523-8B40-C851B2125763}"/>
              </c:ext>
            </c:extLst>
          </c:dPt>
          <c:dPt>
            <c:idx val="3"/>
            <c:invertIfNegative val="0"/>
            <c:bubble3D val="0"/>
            <c:spPr>
              <a:solidFill>
                <a:srgbClr val="D9D9D9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F535-4523-8B40-C851B2125763}"/>
              </c:ext>
            </c:extLst>
          </c:dPt>
          <c:dLbls>
            <c:dLbl>
              <c:idx val="0"/>
              <c:layout>
                <c:manualLayout>
                  <c:x val="0.28411376041367425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+mn-ea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535-4523-8B40-C851B2125763}"/>
                </c:ext>
              </c:extLst>
            </c:dLbl>
            <c:dLbl>
              <c:idx val="3"/>
              <c:layout>
                <c:manualLayout>
                  <c:x val="0.49296179258833667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535-4523-8B40-C851B212576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500.65243636363618</c:v>
                </c:pt>
                <c:pt idx="1">
                  <c:v>500.65243636363618</c:v>
                </c:pt>
                <c:pt idx="2">
                  <c:v>882.69651818181842</c:v>
                </c:pt>
                <c:pt idx="3">
                  <c:v>922.03651818181845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535-4523-8B40-C851B2125763}"/>
            </c:ext>
          </c:extLst>
        </c:ser>
        <c:ser>
          <c:idx val="1"/>
          <c:order val="1"/>
          <c:spPr>
            <a:solidFill>
              <a:srgbClr val="364D6E"/>
            </a:solidFill>
            <a:ln w="9525" algn="ctr">
              <a:solidFill>
                <a:schemeClr val="bg1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D9D9D9"/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F535-4523-8B40-C851B2125763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 w="9525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F535-4523-8B40-C851B2125763}"/>
              </c:ext>
            </c:extLst>
          </c:dPt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535-4523-8B40-C851B2125763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535-4523-8B40-C851B212576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1">
                  <c:v>382.04408181818224</c:v>
                </c:pt>
                <c:pt idx="2">
                  <c:v>39.340000000000032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35-4523-8B40-C851B21257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44390079"/>
        <c:axId val="1"/>
      </c:barChart>
      <c:catAx>
        <c:axId val="144439007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22.0365181818184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4443900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561634582911177E-2"/>
          <c:y val="0.16588235294117648"/>
          <c:w val="0.96487673083417769"/>
          <c:h val="0.6952941176470588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6F8DB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1E7-46FE-AB2E-8A7316448B7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1E7-46FE-AB2E-8A7316448B74}"/>
              </c:ext>
            </c:extLst>
          </c:dPt>
          <c:dLbls>
            <c:dLbl>
              <c:idx val="0"/>
              <c:layout>
                <c:manualLayout>
                  <c:x val="0"/>
                  <c:y val="-9.529411764705882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1E7-46FE-AB2E-8A7316448B74}"/>
                </c:ext>
              </c:extLst>
            </c:dLbl>
            <c:dLbl>
              <c:idx val="1"/>
              <c:layout>
                <c:manualLayout>
                  <c:x val="0"/>
                  <c:y val="-9.176470588235294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1E7-46FE-AB2E-8A7316448B74}"/>
                </c:ext>
              </c:extLst>
            </c:dLbl>
            <c:dLbl>
              <c:idx val="2"/>
              <c:layout>
                <c:manualLayout>
                  <c:x val="0"/>
                  <c:y val="-9.294117647058823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1E7-46FE-AB2E-8A7316448B74}"/>
                </c:ext>
              </c:extLst>
            </c:dLbl>
            <c:dLbl>
              <c:idx val="3"/>
              <c:layout>
                <c:manualLayout>
                  <c:x val="0"/>
                  <c:y val="-9.764705882352940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1E7-46FE-AB2E-8A7316448B74}"/>
                </c:ext>
              </c:extLst>
            </c:dLbl>
            <c:dLbl>
              <c:idx val="4"/>
              <c:layout>
                <c:manualLayout>
                  <c:x val="0"/>
                  <c:y val="-7.058823529411764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B1E7-46FE-AB2E-8A7316448B74}"/>
                </c:ext>
              </c:extLst>
            </c:dLbl>
            <c:dLbl>
              <c:idx val="5"/>
              <c:layout>
                <c:manualLayout>
                  <c:x val="0"/>
                  <c:y val="-7.058823529411764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B1E7-46FE-AB2E-8A7316448B74}"/>
                </c:ext>
              </c:extLst>
            </c:dLbl>
            <c:dLbl>
              <c:idx val="6"/>
              <c:layout>
                <c:manualLayout>
                  <c:x val="0"/>
                  <c:y val="-6.941176470588235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B1E7-46FE-AB2E-8A7316448B74}"/>
                </c:ext>
              </c:extLst>
            </c:dLbl>
            <c:dLbl>
              <c:idx val="7"/>
              <c:layout>
                <c:manualLayout>
                  <c:x val="0"/>
                  <c:y val="-8.35294117647058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1E7-46FE-AB2E-8A7316448B74}"/>
                </c:ext>
              </c:extLst>
            </c:dLbl>
            <c:dLbl>
              <c:idx val="8"/>
              <c:layout>
                <c:manualLayout>
                  <c:x val="0"/>
                  <c:y val="-8.235294117647058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1E7-46FE-AB2E-8A7316448B74}"/>
                </c:ext>
              </c:extLst>
            </c:dLbl>
            <c:dLbl>
              <c:idx val="9"/>
              <c:layout>
                <c:manualLayout>
                  <c:x val="0"/>
                  <c:y val="-8.35294117647058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B1E7-46FE-AB2E-8A7316448B74}"/>
                </c:ext>
              </c:extLst>
            </c:dLbl>
            <c:dLbl>
              <c:idx val="10"/>
              <c:layout>
                <c:manualLayout>
                  <c:x val="0"/>
                  <c:y val="-8.235294117647058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B1E7-46FE-AB2E-8A7316448B74}"/>
                </c:ext>
              </c:extLst>
            </c:dLbl>
            <c:dLbl>
              <c:idx val="11"/>
              <c:layout>
                <c:manualLayout>
                  <c:x val="0"/>
                  <c:y val="-8.117647058823529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B1E7-46FE-AB2E-8A7316448B7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Sheet1!$A$1:$L$1</c:f>
              <c:numCache>
                <c:formatCode>General</c:formatCode>
                <c:ptCount val="12"/>
                <c:pt idx="0">
                  <c:v>-39.933282692307657</c:v>
                </c:pt>
                <c:pt idx="1">
                  <c:v>-35.14182115384633</c:v>
                </c:pt>
                <c:pt idx="2">
                  <c:v>-37.683957692307658</c:v>
                </c:pt>
                <c:pt idx="3">
                  <c:v>-41.79776923076917</c:v>
                </c:pt>
                <c:pt idx="4">
                  <c:v>-5.329423076923077</c:v>
                </c:pt>
                <c:pt idx="5">
                  <c:v>-5.329423076923077</c:v>
                </c:pt>
                <c:pt idx="6">
                  <c:v>-5.1871153846153844</c:v>
                </c:pt>
                <c:pt idx="7">
                  <c:v>14.052076923077022</c:v>
                </c:pt>
                <c:pt idx="8">
                  <c:v>12.879096153846161</c:v>
                </c:pt>
                <c:pt idx="9">
                  <c:v>13.339019230769347</c:v>
                </c:pt>
                <c:pt idx="10">
                  <c:v>11.62976923076924</c:v>
                </c:pt>
                <c:pt idx="11">
                  <c:v>12.113826923076994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1E7-46FE-AB2E-8A7316448B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7808351"/>
        <c:axId val="1"/>
      </c:barChart>
      <c:lineChart>
        <c:grouping val="standard"/>
        <c:varyColors val="0"/>
        <c:ser>
          <c:idx val="1"/>
          <c:order val="1"/>
          <c:spPr>
            <a:ln w="28575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0"/>
                  <c:y val="8.705882352941175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B1E7-46FE-AB2E-8A7316448B74}"/>
                </c:ext>
              </c:extLst>
            </c:dLbl>
            <c:dLbl>
              <c:idx val="1"/>
              <c:layout>
                <c:manualLayout>
                  <c:x val="0"/>
                  <c:y val="8.705882352941175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B1E7-46FE-AB2E-8A7316448B74}"/>
                </c:ext>
              </c:extLst>
            </c:dLbl>
            <c:dLbl>
              <c:idx val="2"/>
              <c:layout>
                <c:manualLayout>
                  <c:x val="0"/>
                  <c:y val="8.705882352941175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B1E7-46FE-AB2E-8A7316448B74}"/>
                </c:ext>
              </c:extLst>
            </c:dLbl>
            <c:dLbl>
              <c:idx val="4"/>
              <c:layout>
                <c:manualLayout>
                  <c:x val="0"/>
                  <c:y val="-9.294117647058823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B1E7-46FE-AB2E-8A7316448B74}"/>
                </c:ext>
              </c:extLst>
            </c:dLbl>
            <c:dLbl>
              <c:idx val="5"/>
              <c:layout>
                <c:manualLayout>
                  <c:x val="0"/>
                  <c:y val="-9.294117647058823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B1E7-46FE-AB2E-8A7316448B74}"/>
                </c:ext>
              </c:extLst>
            </c:dLbl>
            <c:dLbl>
              <c:idx val="6"/>
              <c:layout>
                <c:manualLayout>
                  <c:x val="0"/>
                  <c:y val="-9.294117647058823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B1E7-46FE-AB2E-8A7316448B74}"/>
                </c:ext>
              </c:extLst>
            </c:dLbl>
            <c:dLbl>
              <c:idx val="7"/>
              <c:layout>
                <c:manualLayout>
                  <c:x val="0"/>
                  <c:y val="-9.294117647058823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B1E7-46FE-AB2E-8A7316448B74}"/>
                </c:ext>
              </c:extLst>
            </c:dLbl>
            <c:dLbl>
              <c:idx val="8"/>
              <c:layout>
                <c:manualLayout>
                  <c:x val="0"/>
                  <c:y val="-9.294117647058823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B1E7-46FE-AB2E-8A7316448B74}"/>
                </c:ext>
              </c:extLst>
            </c:dLbl>
            <c:dLbl>
              <c:idx val="9"/>
              <c:layout>
                <c:manualLayout>
                  <c:x val="-1.2833502195204323E-2"/>
                  <c:y val="-0.1776470588235294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B1E7-46FE-AB2E-8A7316448B74}"/>
                </c:ext>
              </c:extLst>
            </c:dLbl>
            <c:dLbl>
              <c:idx val="10"/>
              <c:layout>
                <c:manualLayout>
                  <c:x val="-1.2833502195204323E-2"/>
                  <c:y val="-0.191764705882352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B1E7-46FE-AB2E-8A7316448B74}"/>
                </c:ext>
              </c:extLst>
            </c:dLbl>
            <c:dLbl>
              <c:idx val="11"/>
              <c:layout>
                <c:manualLayout>
                  <c:x val="-1.5197568389057751E-2"/>
                  <c:y val="-0.1952941176470588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B1E7-46FE-AB2E-8A7316448B7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0">
                  <c:v>388.42776923076929</c:v>
                </c:pt>
                <c:pt idx="1">
                  <c:v>341.82161538461526</c:v>
                </c:pt>
                <c:pt idx="2">
                  <c:v>366.54876923076932</c:v>
                </c:pt>
                <c:pt idx="3">
                  <c:v>354.72461538461539</c:v>
                </c:pt>
                <c:pt idx="4">
                  <c:v>366.54876923076932</c:v>
                </c:pt>
                <c:pt idx="5">
                  <c:v>353.90469230769224</c:v>
                </c:pt>
                <c:pt idx="6">
                  <c:v>358.07623076923079</c:v>
                </c:pt>
                <c:pt idx="7">
                  <c:v>334.67246153846162</c:v>
                </c:pt>
                <c:pt idx="8">
                  <c:v>305.97515384615389</c:v>
                </c:pt>
                <c:pt idx="9">
                  <c:v>309.02469230769242</c:v>
                </c:pt>
                <c:pt idx="10">
                  <c:v>279.2916923076923</c:v>
                </c:pt>
                <c:pt idx="11">
                  <c:v>277.81007692307702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B1E7-46FE-AB2E-8A7316448B74}"/>
            </c:ext>
          </c:extLst>
        </c:ser>
        <c:ser>
          <c:idx val="2"/>
          <c:order val="2"/>
          <c:spPr>
            <a:ln w="28575" algn="ctr">
              <a:solidFill>
                <a:schemeClr val="tx2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0"/>
                  <c:y val="-9.294117647058823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B1E7-46FE-AB2E-8A7316448B74}"/>
                </c:ext>
              </c:extLst>
            </c:dLbl>
            <c:dLbl>
              <c:idx val="1"/>
              <c:layout>
                <c:manualLayout>
                  <c:x val="-1.0131712259371834E-2"/>
                  <c:y val="-0.1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B1E7-46FE-AB2E-8A7316448B74}"/>
                </c:ext>
              </c:extLst>
            </c:dLbl>
            <c:dLbl>
              <c:idx val="2"/>
              <c:layout>
                <c:manualLayout>
                  <c:x val="0"/>
                  <c:y val="-9.2941176470588235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B1E7-46FE-AB2E-8A7316448B74}"/>
                </c:ext>
              </c:extLst>
            </c:dLbl>
            <c:dLbl>
              <c:idx val="3"/>
              <c:layout>
                <c:manualLayout>
                  <c:x val="-4.7281323877068557E-3"/>
                  <c:y val="-0.1341176470588235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B1E7-46FE-AB2E-8A7316448B74}"/>
                </c:ext>
              </c:extLst>
            </c:dLbl>
            <c:dLbl>
              <c:idx val="4"/>
              <c:layout>
                <c:manualLayout>
                  <c:x val="0"/>
                  <c:y val="8.705882352941175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B1E7-46FE-AB2E-8A7316448B74}"/>
                </c:ext>
              </c:extLst>
            </c:dLbl>
            <c:dLbl>
              <c:idx val="5"/>
              <c:layout>
                <c:manualLayout>
                  <c:x val="0"/>
                  <c:y val="8.705882352941175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B1E7-46FE-AB2E-8A7316448B74}"/>
                </c:ext>
              </c:extLst>
            </c:dLbl>
            <c:dLbl>
              <c:idx val="6"/>
              <c:layout>
                <c:manualLayout>
                  <c:x val="0"/>
                  <c:y val="8.705882352941175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+mn-ea"/>
                      <a:cs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B1E7-46FE-AB2E-8A7316448B7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0">
                  <c:v>428.36105192307696</c:v>
                </c:pt>
                <c:pt idx="1">
                  <c:v>376.96343653846162</c:v>
                </c:pt>
                <c:pt idx="2">
                  <c:v>404.23272692307694</c:v>
                </c:pt>
                <c:pt idx="3">
                  <c:v>396.52238461538457</c:v>
                </c:pt>
                <c:pt idx="4">
                  <c:v>371.87819230769236</c:v>
                </c:pt>
                <c:pt idx="5">
                  <c:v>359.23411538461539</c:v>
                </c:pt>
                <c:pt idx="6">
                  <c:v>363.26334615384616</c:v>
                </c:pt>
                <c:pt idx="7">
                  <c:v>320.62038461538464</c:v>
                </c:pt>
                <c:pt idx="8">
                  <c:v>293.09605769230768</c:v>
                </c:pt>
                <c:pt idx="9">
                  <c:v>295.68567307692308</c:v>
                </c:pt>
                <c:pt idx="10">
                  <c:v>267.66192307692307</c:v>
                </c:pt>
                <c:pt idx="11">
                  <c:v>265.69625000000002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0-B1E7-46FE-AB2E-8A7316448B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7808351"/>
        <c:axId val="1"/>
      </c:lineChart>
      <c:catAx>
        <c:axId val="1778083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428.36105192307696"/>
          <c:min val="-41.79776923076917"/>
        </c:scaling>
        <c:delete val="1"/>
        <c:axPos val="r"/>
        <c:numFmt formatCode="General" sourceLinked="1"/>
        <c:majorTickMark val="out"/>
        <c:minorTickMark val="none"/>
        <c:tickLblPos val="nextTo"/>
        <c:crossAx val="177808351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561634582911177E-2"/>
          <c:y val="0.17602996254681649"/>
          <c:w val="0.96487673083417769"/>
          <c:h val="0.6766541822721597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6F8DB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C09-4CA4-9DF0-939FB27D9B6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C09-4CA4-9DF0-939FB27D9B69}"/>
              </c:ext>
            </c:extLst>
          </c:dPt>
          <c:dLbls>
            <c:dLbl>
              <c:idx val="3"/>
              <c:layout>
                <c:manualLayout>
                  <c:x val="0"/>
                  <c:y val="-7.36579275905118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C09-4CA4-9DF0-939FB27D9B69}"/>
                </c:ext>
              </c:extLst>
            </c:dLbl>
            <c:dLbl>
              <c:idx val="4"/>
              <c:layout>
                <c:manualLayout>
                  <c:x val="0"/>
                  <c:y val="-0.1023720349563046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C09-4CA4-9DF0-939FB27D9B69}"/>
                </c:ext>
              </c:extLst>
            </c:dLbl>
            <c:dLbl>
              <c:idx val="5"/>
              <c:layout>
                <c:manualLayout>
                  <c:x val="0"/>
                  <c:y val="-0.1011235955056179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C09-4CA4-9DF0-939FB27D9B69}"/>
                </c:ext>
              </c:extLst>
            </c:dLbl>
            <c:dLbl>
              <c:idx val="6"/>
              <c:layout>
                <c:manualLayout>
                  <c:x val="0"/>
                  <c:y val="-0.1023720349563046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C09-4CA4-9DF0-939FB27D9B69}"/>
                </c:ext>
              </c:extLst>
            </c:dLbl>
            <c:dLbl>
              <c:idx val="7"/>
              <c:layout>
                <c:manualLayout>
                  <c:x val="0"/>
                  <c:y val="-0.1148564294631710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C09-4CA4-9DF0-939FB27D9B69}"/>
                </c:ext>
              </c:extLst>
            </c:dLbl>
            <c:dLbl>
              <c:idx val="8"/>
              <c:layout>
                <c:manualLayout>
                  <c:x val="0"/>
                  <c:y val="-0.1123595505617977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FC09-4CA4-9DF0-939FB27D9B69}"/>
                </c:ext>
              </c:extLst>
            </c:dLbl>
            <c:dLbl>
              <c:idx val="9"/>
              <c:layout>
                <c:manualLayout>
                  <c:x val="0"/>
                  <c:y val="-0.1123595505617977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FC09-4CA4-9DF0-939FB27D9B69}"/>
                </c:ext>
              </c:extLst>
            </c:dLbl>
            <c:dLbl>
              <c:idx val="10"/>
              <c:layout>
                <c:manualLayout>
                  <c:x val="0"/>
                  <c:y val="-0.1086142322097378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C09-4CA4-9DF0-939FB27D9B69}"/>
                </c:ext>
              </c:extLst>
            </c:dLbl>
            <c:dLbl>
              <c:idx val="11"/>
              <c:layout>
                <c:manualLayout>
                  <c:x val="0"/>
                  <c:y val="-0.1086142322097378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C09-4CA4-9DF0-939FB27D9B6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Sheet1!$A$1:$L$1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-5.329423076923077</c:v>
                </c:pt>
                <c:pt idx="4">
                  <c:v>32.35453461538458</c:v>
                </c:pt>
                <c:pt idx="5">
                  <c:v>31.054628846153815</c:v>
                </c:pt>
                <c:pt idx="6">
                  <c:v>31.625801923076864</c:v>
                </c:pt>
                <c:pt idx="7">
                  <c:v>48.45891153846155</c:v>
                </c:pt>
                <c:pt idx="8">
                  <c:v>44.335632692307563</c:v>
                </c:pt>
                <c:pt idx="9">
                  <c:v>45.10907115384618</c:v>
                </c:pt>
                <c:pt idx="10">
                  <c:v>40.343046153846039</c:v>
                </c:pt>
                <c:pt idx="11">
                  <c:v>40.674782692307758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C09-4CA4-9DF0-939FB27D9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7823231"/>
        <c:axId val="1"/>
      </c:barChart>
      <c:lineChart>
        <c:grouping val="standard"/>
        <c:varyColors val="0"/>
        <c:ser>
          <c:idx val="1"/>
          <c:order val="1"/>
          <c:spPr>
            <a:ln w="28575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0"/>
                  <c:y val="9.238451935081148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C09-4CA4-9DF0-939FB27D9B69}"/>
                </c:ext>
              </c:extLst>
            </c:dLbl>
            <c:dLbl>
              <c:idx val="1"/>
              <c:layout>
                <c:manualLayout>
                  <c:x val="0"/>
                  <c:y val="9.238451935081148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FC09-4CA4-9DF0-939FB27D9B69}"/>
                </c:ext>
              </c:extLst>
            </c:dLbl>
            <c:dLbl>
              <c:idx val="2"/>
              <c:layout>
                <c:manualLayout>
                  <c:x val="0"/>
                  <c:y val="9.238451935081148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C09-4CA4-9DF0-939FB27D9B69}"/>
                </c:ext>
              </c:extLst>
            </c:dLbl>
            <c:dLbl>
              <c:idx val="4"/>
              <c:layout>
                <c:manualLayout>
                  <c:x val="0"/>
                  <c:y val="-9.8626716604244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FC09-4CA4-9DF0-939FB27D9B69}"/>
                </c:ext>
              </c:extLst>
            </c:dLbl>
            <c:dLbl>
              <c:idx val="5"/>
              <c:layout>
                <c:manualLayout>
                  <c:x val="0"/>
                  <c:y val="-9.8626716604244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FC09-4CA4-9DF0-939FB27D9B69}"/>
                </c:ext>
              </c:extLst>
            </c:dLbl>
            <c:dLbl>
              <c:idx val="6"/>
              <c:layout>
                <c:manualLayout>
                  <c:x val="0"/>
                  <c:y val="-9.8626716604244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FC09-4CA4-9DF0-939FB27D9B69}"/>
                </c:ext>
              </c:extLst>
            </c:dLbl>
            <c:dLbl>
              <c:idx val="7"/>
              <c:layout>
                <c:manualLayout>
                  <c:x val="0"/>
                  <c:y val="-9.8626716604244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FC09-4CA4-9DF0-939FB27D9B69}"/>
                </c:ext>
              </c:extLst>
            </c:dLbl>
            <c:dLbl>
              <c:idx val="8"/>
              <c:layout>
                <c:manualLayout>
                  <c:x val="0"/>
                  <c:y val="-9.8626716604244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FC09-4CA4-9DF0-939FB27D9B69}"/>
                </c:ext>
              </c:extLst>
            </c:dLbl>
            <c:dLbl>
              <c:idx val="9"/>
              <c:layout>
                <c:manualLayout>
                  <c:x val="-1.2833502195204323E-2"/>
                  <c:y val="-0.188514357053682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FC09-4CA4-9DF0-939FB27D9B69}"/>
                </c:ext>
              </c:extLst>
            </c:dLbl>
            <c:dLbl>
              <c:idx val="10"/>
              <c:layout>
                <c:manualLayout>
                  <c:x val="-1.2833502195204323E-2"/>
                  <c:y val="-0.2034956304619225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FC09-4CA4-9DF0-939FB27D9B69}"/>
                </c:ext>
              </c:extLst>
            </c:dLbl>
            <c:dLbl>
              <c:idx val="11"/>
              <c:layout>
                <c:manualLayout>
                  <c:x val="-1.5197568389057751E-2"/>
                  <c:y val="-0.2072409488139825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FC09-4CA4-9DF0-939FB27D9B6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0">
                  <c:v>428.36105192307696</c:v>
                </c:pt>
                <c:pt idx="1">
                  <c:v>376.96343653846162</c:v>
                </c:pt>
                <c:pt idx="2">
                  <c:v>404.23272692307694</c:v>
                </c:pt>
                <c:pt idx="3">
                  <c:v>391.19296153846142</c:v>
                </c:pt>
                <c:pt idx="4">
                  <c:v>404.23272692307694</c:v>
                </c:pt>
                <c:pt idx="5">
                  <c:v>390.28874423076917</c:v>
                </c:pt>
                <c:pt idx="6">
                  <c:v>394.88914807692311</c:v>
                </c:pt>
                <c:pt idx="7">
                  <c:v>369.07929615384614</c:v>
                </c:pt>
                <c:pt idx="8">
                  <c:v>337.43169038461525</c:v>
                </c:pt>
                <c:pt idx="9">
                  <c:v>340.7947442307692</c:v>
                </c:pt>
                <c:pt idx="10">
                  <c:v>308.00496923076906</c:v>
                </c:pt>
                <c:pt idx="11">
                  <c:v>306.37103269230772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7-FC09-4CA4-9DF0-939FB27D9B69}"/>
            </c:ext>
          </c:extLst>
        </c:ser>
        <c:ser>
          <c:idx val="2"/>
          <c:order val="2"/>
          <c:spPr>
            <a:ln w="28575" algn="ctr">
              <a:solidFill>
                <a:schemeClr val="tx2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0"/>
                  <c:y val="-9.8626716604244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FC09-4CA4-9DF0-939FB27D9B69}"/>
                </c:ext>
              </c:extLst>
            </c:dLbl>
            <c:dLbl>
              <c:idx val="1"/>
              <c:layout>
                <c:manualLayout>
                  <c:x val="-1.0131712259371834E-2"/>
                  <c:y val="-0.1697877652933832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FC09-4CA4-9DF0-939FB27D9B69}"/>
                </c:ext>
              </c:extLst>
            </c:dLbl>
            <c:dLbl>
              <c:idx val="2"/>
              <c:layout>
                <c:manualLayout>
                  <c:x val="0"/>
                  <c:y val="-9.8626716604244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FC09-4CA4-9DF0-939FB27D9B69}"/>
                </c:ext>
              </c:extLst>
            </c:dLbl>
            <c:dLbl>
              <c:idx val="3"/>
              <c:layout>
                <c:manualLayout>
                  <c:x val="-4.7281323877068557E-3"/>
                  <c:y val="-0.1423220973782771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FC09-4CA4-9DF0-939FB27D9B69}"/>
                </c:ext>
              </c:extLst>
            </c:dLbl>
            <c:dLbl>
              <c:idx val="4"/>
              <c:layout>
                <c:manualLayout>
                  <c:x val="0"/>
                  <c:y val="9.238451935081148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FC09-4CA4-9DF0-939FB27D9B69}"/>
                </c:ext>
              </c:extLst>
            </c:dLbl>
            <c:dLbl>
              <c:idx val="5"/>
              <c:layout>
                <c:manualLayout>
                  <c:x val="0"/>
                  <c:y val="9.238451935081148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FC09-4CA4-9DF0-939FB27D9B69}"/>
                </c:ext>
              </c:extLst>
            </c:dLbl>
            <c:dLbl>
              <c:idx val="6"/>
              <c:layout>
                <c:manualLayout>
                  <c:x val="0"/>
                  <c:y val="9.238451935081148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1"/>
                      </a:solidFill>
                      <a:latin typeface="Segoe UI"/>
                      <a:ea typeface="Segoe UI"/>
                      <a:cs typeface="Segoe UI"/>
                      <a:sym typeface="Segoe UI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FC09-4CA4-9DF0-939FB27D9B6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0">
                  <c:v>428.36105192307696</c:v>
                </c:pt>
                <c:pt idx="1">
                  <c:v>376.96343653846162</c:v>
                </c:pt>
                <c:pt idx="2">
                  <c:v>404.23272692307694</c:v>
                </c:pt>
                <c:pt idx="3">
                  <c:v>396.52238461538457</c:v>
                </c:pt>
                <c:pt idx="4">
                  <c:v>371.87819230769236</c:v>
                </c:pt>
                <c:pt idx="5">
                  <c:v>359.23411538461539</c:v>
                </c:pt>
                <c:pt idx="6">
                  <c:v>363.26334615384616</c:v>
                </c:pt>
                <c:pt idx="7">
                  <c:v>320.62038461538464</c:v>
                </c:pt>
                <c:pt idx="8">
                  <c:v>293.09605769230768</c:v>
                </c:pt>
                <c:pt idx="9">
                  <c:v>295.68567307692308</c:v>
                </c:pt>
                <c:pt idx="10">
                  <c:v>267.66192307692307</c:v>
                </c:pt>
                <c:pt idx="11">
                  <c:v>265.69625000000002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F-FC09-4CA4-9DF0-939FB27D9B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7823231"/>
        <c:axId val="1"/>
      </c:lineChart>
      <c:catAx>
        <c:axId val="1778232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428.36105192307696"/>
          <c:min val="-5.329423076923077"/>
        </c:scaling>
        <c:delete val="1"/>
        <c:axPos val="r"/>
        <c:numFmt formatCode="General" sourceLinked="1"/>
        <c:majorTickMark val="out"/>
        <c:minorTickMark val="none"/>
        <c:tickLblPos val="nextTo"/>
        <c:crossAx val="177823231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22DDF34-2E10-E9C7-855D-33996414DA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F67E8F-988D-782B-355D-8DEA562483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488C1-9D9D-488B-B9D6-21156F056452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9844FD-99AC-8BBF-66DD-56B423E3FD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4E76C8-999C-B19F-C107-4345DAB0C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434EC5-0E48-41D9-9EF2-AD484514E1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079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DC9A3-5F1D-419C-913D-4D11644744AA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A9E93-A581-46C6-87F6-539E9FC9A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75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78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>
                <a:solidFill>
                  <a:schemeClr val="tx1"/>
                </a:solidFill>
              </a:rPr>
              <a:t>Slide Final Palavras chaves 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(Luiza: Esse slide deve também ser colocado no final da apresentação operacional que está na rede) 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Colocar nos modelos de material entrega final e exemplo rd log 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A9E93-A581-46C6-87F6-539E9FC9A8F5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68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0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A9E93-A581-46C6-87F6-539E9FC9A8F5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102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81DFF-513D-4F58-B44E-AA1D4D70840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4441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81DFF-513D-4F58-B44E-AA1D4D70840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1067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81DFF-513D-4F58-B44E-AA1D4D70840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787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81DFF-513D-4F58-B44E-AA1D4D70840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803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81DFF-513D-4F58-B44E-AA1D4D70840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5604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81DFF-513D-4F58-B44E-AA1D4D70840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591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81DFF-513D-4F58-B44E-AA1D4D70840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56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81DFF-513D-4F58-B44E-AA1D4D70840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212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81DFF-513D-4F58-B44E-AA1D4D70840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71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A9E93-A581-46C6-87F6-539E9FC9A8F5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3463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781DFF-513D-4F58-B44E-AA1D4D70840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4410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6A9E93-A581-46C6-87F6-539E9FC9A8F5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647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o 16" hidden="1">
            <a:extLst>
              <a:ext uri="{FF2B5EF4-FFF2-40B4-BE49-F238E27FC236}">
                <a16:creationId xmlns:a16="http://schemas.microsoft.com/office/drawing/2014/main" id="{DE6DDB2F-3ADA-FB56-1A0B-89B6B94890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3133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17" name="Objeto 16" hidden="1">
                        <a:extLst>
                          <a:ext uri="{FF2B5EF4-FFF2-40B4-BE49-F238E27FC236}">
                            <a16:creationId xmlns:a16="http://schemas.microsoft.com/office/drawing/2014/main" id="{DE6DDB2F-3ADA-FB56-1A0B-89B6B9489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tângulo 10">
            <a:extLst>
              <a:ext uri="{FF2B5EF4-FFF2-40B4-BE49-F238E27FC236}">
                <a16:creationId xmlns:a16="http://schemas.microsoft.com/office/drawing/2014/main" id="{FFE1ED7A-EAC1-9250-FB2B-70938EDCA848}"/>
              </a:ext>
            </a:extLst>
          </p:cNvPr>
          <p:cNvSpPr/>
          <p:nvPr userDrawn="1"/>
        </p:nvSpPr>
        <p:spPr>
          <a:xfrm rot="16200000">
            <a:off x="10762224" y="3321279"/>
            <a:ext cx="2559420" cy="21544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800">
                <a:latin typeface="Arial" panose="020B0604020202020204" pitchFamily="34" charset="0"/>
                <a:cs typeface="Arial" panose="020B0604020202020204" pitchFamily="34" charset="0"/>
              </a:rPr>
              <a:t>Material de uso exclusivo da Galeazzi &amp; Associados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C39BBAE-F2D6-51D3-7C1B-BDC79EDC2A48}"/>
              </a:ext>
            </a:extLst>
          </p:cNvPr>
          <p:cNvCxnSpPr>
            <a:cxnSpLocks/>
          </p:cNvCxnSpPr>
          <p:nvPr userDrawn="1"/>
        </p:nvCxnSpPr>
        <p:spPr>
          <a:xfrm>
            <a:off x="362262" y="6399957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22E1870C-2BC1-C207-6B07-FB3019632070}"/>
              </a:ext>
            </a:extLst>
          </p:cNvPr>
          <p:cNvCxnSpPr>
            <a:cxnSpLocks/>
          </p:cNvCxnSpPr>
          <p:nvPr userDrawn="1"/>
        </p:nvCxnSpPr>
        <p:spPr>
          <a:xfrm>
            <a:off x="409731" y="876928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50">
            <a:extLst>
              <a:ext uri="{FF2B5EF4-FFF2-40B4-BE49-F238E27FC236}">
                <a16:creationId xmlns:a16="http://schemas.microsoft.com/office/drawing/2014/main" id="{B944BC63-3D4E-F058-73EC-FE02B38CAC82}"/>
              </a:ext>
            </a:extLst>
          </p:cNvPr>
          <p:cNvSpPr/>
          <p:nvPr userDrawn="1"/>
        </p:nvSpPr>
        <p:spPr>
          <a:xfrm rot="16200000">
            <a:off x="-550178" y="525580"/>
            <a:ext cx="367200" cy="36573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BC7D20A1-1108-16A3-3245-06988E17FEF5}"/>
              </a:ext>
            </a:extLst>
          </p:cNvPr>
          <p:cNvSpPr/>
          <p:nvPr userDrawn="1"/>
        </p:nvSpPr>
        <p:spPr>
          <a:xfrm rot="16200000">
            <a:off x="-550178" y="1575278"/>
            <a:ext cx="367200" cy="36573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50">
            <a:extLst>
              <a:ext uri="{FF2B5EF4-FFF2-40B4-BE49-F238E27FC236}">
                <a16:creationId xmlns:a16="http://schemas.microsoft.com/office/drawing/2014/main" id="{3BF60917-50AE-D255-990B-4382FC96845A}"/>
              </a:ext>
            </a:extLst>
          </p:cNvPr>
          <p:cNvSpPr/>
          <p:nvPr userDrawn="1"/>
        </p:nvSpPr>
        <p:spPr>
          <a:xfrm rot="16200000">
            <a:off x="-550178" y="1050429"/>
            <a:ext cx="367200" cy="36573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50">
            <a:extLst>
              <a:ext uri="{FF2B5EF4-FFF2-40B4-BE49-F238E27FC236}">
                <a16:creationId xmlns:a16="http://schemas.microsoft.com/office/drawing/2014/main" id="{C7CFBCB2-8B1F-DF65-9A61-6823E9AE8109}"/>
              </a:ext>
            </a:extLst>
          </p:cNvPr>
          <p:cNvSpPr/>
          <p:nvPr userDrawn="1"/>
        </p:nvSpPr>
        <p:spPr>
          <a:xfrm rot="16200000">
            <a:off x="-550178" y="2100127"/>
            <a:ext cx="367200" cy="36573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50">
            <a:extLst>
              <a:ext uri="{FF2B5EF4-FFF2-40B4-BE49-F238E27FC236}">
                <a16:creationId xmlns:a16="http://schemas.microsoft.com/office/drawing/2014/main" id="{8EFAB631-D25F-0C9B-653B-657313806CA4}"/>
              </a:ext>
            </a:extLst>
          </p:cNvPr>
          <p:cNvSpPr/>
          <p:nvPr userDrawn="1"/>
        </p:nvSpPr>
        <p:spPr>
          <a:xfrm rot="16200000">
            <a:off x="-550178" y="2624976"/>
            <a:ext cx="367200" cy="36573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50">
            <a:extLst>
              <a:ext uri="{FF2B5EF4-FFF2-40B4-BE49-F238E27FC236}">
                <a16:creationId xmlns:a16="http://schemas.microsoft.com/office/drawing/2014/main" id="{4DCDCF03-C8E0-39CB-BA80-1EFEB81D816A}"/>
              </a:ext>
            </a:extLst>
          </p:cNvPr>
          <p:cNvSpPr/>
          <p:nvPr userDrawn="1"/>
        </p:nvSpPr>
        <p:spPr>
          <a:xfrm rot="16200000">
            <a:off x="-550178" y="731"/>
            <a:ext cx="367200" cy="3657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02BACDD-A44E-281C-7305-686471043FD1}"/>
              </a:ext>
            </a:extLst>
          </p:cNvPr>
          <p:cNvSpPr/>
          <p:nvPr userDrawn="1"/>
        </p:nvSpPr>
        <p:spPr>
          <a:xfrm>
            <a:off x="-550178" y="3149094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28" name="Rectangle 50">
            <a:extLst>
              <a:ext uri="{FF2B5EF4-FFF2-40B4-BE49-F238E27FC236}">
                <a16:creationId xmlns:a16="http://schemas.microsoft.com/office/drawing/2014/main" id="{4E9A8063-9DDB-F168-21C5-236B3982E10E}"/>
              </a:ext>
            </a:extLst>
          </p:cNvPr>
          <p:cNvSpPr/>
          <p:nvPr userDrawn="1"/>
        </p:nvSpPr>
        <p:spPr>
          <a:xfrm rot="16200000">
            <a:off x="-550178" y="4199523"/>
            <a:ext cx="367200" cy="3657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50">
            <a:extLst>
              <a:ext uri="{FF2B5EF4-FFF2-40B4-BE49-F238E27FC236}">
                <a16:creationId xmlns:a16="http://schemas.microsoft.com/office/drawing/2014/main" id="{F0D2577E-7AB2-92C6-1EF5-BDA5606A93B9}"/>
              </a:ext>
            </a:extLst>
          </p:cNvPr>
          <p:cNvSpPr/>
          <p:nvPr userDrawn="1"/>
        </p:nvSpPr>
        <p:spPr>
          <a:xfrm rot="16200000">
            <a:off x="-550178" y="5249221"/>
            <a:ext cx="367200" cy="365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50">
            <a:extLst>
              <a:ext uri="{FF2B5EF4-FFF2-40B4-BE49-F238E27FC236}">
                <a16:creationId xmlns:a16="http://schemas.microsoft.com/office/drawing/2014/main" id="{B3C4AA12-60E7-2A71-982D-A42149192DFF}"/>
              </a:ext>
            </a:extLst>
          </p:cNvPr>
          <p:cNvSpPr/>
          <p:nvPr userDrawn="1"/>
        </p:nvSpPr>
        <p:spPr>
          <a:xfrm rot="16200000">
            <a:off x="-550178" y="4724372"/>
            <a:ext cx="367200" cy="365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50">
            <a:extLst>
              <a:ext uri="{FF2B5EF4-FFF2-40B4-BE49-F238E27FC236}">
                <a16:creationId xmlns:a16="http://schemas.microsoft.com/office/drawing/2014/main" id="{73E42654-A76E-B040-4BD8-F8E6538DEDD0}"/>
              </a:ext>
            </a:extLst>
          </p:cNvPr>
          <p:cNvSpPr/>
          <p:nvPr userDrawn="1"/>
        </p:nvSpPr>
        <p:spPr>
          <a:xfrm rot="16200000">
            <a:off x="-550178" y="5774070"/>
            <a:ext cx="367200" cy="365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50">
            <a:extLst>
              <a:ext uri="{FF2B5EF4-FFF2-40B4-BE49-F238E27FC236}">
                <a16:creationId xmlns:a16="http://schemas.microsoft.com/office/drawing/2014/main" id="{BB9DE30B-BA03-9BF6-889F-E19DADC797E0}"/>
              </a:ext>
            </a:extLst>
          </p:cNvPr>
          <p:cNvSpPr/>
          <p:nvPr userDrawn="1"/>
        </p:nvSpPr>
        <p:spPr>
          <a:xfrm rot="16200000">
            <a:off x="-550178" y="6298920"/>
            <a:ext cx="367200" cy="3657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50">
            <a:extLst>
              <a:ext uri="{FF2B5EF4-FFF2-40B4-BE49-F238E27FC236}">
                <a16:creationId xmlns:a16="http://schemas.microsoft.com/office/drawing/2014/main" id="{7E53D959-78A9-DA2C-A63B-6ED84DD9C3EF}"/>
              </a:ext>
            </a:extLst>
          </p:cNvPr>
          <p:cNvSpPr/>
          <p:nvPr userDrawn="1"/>
        </p:nvSpPr>
        <p:spPr>
          <a:xfrm rot="16200000">
            <a:off x="-550178" y="3674674"/>
            <a:ext cx="367200" cy="3657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105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c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C22C86FC-90ED-4F49-8A14-427397363A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4184379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C22C86FC-90ED-4F49-8A14-427397363A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11FC6C91-BBF3-7D46-99DB-F64CB87A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731" y="4714309"/>
            <a:ext cx="10515600" cy="303580"/>
          </a:xfrm>
        </p:spPr>
        <p:txBody>
          <a:bodyPr vert="horz">
            <a:noAutofit/>
          </a:bodyPr>
          <a:lstStyle>
            <a:lvl1pPr>
              <a:defRPr sz="30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Espaço Reservado para Texto 33">
            <a:extLst>
              <a:ext uri="{FF2B5EF4-FFF2-40B4-BE49-F238E27FC236}">
                <a16:creationId xmlns:a16="http://schemas.microsoft.com/office/drawing/2014/main" id="{95214032-CAB9-8820-7D10-AF0C1A5475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9731" y="5889743"/>
            <a:ext cx="10515600" cy="200025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sz="1100">
                <a:latin typeface="Arial" panose="020B0604020202020204" pitchFamily="34" charset="0"/>
                <a:cs typeface="Arial" panose="020B0604020202020204" pitchFamily="34" charset="0"/>
              </a:rPr>
              <a:t>Clique para editar</a:t>
            </a:r>
            <a:endParaRPr lang="pt-BR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BC55833B-132E-FC82-1AFD-14AAA09744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9575" y="4992013"/>
            <a:ext cx="10515600" cy="566737"/>
          </a:xfrm>
        </p:spPr>
        <p:txBody>
          <a:bodyPr>
            <a:noAutofit/>
          </a:bodyPr>
          <a:lstStyle>
            <a:lvl1pPr marL="0" indent="0">
              <a:buNone/>
              <a:defRPr sz="60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editar os estilos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12A13C2-8538-6BC5-71FC-1B23126D49B9}"/>
              </a:ext>
            </a:extLst>
          </p:cNvPr>
          <p:cNvSpPr/>
          <p:nvPr userDrawn="1"/>
        </p:nvSpPr>
        <p:spPr>
          <a:xfrm rot="16200000">
            <a:off x="10762224" y="3321279"/>
            <a:ext cx="2559420" cy="21544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800">
                <a:latin typeface="Arial" panose="020B0604020202020204" pitchFamily="34" charset="0"/>
                <a:cs typeface="Arial" panose="020B0604020202020204" pitchFamily="34" charset="0"/>
              </a:rPr>
              <a:t>Material de uso exclusivo da Galeazzi &amp; Associados</a:t>
            </a:r>
          </a:p>
        </p:txBody>
      </p: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C5758AEA-C497-9335-A9F3-00B766AFC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98696" y="6479474"/>
            <a:ext cx="794607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2570D-3F46-48A8-A1D6-2750696A5204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8" name="Imagem 27" descr="Texto&#10;&#10;Descrição gerada automaticamente com confiança média">
            <a:extLst>
              <a:ext uri="{FF2B5EF4-FFF2-40B4-BE49-F238E27FC236}">
                <a16:creationId xmlns:a16="http://schemas.microsoft.com/office/drawing/2014/main" id="{41C0C7E8-2438-A7C9-A14D-A001F7357FA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738" y="6544385"/>
            <a:ext cx="1008000" cy="171933"/>
          </a:xfrm>
          <a:prstGeom prst="rect">
            <a:avLst/>
          </a:prstGeom>
        </p:spPr>
      </p:pic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3828F8CF-62F1-5979-D108-E521C54BEF19}"/>
              </a:ext>
            </a:extLst>
          </p:cNvPr>
          <p:cNvCxnSpPr>
            <a:cxnSpLocks/>
          </p:cNvCxnSpPr>
          <p:nvPr userDrawn="1"/>
        </p:nvCxnSpPr>
        <p:spPr>
          <a:xfrm>
            <a:off x="362262" y="6399957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5FBBE70-C7F0-898A-5F94-06FF425FC120}"/>
              </a:ext>
            </a:extLst>
          </p:cNvPr>
          <p:cNvCxnSpPr>
            <a:cxnSpLocks/>
          </p:cNvCxnSpPr>
          <p:nvPr userDrawn="1"/>
        </p:nvCxnSpPr>
        <p:spPr>
          <a:xfrm>
            <a:off x="409731" y="876928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50">
            <a:extLst>
              <a:ext uri="{FF2B5EF4-FFF2-40B4-BE49-F238E27FC236}">
                <a16:creationId xmlns:a16="http://schemas.microsoft.com/office/drawing/2014/main" id="{4CF21857-1094-79B3-2CE5-F051E5CA35B1}"/>
              </a:ext>
            </a:extLst>
          </p:cNvPr>
          <p:cNvSpPr/>
          <p:nvPr userDrawn="1"/>
        </p:nvSpPr>
        <p:spPr>
          <a:xfrm rot="16200000">
            <a:off x="-550178" y="525580"/>
            <a:ext cx="367200" cy="36573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50">
            <a:extLst>
              <a:ext uri="{FF2B5EF4-FFF2-40B4-BE49-F238E27FC236}">
                <a16:creationId xmlns:a16="http://schemas.microsoft.com/office/drawing/2014/main" id="{0A864EC3-6487-642A-DAC2-288877587DE2}"/>
              </a:ext>
            </a:extLst>
          </p:cNvPr>
          <p:cNvSpPr/>
          <p:nvPr userDrawn="1"/>
        </p:nvSpPr>
        <p:spPr>
          <a:xfrm rot="16200000">
            <a:off x="-550178" y="1575278"/>
            <a:ext cx="367200" cy="36573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50">
            <a:extLst>
              <a:ext uri="{FF2B5EF4-FFF2-40B4-BE49-F238E27FC236}">
                <a16:creationId xmlns:a16="http://schemas.microsoft.com/office/drawing/2014/main" id="{97DEDA89-87B1-DDEC-F2ED-2063899ADF68}"/>
              </a:ext>
            </a:extLst>
          </p:cNvPr>
          <p:cNvSpPr/>
          <p:nvPr userDrawn="1"/>
        </p:nvSpPr>
        <p:spPr>
          <a:xfrm rot="16200000">
            <a:off x="-550178" y="1050429"/>
            <a:ext cx="367200" cy="36573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50">
            <a:extLst>
              <a:ext uri="{FF2B5EF4-FFF2-40B4-BE49-F238E27FC236}">
                <a16:creationId xmlns:a16="http://schemas.microsoft.com/office/drawing/2014/main" id="{7DA33A2F-F46E-EF9E-F7D8-89C908206EAB}"/>
              </a:ext>
            </a:extLst>
          </p:cNvPr>
          <p:cNvSpPr/>
          <p:nvPr userDrawn="1"/>
        </p:nvSpPr>
        <p:spPr>
          <a:xfrm rot="16200000">
            <a:off x="-550178" y="2100127"/>
            <a:ext cx="367200" cy="36573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50">
            <a:extLst>
              <a:ext uri="{FF2B5EF4-FFF2-40B4-BE49-F238E27FC236}">
                <a16:creationId xmlns:a16="http://schemas.microsoft.com/office/drawing/2014/main" id="{E6B96778-027C-C1F1-5C93-5DC24B428B3B}"/>
              </a:ext>
            </a:extLst>
          </p:cNvPr>
          <p:cNvSpPr/>
          <p:nvPr userDrawn="1"/>
        </p:nvSpPr>
        <p:spPr>
          <a:xfrm rot="16200000">
            <a:off x="-550178" y="2624976"/>
            <a:ext cx="367200" cy="36573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50">
            <a:extLst>
              <a:ext uri="{FF2B5EF4-FFF2-40B4-BE49-F238E27FC236}">
                <a16:creationId xmlns:a16="http://schemas.microsoft.com/office/drawing/2014/main" id="{138A2C14-75E2-427D-3FAD-9976369C7688}"/>
              </a:ext>
            </a:extLst>
          </p:cNvPr>
          <p:cNvSpPr/>
          <p:nvPr userDrawn="1"/>
        </p:nvSpPr>
        <p:spPr>
          <a:xfrm rot="16200000">
            <a:off x="-550178" y="731"/>
            <a:ext cx="367200" cy="3657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3020AAE-6B22-9C27-6A43-AABB02F73C88}"/>
              </a:ext>
            </a:extLst>
          </p:cNvPr>
          <p:cNvSpPr/>
          <p:nvPr userDrawn="1"/>
        </p:nvSpPr>
        <p:spPr>
          <a:xfrm>
            <a:off x="-550178" y="3149094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8F676CDD-1269-978E-A112-2D32981C16C7}"/>
              </a:ext>
            </a:extLst>
          </p:cNvPr>
          <p:cNvSpPr/>
          <p:nvPr userDrawn="1"/>
        </p:nvSpPr>
        <p:spPr>
          <a:xfrm rot="16200000">
            <a:off x="-550178" y="4199523"/>
            <a:ext cx="367200" cy="3657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958FBA6D-6819-362A-6CA6-3C4812F6AAE2}"/>
              </a:ext>
            </a:extLst>
          </p:cNvPr>
          <p:cNvSpPr/>
          <p:nvPr userDrawn="1"/>
        </p:nvSpPr>
        <p:spPr>
          <a:xfrm rot="16200000">
            <a:off x="-550178" y="5249221"/>
            <a:ext cx="367200" cy="365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B51E9540-AC2C-908D-C723-23086D0BB56B}"/>
              </a:ext>
            </a:extLst>
          </p:cNvPr>
          <p:cNvSpPr/>
          <p:nvPr userDrawn="1"/>
        </p:nvSpPr>
        <p:spPr>
          <a:xfrm rot="16200000">
            <a:off x="-550178" y="4724372"/>
            <a:ext cx="367200" cy="365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50">
            <a:extLst>
              <a:ext uri="{FF2B5EF4-FFF2-40B4-BE49-F238E27FC236}">
                <a16:creationId xmlns:a16="http://schemas.microsoft.com/office/drawing/2014/main" id="{B32AAE1D-65F0-5668-7463-6BD9D90F4E80}"/>
              </a:ext>
            </a:extLst>
          </p:cNvPr>
          <p:cNvSpPr/>
          <p:nvPr userDrawn="1"/>
        </p:nvSpPr>
        <p:spPr>
          <a:xfrm rot="16200000">
            <a:off x="-550178" y="5774070"/>
            <a:ext cx="367200" cy="365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50">
            <a:extLst>
              <a:ext uri="{FF2B5EF4-FFF2-40B4-BE49-F238E27FC236}">
                <a16:creationId xmlns:a16="http://schemas.microsoft.com/office/drawing/2014/main" id="{3961D1FB-061A-7A51-49C4-E676E6A6BB6D}"/>
              </a:ext>
            </a:extLst>
          </p:cNvPr>
          <p:cNvSpPr/>
          <p:nvPr userDrawn="1"/>
        </p:nvSpPr>
        <p:spPr>
          <a:xfrm rot="16200000">
            <a:off x="-550178" y="6298920"/>
            <a:ext cx="367200" cy="3657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50">
            <a:extLst>
              <a:ext uri="{FF2B5EF4-FFF2-40B4-BE49-F238E27FC236}">
                <a16:creationId xmlns:a16="http://schemas.microsoft.com/office/drawing/2014/main" id="{363E704E-2E4C-351B-35FB-3396BA55E237}"/>
              </a:ext>
            </a:extLst>
          </p:cNvPr>
          <p:cNvSpPr/>
          <p:nvPr userDrawn="1"/>
        </p:nvSpPr>
        <p:spPr>
          <a:xfrm rot="16200000">
            <a:off x="-550178" y="3674674"/>
            <a:ext cx="367200" cy="3657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25E1FC-6717-F933-201E-7D66648AF89F}"/>
              </a:ext>
            </a:extLst>
          </p:cNvPr>
          <p:cNvSpPr txBox="1"/>
          <p:nvPr userDrawn="1"/>
        </p:nvSpPr>
        <p:spPr>
          <a:xfrm>
            <a:off x="337349" y="6487436"/>
            <a:ext cx="1818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>
                <a:solidFill>
                  <a:schemeClr val="accent1"/>
                </a:solidFill>
                <a:highlight>
                  <a:srgbClr val="F2F2F2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LOGOTIPO EMPRESA</a:t>
            </a:r>
          </a:p>
        </p:txBody>
      </p:sp>
    </p:spTree>
    <p:extLst>
      <p:ext uri="{BB962C8B-B14F-4D97-AF65-F5344CB8AC3E}">
        <p14:creationId xmlns:p14="http://schemas.microsoft.com/office/powerpoint/2010/main" val="394958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s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C22C86FC-90ED-4F49-8A14-427397363A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4184379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C22C86FC-90ED-4F49-8A14-427397363A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ítulo 1">
            <a:extLst>
              <a:ext uri="{FF2B5EF4-FFF2-40B4-BE49-F238E27FC236}">
                <a16:creationId xmlns:a16="http://schemas.microsoft.com/office/drawing/2014/main" id="{11FC6C91-BBF3-7D46-99DB-F64CB87A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731" y="4714309"/>
            <a:ext cx="10515600" cy="303580"/>
          </a:xfrm>
        </p:spPr>
        <p:txBody>
          <a:bodyPr vert="horz">
            <a:noAutofit/>
          </a:bodyPr>
          <a:lstStyle>
            <a:lvl1pPr>
              <a:defRPr sz="30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Espaço Reservado para Texto 33">
            <a:extLst>
              <a:ext uri="{FF2B5EF4-FFF2-40B4-BE49-F238E27FC236}">
                <a16:creationId xmlns:a16="http://schemas.microsoft.com/office/drawing/2014/main" id="{95214032-CAB9-8820-7D10-AF0C1A5475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9731" y="5889743"/>
            <a:ext cx="10515600" cy="200025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sz="1100">
                <a:latin typeface="Arial" panose="020B0604020202020204" pitchFamily="34" charset="0"/>
                <a:cs typeface="Arial" panose="020B0604020202020204" pitchFamily="34" charset="0"/>
              </a:rPr>
              <a:t>Clique para editar</a:t>
            </a:r>
            <a:endParaRPr lang="pt-BR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BC55833B-132E-FC82-1AFD-14AAA09744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9575" y="4992013"/>
            <a:ext cx="10515600" cy="566737"/>
          </a:xfrm>
        </p:spPr>
        <p:txBody>
          <a:bodyPr>
            <a:noAutofit/>
          </a:bodyPr>
          <a:lstStyle>
            <a:lvl1pPr marL="0" indent="0">
              <a:buNone/>
              <a:defRPr sz="60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pt-BR"/>
              <a:t>Clique para editar os estilos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12A13C2-8538-6BC5-71FC-1B23126D49B9}"/>
              </a:ext>
            </a:extLst>
          </p:cNvPr>
          <p:cNvSpPr/>
          <p:nvPr userDrawn="1"/>
        </p:nvSpPr>
        <p:spPr>
          <a:xfrm rot="16200000">
            <a:off x="10762224" y="3321279"/>
            <a:ext cx="2559420" cy="21544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800">
                <a:latin typeface="Arial" panose="020B0604020202020204" pitchFamily="34" charset="0"/>
                <a:cs typeface="Arial" panose="020B0604020202020204" pitchFamily="34" charset="0"/>
              </a:rPr>
              <a:t>Material de uso exclusivo da Galeazzi &amp; Associados</a:t>
            </a:r>
          </a:p>
        </p:txBody>
      </p: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C5758AEA-C497-9335-A9F3-00B766AFC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98696" y="6479474"/>
            <a:ext cx="794607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2570D-3F46-48A8-A1D6-2750696A5204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8" name="Imagem 27" descr="Texto&#10;&#10;Descrição gerada automaticamente com confiança média">
            <a:extLst>
              <a:ext uri="{FF2B5EF4-FFF2-40B4-BE49-F238E27FC236}">
                <a16:creationId xmlns:a16="http://schemas.microsoft.com/office/drawing/2014/main" id="{41C0C7E8-2438-A7C9-A14D-A001F7357FA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738" y="6544385"/>
            <a:ext cx="1008000" cy="171933"/>
          </a:xfrm>
          <a:prstGeom prst="rect">
            <a:avLst/>
          </a:prstGeom>
        </p:spPr>
      </p:pic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3828F8CF-62F1-5979-D108-E521C54BEF19}"/>
              </a:ext>
            </a:extLst>
          </p:cNvPr>
          <p:cNvCxnSpPr>
            <a:cxnSpLocks/>
          </p:cNvCxnSpPr>
          <p:nvPr userDrawn="1"/>
        </p:nvCxnSpPr>
        <p:spPr>
          <a:xfrm>
            <a:off x="362262" y="6399957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5FBBE70-C7F0-898A-5F94-06FF425FC120}"/>
              </a:ext>
            </a:extLst>
          </p:cNvPr>
          <p:cNvCxnSpPr>
            <a:cxnSpLocks/>
          </p:cNvCxnSpPr>
          <p:nvPr userDrawn="1"/>
        </p:nvCxnSpPr>
        <p:spPr>
          <a:xfrm>
            <a:off x="409731" y="876928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50">
            <a:extLst>
              <a:ext uri="{FF2B5EF4-FFF2-40B4-BE49-F238E27FC236}">
                <a16:creationId xmlns:a16="http://schemas.microsoft.com/office/drawing/2014/main" id="{4CF21857-1094-79B3-2CE5-F051E5CA35B1}"/>
              </a:ext>
            </a:extLst>
          </p:cNvPr>
          <p:cNvSpPr/>
          <p:nvPr userDrawn="1"/>
        </p:nvSpPr>
        <p:spPr>
          <a:xfrm rot="16200000">
            <a:off x="-550178" y="525580"/>
            <a:ext cx="367200" cy="36573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50">
            <a:extLst>
              <a:ext uri="{FF2B5EF4-FFF2-40B4-BE49-F238E27FC236}">
                <a16:creationId xmlns:a16="http://schemas.microsoft.com/office/drawing/2014/main" id="{0A864EC3-6487-642A-DAC2-288877587DE2}"/>
              </a:ext>
            </a:extLst>
          </p:cNvPr>
          <p:cNvSpPr/>
          <p:nvPr userDrawn="1"/>
        </p:nvSpPr>
        <p:spPr>
          <a:xfrm rot="16200000">
            <a:off x="-550178" y="1575278"/>
            <a:ext cx="367200" cy="36573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50">
            <a:extLst>
              <a:ext uri="{FF2B5EF4-FFF2-40B4-BE49-F238E27FC236}">
                <a16:creationId xmlns:a16="http://schemas.microsoft.com/office/drawing/2014/main" id="{97DEDA89-87B1-DDEC-F2ED-2063899ADF68}"/>
              </a:ext>
            </a:extLst>
          </p:cNvPr>
          <p:cNvSpPr/>
          <p:nvPr userDrawn="1"/>
        </p:nvSpPr>
        <p:spPr>
          <a:xfrm rot="16200000">
            <a:off x="-550178" y="1050429"/>
            <a:ext cx="367200" cy="36573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50">
            <a:extLst>
              <a:ext uri="{FF2B5EF4-FFF2-40B4-BE49-F238E27FC236}">
                <a16:creationId xmlns:a16="http://schemas.microsoft.com/office/drawing/2014/main" id="{7DA33A2F-F46E-EF9E-F7D8-89C908206EAB}"/>
              </a:ext>
            </a:extLst>
          </p:cNvPr>
          <p:cNvSpPr/>
          <p:nvPr userDrawn="1"/>
        </p:nvSpPr>
        <p:spPr>
          <a:xfrm rot="16200000">
            <a:off x="-550178" y="2100127"/>
            <a:ext cx="367200" cy="36573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50">
            <a:extLst>
              <a:ext uri="{FF2B5EF4-FFF2-40B4-BE49-F238E27FC236}">
                <a16:creationId xmlns:a16="http://schemas.microsoft.com/office/drawing/2014/main" id="{E6B96778-027C-C1F1-5C93-5DC24B428B3B}"/>
              </a:ext>
            </a:extLst>
          </p:cNvPr>
          <p:cNvSpPr/>
          <p:nvPr userDrawn="1"/>
        </p:nvSpPr>
        <p:spPr>
          <a:xfrm rot="16200000">
            <a:off x="-550178" y="2624976"/>
            <a:ext cx="367200" cy="36573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50">
            <a:extLst>
              <a:ext uri="{FF2B5EF4-FFF2-40B4-BE49-F238E27FC236}">
                <a16:creationId xmlns:a16="http://schemas.microsoft.com/office/drawing/2014/main" id="{138A2C14-75E2-427D-3FAD-9976369C7688}"/>
              </a:ext>
            </a:extLst>
          </p:cNvPr>
          <p:cNvSpPr/>
          <p:nvPr userDrawn="1"/>
        </p:nvSpPr>
        <p:spPr>
          <a:xfrm rot="16200000">
            <a:off x="-550178" y="731"/>
            <a:ext cx="367200" cy="3657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3020AAE-6B22-9C27-6A43-AABB02F73C88}"/>
              </a:ext>
            </a:extLst>
          </p:cNvPr>
          <p:cNvSpPr/>
          <p:nvPr userDrawn="1"/>
        </p:nvSpPr>
        <p:spPr>
          <a:xfrm>
            <a:off x="-550178" y="3149094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8F676CDD-1269-978E-A112-2D32981C16C7}"/>
              </a:ext>
            </a:extLst>
          </p:cNvPr>
          <p:cNvSpPr/>
          <p:nvPr userDrawn="1"/>
        </p:nvSpPr>
        <p:spPr>
          <a:xfrm rot="16200000">
            <a:off x="-550178" y="4199523"/>
            <a:ext cx="367200" cy="3657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958FBA6D-6819-362A-6CA6-3C4812F6AAE2}"/>
              </a:ext>
            </a:extLst>
          </p:cNvPr>
          <p:cNvSpPr/>
          <p:nvPr userDrawn="1"/>
        </p:nvSpPr>
        <p:spPr>
          <a:xfrm rot="16200000">
            <a:off x="-550178" y="5249221"/>
            <a:ext cx="367200" cy="365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B51E9540-AC2C-908D-C723-23086D0BB56B}"/>
              </a:ext>
            </a:extLst>
          </p:cNvPr>
          <p:cNvSpPr/>
          <p:nvPr userDrawn="1"/>
        </p:nvSpPr>
        <p:spPr>
          <a:xfrm rot="16200000">
            <a:off x="-550178" y="4724372"/>
            <a:ext cx="367200" cy="365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50">
            <a:extLst>
              <a:ext uri="{FF2B5EF4-FFF2-40B4-BE49-F238E27FC236}">
                <a16:creationId xmlns:a16="http://schemas.microsoft.com/office/drawing/2014/main" id="{B32AAE1D-65F0-5668-7463-6BD9D90F4E80}"/>
              </a:ext>
            </a:extLst>
          </p:cNvPr>
          <p:cNvSpPr/>
          <p:nvPr userDrawn="1"/>
        </p:nvSpPr>
        <p:spPr>
          <a:xfrm rot="16200000">
            <a:off x="-550178" y="5774070"/>
            <a:ext cx="367200" cy="365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50">
            <a:extLst>
              <a:ext uri="{FF2B5EF4-FFF2-40B4-BE49-F238E27FC236}">
                <a16:creationId xmlns:a16="http://schemas.microsoft.com/office/drawing/2014/main" id="{3961D1FB-061A-7A51-49C4-E676E6A6BB6D}"/>
              </a:ext>
            </a:extLst>
          </p:cNvPr>
          <p:cNvSpPr/>
          <p:nvPr userDrawn="1"/>
        </p:nvSpPr>
        <p:spPr>
          <a:xfrm rot="16200000">
            <a:off x="-550178" y="6298920"/>
            <a:ext cx="367200" cy="3657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50">
            <a:extLst>
              <a:ext uri="{FF2B5EF4-FFF2-40B4-BE49-F238E27FC236}">
                <a16:creationId xmlns:a16="http://schemas.microsoft.com/office/drawing/2014/main" id="{363E704E-2E4C-351B-35FB-3396BA55E237}"/>
              </a:ext>
            </a:extLst>
          </p:cNvPr>
          <p:cNvSpPr/>
          <p:nvPr userDrawn="1"/>
        </p:nvSpPr>
        <p:spPr>
          <a:xfrm rot="16200000">
            <a:off x="-550178" y="3674674"/>
            <a:ext cx="367200" cy="3657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96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resentação 1 c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C22C86FC-90ED-4F49-8A14-427397363A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3483325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C22C86FC-90ED-4F49-8A14-427397363A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Espaço Reservado para Número de Slide 5">
            <a:extLst>
              <a:ext uri="{FF2B5EF4-FFF2-40B4-BE49-F238E27FC236}">
                <a16:creationId xmlns:a16="http://schemas.microsoft.com/office/drawing/2014/main" id="{CB363547-53D8-B3FB-FF94-90732C8CC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98696" y="6479474"/>
            <a:ext cx="794607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2570D-3F46-48A8-A1D6-2750696A520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CA382E5-4584-0038-47F8-C1AB9EF79FDE}"/>
              </a:ext>
            </a:extLst>
          </p:cNvPr>
          <p:cNvSpPr/>
          <p:nvPr userDrawn="1"/>
        </p:nvSpPr>
        <p:spPr>
          <a:xfrm rot="16200000">
            <a:off x="10762224" y="3321279"/>
            <a:ext cx="2559420" cy="21544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800">
                <a:latin typeface="Arial" panose="020B0604020202020204" pitchFamily="34" charset="0"/>
                <a:cs typeface="Arial" panose="020B0604020202020204" pitchFamily="34" charset="0"/>
              </a:rPr>
              <a:t>Material de uso exclusivo da Galeazzi &amp; Associados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0087C9F-711E-0743-B03B-BDD3139244B1}"/>
              </a:ext>
            </a:extLst>
          </p:cNvPr>
          <p:cNvCxnSpPr>
            <a:cxnSpLocks/>
          </p:cNvCxnSpPr>
          <p:nvPr userDrawn="1"/>
        </p:nvCxnSpPr>
        <p:spPr>
          <a:xfrm>
            <a:off x="362262" y="6399957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A9A811F-2E99-C03E-C2FD-A44D98083146}"/>
              </a:ext>
            </a:extLst>
          </p:cNvPr>
          <p:cNvCxnSpPr>
            <a:cxnSpLocks/>
          </p:cNvCxnSpPr>
          <p:nvPr userDrawn="1"/>
        </p:nvCxnSpPr>
        <p:spPr>
          <a:xfrm>
            <a:off x="409731" y="876928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177B2EF3-47E3-FC29-58B1-4643636A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179880"/>
            <a:ext cx="10515600" cy="303580"/>
          </a:xfrm>
        </p:spPr>
        <p:txBody>
          <a:bodyPr vert="horz">
            <a:noAutofit/>
          </a:bodyPr>
          <a:lstStyle>
            <a:lvl1pPr>
              <a:defRPr sz="18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8" name="Espaço Reservado para Texto 39">
            <a:extLst>
              <a:ext uri="{FF2B5EF4-FFF2-40B4-BE49-F238E27FC236}">
                <a16:creationId xmlns:a16="http://schemas.microsoft.com/office/drawing/2014/main" id="{38606C82-942D-347C-9B77-37D239B606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523946"/>
            <a:ext cx="10515600" cy="309562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</a:t>
            </a:r>
          </a:p>
        </p:txBody>
      </p:sp>
      <p:pic>
        <p:nvPicPr>
          <p:cNvPr id="19" name="Imagem 18" descr="Texto&#10;&#10;Descrição gerada automaticamente com confiança média">
            <a:extLst>
              <a:ext uri="{FF2B5EF4-FFF2-40B4-BE49-F238E27FC236}">
                <a16:creationId xmlns:a16="http://schemas.microsoft.com/office/drawing/2014/main" id="{310613DE-7126-7856-F768-D79F21815F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738" y="6544385"/>
            <a:ext cx="1008000" cy="17193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7878236-B4A1-6C06-C498-D7796946C29B}"/>
              </a:ext>
            </a:extLst>
          </p:cNvPr>
          <p:cNvSpPr txBox="1"/>
          <p:nvPr userDrawn="1"/>
        </p:nvSpPr>
        <p:spPr>
          <a:xfrm>
            <a:off x="337349" y="6487436"/>
            <a:ext cx="1818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>
                <a:solidFill>
                  <a:schemeClr val="accent1"/>
                </a:solidFill>
                <a:highlight>
                  <a:srgbClr val="F2F2F2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LOGOTIPO EMPRESA</a:t>
            </a:r>
          </a:p>
        </p:txBody>
      </p:sp>
      <p:sp>
        <p:nvSpPr>
          <p:cNvPr id="13" name="Rectangle 50">
            <a:extLst>
              <a:ext uri="{FF2B5EF4-FFF2-40B4-BE49-F238E27FC236}">
                <a16:creationId xmlns:a16="http://schemas.microsoft.com/office/drawing/2014/main" id="{71C861D0-9E3B-AC73-87D2-75A16DB0CA7A}"/>
              </a:ext>
            </a:extLst>
          </p:cNvPr>
          <p:cNvSpPr/>
          <p:nvPr userDrawn="1"/>
        </p:nvSpPr>
        <p:spPr>
          <a:xfrm rot="16200000">
            <a:off x="-550178" y="525580"/>
            <a:ext cx="367200" cy="36573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1876864D-148F-7C58-59C2-A3E3F9CAB2BE}"/>
              </a:ext>
            </a:extLst>
          </p:cNvPr>
          <p:cNvSpPr/>
          <p:nvPr userDrawn="1"/>
        </p:nvSpPr>
        <p:spPr>
          <a:xfrm rot="16200000">
            <a:off x="-550178" y="1575278"/>
            <a:ext cx="367200" cy="36573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A99938D3-8DF1-48BF-7A2F-963AF9A3A142}"/>
              </a:ext>
            </a:extLst>
          </p:cNvPr>
          <p:cNvSpPr/>
          <p:nvPr userDrawn="1"/>
        </p:nvSpPr>
        <p:spPr>
          <a:xfrm rot="16200000">
            <a:off x="-550178" y="1050429"/>
            <a:ext cx="367200" cy="36573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FEB8463E-6B54-ED5A-79C2-8B4C11BFEE23}"/>
              </a:ext>
            </a:extLst>
          </p:cNvPr>
          <p:cNvSpPr/>
          <p:nvPr userDrawn="1"/>
        </p:nvSpPr>
        <p:spPr>
          <a:xfrm rot="16200000">
            <a:off x="-550178" y="2100127"/>
            <a:ext cx="367200" cy="36573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50">
            <a:extLst>
              <a:ext uri="{FF2B5EF4-FFF2-40B4-BE49-F238E27FC236}">
                <a16:creationId xmlns:a16="http://schemas.microsoft.com/office/drawing/2014/main" id="{164C79CC-2A47-9699-06FB-38795D21513F}"/>
              </a:ext>
            </a:extLst>
          </p:cNvPr>
          <p:cNvSpPr/>
          <p:nvPr userDrawn="1"/>
        </p:nvSpPr>
        <p:spPr>
          <a:xfrm rot="16200000">
            <a:off x="-550178" y="2624976"/>
            <a:ext cx="367200" cy="36573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50">
            <a:extLst>
              <a:ext uri="{FF2B5EF4-FFF2-40B4-BE49-F238E27FC236}">
                <a16:creationId xmlns:a16="http://schemas.microsoft.com/office/drawing/2014/main" id="{1EB45284-F457-BF02-82EF-E60C2041E429}"/>
              </a:ext>
            </a:extLst>
          </p:cNvPr>
          <p:cNvSpPr/>
          <p:nvPr userDrawn="1"/>
        </p:nvSpPr>
        <p:spPr>
          <a:xfrm rot="16200000">
            <a:off x="-550178" y="731"/>
            <a:ext cx="367200" cy="3657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DC3EF2D-0771-53C1-22B8-6F4C455F06F2}"/>
              </a:ext>
            </a:extLst>
          </p:cNvPr>
          <p:cNvSpPr/>
          <p:nvPr userDrawn="1"/>
        </p:nvSpPr>
        <p:spPr>
          <a:xfrm>
            <a:off x="-550178" y="3149094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26" name="Rectangle 50">
            <a:extLst>
              <a:ext uri="{FF2B5EF4-FFF2-40B4-BE49-F238E27FC236}">
                <a16:creationId xmlns:a16="http://schemas.microsoft.com/office/drawing/2014/main" id="{A78DE58B-468C-2C00-74D3-044C077DC441}"/>
              </a:ext>
            </a:extLst>
          </p:cNvPr>
          <p:cNvSpPr/>
          <p:nvPr userDrawn="1"/>
        </p:nvSpPr>
        <p:spPr>
          <a:xfrm rot="16200000">
            <a:off x="-550178" y="4199523"/>
            <a:ext cx="367200" cy="3657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50">
            <a:extLst>
              <a:ext uri="{FF2B5EF4-FFF2-40B4-BE49-F238E27FC236}">
                <a16:creationId xmlns:a16="http://schemas.microsoft.com/office/drawing/2014/main" id="{5525E90D-4091-9CD4-22AD-433E461867DE}"/>
              </a:ext>
            </a:extLst>
          </p:cNvPr>
          <p:cNvSpPr/>
          <p:nvPr userDrawn="1"/>
        </p:nvSpPr>
        <p:spPr>
          <a:xfrm rot="16200000">
            <a:off x="-550178" y="5249221"/>
            <a:ext cx="367200" cy="365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50">
            <a:extLst>
              <a:ext uri="{FF2B5EF4-FFF2-40B4-BE49-F238E27FC236}">
                <a16:creationId xmlns:a16="http://schemas.microsoft.com/office/drawing/2014/main" id="{0783F81D-0F57-A9E7-139B-C87586BC7327}"/>
              </a:ext>
            </a:extLst>
          </p:cNvPr>
          <p:cNvSpPr/>
          <p:nvPr userDrawn="1"/>
        </p:nvSpPr>
        <p:spPr>
          <a:xfrm rot="16200000">
            <a:off x="-550178" y="4724372"/>
            <a:ext cx="367200" cy="365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50">
            <a:extLst>
              <a:ext uri="{FF2B5EF4-FFF2-40B4-BE49-F238E27FC236}">
                <a16:creationId xmlns:a16="http://schemas.microsoft.com/office/drawing/2014/main" id="{138D2BDC-2305-7BEB-CFD6-C2739C69B789}"/>
              </a:ext>
            </a:extLst>
          </p:cNvPr>
          <p:cNvSpPr/>
          <p:nvPr userDrawn="1"/>
        </p:nvSpPr>
        <p:spPr>
          <a:xfrm rot="16200000">
            <a:off x="-550178" y="5774070"/>
            <a:ext cx="367200" cy="365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50">
            <a:extLst>
              <a:ext uri="{FF2B5EF4-FFF2-40B4-BE49-F238E27FC236}">
                <a16:creationId xmlns:a16="http://schemas.microsoft.com/office/drawing/2014/main" id="{DCF04767-2E55-4040-74FC-8D5FCDD7776A}"/>
              </a:ext>
            </a:extLst>
          </p:cNvPr>
          <p:cNvSpPr/>
          <p:nvPr userDrawn="1"/>
        </p:nvSpPr>
        <p:spPr>
          <a:xfrm rot="16200000">
            <a:off x="-550178" y="6298920"/>
            <a:ext cx="367200" cy="3657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50">
            <a:extLst>
              <a:ext uri="{FF2B5EF4-FFF2-40B4-BE49-F238E27FC236}">
                <a16:creationId xmlns:a16="http://schemas.microsoft.com/office/drawing/2014/main" id="{4510131B-C225-E67E-B7E1-CA1A488DEEB9}"/>
              </a:ext>
            </a:extLst>
          </p:cNvPr>
          <p:cNvSpPr/>
          <p:nvPr userDrawn="1"/>
        </p:nvSpPr>
        <p:spPr>
          <a:xfrm rot="16200000">
            <a:off x="-550178" y="3674674"/>
            <a:ext cx="367200" cy="3657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697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resentação 1 s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C22C86FC-90ED-4F49-8A14-427397363A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33483325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C22C86FC-90ED-4F49-8A14-427397363A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Espaço Reservado para Número de Slide 5">
            <a:extLst>
              <a:ext uri="{FF2B5EF4-FFF2-40B4-BE49-F238E27FC236}">
                <a16:creationId xmlns:a16="http://schemas.microsoft.com/office/drawing/2014/main" id="{CB363547-53D8-B3FB-FF94-90732C8CC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98696" y="6479474"/>
            <a:ext cx="794607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2570D-3F46-48A8-A1D6-2750696A520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CA382E5-4584-0038-47F8-C1AB9EF79FDE}"/>
              </a:ext>
            </a:extLst>
          </p:cNvPr>
          <p:cNvSpPr/>
          <p:nvPr userDrawn="1"/>
        </p:nvSpPr>
        <p:spPr>
          <a:xfrm rot="16200000">
            <a:off x="10762224" y="3321279"/>
            <a:ext cx="2559420" cy="21544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800">
                <a:latin typeface="Arial" panose="020B0604020202020204" pitchFamily="34" charset="0"/>
                <a:cs typeface="Arial" panose="020B0604020202020204" pitchFamily="34" charset="0"/>
              </a:rPr>
              <a:t>Material de uso exclusivo da Galeazzi &amp; Associados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0087C9F-711E-0743-B03B-BDD3139244B1}"/>
              </a:ext>
            </a:extLst>
          </p:cNvPr>
          <p:cNvCxnSpPr>
            <a:cxnSpLocks/>
          </p:cNvCxnSpPr>
          <p:nvPr userDrawn="1"/>
        </p:nvCxnSpPr>
        <p:spPr>
          <a:xfrm>
            <a:off x="362262" y="6399957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A9A811F-2E99-C03E-C2FD-A44D98083146}"/>
              </a:ext>
            </a:extLst>
          </p:cNvPr>
          <p:cNvCxnSpPr>
            <a:cxnSpLocks/>
          </p:cNvCxnSpPr>
          <p:nvPr userDrawn="1"/>
        </p:nvCxnSpPr>
        <p:spPr>
          <a:xfrm>
            <a:off x="409731" y="876928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177B2EF3-47E3-FC29-58B1-4643636A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179880"/>
            <a:ext cx="10515600" cy="303580"/>
          </a:xfrm>
        </p:spPr>
        <p:txBody>
          <a:bodyPr vert="horz">
            <a:noAutofit/>
          </a:bodyPr>
          <a:lstStyle>
            <a:lvl1pPr>
              <a:defRPr sz="18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8" name="Espaço Reservado para Texto 39">
            <a:extLst>
              <a:ext uri="{FF2B5EF4-FFF2-40B4-BE49-F238E27FC236}">
                <a16:creationId xmlns:a16="http://schemas.microsoft.com/office/drawing/2014/main" id="{38606C82-942D-347C-9B77-37D239B606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523946"/>
            <a:ext cx="10515600" cy="309562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</a:t>
            </a:r>
          </a:p>
        </p:txBody>
      </p:sp>
      <p:pic>
        <p:nvPicPr>
          <p:cNvPr id="19" name="Imagem 18" descr="Texto&#10;&#10;Descrição gerada automaticamente com confiança média">
            <a:extLst>
              <a:ext uri="{FF2B5EF4-FFF2-40B4-BE49-F238E27FC236}">
                <a16:creationId xmlns:a16="http://schemas.microsoft.com/office/drawing/2014/main" id="{310613DE-7126-7856-F768-D79F21815F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738" y="6544385"/>
            <a:ext cx="1008000" cy="171933"/>
          </a:xfrm>
          <a:prstGeom prst="rect">
            <a:avLst/>
          </a:prstGeom>
        </p:spPr>
      </p:pic>
      <p:sp>
        <p:nvSpPr>
          <p:cNvPr id="11" name="Rectangle 50">
            <a:extLst>
              <a:ext uri="{FF2B5EF4-FFF2-40B4-BE49-F238E27FC236}">
                <a16:creationId xmlns:a16="http://schemas.microsoft.com/office/drawing/2014/main" id="{9B95BC4D-2985-4E7A-A469-B252C987DC2D}"/>
              </a:ext>
            </a:extLst>
          </p:cNvPr>
          <p:cNvSpPr/>
          <p:nvPr userDrawn="1"/>
        </p:nvSpPr>
        <p:spPr>
          <a:xfrm rot="16200000">
            <a:off x="-550178" y="525580"/>
            <a:ext cx="367200" cy="36573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50">
            <a:extLst>
              <a:ext uri="{FF2B5EF4-FFF2-40B4-BE49-F238E27FC236}">
                <a16:creationId xmlns:a16="http://schemas.microsoft.com/office/drawing/2014/main" id="{78C04EAC-53DF-F1BD-7910-5C8E2AAE7BE6}"/>
              </a:ext>
            </a:extLst>
          </p:cNvPr>
          <p:cNvSpPr/>
          <p:nvPr userDrawn="1"/>
        </p:nvSpPr>
        <p:spPr>
          <a:xfrm rot="16200000">
            <a:off x="-550178" y="1575278"/>
            <a:ext cx="367200" cy="36573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50">
            <a:extLst>
              <a:ext uri="{FF2B5EF4-FFF2-40B4-BE49-F238E27FC236}">
                <a16:creationId xmlns:a16="http://schemas.microsoft.com/office/drawing/2014/main" id="{1429C5D7-E1FF-D108-F277-B6CB99F7D431}"/>
              </a:ext>
            </a:extLst>
          </p:cNvPr>
          <p:cNvSpPr/>
          <p:nvPr userDrawn="1"/>
        </p:nvSpPr>
        <p:spPr>
          <a:xfrm rot="16200000">
            <a:off x="-550178" y="1050429"/>
            <a:ext cx="367200" cy="36573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5ACE25C8-152E-E69A-A2A3-D84B5257401D}"/>
              </a:ext>
            </a:extLst>
          </p:cNvPr>
          <p:cNvSpPr/>
          <p:nvPr userDrawn="1"/>
        </p:nvSpPr>
        <p:spPr>
          <a:xfrm rot="16200000">
            <a:off x="-550178" y="2100127"/>
            <a:ext cx="367200" cy="36573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BB9EE97C-3F3D-2302-F179-3F7D1560A232}"/>
              </a:ext>
            </a:extLst>
          </p:cNvPr>
          <p:cNvSpPr/>
          <p:nvPr userDrawn="1"/>
        </p:nvSpPr>
        <p:spPr>
          <a:xfrm rot="16200000">
            <a:off x="-550178" y="2624976"/>
            <a:ext cx="367200" cy="36573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50">
            <a:extLst>
              <a:ext uri="{FF2B5EF4-FFF2-40B4-BE49-F238E27FC236}">
                <a16:creationId xmlns:a16="http://schemas.microsoft.com/office/drawing/2014/main" id="{8A8D6EFF-46D0-F7DF-2BBF-755C70175881}"/>
              </a:ext>
            </a:extLst>
          </p:cNvPr>
          <p:cNvSpPr/>
          <p:nvPr userDrawn="1"/>
        </p:nvSpPr>
        <p:spPr>
          <a:xfrm rot="16200000">
            <a:off x="-550178" y="731"/>
            <a:ext cx="367200" cy="3657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58903CF-FC06-B269-3379-52BE3B25673E}"/>
              </a:ext>
            </a:extLst>
          </p:cNvPr>
          <p:cNvSpPr/>
          <p:nvPr userDrawn="1"/>
        </p:nvSpPr>
        <p:spPr>
          <a:xfrm>
            <a:off x="-550178" y="3149094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25" name="Rectangle 50">
            <a:extLst>
              <a:ext uri="{FF2B5EF4-FFF2-40B4-BE49-F238E27FC236}">
                <a16:creationId xmlns:a16="http://schemas.microsoft.com/office/drawing/2014/main" id="{99263208-88D4-8A23-E706-247FA8CF61BF}"/>
              </a:ext>
            </a:extLst>
          </p:cNvPr>
          <p:cNvSpPr/>
          <p:nvPr userDrawn="1"/>
        </p:nvSpPr>
        <p:spPr>
          <a:xfrm rot="16200000">
            <a:off x="-550178" y="4199523"/>
            <a:ext cx="367200" cy="3657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50">
            <a:extLst>
              <a:ext uri="{FF2B5EF4-FFF2-40B4-BE49-F238E27FC236}">
                <a16:creationId xmlns:a16="http://schemas.microsoft.com/office/drawing/2014/main" id="{A907F79B-5EB2-BE7C-AD8C-EFF665A29AA3}"/>
              </a:ext>
            </a:extLst>
          </p:cNvPr>
          <p:cNvSpPr/>
          <p:nvPr userDrawn="1"/>
        </p:nvSpPr>
        <p:spPr>
          <a:xfrm rot="16200000">
            <a:off x="-550178" y="5249221"/>
            <a:ext cx="367200" cy="365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50">
            <a:extLst>
              <a:ext uri="{FF2B5EF4-FFF2-40B4-BE49-F238E27FC236}">
                <a16:creationId xmlns:a16="http://schemas.microsoft.com/office/drawing/2014/main" id="{A558CCF2-007C-F630-3D1E-EA4167D80A63}"/>
              </a:ext>
            </a:extLst>
          </p:cNvPr>
          <p:cNvSpPr/>
          <p:nvPr userDrawn="1"/>
        </p:nvSpPr>
        <p:spPr>
          <a:xfrm rot="16200000">
            <a:off x="-550178" y="4724372"/>
            <a:ext cx="367200" cy="365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50">
            <a:extLst>
              <a:ext uri="{FF2B5EF4-FFF2-40B4-BE49-F238E27FC236}">
                <a16:creationId xmlns:a16="http://schemas.microsoft.com/office/drawing/2014/main" id="{43074F0A-D60E-4336-2ECF-FD282A57DF6A}"/>
              </a:ext>
            </a:extLst>
          </p:cNvPr>
          <p:cNvSpPr/>
          <p:nvPr userDrawn="1"/>
        </p:nvSpPr>
        <p:spPr>
          <a:xfrm rot="16200000">
            <a:off x="-550178" y="5774070"/>
            <a:ext cx="367200" cy="365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50">
            <a:extLst>
              <a:ext uri="{FF2B5EF4-FFF2-40B4-BE49-F238E27FC236}">
                <a16:creationId xmlns:a16="http://schemas.microsoft.com/office/drawing/2014/main" id="{0163A7E9-A14C-1DA6-27DF-059FC8B147DA}"/>
              </a:ext>
            </a:extLst>
          </p:cNvPr>
          <p:cNvSpPr/>
          <p:nvPr userDrawn="1"/>
        </p:nvSpPr>
        <p:spPr>
          <a:xfrm rot="16200000">
            <a:off x="-550178" y="6298920"/>
            <a:ext cx="367200" cy="3657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50">
            <a:extLst>
              <a:ext uri="{FF2B5EF4-FFF2-40B4-BE49-F238E27FC236}">
                <a16:creationId xmlns:a16="http://schemas.microsoft.com/office/drawing/2014/main" id="{11DBFD9B-0955-6895-F372-0EA1629F3F58}"/>
              </a:ext>
            </a:extLst>
          </p:cNvPr>
          <p:cNvSpPr/>
          <p:nvPr userDrawn="1"/>
        </p:nvSpPr>
        <p:spPr>
          <a:xfrm rot="16200000">
            <a:off x="-550178" y="3674674"/>
            <a:ext cx="367200" cy="3657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3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 2 c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C22C86FC-90ED-4F49-8A14-427397363A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6289367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C22C86FC-90ED-4F49-8A14-427397363A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Espaço Reservado para Número de Slide 5">
            <a:extLst>
              <a:ext uri="{FF2B5EF4-FFF2-40B4-BE49-F238E27FC236}">
                <a16:creationId xmlns:a16="http://schemas.microsoft.com/office/drawing/2014/main" id="{CB363547-53D8-B3FB-FF94-90732C8CC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98696" y="6479474"/>
            <a:ext cx="794607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2570D-3F46-48A8-A1D6-2750696A520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CA382E5-4584-0038-47F8-C1AB9EF79FDE}"/>
              </a:ext>
            </a:extLst>
          </p:cNvPr>
          <p:cNvSpPr/>
          <p:nvPr userDrawn="1"/>
        </p:nvSpPr>
        <p:spPr>
          <a:xfrm rot="16200000">
            <a:off x="10762224" y="3321279"/>
            <a:ext cx="2559420" cy="21544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800">
                <a:latin typeface="Arial" panose="020B0604020202020204" pitchFamily="34" charset="0"/>
                <a:cs typeface="Arial" panose="020B0604020202020204" pitchFamily="34" charset="0"/>
              </a:rPr>
              <a:t>Material de uso exclusivo da Galeazzi &amp; Associados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0087C9F-711E-0743-B03B-BDD3139244B1}"/>
              </a:ext>
            </a:extLst>
          </p:cNvPr>
          <p:cNvCxnSpPr>
            <a:cxnSpLocks/>
          </p:cNvCxnSpPr>
          <p:nvPr userDrawn="1"/>
        </p:nvCxnSpPr>
        <p:spPr>
          <a:xfrm>
            <a:off x="362262" y="6399957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177B2EF3-47E3-FC29-58B1-4643636A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>
            <a:noAutofit/>
          </a:bodyPr>
          <a:lstStyle>
            <a:lvl1pPr>
              <a:defRPr sz="18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8" name="Espaço Reservado para Texto 39">
            <a:extLst>
              <a:ext uri="{FF2B5EF4-FFF2-40B4-BE49-F238E27FC236}">
                <a16:creationId xmlns:a16="http://schemas.microsoft.com/office/drawing/2014/main" id="{38606C82-942D-347C-9B77-37D239B606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257CC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</a:t>
            </a:r>
          </a:p>
          <a:p>
            <a:pPr lvl="0"/>
            <a:endParaRPr lang="pt-BR"/>
          </a:p>
        </p:txBody>
      </p:sp>
      <p:pic>
        <p:nvPicPr>
          <p:cNvPr id="19" name="Imagem 18" descr="Texto&#10;&#10;Descrição gerada automaticamente com confiança média">
            <a:extLst>
              <a:ext uri="{FF2B5EF4-FFF2-40B4-BE49-F238E27FC236}">
                <a16:creationId xmlns:a16="http://schemas.microsoft.com/office/drawing/2014/main" id="{310613DE-7126-7856-F768-D79F21815F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738" y="6544385"/>
            <a:ext cx="1008000" cy="171933"/>
          </a:xfrm>
          <a:prstGeom prst="rect">
            <a:avLst/>
          </a:prstGeom>
        </p:spPr>
      </p:pic>
      <p:cxnSp>
        <p:nvCxnSpPr>
          <p:cNvPr id="2" name="Straight Connector 31">
            <a:extLst>
              <a:ext uri="{FF2B5EF4-FFF2-40B4-BE49-F238E27FC236}">
                <a16:creationId xmlns:a16="http://schemas.microsoft.com/office/drawing/2014/main" id="{01DDE0D3-DC36-31D2-0D4D-958338552F71}"/>
              </a:ext>
            </a:extLst>
          </p:cNvPr>
          <p:cNvCxnSpPr>
            <a:cxnSpLocks/>
          </p:cNvCxnSpPr>
          <p:nvPr userDrawn="1"/>
        </p:nvCxnSpPr>
        <p:spPr>
          <a:xfrm>
            <a:off x="337350" y="911479"/>
            <a:ext cx="64807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BAB9F0F7-01D0-4DC4-CE09-330B632D3766}"/>
              </a:ext>
            </a:extLst>
          </p:cNvPr>
          <p:cNvSpPr txBox="1"/>
          <p:nvPr userDrawn="1"/>
        </p:nvSpPr>
        <p:spPr>
          <a:xfrm>
            <a:off x="337349" y="6487436"/>
            <a:ext cx="1818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>
                <a:solidFill>
                  <a:schemeClr val="accent1"/>
                </a:solidFill>
                <a:highlight>
                  <a:srgbClr val="F2F2F2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LOGOTIPO EMPRESA</a:t>
            </a:r>
          </a:p>
        </p:txBody>
      </p:sp>
      <p:sp>
        <p:nvSpPr>
          <p:cNvPr id="5" name="Rectangle 50">
            <a:extLst>
              <a:ext uri="{FF2B5EF4-FFF2-40B4-BE49-F238E27FC236}">
                <a16:creationId xmlns:a16="http://schemas.microsoft.com/office/drawing/2014/main" id="{61CC4D51-3E30-AC32-6C3A-2A935FE45A3A}"/>
              </a:ext>
            </a:extLst>
          </p:cNvPr>
          <p:cNvSpPr/>
          <p:nvPr userDrawn="1"/>
        </p:nvSpPr>
        <p:spPr>
          <a:xfrm rot="16200000">
            <a:off x="-550178" y="525580"/>
            <a:ext cx="367200" cy="36573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0">
            <a:extLst>
              <a:ext uri="{FF2B5EF4-FFF2-40B4-BE49-F238E27FC236}">
                <a16:creationId xmlns:a16="http://schemas.microsoft.com/office/drawing/2014/main" id="{65F527BC-F121-17BD-0502-6C769B3A2319}"/>
              </a:ext>
            </a:extLst>
          </p:cNvPr>
          <p:cNvSpPr/>
          <p:nvPr userDrawn="1"/>
        </p:nvSpPr>
        <p:spPr>
          <a:xfrm rot="16200000">
            <a:off x="-550178" y="1575278"/>
            <a:ext cx="367200" cy="36573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50">
            <a:extLst>
              <a:ext uri="{FF2B5EF4-FFF2-40B4-BE49-F238E27FC236}">
                <a16:creationId xmlns:a16="http://schemas.microsoft.com/office/drawing/2014/main" id="{EE98EB65-A98E-233E-C7C6-F0B13F5815E4}"/>
              </a:ext>
            </a:extLst>
          </p:cNvPr>
          <p:cNvSpPr/>
          <p:nvPr userDrawn="1"/>
        </p:nvSpPr>
        <p:spPr>
          <a:xfrm rot="16200000">
            <a:off x="-550178" y="1050429"/>
            <a:ext cx="367200" cy="36573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50">
            <a:extLst>
              <a:ext uri="{FF2B5EF4-FFF2-40B4-BE49-F238E27FC236}">
                <a16:creationId xmlns:a16="http://schemas.microsoft.com/office/drawing/2014/main" id="{F1C928E5-2035-1ACF-5610-EE903813B562}"/>
              </a:ext>
            </a:extLst>
          </p:cNvPr>
          <p:cNvSpPr/>
          <p:nvPr userDrawn="1"/>
        </p:nvSpPr>
        <p:spPr>
          <a:xfrm rot="16200000">
            <a:off x="-550178" y="2100127"/>
            <a:ext cx="367200" cy="36573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50">
            <a:extLst>
              <a:ext uri="{FF2B5EF4-FFF2-40B4-BE49-F238E27FC236}">
                <a16:creationId xmlns:a16="http://schemas.microsoft.com/office/drawing/2014/main" id="{1179D30C-41AB-26AA-8B8A-A59F5E0E61E3}"/>
              </a:ext>
            </a:extLst>
          </p:cNvPr>
          <p:cNvSpPr/>
          <p:nvPr userDrawn="1"/>
        </p:nvSpPr>
        <p:spPr>
          <a:xfrm rot="16200000">
            <a:off x="-550178" y="731"/>
            <a:ext cx="367200" cy="3657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0691338-EF7E-A85A-C9EB-CCF845A7DE48}"/>
              </a:ext>
            </a:extLst>
          </p:cNvPr>
          <p:cNvSpPr/>
          <p:nvPr userDrawn="1"/>
        </p:nvSpPr>
        <p:spPr>
          <a:xfrm>
            <a:off x="-550178" y="3149094"/>
            <a:ext cx="367200" cy="36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3" name="Rectangle 50">
            <a:extLst>
              <a:ext uri="{FF2B5EF4-FFF2-40B4-BE49-F238E27FC236}">
                <a16:creationId xmlns:a16="http://schemas.microsoft.com/office/drawing/2014/main" id="{93DCB2B4-124B-E813-F00D-CD4BBE01BAD9}"/>
              </a:ext>
            </a:extLst>
          </p:cNvPr>
          <p:cNvSpPr/>
          <p:nvPr userDrawn="1"/>
        </p:nvSpPr>
        <p:spPr>
          <a:xfrm rot="16200000">
            <a:off x="-550178" y="4199523"/>
            <a:ext cx="367200" cy="3657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50">
            <a:extLst>
              <a:ext uri="{FF2B5EF4-FFF2-40B4-BE49-F238E27FC236}">
                <a16:creationId xmlns:a16="http://schemas.microsoft.com/office/drawing/2014/main" id="{7C1B7EC8-66B1-8F41-1E39-700E644A7959}"/>
              </a:ext>
            </a:extLst>
          </p:cNvPr>
          <p:cNvSpPr/>
          <p:nvPr userDrawn="1"/>
        </p:nvSpPr>
        <p:spPr>
          <a:xfrm rot="16200000">
            <a:off x="-550178" y="5249221"/>
            <a:ext cx="367200" cy="365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50">
            <a:extLst>
              <a:ext uri="{FF2B5EF4-FFF2-40B4-BE49-F238E27FC236}">
                <a16:creationId xmlns:a16="http://schemas.microsoft.com/office/drawing/2014/main" id="{2080D523-5783-2D7C-6DE4-435BD1F5C974}"/>
              </a:ext>
            </a:extLst>
          </p:cNvPr>
          <p:cNvSpPr/>
          <p:nvPr userDrawn="1"/>
        </p:nvSpPr>
        <p:spPr>
          <a:xfrm rot="16200000">
            <a:off x="-550178" y="4724372"/>
            <a:ext cx="367200" cy="365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50">
            <a:extLst>
              <a:ext uri="{FF2B5EF4-FFF2-40B4-BE49-F238E27FC236}">
                <a16:creationId xmlns:a16="http://schemas.microsoft.com/office/drawing/2014/main" id="{9A75CFD9-BF38-B25D-F345-E1929916F692}"/>
              </a:ext>
            </a:extLst>
          </p:cNvPr>
          <p:cNvSpPr/>
          <p:nvPr userDrawn="1"/>
        </p:nvSpPr>
        <p:spPr>
          <a:xfrm rot="16200000">
            <a:off x="-550178" y="5774070"/>
            <a:ext cx="367200" cy="365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50">
            <a:extLst>
              <a:ext uri="{FF2B5EF4-FFF2-40B4-BE49-F238E27FC236}">
                <a16:creationId xmlns:a16="http://schemas.microsoft.com/office/drawing/2014/main" id="{4783FC8B-CECE-37CF-20EC-7649F4DC4186}"/>
              </a:ext>
            </a:extLst>
          </p:cNvPr>
          <p:cNvSpPr/>
          <p:nvPr userDrawn="1"/>
        </p:nvSpPr>
        <p:spPr>
          <a:xfrm rot="16200000">
            <a:off x="-550178" y="6298920"/>
            <a:ext cx="367200" cy="3657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50">
            <a:extLst>
              <a:ext uri="{FF2B5EF4-FFF2-40B4-BE49-F238E27FC236}">
                <a16:creationId xmlns:a16="http://schemas.microsoft.com/office/drawing/2014/main" id="{2D828870-EBC6-33E9-9921-4A8F9EF266BD}"/>
              </a:ext>
            </a:extLst>
          </p:cNvPr>
          <p:cNvSpPr/>
          <p:nvPr userDrawn="1"/>
        </p:nvSpPr>
        <p:spPr>
          <a:xfrm rot="16200000">
            <a:off x="-550178" y="3674674"/>
            <a:ext cx="367200" cy="3657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371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 2 s/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>
            <a:extLst>
              <a:ext uri="{FF2B5EF4-FFF2-40B4-BE49-F238E27FC236}">
                <a16:creationId xmlns:a16="http://schemas.microsoft.com/office/drawing/2014/main" id="{C22C86FC-90ED-4F49-8A14-427397363A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36289367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3" name="Objeto 2" hidden="1">
                        <a:extLst>
                          <a:ext uri="{FF2B5EF4-FFF2-40B4-BE49-F238E27FC236}">
                            <a16:creationId xmlns:a16="http://schemas.microsoft.com/office/drawing/2014/main" id="{C22C86FC-90ED-4F49-8A14-427397363A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Espaço Reservado para Número de Slide 5">
            <a:extLst>
              <a:ext uri="{FF2B5EF4-FFF2-40B4-BE49-F238E27FC236}">
                <a16:creationId xmlns:a16="http://schemas.microsoft.com/office/drawing/2014/main" id="{CB363547-53D8-B3FB-FF94-90732C8CC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698696" y="6479474"/>
            <a:ext cx="794607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2570D-3F46-48A8-A1D6-2750696A520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CA382E5-4584-0038-47F8-C1AB9EF79FDE}"/>
              </a:ext>
            </a:extLst>
          </p:cNvPr>
          <p:cNvSpPr/>
          <p:nvPr userDrawn="1"/>
        </p:nvSpPr>
        <p:spPr>
          <a:xfrm rot="16200000">
            <a:off x="10762224" y="3321279"/>
            <a:ext cx="2559420" cy="21544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BR" sz="800">
                <a:latin typeface="Arial" panose="020B0604020202020204" pitchFamily="34" charset="0"/>
                <a:cs typeface="Arial" panose="020B0604020202020204" pitchFamily="34" charset="0"/>
              </a:rPr>
              <a:t>Material de uso exclusivo da Galeazzi &amp; Associados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0087C9F-711E-0743-B03B-BDD3139244B1}"/>
              </a:ext>
            </a:extLst>
          </p:cNvPr>
          <p:cNvCxnSpPr>
            <a:cxnSpLocks/>
          </p:cNvCxnSpPr>
          <p:nvPr userDrawn="1"/>
        </p:nvCxnSpPr>
        <p:spPr>
          <a:xfrm>
            <a:off x="362262" y="6399957"/>
            <a:ext cx="1146747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177B2EF3-47E3-FC29-58B1-4643636A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>
            <a:noAutofit/>
          </a:bodyPr>
          <a:lstStyle>
            <a:lvl1pPr>
              <a:defRPr sz="18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8" name="Espaço Reservado para Texto 39">
            <a:extLst>
              <a:ext uri="{FF2B5EF4-FFF2-40B4-BE49-F238E27FC236}">
                <a16:creationId xmlns:a16="http://schemas.microsoft.com/office/drawing/2014/main" id="{38606C82-942D-347C-9B77-37D239B606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257CCA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Clique para editar os estilos de texto Mestre</a:t>
            </a:r>
          </a:p>
          <a:p>
            <a:pPr lvl="0"/>
            <a:endParaRPr lang="pt-BR"/>
          </a:p>
        </p:txBody>
      </p:sp>
      <p:pic>
        <p:nvPicPr>
          <p:cNvPr id="19" name="Imagem 18" descr="Texto&#10;&#10;Descrição gerada automaticamente com confiança média">
            <a:extLst>
              <a:ext uri="{FF2B5EF4-FFF2-40B4-BE49-F238E27FC236}">
                <a16:creationId xmlns:a16="http://schemas.microsoft.com/office/drawing/2014/main" id="{310613DE-7126-7856-F768-D79F21815F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738" y="6544385"/>
            <a:ext cx="1008000" cy="171933"/>
          </a:xfrm>
          <a:prstGeom prst="rect">
            <a:avLst/>
          </a:prstGeom>
        </p:spPr>
      </p:pic>
      <p:cxnSp>
        <p:nvCxnSpPr>
          <p:cNvPr id="2" name="Straight Connector 31">
            <a:extLst>
              <a:ext uri="{FF2B5EF4-FFF2-40B4-BE49-F238E27FC236}">
                <a16:creationId xmlns:a16="http://schemas.microsoft.com/office/drawing/2014/main" id="{01DDE0D3-DC36-31D2-0D4D-958338552F71}"/>
              </a:ext>
            </a:extLst>
          </p:cNvPr>
          <p:cNvCxnSpPr>
            <a:cxnSpLocks/>
          </p:cNvCxnSpPr>
          <p:nvPr userDrawn="1"/>
        </p:nvCxnSpPr>
        <p:spPr>
          <a:xfrm>
            <a:off x="337350" y="911479"/>
            <a:ext cx="64807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50">
            <a:extLst>
              <a:ext uri="{FF2B5EF4-FFF2-40B4-BE49-F238E27FC236}">
                <a16:creationId xmlns:a16="http://schemas.microsoft.com/office/drawing/2014/main" id="{5CE0516F-0D1D-D090-D03A-437390B384FA}"/>
              </a:ext>
            </a:extLst>
          </p:cNvPr>
          <p:cNvSpPr/>
          <p:nvPr userDrawn="1"/>
        </p:nvSpPr>
        <p:spPr>
          <a:xfrm rot="16200000">
            <a:off x="-550178" y="525580"/>
            <a:ext cx="367200" cy="36573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0">
            <a:extLst>
              <a:ext uri="{FF2B5EF4-FFF2-40B4-BE49-F238E27FC236}">
                <a16:creationId xmlns:a16="http://schemas.microsoft.com/office/drawing/2014/main" id="{44B5C052-F4F0-73FD-A6D4-DD736BC78D25}"/>
              </a:ext>
            </a:extLst>
          </p:cNvPr>
          <p:cNvSpPr/>
          <p:nvPr userDrawn="1"/>
        </p:nvSpPr>
        <p:spPr>
          <a:xfrm rot="16200000">
            <a:off x="-550178" y="1575278"/>
            <a:ext cx="367200" cy="36573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50">
            <a:extLst>
              <a:ext uri="{FF2B5EF4-FFF2-40B4-BE49-F238E27FC236}">
                <a16:creationId xmlns:a16="http://schemas.microsoft.com/office/drawing/2014/main" id="{F75AE8FA-8AED-96B0-3042-F8ED531DAC74}"/>
              </a:ext>
            </a:extLst>
          </p:cNvPr>
          <p:cNvSpPr/>
          <p:nvPr userDrawn="1"/>
        </p:nvSpPr>
        <p:spPr>
          <a:xfrm rot="16200000">
            <a:off x="-550178" y="1050429"/>
            <a:ext cx="367200" cy="365738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50">
            <a:extLst>
              <a:ext uri="{FF2B5EF4-FFF2-40B4-BE49-F238E27FC236}">
                <a16:creationId xmlns:a16="http://schemas.microsoft.com/office/drawing/2014/main" id="{E5D8BCEA-D718-3216-157D-09D056882522}"/>
              </a:ext>
            </a:extLst>
          </p:cNvPr>
          <p:cNvSpPr/>
          <p:nvPr userDrawn="1"/>
        </p:nvSpPr>
        <p:spPr>
          <a:xfrm rot="16200000">
            <a:off x="-550178" y="2100127"/>
            <a:ext cx="367200" cy="36573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50">
            <a:extLst>
              <a:ext uri="{FF2B5EF4-FFF2-40B4-BE49-F238E27FC236}">
                <a16:creationId xmlns:a16="http://schemas.microsoft.com/office/drawing/2014/main" id="{366FD49D-54AE-CE76-0C93-6911EF67256A}"/>
              </a:ext>
            </a:extLst>
          </p:cNvPr>
          <p:cNvSpPr/>
          <p:nvPr userDrawn="1"/>
        </p:nvSpPr>
        <p:spPr>
          <a:xfrm rot="16200000">
            <a:off x="-550178" y="2624976"/>
            <a:ext cx="367200" cy="365738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50">
            <a:extLst>
              <a:ext uri="{FF2B5EF4-FFF2-40B4-BE49-F238E27FC236}">
                <a16:creationId xmlns:a16="http://schemas.microsoft.com/office/drawing/2014/main" id="{825A0070-5735-D135-9646-8AAFE6539F5F}"/>
              </a:ext>
            </a:extLst>
          </p:cNvPr>
          <p:cNvSpPr/>
          <p:nvPr userDrawn="1"/>
        </p:nvSpPr>
        <p:spPr>
          <a:xfrm rot="16200000">
            <a:off x="-550178" y="731"/>
            <a:ext cx="367200" cy="3657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BE54A2D-1518-2C72-A78E-4771E95A7AB1}"/>
              </a:ext>
            </a:extLst>
          </p:cNvPr>
          <p:cNvSpPr/>
          <p:nvPr userDrawn="1"/>
        </p:nvSpPr>
        <p:spPr>
          <a:xfrm>
            <a:off x="-550178" y="3149094"/>
            <a:ext cx="367200" cy="36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21" name="Rectangle 50">
            <a:extLst>
              <a:ext uri="{FF2B5EF4-FFF2-40B4-BE49-F238E27FC236}">
                <a16:creationId xmlns:a16="http://schemas.microsoft.com/office/drawing/2014/main" id="{E9EA6C02-35B2-FE4D-793A-80783D9146F8}"/>
              </a:ext>
            </a:extLst>
          </p:cNvPr>
          <p:cNvSpPr/>
          <p:nvPr userDrawn="1"/>
        </p:nvSpPr>
        <p:spPr>
          <a:xfrm rot="16200000">
            <a:off x="-550178" y="4199523"/>
            <a:ext cx="367200" cy="3657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50">
            <a:extLst>
              <a:ext uri="{FF2B5EF4-FFF2-40B4-BE49-F238E27FC236}">
                <a16:creationId xmlns:a16="http://schemas.microsoft.com/office/drawing/2014/main" id="{091B99A8-CBE6-7E35-B621-41BAF0DBB392}"/>
              </a:ext>
            </a:extLst>
          </p:cNvPr>
          <p:cNvSpPr/>
          <p:nvPr userDrawn="1"/>
        </p:nvSpPr>
        <p:spPr>
          <a:xfrm rot="16200000">
            <a:off x="-550178" y="5249221"/>
            <a:ext cx="367200" cy="365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50">
            <a:extLst>
              <a:ext uri="{FF2B5EF4-FFF2-40B4-BE49-F238E27FC236}">
                <a16:creationId xmlns:a16="http://schemas.microsoft.com/office/drawing/2014/main" id="{B61DB05A-28EE-CE5E-7E61-9670867014EA}"/>
              </a:ext>
            </a:extLst>
          </p:cNvPr>
          <p:cNvSpPr/>
          <p:nvPr userDrawn="1"/>
        </p:nvSpPr>
        <p:spPr>
          <a:xfrm rot="16200000">
            <a:off x="-550178" y="4724372"/>
            <a:ext cx="367200" cy="3657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50">
            <a:extLst>
              <a:ext uri="{FF2B5EF4-FFF2-40B4-BE49-F238E27FC236}">
                <a16:creationId xmlns:a16="http://schemas.microsoft.com/office/drawing/2014/main" id="{2E58D43F-04A1-550C-A5DA-81D6076BD6B4}"/>
              </a:ext>
            </a:extLst>
          </p:cNvPr>
          <p:cNvSpPr/>
          <p:nvPr userDrawn="1"/>
        </p:nvSpPr>
        <p:spPr>
          <a:xfrm rot="16200000">
            <a:off x="-550178" y="5774070"/>
            <a:ext cx="367200" cy="365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50">
            <a:extLst>
              <a:ext uri="{FF2B5EF4-FFF2-40B4-BE49-F238E27FC236}">
                <a16:creationId xmlns:a16="http://schemas.microsoft.com/office/drawing/2014/main" id="{C78B92E0-B624-0E53-9BAF-8B04B44385F2}"/>
              </a:ext>
            </a:extLst>
          </p:cNvPr>
          <p:cNvSpPr/>
          <p:nvPr userDrawn="1"/>
        </p:nvSpPr>
        <p:spPr>
          <a:xfrm rot="16200000">
            <a:off x="-550178" y="6298920"/>
            <a:ext cx="367200" cy="3657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50">
            <a:extLst>
              <a:ext uri="{FF2B5EF4-FFF2-40B4-BE49-F238E27FC236}">
                <a16:creationId xmlns:a16="http://schemas.microsoft.com/office/drawing/2014/main" id="{F8E41406-2640-68D7-3D84-C2A7230EAFB8}"/>
              </a:ext>
            </a:extLst>
          </p:cNvPr>
          <p:cNvSpPr/>
          <p:nvPr userDrawn="1"/>
        </p:nvSpPr>
        <p:spPr>
          <a:xfrm rot="16200000">
            <a:off x="-550178" y="3674674"/>
            <a:ext cx="367200" cy="3657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371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to 7" hidden="1">
            <a:extLst>
              <a:ext uri="{FF2B5EF4-FFF2-40B4-BE49-F238E27FC236}">
                <a16:creationId xmlns:a16="http://schemas.microsoft.com/office/drawing/2014/main" id="{511B3376-2347-45F2-B0D8-4FD9215C03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7273913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0" imgW="473" imgH="476" progId="TCLayout.ActiveDocument.1">
                  <p:embed/>
                </p:oleObj>
              </mc:Choice>
              <mc:Fallback>
                <p:oleObj name="Slide do think-cell" r:id="rId10" imgW="473" imgH="476" progId="TCLayout.ActiveDocument.1">
                  <p:embed/>
                  <p:pic>
                    <p:nvPicPr>
                      <p:cNvPr id="8" name="Objeto 7" hidden="1">
                        <a:extLst>
                          <a:ext uri="{FF2B5EF4-FFF2-40B4-BE49-F238E27FC236}">
                            <a16:creationId xmlns:a16="http://schemas.microsoft.com/office/drawing/2014/main" id="{511B3376-2347-45F2-B0D8-4FD9215C03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04644-6F86-489D-9529-706EC8DD3B53}" type="datetime1">
              <a:rPr lang="pt-BR" smtClean="0"/>
              <a:t>24/04/2026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0D4D7-5686-44C3-BBEF-B2B3BA6000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770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03" r:id="rId2"/>
    <p:sldLayoutId id="2147483724" r:id="rId3"/>
    <p:sldLayoutId id="2147483702" r:id="rId4"/>
    <p:sldLayoutId id="2147483718" r:id="rId5"/>
    <p:sldLayoutId id="2147483713" r:id="rId6"/>
    <p:sldLayoutId id="2147483723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jpe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oleObject" Target="../embeddings/oleObject19.bin"/><Relationship Id="rId21" Type="http://schemas.openxmlformats.org/officeDocument/2006/relationships/image" Target="../media/image30.png"/><Relationship Id="rId34" Type="http://schemas.openxmlformats.org/officeDocument/2006/relationships/image" Target="../media/image4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jpeg"/><Relationship Id="rId25" Type="http://schemas.openxmlformats.org/officeDocument/2006/relationships/image" Target="../media/image34.png"/><Relationship Id="rId33" Type="http://schemas.openxmlformats.org/officeDocument/2006/relationships/image" Target="../media/image42.jpe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29" Type="http://schemas.openxmlformats.org/officeDocument/2006/relationships/image" Target="../media/image38.jpeg"/><Relationship Id="rId1" Type="http://schemas.openxmlformats.org/officeDocument/2006/relationships/tags" Target="../tags/tag21.xml"/><Relationship Id="rId6" Type="http://schemas.openxmlformats.org/officeDocument/2006/relationships/image" Target="../media/image15.jpe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32" Type="http://schemas.openxmlformats.org/officeDocument/2006/relationships/image" Target="../media/image41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31" Type="http://schemas.openxmlformats.org/officeDocument/2006/relationships/image" Target="../media/image40.png"/><Relationship Id="rId4" Type="http://schemas.openxmlformats.org/officeDocument/2006/relationships/image" Target="../media/image2.emf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emf"/><Relationship Id="rId30" Type="http://schemas.openxmlformats.org/officeDocument/2006/relationships/image" Target="../media/image39.jpeg"/><Relationship Id="rId8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Relationship Id="rId4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Relationship Id="rId4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Relationship Id="rId4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.xml"/><Relationship Id="rId4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Relationship Id="rId5" Type="http://schemas.openxmlformats.org/officeDocument/2006/relationships/image" Target="../media/image44.svg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chart" Target="../charts/chart1.xml"/><Relationship Id="rId5" Type="http://schemas.openxmlformats.org/officeDocument/2006/relationships/tags" Target="../tags/tag34.xml"/><Relationship Id="rId10" Type="http://schemas.openxmlformats.org/officeDocument/2006/relationships/image" Target="../media/image3.emf"/><Relationship Id="rId4" Type="http://schemas.openxmlformats.org/officeDocument/2006/relationships/tags" Target="../tags/tag33.xml"/><Relationship Id="rId9" Type="http://schemas.openxmlformats.org/officeDocument/2006/relationships/oleObject" Target="../embeddings/oleObject2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30.bin"/><Relationship Id="rId4" Type="http://schemas.openxmlformats.org/officeDocument/2006/relationships/notesSlide" Target="../notesSlides/notesSl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1.xml"/><Relationship Id="rId4" Type="http://schemas.openxmlformats.org/officeDocument/2006/relationships/image" Target="../media/image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2.xml"/><Relationship Id="rId4" Type="http://schemas.openxmlformats.org/officeDocument/2006/relationships/image" Target="../media/image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7" Type="http://schemas.openxmlformats.org/officeDocument/2006/relationships/image" Target="../media/image50.e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3.xml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4.xml"/><Relationship Id="rId4" Type="http://schemas.openxmlformats.org/officeDocument/2006/relationships/image" Target="../media/image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5.xml"/><Relationship Id="rId4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37.bin"/><Relationship Id="rId4" Type="http://schemas.openxmlformats.org/officeDocument/2006/relationships/notesSlide" Target="../notesSlides/notesSlide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image" Target="../media/image47.emf"/><Relationship Id="rId4" Type="http://schemas.openxmlformats.org/officeDocument/2006/relationships/oleObject" Target="../embeddings/oleObject38.bin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tags" Target="../tags/tag75.xml"/><Relationship Id="rId21" Type="http://schemas.openxmlformats.org/officeDocument/2006/relationships/tags" Target="../tags/tag70.xml"/><Relationship Id="rId42" Type="http://schemas.openxmlformats.org/officeDocument/2006/relationships/tags" Target="../tags/tag91.xml"/><Relationship Id="rId47" Type="http://schemas.openxmlformats.org/officeDocument/2006/relationships/tags" Target="../tags/tag96.xml"/><Relationship Id="rId63" Type="http://schemas.openxmlformats.org/officeDocument/2006/relationships/tags" Target="../tags/tag112.xml"/><Relationship Id="rId68" Type="http://schemas.openxmlformats.org/officeDocument/2006/relationships/tags" Target="../tags/tag117.xml"/><Relationship Id="rId84" Type="http://schemas.openxmlformats.org/officeDocument/2006/relationships/tags" Target="../tags/tag133.xml"/><Relationship Id="rId89" Type="http://schemas.openxmlformats.org/officeDocument/2006/relationships/oleObject" Target="../embeddings/oleObject39.bin"/><Relationship Id="rId16" Type="http://schemas.openxmlformats.org/officeDocument/2006/relationships/tags" Target="../tags/tag65.xml"/><Relationship Id="rId11" Type="http://schemas.openxmlformats.org/officeDocument/2006/relationships/tags" Target="../tags/tag60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53" Type="http://schemas.openxmlformats.org/officeDocument/2006/relationships/tags" Target="../tags/tag102.xml"/><Relationship Id="rId58" Type="http://schemas.openxmlformats.org/officeDocument/2006/relationships/tags" Target="../tags/tag107.xml"/><Relationship Id="rId74" Type="http://schemas.openxmlformats.org/officeDocument/2006/relationships/tags" Target="../tags/tag123.xml"/><Relationship Id="rId79" Type="http://schemas.openxmlformats.org/officeDocument/2006/relationships/tags" Target="../tags/tag128.xml"/><Relationship Id="rId5" Type="http://schemas.openxmlformats.org/officeDocument/2006/relationships/tags" Target="../tags/tag54.xml"/><Relationship Id="rId90" Type="http://schemas.openxmlformats.org/officeDocument/2006/relationships/image" Target="../media/image47.emf"/><Relationship Id="rId14" Type="http://schemas.openxmlformats.org/officeDocument/2006/relationships/tags" Target="../tags/tag63.xml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43" Type="http://schemas.openxmlformats.org/officeDocument/2006/relationships/tags" Target="../tags/tag92.xml"/><Relationship Id="rId48" Type="http://schemas.openxmlformats.org/officeDocument/2006/relationships/tags" Target="../tags/tag97.xml"/><Relationship Id="rId56" Type="http://schemas.openxmlformats.org/officeDocument/2006/relationships/tags" Target="../tags/tag105.xml"/><Relationship Id="rId64" Type="http://schemas.openxmlformats.org/officeDocument/2006/relationships/tags" Target="../tags/tag113.xml"/><Relationship Id="rId69" Type="http://schemas.openxmlformats.org/officeDocument/2006/relationships/tags" Target="../tags/tag118.xml"/><Relationship Id="rId77" Type="http://schemas.openxmlformats.org/officeDocument/2006/relationships/tags" Target="../tags/tag126.xml"/><Relationship Id="rId8" Type="http://schemas.openxmlformats.org/officeDocument/2006/relationships/tags" Target="../tags/tag57.xml"/><Relationship Id="rId51" Type="http://schemas.openxmlformats.org/officeDocument/2006/relationships/tags" Target="../tags/tag100.xml"/><Relationship Id="rId72" Type="http://schemas.openxmlformats.org/officeDocument/2006/relationships/tags" Target="../tags/tag121.xml"/><Relationship Id="rId80" Type="http://schemas.openxmlformats.org/officeDocument/2006/relationships/tags" Target="../tags/tag129.xml"/><Relationship Id="rId85" Type="http://schemas.openxmlformats.org/officeDocument/2006/relationships/tags" Target="../tags/tag134.xml"/><Relationship Id="rId3" Type="http://schemas.openxmlformats.org/officeDocument/2006/relationships/tags" Target="../tags/tag52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33" Type="http://schemas.openxmlformats.org/officeDocument/2006/relationships/tags" Target="../tags/tag82.xml"/><Relationship Id="rId38" Type="http://schemas.openxmlformats.org/officeDocument/2006/relationships/tags" Target="../tags/tag87.xml"/><Relationship Id="rId46" Type="http://schemas.openxmlformats.org/officeDocument/2006/relationships/tags" Target="../tags/tag95.xml"/><Relationship Id="rId59" Type="http://schemas.openxmlformats.org/officeDocument/2006/relationships/tags" Target="../tags/tag108.xml"/><Relationship Id="rId67" Type="http://schemas.openxmlformats.org/officeDocument/2006/relationships/tags" Target="../tags/tag116.xml"/><Relationship Id="rId20" Type="http://schemas.openxmlformats.org/officeDocument/2006/relationships/tags" Target="../tags/tag69.xml"/><Relationship Id="rId41" Type="http://schemas.openxmlformats.org/officeDocument/2006/relationships/tags" Target="../tags/tag90.xml"/><Relationship Id="rId54" Type="http://schemas.openxmlformats.org/officeDocument/2006/relationships/tags" Target="../tags/tag103.xml"/><Relationship Id="rId62" Type="http://schemas.openxmlformats.org/officeDocument/2006/relationships/tags" Target="../tags/tag111.xml"/><Relationship Id="rId70" Type="http://schemas.openxmlformats.org/officeDocument/2006/relationships/tags" Target="../tags/tag119.xml"/><Relationship Id="rId75" Type="http://schemas.openxmlformats.org/officeDocument/2006/relationships/tags" Target="../tags/tag124.xml"/><Relationship Id="rId83" Type="http://schemas.openxmlformats.org/officeDocument/2006/relationships/tags" Target="../tags/tag132.xml"/><Relationship Id="rId88" Type="http://schemas.openxmlformats.org/officeDocument/2006/relationships/slideLayout" Target="../slideLayouts/slideLayout6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49" Type="http://schemas.openxmlformats.org/officeDocument/2006/relationships/tags" Target="../tags/tag98.xml"/><Relationship Id="rId57" Type="http://schemas.openxmlformats.org/officeDocument/2006/relationships/tags" Target="../tags/tag106.xml"/><Relationship Id="rId10" Type="http://schemas.openxmlformats.org/officeDocument/2006/relationships/tags" Target="../tags/tag59.xml"/><Relationship Id="rId31" Type="http://schemas.openxmlformats.org/officeDocument/2006/relationships/tags" Target="../tags/tag80.xml"/><Relationship Id="rId44" Type="http://schemas.openxmlformats.org/officeDocument/2006/relationships/tags" Target="../tags/tag93.xml"/><Relationship Id="rId52" Type="http://schemas.openxmlformats.org/officeDocument/2006/relationships/tags" Target="../tags/tag101.xml"/><Relationship Id="rId60" Type="http://schemas.openxmlformats.org/officeDocument/2006/relationships/tags" Target="../tags/tag109.xml"/><Relationship Id="rId65" Type="http://schemas.openxmlformats.org/officeDocument/2006/relationships/tags" Target="../tags/tag114.xml"/><Relationship Id="rId73" Type="http://schemas.openxmlformats.org/officeDocument/2006/relationships/tags" Target="../tags/tag122.xml"/><Relationship Id="rId78" Type="http://schemas.openxmlformats.org/officeDocument/2006/relationships/tags" Target="../tags/tag127.xml"/><Relationship Id="rId81" Type="http://schemas.openxmlformats.org/officeDocument/2006/relationships/tags" Target="../tags/tag130.xml"/><Relationship Id="rId86" Type="http://schemas.openxmlformats.org/officeDocument/2006/relationships/tags" Target="../tags/tag135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39" Type="http://schemas.openxmlformats.org/officeDocument/2006/relationships/tags" Target="../tags/tag88.xml"/><Relationship Id="rId34" Type="http://schemas.openxmlformats.org/officeDocument/2006/relationships/tags" Target="../tags/tag83.xml"/><Relationship Id="rId50" Type="http://schemas.openxmlformats.org/officeDocument/2006/relationships/tags" Target="../tags/tag99.xml"/><Relationship Id="rId55" Type="http://schemas.openxmlformats.org/officeDocument/2006/relationships/tags" Target="../tags/tag104.xml"/><Relationship Id="rId76" Type="http://schemas.openxmlformats.org/officeDocument/2006/relationships/tags" Target="../tags/tag125.xml"/><Relationship Id="rId7" Type="http://schemas.openxmlformats.org/officeDocument/2006/relationships/tags" Target="../tags/tag56.xml"/><Relationship Id="rId71" Type="http://schemas.openxmlformats.org/officeDocument/2006/relationships/tags" Target="../tags/tag120.xml"/><Relationship Id="rId2" Type="http://schemas.openxmlformats.org/officeDocument/2006/relationships/tags" Target="../tags/tag51.xml"/><Relationship Id="rId29" Type="http://schemas.openxmlformats.org/officeDocument/2006/relationships/tags" Target="../tags/tag78.xml"/><Relationship Id="rId24" Type="http://schemas.openxmlformats.org/officeDocument/2006/relationships/tags" Target="../tags/tag73.xml"/><Relationship Id="rId40" Type="http://schemas.openxmlformats.org/officeDocument/2006/relationships/tags" Target="../tags/tag89.xml"/><Relationship Id="rId45" Type="http://schemas.openxmlformats.org/officeDocument/2006/relationships/tags" Target="../tags/tag94.xml"/><Relationship Id="rId66" Type="http://schemas.openxmlformats.org/officeDocument/2006/relationships/tags" Target="../tags/tag115.xml"/><Relationship Id="rId87" Type="http://schemas.openxmlformats.org/officeDocument/2006/relationships/tags" Target="../tags/tag136.xml"/><Relationship Id="rId61" Type="http://schemas.openxmlformats.org/officeDocument/2006/relationships/tags" Target="../tags/tag110.xml"/><Relationship Id="rId82" Type="http://schemas.openxmlformats.org/officeDocument/2006/relationships/tags" Target="../tags/tag131.xml"/><Relationship Id="rId19" Type="http://schemas.openxmlformats.org/officeDocument/2006/relationships/tags" Target="../tags/tag68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tags" Target="../tags/tag149.xml"/><Relationship Id="rId18" Type="http://schemas.openxmlformats.org/officeDocument/2006/relationships/tags" Target="../tags/tag154.xml"/><Relationship Id="rId26" Type="http://schemas.openxmlformats.org/officeDocument/2006/relationships/tags" Target="../tags/tag162.xml"/><Relationship Id="rId39" Type="http://schemas.openxmlformats.org/officeDocument/2006/relationships/tags" Target="../tags/tag175.xml"/><Relationship Id="rId21" Type="http://schemas.openxmlformats.org/officeDocument/2006/relationships/tags" Target="../tags/tag157.xml"/><Relationship Id="rId34" Type="http://schemas.openxmlformats.org/officeDocument/2006/relationships/tags" Target="../tags/tag170.xml"/><Relationship Id="rId42" Type="http://schemas.openxmlformats.org/officeDocument/2006/relationships/tags" Target="../tags/tag178.xml"/><Relationship Id="rId47" Type="http://schemas.openxmlformats.org/officeDocument/2006/relationships/tags" Target="../tags/tag183.xml"/><Relationship Id="rId50" Type="http://schemas.openxmlformats.org/officeDocument/2006/relationships/tags" Target="../tags/tag186.xml"/><Relationship Id="rId55" Type="http://schemas.openxmlformats.org/officeDocument/2006/relationships/tags" Target="../tags/tag191.xml"/><Relationship Id="rId7" Type="http://schemas.openxmlformats.org/officeDocument/2006/relationships/tags" Target="../tags/tag143.xml"/><Relationship Id="rId2" Type="http://schemas.openxmlformats.org/officeDocument/2006/relationships/tags" Target="../tags/tag138.xml"/><Relationship Id="rId16" Type="http://schemas.openxmlformats.org/officeDocument/2006/relationships/tags" Target="../tags/tag152.xml"/><Relationship Id="rId29" Type="http://schemas.openxmlformats.org/officeDocument/2006/relationships/tags" Target="../tags/tag165.xml"/><Relationship Id="rId11" Type="http://schemas.openxmlformats.org/officeDocument/2006/relationships/tags" Target="../tags/tag147.xml"/><Relationship Id="rId24" Type="http://schemas.openxmlformats.org/officeDocument/2006/relationships/tags" Target="../tags/tag160.xml"/><Relationship Id="rId32" Type="http://schemas.openxmlformats.org/officeDocument/2006/relationships/tags" Target="../tags/tag168.xml"/><Relationship Id="rId37" Type="http://schemas.openxmlformats.org/officeDocument/2006/relationships/tags" Target="../tags/tag173.xml"/><Relationship Id="rId40" Type="http://schemas.openxmlformats.org/officeDocument/2006/relationships/tags" Target="../tags/tag176.xml"/><Relationship Id="rId45" Type="http://schemas.openxmlformats.org/officeDocument/2006/relationships/tags" Target="../tags/tag181.xml"/><Relationship Id="rId53" Type="http://schemas.openxmlformats.org/officeDocument/2006/relationships/tags" Target="../tags/tag189.xml"/><Relationship Id="rId58" Type="http://schemas.openxmlformats.org/officeDocument/2006/relationships/tags" Target="../tags/tag194.xml"/><Relationship Id="rId5" Type="http://schemas.openxmlformats.org/officeDocument/2006/relationships/tags" Target="../tags/tag141.xml"/><Relationship Id="rId61" Type="http://schemas.openxmlformats.org/officeDocument/2006/relationships/oleObject" Target="../embeddings/oleObject40.bin"/><Relationship Id="rId19" Type="http://schemas.openxmlformats.org/officeDocument/2006/relationships/tags" Target="../tags/tag155.xml"/><Relationship Id="rId14" Type="http://schemas.openxmlformats.org/officeDocument/2006/relationships/tags" Target="../tags/tag150.xml"/><Relationship Id="rId22" Type="http://schemas.openxmlformats.org/officeDocument/2006/relationships/tags" Target="../tags/tag158.xml"/><Relationship Id="rId27" Type="http://schemas.openxmlformats.org/officeDocument/2006/relationships/tags" Target="../tags/tag163.xml"/><Relationship Id="rId30" Type="http://schemas.openxmlformats.org/officeDocument/2006/relationships/tags" Target="../tags/tag166.xml"/><Relationship Id="rId35" Type="http://schemas.openxmlformats.org/officeDocument/2006/relationships/tags" Target="../tags/tag171.xml"/><Relationship Id="rId43" Type="http://schemas.openxmlformats.org/officeDocument/2006/relationships/tags" Target="../tags/tag179.xml"/><Relationship Id="rId48" Type="http://schemas.openxmlformats.org/officeDocument/2006/relationships/tags" Target="../tags/tag184.xml"/><Relationship Id="rId56" Type="http://schemas.openxmlformats.org/officeDocument/2006/relationships/tags" Target="../tags/tag192.xml"/><Relationship Id="rId8" Type="http://schemas.openxmlformats.org/officeDocument/2006/relationships/tags" Target="../tags/tag144.xml"/><Relationship Id="rId51" Type="http://schemas.openxmlformats.org/officeDocument/2006/relationships/tags" Target="../tags/tag187.xml"/><Relationship Id="rId3" Type="http://schemas.openxmlformats.org/officeDocument/2006/relationships/tags" Target="../tags/tag139.xml"/><Relationship Id="rId12" Type="http://schemas.openxmlformats.org/officeDocument/2006/relationships/tags" Target="../tags/tag148.xml"/><Relationship Id="rId17" Type="http://schemas.openxmlformats.org/officeDocument/2006/relationships/tags" Target="../tags/tag153.xml"/><Relationship Id="rId25" Type="http://schemas.openxmlformats.org/officeDocument/2006/relationships/tags" Target="../tags/tag161.xml"/><Relationship Id="rId33" Type="http://schemas.openxmlformats.org/officeDocument/2006/relationships/tags" Target="../tags/tag169.xml"/><Relationship Id="rId38" Type="http://schemas.openxmlformats.org/officeDocument/2006/relationships/tags" Target="../tags/tag174.xml"/><Relationship Id="rId46" Type="http://schemas.openxmlformats.org/officeDocument/2006/relationships/tags" Target="../tags/tag182.xml"/><Relationship Id="rId59" Type="http://schemas.openxmlformats.org/officeDocument/2006/relationships/slideLayout" Target="../slideLayouts/slideLayout6.xml"/><Relationship Id="rId20" Type="http://schemas.openxmlformats.org/officeDocument/2006/relationships/tags" Target="../tags/tag156.xml"/><Relationship Id="rId41" Type="http://schemas.openxmlformats.org/officeDocument/2006/relationships/tags" Target="../tags/tag177.xml"/><Relationship Id="rId54" Type="http://schemas.openxmlformats.org/officeDocument/2006/relationships/tags" Target="../tags/tag190.xml"/><Relationship Id="rId62" Type="http://schemas.openxmlformats.org/officeDocument/2006/relationships/image" Target="../media/image3.emf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5" Type="http://schemas.openxmlformats.org/officeDocument/2006/relationships/tags" Target="../tags/tag151.xml"/><Relationship Id="rId23" Type="http://schemas.openxmlformats.org/officeDocument/2006/relationships/tags" Target="../tags/tag159.xml"/><Relationship Id="rId28" Type="http://schemas.openxmlformats.org/officeDocument/2006/relationships/tags" Target="../tags/tag164.xml"/><Relationship Id="rId36" Type="http://schemas.openxmlformats.org/officeDocument/2006/relationships/tags" Target="../tags/tag172.xml"/><Relationship Id="rId49" Type="http://schemas.openxmlformats.org/officeDocument/2006/relationships/tags" Target="../tags/tag185.xml"/><Relationship Id="rId57" Type="http://schemas.openxmlformats.org/officeDocument/2006/relationships/tags" Target="../tags/tag193.xml"/><Relationship Id="rId10" Type="http://schemas.openxmlformats.org/officeDocument/2006/relationships/tags" Target="../tags/tag146.xml"/><Relationship Id="rId31" Type="http://schemas.openxmlformats.org/officeDocument/2006/relationships/tags" Target="../tags/tag167.xml"/><Relationship Id="rId44" Type="http://schemas.openxmlformats.org/officeDocument/2006/relationships/tags" Target="../tags/tag180.xml"/><Relationship Id="rId52" Type="http://schemas.openxmlformats.org/officeDocument/2006/relationships/tags" Target="../tags/tag188.xml"/><Relationship Id="rId60" Type="http://schemas.openxmlformats.org/officeDocument/2006/relationships/notesSlide" Target="../notesSlides/notesSlide5.xml"/><Relationship Id="rId4" Type="http://schemas.openxmlformats.org/officeDocument/2006/relationships/tags" Target="../tags/tag140.xml"/><Relationship Id="rId9" Type="http://schemas.openxmlformats.org/officeDocument/2006/relationships/tags" Target="../tags/tag14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96.xml"/><Relationship Id="rId1" Type="http://schemas.openxmlformats.org/officeDocument/2006/relationships/tags" Target="../tags/tag19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1.bin"/><Relationship Id="rId4" Type="http://schemas.openxmlformats.org/officeDocument/2006/relationships/notesSlide" Target="../notesSlides/notesSlide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51.svg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1.bin"/><Relationship Id="rId4" Type="http://schemas.openxmlformats.org/officeDocument/2006/relationships/notesSlide" Target="../notesSlides/notesSlide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1.bin"/><Relationship Id="rId4" Type="http://schemas.openxmlformats.org/officeDocument/2006/relationships/notesSlide" Target="../notesSlides/notesSlide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tags" Target="../tags/tag203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9" Type="http://schemas.openxmlformats.org/officeDocument/2006/relationships/image" Target="../media/image3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6.xml"/><Relationship Id="rId4" Type="http://schemas.openxmlformats.org/officeDocument/2006/relationships/image" Target="../media/image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7.xml"/><Relationship Id="rId5" Type="http://schemas.openxmlformats.org/officeDocument/2006/relationships/image" Target="../media/image53.wmf"/><Relationship Id="rId4" Type="http://schemas.openxmlformats.org/officeDocument/2006/relationships/image" Target="../media/image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8.xml"/><Relationship Id="rId4" Type="http://schemas.openxmlformats.org/officeDocument/2006/relationships/image" Target="../media/image1.e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7" Type="http://schemas.openxmlformats.org/officeDocument/2006/relationships/image" Target="../media/image50.e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9.xml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2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tags" Target="../tags/tag212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211.xml"/><Relationship Id="rId1" Type="http://schemas.openxmlformats.org/officeDocument/2006/relationships/tags" Target="../tags/tag210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10" Type="http://schemas.openxmlformats.org/officeDocument/2006/relationships/chart" Target="../charts/chart2.xml"/><Relationship Id="rId4" Type="http://schemas.openxmlformats.org/officeDocument/2006/relationships/tags" Target="../tags/tag213.xml"/><Relationship Id="rId9" Type="http://schemas.openxmlformats.org/officeDocument/2006/relationships/image" Target="../media/image47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218.xml"/><Relationship Id="rId7" Type="http://schemas.openxmlformats.org/officeDocument/2006/relationships/chart" Target="../charts/chart3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48.bin"/><Relationship Id="rId4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tags" Target="../tags/tag231.xml"/><Relationship Id="rId18" Type="http://schemas.openxmlformats.org/officeDocument/2006/relationships/tags" Target="../tags/tag236.xml"/><Relationship Id="rId26" Type="http://schemas.openxmlformats.org/officeDocument/2006/relationships/tags" Target="../tags/tag244.xml"/><Relationship Id="rId39" Type="http://schemas.openxmlformats.org/officeDocument/2006/relationships/oleObject" Target="../embeddings/oleObject49.bin"/><Relationship Id="rId21" Type="http://schemas.openxmlformats.org/officeDocument/2006/relationships/tags" Target="../tags/tag239.xml"/><Relationship Id="rId34" Type="http://schemas.openxmlformats.org/officeDocument/2006/relationships/tags" Target="../tags/tag252.xml"/><Relationship Id="rId7" Type="http://schemas.openxmlformats.org/officeDocument/2006/relationships/tags" Target="../tags/tag225.xml"/><Relationship Id="rId2" Type="http://schemas.openxmlformats.org/officeDocument/2006/relationships/tags" Target="../tags/tag220.xml"/><Relationship Id="rId16" Type="http://schemas.openxmlformats.org/officeDocument/2006/relationships/tags" Target="../tags/tag234.xml"/><Relationship Id="rId20" Type="http://schemas.openxmlformats.org/officeDocument/2006/relationships/tags" Target="../tags/tag238.xml"/><Relationship Id="rId29" Type="http://schemas.openxmlformats.org/officeDocument/2006/relationships/tags" Target="../tags/tag247.xml"/><Relationship Id="rId41" Type="http://schemas.openxmlformats.org/officeDocument/2006/relationships/chart" Target="../charts/chart4.xml"/><Relationship Id="rId1" Type="http://schemas.openxmlformats.org/officeDocument/2006/relationships/tags" Target="../tags/tag219.xml"/><Relationship Id="rId6" Type="http://schemas.openxmlformats.org/officeDocument/2006/relationships/tags" Target="../tags/tag224.xml"/><Relationship Id="rId11" Type="http://schemas.openxmlformats.org/officeDocument/2006/relationships/tags" Target="../tags/tag229.xml"/><Relationship Id="rId24" Type="http://schemas.openxmlformats.org/officeDocument/2006/relationships/tags" Target="../tags/tag242.xml"/><Relationship Id="rId32" Type="http://schemas.openxmlformats.org/officeDocument/2006/relationships/tags" Target="../tags/tag250.xml"/><Relationship Id="rId37" Type="http://schemas.openxmlformats.org/officeDocument/2006/relationships/tags" Target="../tags/tag255.xml"/><Relationship Id="rId40" Type="http://schemas.openxmlformats.org/officeDocument/2006/relationships/image" Target="../media/image47.emf"/><Relationship Id="rId5" Type="http://schemas.openxmlformats.org/officeDocument/2006/relationships/tags" Target="../tags/tag223.xml"/><Relationship Id="rId15" Type="http://schemas.openxmlformats.org/officeDocument/2006/relationships/tags" Target="../tags/tag233.xml"/><Relationship Id="rId23" Type="http://schemas.openxmlformats.org/officeDocument/2006/relationships/tags" Target="../tags/tag241.xml"/><Relationship Id="rId28" Type="http://schemas.openxmlformats.org/officeDocument/2006/relationships/tags" Target="../tags/tag246.xml"/><Relationship Id="rId36" Type="http://schemas.openxmlformats.org/officeDocument/2006/relationships/tags" Target="../tags/tag254.xml"/><Relationship Id="rId10" Type="http://schemas.openxmlformats.org/officeDocument/2006/relationships/tags" Target="../tags/tag228.xml"/><Relationship Id="rId19" Type="http://schemas.openxmlformats.org/officeDocument/2006/relationships/tags" Target="../tags/tag237.xml"/><Relationship Id="rId31" Type="http://schemas.openxmlformats.org/officeDocument/2006/relationships/tags" Target="../tags/tag249.xml"/><Relationship Id="rId4" Type="http://schemas.openxmlformats.org/officeDocument/2006/relationships/tags" Target="../tags/tag222.xml"/><Relationship Id="rId9" Type="http://schemas.openxmlformats.org/officeDocument/2006/relationships/tags" Target="../tags/tag227.xml"/><Relationship Id="rId14" Type="http://schemas.openxmlformats.org/officeDocument/2006/relationships/tags" Target="../tags/tag232.xml"/><Relationship Id="rId22" Type="http://schemas.openxmlformats.org/officeDocument/2006/relationships/tags" Target="../tags/tag240.xml"/><Relationship Id="rId27" Type="http://schemas.openxmlformats.org/officeDocument/2006/relationships/tags" Target="../tags/tag245.xml"/><Relationship Id="rId30" Type="http://schemas.openxmlformats.org/officeDocument/2006/relationships/tags" Target="../tags/tag248.xml"/><Relationship Id="rId35" Type="http://schemas.openxmlformats.org/officeDocument/2006/relationships/tags" Target="../tags/tag253.xml"/><Relationship Id="rId8" Type="http://schemas.openxmlformats.org/officeDocument/2006/relationships/tags" Target="../tags/tag226.xml"/><Relationship Id="rId3" Type="http://schemas.openxmlformats.org/officeDocument/2006/relationships/tags" Target="../tags/tag221.xml"/><Relationship Id="rId12" Type="http://schemas.openxmlformats.org/officeDocument/2006/relationships/tags" Target="../tags/tag230.xml"/><Relationship Id="rId17" Type="http://schemas.openxmlformats.org/officeDocument/2006/relationships/tags" Target="../tags/tag235.xml"/><Relationship Id="rId25" Type="http://schemas.openxmlformats.org/officeDocument/2006/relationships/tags" Target="../tags/tag243.xml"/><Relationship Id="rId33" Type="http://schemas.openxmlformats.org/officeDocument/2006/relationships/tags" Target="../tags/tag251.xml"/><Relationship Id="rId38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263.xml"/><Relationship Id="rId13" Type="http://schemas.openxmlformats.org/officeDocument/2006/relationships/tags" Target="../tags/tag268.xml"/><Relationship Id="rId18" Type="http://schemas.openxmlformats.org/officeDocument/2006/relationships/tags" Target="../tags/tag273.xml"/><Relationship Id="rId3" Type="http://schemas.openxmlformats.org/officeDocument/2006/relationships/tags" Target="../tags/tag258.xml"/><Relationship Id="rId21" Type="http://schemas.openxmlformats.org/officeDocument/2006/relationships/image" Target="../media/image47.emf"/><Relationship Id="rId7" Type="http://schemas.openxmlformats.org/officeDocument/2006/relationships/tags" Target="../tags/tag262.xml"/><Relationship Id="rId12" Type="http://schemas.openxmlformats.org/officeDocument/2006/relationships/tags" Target="../tags/tag267.xml"/><Relationship Id="rId17" Type="http://schemas.openxmlformats.org/officeDocument/2006/relationships/tags" Target="../tags/tag272.xml"/><Relationship Id="rId2" Type="http://schemas.openxmlformats.org/officeDocument/2006/relationships/tags" Target="../tags/tag257.xml"/><Relationship Id="rId16" Type="http://schemas.openxmlformats.org/officeDocument/2006/relationships/tags" Target="../tags/tag271.xml"/><Relationship Id="rId20" Type="http://schemas.openxmlformats.org/officeDocument/2006/relationships/oleObject" Target="../embeddings/oleObject50.bin"/><Relationship Id="rId1" Type="http://schemas.openxmlformats.org/officeDocument/2006/relationships/tags" Target="../tags/tag256.xml"/><Relationship Id="rId6" Type="http://schemas.openxmlformats.org/officeDocument/2006/relationships/tags" Target="../tags/tag261.xml"/><Relationship Id="rId11" Type="http://schemas.openxmlformats.org/officeDocument/2006/relationships/tags" Target="../tags/tag266.xml"/><Relationship Id="rId5" Type="http://schemas.openxmlformats.org/officeDocument/2006/relationships/tags" Target="../tags/tag260.xml"/><Relationship Id="rId15" Type="http://schemas.openxmlformats.org/officeDocument/2006/relationships/tags" Target="../tags/tag270.xml"/><Relationship Id="rId10" Type="http://schemas.openxmlformats.org/officeDocument/2006/relationships/tags" Target="../tags/tag265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259.xml"/><Relationship Id="rId9" Type="http://schemas.openxmlformats.org/officeDocument/2006/relationships/tags" Target="../tags/tag264.xml"/><Relationship Id="rId14" Type="http://schemas.openxmlformats.org/officeDocument/2006/relationships/tags" Target="../tags/tag269.xml"/><Relationship Id="rId22" Type="http://schemas.openxmlformats.org/officeDocument/2006/relationships/chart" Target="../charts/chart5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tags" Target="../tags/tag286.xml"/><Relationship Id="rId18" Type="http://schemas.openxmlformats.org/officeDocument/2006/relationships/tags" Target="../tags/tag291.xml"/><Relationship Id="rId26" Type="http://schemas.openxmlformats.org/officeDocument/2006/relationships/tags" Target="../tags/tag299.xml"/><Relationship Id="rId39" Type="http://schemas.openxmlformats.org/officeDocument/2006/relationships/tags" Target="../tags/tag312.xml"/><Relationship Id="rId21" Type="http://schemas.openxmlformats.org/officeDocument/2006/relationships/tags" Target="../tags/tag294.xml"/><Relationship Id="rId34" Type="http://schemas.openxmlformats.org/officeDocument/2006/relationships/tags" Target="../tags/tag307.xml"/><Relationship Id="rId42" Type="http://schemas.openxmlformats.org/officeDocument/2006/relationships/slideLayout" Target="../slideLayouts/slideLayout6.xml"/><Relationship Id="rId7" Type="http://schemas.openxmlformats.org/officeDocument/2006/relationships/tags" Target="../tags/tag280.xml"/><Relationship Id="rId2" Type="http://schemas.openxmlformats.org/officeDocument/2006/relationships/tags" Target="../tags/tag275.xml"/><Relationship Id="rId16" Type="http://schemas.openxmlformats.org/officeDocument/2006/relationships/tags" Target="../tags/tag289.xml"/><Relationship Id="rId29" Type="http://schemas.openxmlformats.org/officeDocument/2006/relationships/tags" Target="../tags/tag302.xml"/><Relationship Id="rId1" Type="http://schemas.openxmlformats.org/officeDocument/2006/relationships/tags" Target="../tags/tag274.xml"/><Relationship Id="rId6" Type="http://schemas.openxmlformats.org/officeDocument/2006/relationships/tags" Target="../tags/tag279.xml"/><Relationship Id="rId11" Type="http://schemas.openxmlformats.org/officeDocument/2006/relationships/tags" Target="../tags/tag284.xml"/><Relationship Id="rId24" Type="http://schemas.openxmlformats.org/officeDocument/2006/relationships/tags" Target="../tags/tag297.xml"/><Relationship Id="rId32" Type="http://schemas.openxmlformats.org/officeDocument/2006/relationships/tags" Target="../tags/tag305.xml"/><Relationship Id="rId37" Type="http://schemas.openxmlformats.org/officeDocument/2006/relationships/tags" Target="../tags/tag310.xml"/><Relationship Id="rId40" Type="http://schemas.openxmlformats.org/officeDocument/2006/relationships/tags" Target="../tags/tag313.xml"/><Relationship Id="rId45" Type="http://schemas.openxmlformats.org/officeDocument/2006/relationships/chart" Target="../charts/chart6.xml"/><Relationship Id="rId5" Type="http://schemas.openxmlformats.org/officeDocument/2006/relationships/tags" Target="../tags/tag278.xml"/><Relationship Id="rId15" Type="http://schemas.openxmlformats.org/officeDocument/2006/relationships/tags" Target="../tags/tag288.xml"/><Relationship Id="rId23" Type="http://schemas.openxmlformats.org/officeDocument/2006/relationships/tags" Target="../tags/tag296.xml"/><Relationship Id="rId28" Type="http://schemas.openxmlformats.org/officeDocument/2006/relationships/tags" Target="../tags/tag301.xml"/><Relationship Id="rId36" Type="http://schemas.openxmlformats.org/officeDocument/2006/relationships/tags" Target="../tags/tag309.xml"/><Relationship Id="rId10" Type="http://schemas.openxmlformats.org/officeDocument/2006/relationships/tags" Target="../tags/tag283.xml"/><Relationship Id="rId19" Type="http://schemas.openxmlformats.org/officeDocument/2006/relationships/tags" Target="../tags/tag292.xml"/><Relationship Id="rId31" Type="http://schemas.openxmlformats.org/officeDocument/2006/relationships/tags" Target="../tags/tag304.xml"/><Relationship Id="rId44" Type="http://schemas.openxmlformats.org/officeDocument/2006/relationships/image" Target="../media/image3.emf"/><Relationship Id="rId4" Type="http://schemas.openxmlformats.org/officeDocument/2006/relationships/tags" Target="../tags/tag277.xml"/><Relationship Id="rId9" Type="http://schemas.openxmlformats.org/officeDocument/2006/relationships/tags" Target="../tags/tag282.xml"/><Relationship Id="rId14" Type="http://schemas.openxmlformats.org/officeDocument/2006/relationships/tags" Target="../tags/tag287.xml"/><Relationship Id="rId22" Type="http://schemas.openxmlformats.org/officeDocument/2006/relationships/tags" Target="../tags/tag295.xml"/><Relationship Id="rId27" Type="http://schemas.openxmlformats.org/officeDocument/2006/relationships/tags" Target="../tags/tag300.xml"/><Relationship Id="rId30" Type="http://schemas.openxmlformats.org/officeDocument/2006/relationships/tags" Target="../tags/tag303.xml"/><Relationship Id="rId35" Type="http://schemas.openxmlformats.org/officeDocument/2006/relationships/tags" Target="../tags/tag308.xml"/><Relationship Id="rId43" Type="http://schemas.openxmlformats.org/officeDocument/2006/relationships/oleObject" Target="../embeddings/oleObject51.bin"/><Relationship Id="rId8" Type="http://schemas.openxmlformats.org/officeDocument/2006/relationships/tags" Target="../tags/tag281.xml"/><Relationship Id="rId3" Type="http://schemas.openxmlformats.org/officeDocument/2006/relationships/tags" Target="../tags/tag276.xml"/><Relationship Id="rId12" Type="http://schemas.openxmlformats.org/officeDocument/2006/relationships/tags" Target="../tags/tag285.xml"/><Relationship Id="rId17" Type="http://schemas.openxmlformats.org/officeDocument/2006/relationships/tags" Target="../tags/tag290.xml"/><Relationship Id="rId25" Type="http://schemas.openxmlformats.org/officeDocument/2006/relationships/tags" Target="../tags/tag298.xml"/><Relationship Id="rId33" Type="http://schemas.openxmlformats.org/officeDocument/2006/relationships/tags" Target="../tags/tag306.xml"/><Relationship Id="rId38" Type="http://schemas.openxmlformats.org/officeDocument/2006/relationships/tags" Target="../tags/tag311.xml"/><Relationship Id="rId20" Type="http://schemas.openxmlformats.org/officeDocument/2006/relationships/tags" Target="../tags/tag293.xml"/><Relationship Id="rId41" Type="http://schemas.openxmlformats.org/officeDocument/2006/relationships/tags" Target="../tags/tag31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slideLayout" Target="../slideLayouts/slideLayout6.xml"/><Relationship Id="rId7" Type="http://schemas.openxmlformats.org/officeDocument/2006/relationships/chart" Target="../charts/chart7.xml"/><Relationship Id="rId2" Type="http://schemas.openxmlformats.org/officeDocument/2006/relationships/tags" Target="../tags/tag316.xml"/><Relationship Id="rId1" Type="http://schemas.openxmlformats.org/officeDocument/2006/relationships/tags" Target="../tags/tag31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52.bin"/><Relationship Id="rId4" Type="http://schemas.openxmlformats.org/officeDocument/2006/relationships/notesSlide" Target="../notesSlides/notesSlide10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.xml"/><Relationship Id="rId3" Type="http://schemas.openxmlformats.org/officeDocument/2006/relationships/slideLayout" Target="../slideLayouts/slideLayout6.xml"/><Relationship Id="rId7" Type="http://schemas.openxmlformats.org/officeDocument/2006/relationships/chart" Target="../charts/chart9.xml"/><Relationship Id="rId2" Type="http://schemas.openxmlformats.org/officeDocument/2006/relationships/tags" Target="../tags/tag318.xml"/><Relationship Id="rId1" Type="http://schemas.openxmlformats.org/officeDocument/2006/relationships/tags" Target="../tags/tag31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1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326.xml"/><Relationship Id="rId13" Type="http://schemas.openxmlformats.org/officeDocument/2006/relationships/tags" Target="../tags/tag331.xml"/><Relationship Id="rId18" Type="http://schemas.openxmlformats.org/officeDocument/2006/relationships/tags" Target="../tags/tag336.xml"/><Relationship Id="rId26" Type="http://schemas.openxmlformats.org/officeDocument/2006/relationships/chart" Target="../charts/chart12.xml"/><Relationship Id="rId3" Type="http://schemas.openxmlformats.org/officeDocument/2006/relationships/tags" Target="../tags/tag321.xml"/><Relationship Id="rId21" Type="http://schemas.openxmlformats.org/officeDocument/2006/relationships/slideLayout" Target="../slideLayouts/slideLayout6.xml"/><Relationship Id="rId7" Type="http://schemas.openxmlformats.org/officeDocument/2006/relationships/tags" Target="../tags/tag325.xml"/><Relationship Id="rId12" Type="http://schemas.openxmlformats.org/officeDocument/2006/relationships/tags" Target="../tags/tag330.xml"/><Relationship Id="rId17" Type="http://schemas.openxmlformats.org/officeDocument/2006/relationships/tags" Target="../tags/tag335.xml"/><Relationship Id="rId25" Type="http://schemas.openxmlformats.org/officeDocument/2006/relationships/chart" Target="../charts/chart11.xml"/><Relationship Id="rId2" Type="http://schemas.openxmlformats.org/officeDocument/2006/relationships/tags" Target="../tags/tag320.xml"/><Relationship Id="rId16" Type="http://schemas.openxmlformats.org/officeDocument/2006/relationships/tags" Target="../tags/tag334.xml"/><Relationship Id="rId20" Type="http://schemas.openxmlformats.org/officeDocument/2006/relationships/tags" Target="../tags/tag338.xml"/><Relationship Id="rId1" Type="http://schemas.openxmlformats.org/officeDocument/2006/relationships/tags" Target="../tags/tag319.xml"/><Relationship Id="rId6" Type="http://schemas.openxmlformats.org/officeDocument/2006/relationships/tags" Target="../tags/tag324.xml"/><Relationship Id="rId11" Type="http://schemas.openxmlformats.org/officeDocument/2006/relationships/tags" Target="../tags/tag329.xml"/><Relationship Id="rId24" Type="http://schemas.openxmlformats.org/officeDocument/2006/relationships/image" Target="../media/image3.emf"/><Relationship Id="rId5" Type="http://schemas.openxmlformats.org/officeDocument/2006/relationships/tags" Target="../tags/tag323.xml"/><Relationship Id="rId15" Type="http://schemas.openxmlformats.org/officeDocument/2006/relationships/tags" Target="../tags/tag333.xml"/><Relationship Id="rId23" Type="http://schemas.openxmlformats.org/officeDocument/2006/relationships/oleObject" Target="../embeddings/oleObject54.bin"/><Relationship Id="rId10" Type="http://schemas.openxmlformats.org/officeDocument/2006/relationships/tags" Target="../tags/tag328.xml"/><Relationship Id="rId19" Type="http://schemas.openxmlformats.org/officeDocument/2006/relationships/tags" Target="../tags/tag337.xml"/><Relationship Id="rId4" Type="http://schemas.openxmlformats.org/officeDocument/2006/relationships/tags" Target="../tags/tag322.xml"/><Relationship Id="rId9" Type="http://schemas.openxmlformats.org/officeDocument/2006/relationships/tags" Target="../tags/tag327.xml"/><Relationship Id="rId14" Type="http://schemas.openxmlformats.org/officeDocument/2006/relationships/tags" Target="../tags/tag332.xml"/><Relationship Id="rId22" Type="http://schemas.openxmlformats.org/officeDocument/2006/relationships/notesSlide" Target="../notesSlides/notesSlide12.xml"/><Relationship Id="rId27" Type="http://schemas.openxmlformats.org/officeDocument/2006/relationships/chart" Target="../charts/chart1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346.xml"/><Relationship Id="rId13" Type="http://schemas.openxmlformats.org/officeDocument/2006/relationships/tags" Target="../tags/tag351.xml"/><Relationship Id="rId18" Type="http://schemas.openxmlformats.org/officeDocument/2006/relationships/tags" Target="../tags/tag356.xml"/><Relationship Id="rId26" Type="http://schemas.openxmlformats.org/officeDocument/2006/relationships/chart" Target="../charts/chart14.xml"/><Relationship Id="rId3" Type="http://schemas.openxmlformats.org/officeDocument/2006/relationships/tags" Target="../tags/tag341.xml"/><Relationship Id="rId21" Type="http://schemas.openxmlformats.org/officeDocument/2006/relationships/tags" Target="../tags/tag359.xml"/><Relationship Id="rId7" Type="http://schemas.openxmlformats.org/officeDocument/2006/relationships/tags" Target="../tags/tag345.xml"/><Relationship Id="rId12" Type="http://schemas.openxmlformats.org/officeDocument/2006/relationships/tags" Target="../tags/tag350.xml"/><Relationship Id="rId17" Type="http://schemas.openxmlformats.org/officeDocument/2006/relationships/tags" Target="../tags/tag355.xml"/><Relationship Id="rId25" Type="http://schemas.openxmlformats.org/officeDocument/2006/relationships/image" Target="../media/image3.emf"/><Relationship Id="rId2" Type="http://schemas.openxmlformats.org/officeDocument/2006/relationships/tags" Target="../tags/tag340.xml"/><Relationship Id="rId16" Type="http://schemas.openxmlformats.org/officeDocument/2006/relationships/tags" Target="../tags/tag354.xml"/><Relationship Id="rId20" Type="http://schemas.openxmlformats.org/officeDocument/2006/relationships/tags" Target="../tags/tag358.xml"/><Relationship Id="rId1" Type="http://schemas.openxmlformats.org/officeDocument/2006/relationships/tags" Target="../tags/tag339.xml"/><Relationship Id="rId6" Type="http://schemas.openxmlformats.org/officeDocument/2006/relationships/tags" Target="../tags/tag344.xml"/><Relationship Id="rId11" Type="http://schemas.openxmlformats.org/officeDocument/2006/relationships/tags" Target="../tags/tag349.xml"/><Relationship Id="rId24" Type="http://schemas.openxmlformats.org/officeDocument/2006/relationships/oleObject" Target="../embeddings/oleObject55.bin"/><Relationship Id="rId5" Type="http://schemas.openxmlformats.org/officeDocument/2006/relationships/tags" Target="../tags/tag343.xml"/><Relationship Id="rId15" Type="http://schemas.openxmlformats.org/officeDocument/2006/relationships/tags" Target="../tags/tag353.xml"/><Relationship Id="rId23" Type="http://schemas.openxmlformats.org/officeDocument/2006/relationships/notesSlide" Target="../notesSlides/notesSlide13.xml"/><Relationship Id="rId10" Type="http://schemas.openxmlformats.org/officeDocument/2006/relationships/tags" Target="../tags/tag348.xml"/><Relationship Id="rId19" Type="http://schemas.openxmlformats.org/officeDocument/2006/relationships/tags" Target="../tags/tag357.xml"/><Relationship Id="rId4" Type="http://schemas.openxmlformats.org/officeDocument/2006/relationships/tags" Target="../tags/tag342.xml"/><Relationship Id="rId9" Type="http://schemas.openxmlformats.org/officeDocument/2006/relationships/tags" Target="../tags/tag347.xml"/><Relationship Id="rId14" Type="http://schemas.openxmlformats.org/officeDocument/2006/relationships/tags" Target="../tags/tag352.xml"/><Relationship Id="rId22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7" Type="http://schemas.openxmlformats.org/officeDocument/2006/relationships/image" Target="../media/image50.emf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60.xml"/><Relationship Id="rId6" Type="http://schemas.openxmlformats.org/officeDocument/2006/relationships/image" Target="../media/image49.emf"/><Relationship Id="rId5" Type="http://schemas.openxmlformats.org/officeDocument/2006/relationships/image" Target="../media/image48.emf"/><Relationship Id="rId4" Type="http://schemas.openxmlformats.org/officeDocument/2006/relationships/image" Target="../media/image2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368.xml"/><Relationship Id="rId3" Type="http://schemas.openxmlformats.org/officeDocument/2006/relationships/tags" Target="../tags/tag363.xml"/><Relationship Id="rId7" Type="http://schemas.openxmlformats.org/officeDocument/2006/relationships/tags" Target="../tags/tag367.xml"/><Relationship Id="rId12" Type="http://schemas.openxmlformats.org/officeDocument/2006/relationships/chart" Target="../charts/chart15.xml"/><Relationship Id="rId2" Type="http://schemas.openxmlformats.org/officeDocument/2006/relationships/tags" Target="../tags/tag362.xml"/><Relationship Id="rId1" Type="http://schemas.openxmlformats.org/officeDocument/2006/relationships/tags" Target="../tags/tag361.xml"/><Relationship Id="rId6" Type="http://schemas.openxmlformats.org/officeDocument/2006/relationships/tags" Target="../tags/tag366.xml"/><Relationship Id="rId11" Type="http://schemas.openxmlformats.org/officeDocument/2006/relationships/image" Target="../media/image47.emf"/><Relationship Id="rId5" Type="http://schemas.openxmlformats.org/officeDocument/2006/relationships/tags" Target="../tags/tag365.xml"/><Relationship Id="rId10" Type="http://schemas.openxmlformats.org/officeDocument/2006/relationships/oleObject" Target="../embeddings/oleObject57.bin"/><Relationship Id="rId4" Type="http://schemas.openxmlformats.org/officeDocument/2006/relationships/tags" Target="../tags/tag364.xml"/><Relationship Id="rId9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376.xml"/><Relationship Id="rId13" Type="http://schemas.openxmlformats.org/officeDocument/2006/relationships/tags" Target="../tags/tag381.xml"/><Relationship Id="rId18" Type="http://schemas.openxmlformats.org/officeDocument/2006/relationships/tags" Target="../tags/tag386.xml"/><Relationship Id="rId26" Type="http://schemas.openxmlformats.org/officeDocument/2006/relationships/oleObject" Target="../embeddings/oleObject58.bin"/><Relationship Id="rId3" Type="http://schemas.openxmlformats.org/officeDocument/2006/relationships/tags" Target="../tags/tag371.xml"/><Relationship Id="rId21" Type="http://schemas.openxmlformats.org/officeDocument/2006/relationships/tags" Target="../tags/tag389.xml"/><Relationship Id="rId7" Type="http://schemas.openxmlformats.org/officeDocument/2006/relationships/tags" Target="../tags/tag375.xml"/><Relationship Id="rId12" Type="http://schemas.openxmlformats.org/officeDocument/2006/relationships/tags" Target="../tags/tag380.xml"/><Relationship Id="rId17" Type="http://schemas.openxmlformats.org/officeDocument/2006/relationships/tags" Target="../tags/tag385.xml"/><Relationship Id="rId25" Type="http://schemas.openxmlformats.org/officeDocument/2006/relationships/slideLayout" Target="../slideLayouts/slideLayout6.xml"/><Relationship Id="rId2" Type="http://schemas.openxmlformats.org/officeDocument/2006/relationships/tags" Target="../tags/tag370.xml"/><Relationship Id="rId16" Type="http://schemas.openxmlformats.org/officeDocument/2006/relationships/tags" Target="../tags/tag384.xml"/><Relationship Id="rId20" Type="http://schemas.openxmlformats.org/officeDocument/2006/relationships/tags" Target="../tags/tag388.xml"/><Relationship Id="rId1" Type="http://schemas.openxmlformats.org/officeDocument/2006/relationships/tags" Target="../tags/tag369.xml"/><Relationship Id="rId6" Type="http://schemas.openxmlformats.org/officeDocument/2006/relationships/tags" Target="../tags/tag374.xml"/><Relationship Id="rId11" Type="http://schemas.openxmlformats.org/officeDocument/2006/relationships/tags" Target="../tags/tag379.xml"/><Relationship Id="rId24" Type="http://schemas.openxmlformats.org/officeDocument/2006/relationships/tags" Target="../tags/tag392.xml"/><Relationship Id="rId5" Type="http://schemas.openxmlformats.org/officeDocument/2006/relationships/tags" Target="../tags/tag373.xml"/><Relationship Id="rId15" Type="http://schemas.openxmlformats.org/officeDocument/2006/relationships/tags" Target="../tags/tag383.xml"/><Relationship Id="rId23" Type="http://schemas.openxmlformats.org/officeDocument/2006/relationships/tags" Target="../tags/tag391.xml"/><Relationship Id="rId28" Type="http://schemas.openxmlformats.org/officeDocument/2006/relationships/chart" Target="../charts/chart16.xml"/><Relationship Id="rId10" Type="http://schemas.openxmlformats.org/officeDocument/2006/relationships/tags" Target="../tags/tag378.xml"/><Relationship Id="rId19" Type="http://schemas.openxmlformats.org/officeDocument/2006/relationships/tags" Target="../tags/tag387.xml"/><Relationship Id="rId4" Type="http://schemas.openxmlformats.org/officeDocument/2006/relationships/tags" Target="../tags/tag372.xml"/><Relationship Id="rId9" Type="http://schemas.openxmlformats.org/officeDocument/2006/relationships/tags" Target="../tags/tag377.xml"/><Relationship Id="rId14" Type="http://schemas.openxmlformats.org/officeDocument/2006/relationships/tags" Target="../tags/tag382.xml"/><Relationship Id="rId22" Type="http://schemas.openxmlformats.org/officeDocument/2006/relationships/tags" Target="../tags/tag390.xml"/><Relationship Id="rId27" Type="http://schemas.openxmlformats.org/officeDocument/2006/relationships/image" Target="../media/image47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400.xml"/><Relationship Id="rId13" Type="http://schemas.openxmlformats.org/officeDocument/2006/relationships/image" Target="../media/image47.emf"/><Relationship Id="rId3" Type="http://schemas.openxmlformats.org/officeDocument/2006/relationships/tags" Target="../tags/tag395.xml"/><Relationship Id="rId7" Type="http://schemas.openxmlformats.org/officeDocument/2006/relationships/tags" Target="../tags/tag399.xml"/><Relationship Id="rId12" Type="http://schemas.openxmlformats.org/officeDocument/2006/relationships/oleObject" Target="../embeddings/oleObject59.bin"/><Relationship Id="rId2" Type="http://schemas.openxmlformats.org/officeDocument/2006/relationships/tags" Target="../tags/tag394.xml"/><Relationship Id="rId1" Type="http://schemas.openxmlformats.org/officeDocument/2006/relationships/tags" Target="../tags/tag393.xml"/><Relationship Id="rId6" Type="http://schemas.openxmlformats.org/officeDocument/2006/relationships/tags" Target="../tags/tag398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397.xml"/><Relationship Id="rId10" Type="http://schemas.openxmlformats.org/officeDocument/2006/relationships/tags" Target="../tags/tag402.xml"/><Relationship Id="rId4" Type="http://schemas.openxmlformats.org/officeDocument/2006/relationships/tags" Target="../tags/tag396.xml"/><Relationship Id="rId9" Type="http://schemas.openxmlformats.org/officeDocument/2006/relationships/tags" Target="../tags/tag401.xml"/><Relationship Id="rId14" Type="http://schemas.openxmlformats.org/officeDocument/2006/relationships/chart" Target="../charts/chart1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410.xml"/><Relationship Id="rId13" Type="http://schemas.openxmlformats.org/officeDocument/2006/relationships/oleObject" Target="../embeddings/oleObject60.bin"/><Relationship Id="rId3" Type="http://schemas.openxmlformats.org/officeDocument/2006/relationships/tags" Target="../tags/tag405.xml"/><Relationship Id="rId7" Type="http://schemas.openxmlformats.org/officeDocument/2006/relationships/tags" Target="../tags/tag409.xml"/><Relationship Id="rId12" Type="http://schemas.openxmlformats.org/officeDocument/2006/relationships/notesSlide" Target="../notesSlides/notesSlide14.xml"/><Relationship Id="rId2" Type="http://schemas.openxmlformats.org/officeDocument/2006/relationships/tags" Target="../tags/tag404.xml"/><Relationship Id="rId1" Type="http://schemas.openxmlformats.org/officeDocument/2006/relationships/tags" Target="../tags/tag403.xml"/><Relationship Id="rId6" Type="http://schemas.openxmlformats.org/officeDocument/2006/relationships/tags" Target="../tags/tag408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407.xml"/><Relationship Id="rId15" Type="http://schemas.openxmlformats.org/officeDocument/2006/relationships/chart" Target="../charts/chart18.xml"/><Relationship Id="rId10" Type="http://schemas.openxmlformats.org/officeDocument/2006/relationships/tags" Target="../tags/tag412.xml"/><Relationship Id="rId4" Type="http://schemas.openxmlformats.org/officeDocument/2006/relationships/tags" Target="../tags/tag406.xml"/><Relationship Id="rId9" Type="http://schemas.openxmlformats.org/officeDocument/2006/relationships/tags" Target="../tags/tag411.xml"/><Relationship Id="rId14" Type="http://schemas.openxmlformats.org/officeDocument/2006/relationships/image" Target="../media/image47.emf"/></Relationships>
</file>

<file path=ppt/slides/_rels/slide57.xml.rels><?xml version="1.0" encoding="UTF-8" standalone="yes"?>
<Relationships xmlns="http://schemas.openxmlformats.org/package/2006/relationships"><Relationship Id="rId26" Type="http://schemas.openxmlformats.org/officeDocument/2006/relationships/tags" Target="../tags/tag438.xml"/><Relationship Id="rId21" Type="http://schemas.openxmlformats.org/officeDocument/2006/relationships/tags" Target="../tags/tag433.xml"/><Relationship Id="rId42" Type="http://schemas.openxmlformats.org/officeDocument/2006/relationships/tags" Target="../tags/tag454.xml"/><Relationship Id="rId47" Type="http://schemas.openxmlformats.org/officeDocument/2006/relationships/tags" Target="../tags/tag459.xml"/><Relationship Id="rId63" Type="http://schemas.openxmlformats.org/officeDocument/2006/relationships/notesSlide" Target="../notesSlides/notesSlide15.xml"/><Relationship Id="rId68" Type="http://schemas.openxmlformats.org/officeDocument/2006/relationships/image" Target="../media/image54.emf"/><Relationship Id="rId7" Type="http://schemas.openxmlformats.org/officeDocument/2006/relationships/tags" Target="../tags/tag419.xml"/><Relationship Id="rId2" Type="http://schemas.openxmlformats.org/officeDocument/2006/relationships/tags" Target="../tags/tag414.xml"/><Relationship Id="rId16" Type="http://schemas.openxmlformats.org/officeDocument/2006/relationships/tags" Target="../tags/tag428.xml"/><Relationship Id="rId29" Type="http://schemas.openxmlformats.org/officeDocument/2006/relationships/tags" Target="../tags/tag441.xml"/><Relationship Id="rId11" Type="http://schemas.openxmlformats.org/officeDocument/2006/relationships/tags" Target="../tags/tag423.xml"/><Relationship Id="rId24" Type="http://schemas.openxmlformats.org/officeDocument/2006/relationships/tags" Target="../tags/tag436.xml"/><Relationship Id="rId32" Type="http://schemas.openxmlformats.org/officeDocument/2006/relationships/tags" Target="../tags/tag444.xml"/><Relationship Id="rId37" Type="http://schemas.openxmlformats.org/officeDocument/2006/relationships/tags" Target="../tags/tag449.xml"/><Relationship Id="rId40" Type="http://schemas.openxmlformats.org/officeDocument/2006/relationships/tags" Target="../tags/tag452.xml"/><Relationship Id="rId45" Type="http://schemas.openxmlformats.org/officeDocument/2006/relationships/tags" Target="../tags/tag457.xml"/><Relationship Id="rId53" Type="http://schemas.openxmlformats.org/officeDocument/2006/relationships/tags" Target="../tags/tag465.xml"/><Relationship Id="rId58" Type="http://schemas.openxmlformats.org/officeDocument/2006/relationships/tags" Target="../tags/tag470.xml"/><Relationship Id="rId66" Type="http://schemas.openxmlformats.org/officeDocument/2006/relationships/chart" Target="../charts/chart19.xml"/><Relationship Id="rId5" Type="http://schemas.openxmlformats.org/officeDocument/2006/relationships/tags" Target="../tags/tag417.xml"/><Relationship Id="rId61" Type="http://schemas.openxmlformats.org/officeDocument/2006/relationships/tags" Target="../tags/tag473.xml"/><Relationship Id="rId19" Type="http://schemas.openxmlformats.org/officeDocument/2006/relationships/tags" Target="../tags/tag431.xml"/><Relationship Id="rId14" Type="http://schemas.openxmlformats.org/officeDocument/2006/relationships/tags" Target="../tags/tag426.xml"/><Relationship Id="rId22" Type="http://schemas.openxmlformats.org/officeDocument/2006/relationships/tags" Target="../tags/tag434.xml"/><Relationship Id="rId27" Type="http://schemas.openxmlformats.org/officeDocument/2006/relationships/tags" Target="../tags/tag439.xml"/><Relationship Id="rId30" Type="http://schemas.openxmlformats.org/officeDocument/2006/relationships/tags" Target="../tags/tag442.xml"/><Relationship Id="rId35" Type="http://schemas.openxmlformats.org/officeDocument/2006/relationships/tags" Target="../tags/tag447.xml"/><Relationship Id="rId43" Type="http://schemas.openxmlformats.org/officeDocument/2006/relationships/tags" Target="../tags/tag455.xml"/><Relationship Id="rId48" Type="http://schemas.openxmlformats.org/officeDocument/2006/relationships/tags" Target="../tags/tag460.xml"/><Relationship Id="rId56" Type="http://schemas.openxmlformats.org/officeDocument/2006/relationships/tags" Target="../tags/tag468.xml"/><Relationship Id="rId64" Type="http://schemas.openxmlformats.org/officeDocument/2006/relationships/oleObject" Target="../embeddings/oleObject61.bin"/><Relationship Id="rId69" Type="http://schemas.openxmlformats.org/officeDocument/2006/relationships/image" Target="../media/image55.emf"/><Relationship Id="rId8" Type="http://schemas.openxmlformats.org/officeDocument/2006/relationships/tags" Target="../tags/tag420.xml"/><Relationship Id="rId51" Type="http://schemas.openxmlformats.org/officeDocument/2006/relationships/tags" Target="../tags/tag463.xml"/><Relationship Id="rId3" Type="http://schemas.openxmlformats.org/officeDocument/2006/relationships/tags" Target="../tags/tag415.xml"/><Relationship Id="rId12" Type="http://schemas.openxmlformats.org/officeDocument/2006/relationships/tags" Target="../tags/tag424.xml"/><Relationship Id="rId17" Type="http://schemas.openxmlformats.org/officeDocument/2006/relationships/tags" Target="../tags/tag429.xml"/><Relationship Id="rId25" Type="http://schemas.openxmlformats.org/officeDocument/2006/relationships/tags" Target="../tags/tag437.xml"/><Relationship Id="rId33" Type="http://schemas.openxmlformats.org/officeDocument/2006/relationships/tags" Target="../tags/tag445.xml"/><Relationship Id="rId38" Type="http://schemas.openxmlformats.org/officeDocument/2006/relationships/tags" Target="../tags/tag450.xml"/><Relationship Id="rId46" Type="http://schemas.openxmlformats.org/officeDocument/2006/relationships/tags" Target="../tags/tag458.xml"/><Relationship Id="rId59" Type="http://schemas.openxmlformats.org/officeDocument/2006/relationships/tags" Target="../tags/tag471.xml"/><Relationship Id="rId67" Type="http://schemas.openxmlformats.org/officeDocument/2006/relationships/chart" Target="../charts/chart20.xml"/><Relationship Id="rId20" Type="http://schemas.openxmlformats.org/officeDocument/2006/relationships/tags" Target="../tags/tag432.xml"/><Relationship Id="rId41" Type="http://schemas.openxmlformats.org/officeDocument/2006/relationships/tags" Target="../tags/tag453.xml"/><Relationship Id="rId54" Type="http://schemas.openxmlformats.org/officeDocument/2006/relationships/tags" Target="../tags/tag466.xml"/><Relationship Id="rId62" Type="http://schemas.openxmlformats.org/officeDocument/2006/relationships/slideLayout" Target="../slideLayouts/slideLayout6.xml"/><Relationship Id="rId1" Type="http://schemas.openxmlformats.org/officeDocument/2006/relationships/tags" Target="../tags/tag413.xml"/><Relationship Id="rId6" Type="http://schemas.openxmlformats.org/officeDocument/2006/relationships/tags" Target="../tags/tag418.xml"/><Relationship Id="rId15" Type="http://schemas.openxmlformats.org/officeDocument/2006/relationships/tags" Target="../tags/tag427.xml"/><Relationship Id="rId23" Type="http://schemas.openxmlformats.org/officeDocument/2006/relationships/tags" Target="../tags/tag435.xml"/><Relationship Id="rId28" Type="http://schemas.openxmlformats.org/officeDocument/2006/relationships/tags" Target="../tags/tag440.xml"/><Relationship Id="rId36" Type="http://schemas.openxmlformats.org/officeDocument/2006/relationships/tags" Target="../tags/tag448.xml"/><Relationship Id="rId49" Type="http://schemas.openxmlformats.org/officeDocument/2006/relationships/tags" Target="../tags/tag461.xml"/><Relationship Id="rId57" Type="http://schemas.openxmlformats.org/officeDocument/2006/relationships/tags" Target="../tags/tag469.xml"/><Relationship Id="rId10" Type="http://schemas.openxmlformats.org/officeDocument/2006/relationships/tags" Target="../tags/tag422.xml"/><Relationship Id="rId31" Type="http://schemas.openxmlformats.org/officeDocument/2006/relationships/tags" Target="../tags/tag443.xml"/><Relationship Id="rId44" Type="http://schemas.openxmlformats.org/officeDocument/2006/relationships/tags" Target="../tags/tag456.xml"/><Relationship Id="rId52" Type="http://schemas.openxmlformats.org/officeDocument/2006/relationships/tags" Target="../tags/tag464.xml"/><Relationship Id="rId60" Type="http://schemas.openxmlformats.org/officeDocument/2006/relationships/tags" Target="../tags/tag472.xml"/><Relationship Id="rId65" Type="http://schemas.openxmlformats.org/officeDocument/2006/relationships/image" Target="../media/image3.emf"/><Relationship Id="rId4" Type="http://schemas.openxmlformats.org/officeDocument/2006/relationships/tags" Target="../tags/tag416.xml"/><Relationship Id="rId9" Type="http://schemas.openxmlformats.org/officeDocument/2006/relationships/tags" Target="../tags/tag421.xml"/><Relationship Id="rId13" Type="http://schemas.openxmlformats.org/officeDocument/2006/relationships/tags" Target="../tags/tag425.xml"/><Relationship Id="rId18" Type="http://schemas.openxmlformats.org/officeDocument/2006/relationships/tags" Target="../tags/tag430.xml"/><Relationship Id="rId39" Type="http://schemas.openxmlformats.org/officeDocument/2006/relationships/tags" Target="../tags/tag451.xml"/><Relationship Id="rId34" Type="http://schemas.openxmlformats.org/officeDocument/2006/relationships/tags" Target="../tags/tag446.xml"/><Relationship Id="rId50" Type="http://schemas.openxmlformats.org/officeDocument/2006/relationships/tags" Target="../tags/tag462.xml"/><Relationship Id="rId55" Type="http://schemas.openxmlformats.org/officeDocument/2006/relationships/tags" Target="../tags/tag46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4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2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76.xml"/><Relationship Id="rId1" Type="http://schemas.openxmlformats.org/officeDocument/2006/relationships/tags" Target="../tags/tag475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63.bin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DD65F7D-399B-614D-8CF7-FC51F816224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3" imgH="476" progId="TCLayout.ActiveDocument.1">
                  <p:embed/>
                </p:oleObj>
              </mc:Choice>
              <mc:Fallback>
                <p:oleObj name="Slide do think-cell" r:id="rId3" imgW="473" imgH="47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D65F7D-399B-614D-8CF7-FC51F81622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426DF7A-28AE-04BE-CE4F-2FDF2A2B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Identidade visual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726D3D-AFEF-E246-52A7-5FD098C20D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>
                <a:solidFill>
                  <a:srgbClr val="000000"/>
                </a:solidFill>
              </a:rPr>
              <a:t>Padronização visual de letras e cores</a:t>
            </a:r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1262436F-D6E5-12C1-CF69-FCD67FDE0184}"/>
              </a:ext>
            </a:extLst>
          </p:cNvPr>
          <p:cNvSpPr txBox="1"/>
          <p:nvPr/>
        </p:nvSpPr>
        <p:spPr>
          <a:xfrm>
            <a:off x="314793" y="988368"/>
            <a:ext cx="1144865" cy="307777"/>
          </a:xfrm>
          <a:prstGeom prst="rect">
            <a:avLst/>
          </a:prstGeom>
          <a:noFill/>
          <a:ln>
            <a:noFill/>
          </a:ln>
        </p:spPr>
        <p:txBody>
          <a:bodyPr wrap="none" rtlCol="0" anchor="b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217"/>
            <a:r>
              <a:rPr lang="en-US" sz="1400" b="1" spc="75">
                <a:latin typeface="Segoe UI" panose="020B0502040204020203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1. FONTES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1F3A74E-C1D6-3CA5-390B-DDB125FE02F1}"/>
              </a:ext>
            </a:extLst>
          </p:cNvPr>
          <p:cNvCxnSpPr>
            <a:cxnSpLocks/>
          </p:cNvCxnSpPr>
          <p:nvPr/>
        </p:nvCxnSpPr>
        <p:spPr>
          <a:xfrm flipV="1">
            <a:off x="378781" y="1301737"/>
            <a:ext cx="3584158" cy="70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03062B7-54C2-CC4A-2437-F91E4952B2FF}"/>
              </a:ext>
            </a:extLst>
          </p:cNvPr>
          <p:cNvSpPr txBox="1"/>
          <p:nvPr/>
        </p:nvSpPr>
        <p:spPr>
          <a:xfrm>
            <a:off x="314793" y="2777478"/>
            <a:ext cx="5489215" cy="26314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pt-BR" sz="1400" b="1">
              <a:solidFill>
                <a:schemeClr val="tx1"/>
              </a:solidFill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sz="1400" dirty="0">
                <a:latin typeface="Segoe UI"/>
                <a:cs typeface="Segoe UI"/>
              </a:rPr>
              <a:t>Início dos textos alinhado à esquerda.</a:t>
            </a:r>
          </a:p>
          <a:p>
            <a:pPr>
              <a:spcAft>
                <a:spcPts val="600"/>
              </a:spcAft>
            </a:pPr>
            <a:r>
              <a:rPr lang="pt-BR" sz="1400" dirty="0">
                <a:latin typeface="Segoe UI"/>
                <a:cs typeface="Segoe UI"/>
              </a:rPr>
              <a:t>Espaçamento entre linhas: Simples com espaçamento 1,0. </a:t>
            </a:r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sz="1400" dirty="0">
                <a:latin typeface="Segoe UI"/>
                <a:cs typeface="Segoe UI"/>
              </a:rPr>
              <a:t>Adicionar ponto final (.) no terminado das frases.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sz="1400" dirty="0">
                <a:latin typeface="Segoe UI"/>
                <a:cs typeface="Segoe UI"/>
              </a:rPr>
              <a:t>Caso seja necessário dar destaque em alguma palavra/frase, não alterar o tamanho da fonte do texto, utilizar </a:t>
            </a:r>
            <a:r>
              <a:rPr lang="pt-BR" sz="1400" b="1" dirty="0">
                <a:latin typeface="Segoe UI"/>
                <a:cs typeface="Segoe UI"/>
              </a:rPr>
              <a:t>negrito.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sz="1400" dirty="0">
                <a:latin typeface="Segoe UI"/>
                <a:cs typeface="Segoe UI"/>
              </a:rPr>
              <a:t>Manter a disposição das informações no slide de forma clara e sucinta, não tornando o slide poluído.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 sz="1400" dirty="0">
                <a:latin typeface="Segoe UI"/>
                <a:cs typeface="Segoe UI"/>
              </a:rPr>
              <a:t>Caso o texto não caiba no slide, diminuir um pouco o tamanho da fonte </a:t>
            </a:r>
            <a:r>
              <a:rPr lang="pt-BR" sz="1400" b="1" dirty="0">
                <a:latin typeface="Segoe UI"/>
                <a:cs typeface="Segoe UI"/>
              </a:rPr>
              <a:t>no corpo do texto </a:t>
            </a:r>
            <a:r>
              <a:rPr lang="pt-BR" sz="1400" dirty="0">
                <a:latin typeface="Segoe UI"/>
                <a:cs typeface="Segoe UI"/>
              </a:rPr>
              <a:t>para no máximo tamanho 11.</a:t>
            </a:r>
            <a:endParaRPr lang="pt-BR" sz="1400" b="1" dirty="0">
              <a:latin typeface="Segoe UI"/>
              <a:cs typeface="Segoe UI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EF19F842-1506-C44D-DE7E-BA7DFED33FD2}"/>
              </a:ext>
            </a:extLst>
          </p:cNvPr>
          <p:cNvSpPr txBox="1"/>
          <p:nvPr/>
        </p:nvSpPr>
        <p:spPr>
          <a:xfrm>
            <a:off x="314793" y="2539412"/>
            <a:ext cx="1134157" cy="307777"/>
          </a:xfrm>
          <a:prstGeom prst="rect">
            <a:avLst/>
          </a:prstGeom>
          <a:noFill/>
          <a:ln>
            <a:noFill/>
          </a:ln>
        </p:spPr>
        <p:txBody>
          <a:bodyPr wrap="none" rtlCol="0" anchor="b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217"/>
            <a:r>
              <a:rPr lang="en-US" sz="1400" b="1" spc="75">
                <a:latin typeface="Segoe UI" panose="020B0502040204020203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2. TEXTOS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28CCBD17-C1F5-CD68-5A8B-2CFF63B79543}"/>
              </a:ext>
            </a:extLst>
          </p:cNvPr>
          <p:cNvCxnSpPr>
            <a:cxnSpLocks/>
          </p:cNvCxnSpPr>
          <p:nvPr/>
        </p:nvCxnSpPr>
        <p:spPr>
          <a:xfrm flipV="1">
            <a:off x="378781" y="2852781"/>
            <a:ext cx="3584158" cy="70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2A1BDD53-2514-B559-2E74-9C65ADCEAA0C}"/>
              </a:ext>
            </a:extLst>
          </p:cNvPr>
          <p:cNvSpPr>
            <a:spLocks noGrp="1"/>
          </p:cNvSpPr>
          <p:nvPr/>
        </p:nvSpPr>
        <p:spPr>
          <a:xfrm>
            <a:off x="314793" y="1439266"/>
            <a:ext cx="5170124" cy="10819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>
                <a:solidFill>
                  <a:schemeClr val="tx1"/>
                </a:solidFill>
                <a:ea typeface="+mj-ea"/>
              </a:rPr>
              <a:t>Título em negrito – Fonte Segoe UI 18 – Cor: Preta, Texto 2</a:t>
            </a:r>
            <a:endParaRPr lang="pt-BR" b="1">
              <a:ea typeface="+mj-ea"/>
            </a:endParaRPr>
          </a:p>
          <a:p>
            <a:r>
              <a:rPr lang="pt-BR">
                <a:solidFill>
                  <a:schemeClr val="tx1"/>
                </a:solidFill>
              </a:rPr>
              <a:t>Subtítulo – Fonte </a:t>
            </a:r>
            <a:r>
              <a:rPr lang="pt-BR"/>
              <a:t>Segoe UI</a:t>
            </a:r>
            <a:r>
              <a:rPr lang="pt-BR">
                <a:solidFill>
                  <a:schemeClr val="tx1"/>
                </a:solidFill>
              </a:rPr>
              <a:t> 14 – Cor: Preto, Texto 1</a:t>
            </a:r>
            <a:endParaRPr lang="pt-BR"/>
          </a:p>
          <a:p>
            <a:r>
              <a:rPr lang="pt-BR">
                <a:solidFill>
                  <a:schemeClr val="tx1"/>
                </a:solidFill>
              </a:rPr>
              <a:t>Corpo – </a:t>
            </a:r>
            <a:r>
              <a:rPr lang="pt-BR"/>
              <a:t>Segoe UI</a:t>
            </a:r>
            <a:r>
              <a:rPr lang="pt-BR">
                <a:solidFill>
                  <a:schemeClr val="tx1"/>
                </a:solidFill>
              </a:rPr>
              <a:t> 14 – Cor: Preto, Texto 1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5D1774-95DC-675D-25B0-76EA47EEB966}"/>
              </a:ext>
            </a:extLst>
          </p:cNvPr>
          <p:cNvSpPr/>
          <p:nvPr/>
        </p:nvSpPr>
        <p:spPr>
          <a:xfrm>
            <a:off x="5399873" y="1439266"/>
            <a:ext cx="288000" cy="25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B4D6B-A771-3947-B2A4-70C7898C36EB}"/>
              </a:ext>
            </a:extLst>
          </p:cNvPr>
          <p:cNvSpPr/>
          <p:nvPr/>
        </p:nvSpPr>
        <p:spPr>
          <a:xfrm>
            <a:off x="3790219" y="2064562"/>
            <a:ext cx="288000" cy="25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D7DD924-2729-A4C1-9B62-62075A8A0FB9}"/>
              </a:ext>
            </a:extLst>
          </p:cNvPr>
          <p:cNvSpPr/>
          <p:nvPr/>
        </p:nvSpPr>
        <p:spPr>
          <a:xfrm>
            <a:off x="4504483" y="1715928"/>
            <a:ext cx="288000" cy="25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66CB159-658A-8A79-C0B2-762E357279CC}"/>
              </a:ext>
            </a:extLst>
          </p:cNvPr>
          <p:cNvSpPr/>
          <p:nvPr/>
        </p:nvSpPr>
        <p:spPr>
          <a:xfrm>
            <a:off x="4274406" y="2064562"/>
            <a:ext cx="288000" cy="252000"/>
          </a:xfrm>
          <a:prstGeom prst="rect">
            <a:avLst/>
          </a:prstGeom>
          <a:solidFill>
            <a:srgbClr val="0F6F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27">
            <a:extLst>
              <a:ext uri="{FF2B5EF4-FFF2-40B4-BE49-F238E27FC236}">
                <a16:creationId xmlns:a16="http://schemas.microsoft.com/office/drawing/2014/main" id="{34176ACA-AA1D-A59A-436B-CBD01C0E0E68}"/>
              </a:ext>
            </a:extLst>
          </p:cNvPr>
          <p:cNvSpPr txBox="1"/>
          <p:nvPr/>
        </p:nvSpPr>
        <p:spPr>
          <a:xfrm>
            <a:off x="6677467" y="1019439"/>
            <a:ext cx="2082943" cy="307777"/>
          </a:xfrm>
          <a:prstGeom prst="rect">
            <a:avLst/>
          </a:prstGeom>
          <a:noFill/>
          <a:ln>
            <a:noFill/>
          </a:ln>
        </p:spPr>
        <p:txBody>
          <a:bodyPr wrap="none" rtlCol="0" anchor="b">
            <a:spAutoFit/>
          </a:bodyPr>
          <a:lstStyle/>
          <a:p>
            <a:pPr defTabSz="914217"/>
            <a:r>
              <a:rPr lang="en-US" sz="1400" b="1" spc="75">
                <a:latin typeface="Segoe UI" panose="020B0502040204020203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3. PALETA DE CORES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F5D9FE13-DE78-30E8-DE8F-985D6BF8539B}"/>
              </a:ext>
            </a:extLst>
          </p:cNvPr>
          <p:cNvCxnSpPr>
            <a:cxnSpLocks/>
          </p:cNvCxnSpPr>
          <p:nvPr/>
        </p:nvCxnSpPr>
        <p:spPr>
          <a:xfrm flipV="1">
            <a:off x="6741455" y="1332808"/>
            <a:ext cx="3584158" cy="70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ço Reservado para Texto 3">
            <a:extLst>
              <a:ext uri="{FF2B5EF4-FFF2-40B4-BE49-F238E27FC236}">
                <a16:creationId xmlns:a16="http://schemas.microsoft.com/office/drawing/2014/main" id="{939F2541-A8DE-B819-A286-F6E7C14F2C89}"/>
              </a:ext>
            </a:extLst>
          </p:cNvPr>
          <p:cNvSpPr txBox="1">
            <a:spLocks/>
          </p:cNvSpPr>
          <p:nvPr/>
        </p:nvSpPr>
        <p:spPr>
          <a:xfrm>
            <a:off x="6702368" y="1376649"/>
            <a:ext cx="4904614" cy="91861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>
                <a:solidFill>
                  <a:schemeClr val="tx1"/>
                </a:solidFill>
                <a:latin typeface="Segoe UI"/>
                <a:cs typeface="Segoe UI"/>
              </a:rPr>
              <a:t>Cores para serem utilizadas em textos e elementos visuais. Essas cores estarão disponíveis como referência no lado esquerdo de todos os slides, para replicá-las basta aplicar o conta gotas.</a:t>
            </a:r>
            <a:endParaRPr lang="pt-BR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C784299-CCD6-716F-5A46-5668509ABAF4}"/>
              </a:ext>
            </a:extLst>
          </p:cNvPr>
          <p:cNvSpPr/>
          <p:nvPr/>
        </p:nvSpPr>
        <p:spPr>
          <a:xfrm>
            <a:off x="6842993" y="2436575"/>
            <a:ext cx="288000" cy="252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584F97C-5B4D-C048-E8A6-13459E9F3641}"/>
              </a:ext>
            </a:extLst>
          </p:cNvPr>
          <p:cNvSpPr/>
          <p:nvPr/>
        </p:nvSpPr>
        <p:spPr>
          <a:xfrm>
            <a:off x="7191864" y="2436575"/>
            <a:ext cx="288000" cy="252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3A4473D-1730-2C49-6C4D-25477D529F4D}"/>
              </a:ext>
            </a:extLst>
          </p:cNvPr>
          <p:cNvSpPr/>
          <p:nvPr/>
        </p:nvSpPr>
        <p:spPr>
          <a:xfrm>
            <a:off x="7540735" y="2436574"/>
            <a:ext cx="288000" cy="2520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1D21FDC-8014-774A-E1A5-F250B86F747D}"/>
              </a:ext>
            </a:extLst>
          </p:cNvPr>
          <p:cNvSpPr/>
          <p:nvPr/>
        </p:nvSpPr>
        <p:spPr>
          <a:xfrm>
            <a:off x="7889606" y="2436573"/>
            <a:ext cx="288000" cy="252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A698C37-BEBF-EFB8-87B7-F30FE546191C}"/>
              </a:ext>
            </a:extLst>
          </p:cNvPr>
          <p:cNvSpPr/>
          <p:nvPr/>
        </p:nvSpPr>
        <p:spPr>
          <a:xfrm>
            <a:off x="8238477" y="2436572"/>
            <a:ext cx="288000" cy="252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EA7D57D-D649-24D9-91D9-9BC254B909F9}"/>
              </a:ext>
            </a:extLst>
          </p:cNvPr>
          <p:cNvSpPr/>
          <p:nvPr/>
        </p:nvSpPr>
        <p:spPr>
          <a:xfrm>
            <a:off x="8587348" y="2436572"/>
            <a:ext cx="288000" cy="25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2C284A0-5629-21A0-DBE4-3700BDD9B55D}"/>
              </a:ext>
            </a:extLst>
          </p:cNvPr>
          <p:cNvSpPr/>
          <p:nvPr/>
        </p:nvSpPr>
        <p:spPr>
          <a:xfrm>
            <a:off x="8936219" y="2436572"/>
            <a:ext cx="288000" cy="25200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2DA39CA-2839-C249-9F33-A5F95900DA17}"/>
              </a:ext>
            </a:extLst>
          </p:cNvPr>
          <p:cNvSpPr/>
          <p:nvPr/>
        </p:nvSpPr>
        <p:spPr>
          <a:xfrm>
            <a:off x="9285090" y="2436572"/>
            <a:ext cx="288000" cy="252000"/>
          </a:xfrm>
          <a:prstGeom prst="rect">
            <a:avLst/>
          </a:prstGeom>
          <a:solidFill>
            <a:srgbClr val="0837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707BCD8-88EF-3D83-EE49-4039F42ADF5A}"/>
              </a:ext>
            </a:extLst>
          </p:cNvPr>
          <p:cNvSpPr/>
          <p:nvPr/>
        </p:nvSpPr>
        <p:spPr>
          <a:xfrm>
            <a:off x="9633961" y="2436572"/>
            <a:ext cx="288000" cy="252000"/>
          </a:xfrm>
          <a:prstGeom prst="rect">
            <a:avLst/>
          </a:prstGeom>
          <a:solidFill>
            <a:srgbClr val="0B5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3E16231-E525-9641-E454-9C2556E638F5}"/>
              </a:ext>
            </a:extLst>
          </p:cNvPr>
          <p:cNvSpPr/>
          <p:nvPr/>
        </p:nvSpPr>
        <p:spPr>
          <a:xfrm>
            <a:off x="9982832" y="2436572"/>
            <a:ext cx="288000" cy="252000"/>
          </a:xfrm>
          <a:prstGeom prst="rect">
            <a:avLst/>
          </a:prstGeom>
          <a:solidFill>
            <a:srgbClr val="59A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8811147-4776-88E5-ADC4-8D30078CA07C}"/>
              </a:ext>
            </a:extLst>
          </p:cNvPr>
          <p:cNvSpPr/>
          <p:nvPr/>
        </p:nvSpPr>
        <p:spPr>
          <a:xfrm>
            <a:off x="10335152" y="2436572"/>
            <a:ext cx="288000" cy="252000"/>
          </a:xfrm>
          <a:prstGeom prst="rect">
            <a:avLst/>
          </a:prstGeom>
          <a:solidFill>
            <a:srgbClr val="91C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9732461-FCB3-8112-FD76-495E1CB59C0A}"/>
              </a:ext>
            </a:extLst>
          </p:cNvPr>
          <p:cNvSpPr/>
          <p:nvPr/>
        </p:nvSpPr>
        <p:spPr>
          <a:xfrm>
            <a:off x="10686393" y="2436572"/>
            <a:ext cx="288000" cy="252000"/>
          </a:xfrm>
          <a:prstGeom prst="rect">
            <a:avLst/>
          </a:prstGeom>
          <a:solidFill>
            <a:srgbClr val="C8E3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4BFE2E7B-4C62-1754-F2CE-9DF8536E81AD}"/>
              </a:ext>
            </a:extLst>
          </p:cNvPr>
          <p:cNvSpPr/>
          <p:nvPr/>
        </p:nvSpPr>
        <p:spPr>
          <a:xfrm>
            <a:off x="11043434" y="2436572"/>
            <a:ext cx="288000" cy="252000"/>
          </a:xfrm>
          <a:prstGeom prst="rect">
            <a:avLst/>
          </a:prstGeom>
          <a:solidFill>
            <a:srgbClr val="0F6F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72BC5F2B-7130-93F3-5B35-AADAE33DF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341" y="2876880"/>
            <a:ext cx="2024007" cy="3194411"/>
          </a:xfrm>
          <a:prstGeom prst="rect">
            <a:avLst/>
          </a:prstGeom>
        </p:spPr>
      </p:pic>
      <p:sp>
        <p:nvSpPr>
          <p:cNvPr id="37" name="Retângulo 36">
            <a:extLst>
              <a:ext uri="{FF2B5EF4-FFF2-40B4-BE49-F238E27FC236}">
                <a16:creationId xmlns:a16="http://schemas.microsoft.com/office/drawing/2014/main" id="{51003415-BA37-AAD3-B00A-7ABFCAA12007}"/>
              </a:ext>
            </a:extLst>
          </p:cNvPr>
          <p:cNvSpPr/>
          <p:nvPr/>
        </p:nvSpPr>
        <p:spPr>
          <a:xfrm>
            <a:off x="6865486" y="5838561"/>
            <a:ext cx="1024120" cy="2327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849884-BE58-2E93-C8D7-5DE8887AB2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961" y="5375225"/>
            <a:ext cx="1646063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7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DD65F7D-399B-614D-8CF7-FC51F816224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3" imgH="476" progId="TCLayout.ActiveDocument.1">
                  <p:embed/>
                </p:oleObj>
              </mc:Choice>
              <mc:Fallback>
                <p:oleObj name="Slide do think-cell" r:id="rId3" imgW="473" imgH="47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D65F7D-399B-614D-8CF7-FC51F81622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426DF7A-28AE-04BE-CE4F-2FDF2A2B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Identidade visual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726D3D-AFEF-E246-52A7-5FD098C20D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>
                <a:solidFill>
                  <a:srgbClr val="000000"/>
                </a:solidFill>
              </a:rPr>
              <a:t>Padronização visual de letras e cores</a:t>
            </a:r>
          </a:p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7" name="TextBox 27">
            <a:extLst>
              <a:ext uri="{FF2B5EF4-FFF2-40B4-BE49-F238E27FC236}">
                <a16:creationId xmlns:a16="http://schemas.microsoft.com/office/drawing/2014/main" id="{DDE185C9-0928-103B-02C4-10A11511D67D}"/>
              </a:ext>
            </a:extLst>
          </p:cNvPr>
          <p:cNvSpPr txBox="1"/>
          <p:nvPr/>
        </p:nvSpPr>
        <p:spPr>
          <a:xfrm>
            <a:off x="314794" y="987342"/>
            <a:ext cx="2533835" cy="307777"/>
          </a:xfrm>
          <a:prstGeom prst="rect">
            <a:avLst/>
          </a:prstGeom>
          <a:noFill/>
          <a:ln>
            <a:noFill/>
          </a:ln>
        </p:spPr>
        <p:txBody>
          <a:bodyPr wrap="none" rtlCol="0" anchor="b">
            <a:spAutoFit/>
          </a:bodyPr>
          <a:lstStyle/>
          <a:p>
            <a:pPr defTabSz="914217"/>
            <a:r>
              <a:rPr lang="en-US" sz="1400" b="1" spc="75">
                <a:latin typeface="Segoe UI" panose="020B0502040204020203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4. ELEMENTOS GRÁFICOS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C2CA1884-1DB2-F565-B63B-294EDDD42138}"/>
              </a:ext>
            </a:extLst>
          </p:cNvPr>
          <p:cNvCxnSpPr>
            <a:cxnSpLocks/>
          </p:cNvCxnSpPr>
          <p:nvPr/>
        </p:nvCxnSpPr>
        <p:spPr>
          <a:xfrm flipV="1">
            <a:off x="378782" y="1300711"/>
            <a:ext cx="3584158" cy="70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spaço Reservado para Texto 3">
            <a:extLst>
              <a:ext uri="{FF2B5EF4-FFF2-40B4-BE49-F238E27FC236}">
                <a16:creationId xmlns:a16="http://schemas.microsoft.com/office/drawing/2014/main" id="{96D701F1-9CE1-065B-6BF2-649BD8CB8CAB}"/>
              </a:ext>
            </a:extLst>
          </p:cNvPr>
          <p:cNvSpPr txBox="1">
            <a:spLocks/>
          </p:cNvSpPr>
          <p:nvPr/>
        </p:nvSpPr>
        <p:spPr>
          <a:xfrm>
            <a:off x="314793" y="1352614"/>
            <a:ext cx="11398929" cy="15311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Utilizar formas </a:t>
            </a:r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quadradas</a:t>
            </a:r>
            <a:r>
              <a:rPr lang="pt-BR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 não </a:t>
            </a:r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arredondadas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Evitar o uso demasiado de ícones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Evitar formas coloridas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Ao inserir um imagem sempre utilizar a sombra “Deslocamento: Inferior”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Utilizar formas suaves nos slides, com bordas mais finas  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E0E03A6F-F114-374F-7C85-00F0231FE6A2}"/>
              </a:ext>
            </a:extLst>
          </p:cNvPr>
          <p:cNvSpPr/>
          <p:nvPr/>
        </p:nvSpPr>
        <p:spPr>
          <a:xfrm flipV="1">
            <a:off x="482304" y="2928554"/>
            <a:ext cx="428942" cy="428843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1426825-108F-1CF2-5235-452FF9B78DA3}"/>
              </a:ext>
            </a:extLst>
          </p:cNvPr>
          <p:cNvSpPr/>
          <p:nvPr/>
        </p:nvSpPr>
        <p:spPr>
          <a:xfrm>
            <a:off x="1070465" y="2928554"/>
            <a:ext cx="1665697" cy="42884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6348C67-3A8A-0D3A-20CF-40B034EE695B}"/>
              </a:ext>
            </a:extLst>
          </p:cNvPr>
          <p:cNvSpPr/>
          <p:nvPr/>
        </p:nvSpPr>
        <p:spPr>
          <a:xfrm>
            <a:off x="2937476" y="2928555"/>
            <a:ext cx="1665697" cy="4288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6EAB73B7-A258-20EC-1B8F-A1F3B531B1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40" b="54911"/>
          <a:stretch/>
        </p:blipFill>
        <p:spPr>
          <a:xfrm>
            <a:off x="6463256" y="1911069"/>
            <a:ext cx="2253375" cy="656528"/>
          </a:xfrm>
          <a:prstGeom prst="rect">
            <a:avLst/>
          </a:prstGeom>
        </p:spPr>
      </p:pic>
      <p:sp>
        <p:nvSpPr>
          <p:cNvPr id="30" name="Espaço Reservado para Texto 3">
            <a:extLst>
              <a:ext uri="{FF2B5EF4-FFF2-40B4-BE49-F238E27FC236}">
                <a16:creationId xmlns:a16="http://schemas.microsoft.com/office/drawing/2014/main" id="{B543C472-D80D-02FB-34C5-D670E2FBBB31}"/>
              </a:ext>
            </a:extLst>
          </p:cNvPr>
          <p:cNvSpPr txBox="1">
            <a:spLocks/>
          </p:cNvSpPr>
          <p:nvPr/>
        </p:nvSpPr>
        <p:spPr>
          <a:xfrm>
            <a:off x="310767" y="3500604"/>
            <a:ext cx="11398929" cy="3035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pt-BR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Manter as formas dos slides alinhadas, utilizando as ferramentas de alinhamento do PowerPoint indicadas abaixo. Vale lembrar que esse índice só aparece quando alguma forma é selecionada.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956F74EC-512A-F1B9-F0D4-64C07F595C7E}"/>
              </a:ext>
            </a:extLst>
          </p:cNvPr>
          <p:cNvGrpSpPr/>
          <p:nvPr/>
        </p:nvGrpSpPr>
        <p:grpSpPr>
          <a:xfrm>
            <a:off x="441421" y="4034622"/>
            <a:ext cx="2852714" cy="1087972"/>
            <a:chOff x="441421" y="4034622"/>
            <a:chExt cx="2852714" cy="1087972"/>
          </a:xfrm>
        </p:grpSpPr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2E4EBB4C-2263-EEA9-6128-FF40ED5D6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1421" y="4034622"/>
              <a:ext cx="2852714" cy="1087972"/>
            </a:xfrm>
            <a:prstGeom prst="rect">
              <a:avLst/>
            </a:prstGeom>
          </p:spPr>
        </p:pic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6E20807D-1F2C-3EA5-59C2-4BAC43282017}"/>
                </a:ext>
              </a:extLst>
            </p:cNvPr>
            <p:cNvSpPr/>
            <p:nvPr/>
          </p:nvSpPr>
          <p:spPr>
            <a:xfrm>
              <a:off x="482304" y="4079646"/>
              <a:ext cx="1121413" cy="1948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67441649-0698-615A-507A-73978C1888DB}"/>
                </a:ext>
              </a:extLst>
            </p:cNvPr>
            <p:cNvSpPr/>
            <p:nvPr/>
          </p:nvSpPr>
          <p:spPr>
            <a:xfrm>
              <a:off x="1495612" y="4344182"/>
              <a:ext cx="675249" cy="15597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076BBF25-16EE-455E-3CE0-03A8EAE31C68}"/>
              </a:ext>
            </a:extLst>
          </p:cNvPr>
          <p:cNvGrpSpPr/>
          <p:nvPr/>
        </p:nvGrpSpPr>
        <p:grpSpPr>
          <a:xfrm>
            <a:off x="3533021" y="4034622"/>
            <a:ext cx="2140304" cy="2152711"/>
            <a:chOff x="3533021" y="4034622"/>
            <a:chExt cx="2140304" cy="2152711"/>
          </a:xfrm>
        </p:grpSpPr>
        <p:pic>
          <p:nvPicPr>
            <p:cNvPr id="41" name="Imagem 40">
              <a:extLst>
                <a:ext uri="{FF2B5EF4-FFF2-40B4-BE49-F238E27FC236}">
                  <a16:creationId xmlns:a16="http://schemas.microsoft.com/office/drawing/2014/main" id="{08668427-F189-9E4E-3C2E-FE639CA23E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533021" y="4034622"/>
              <a:ext cx="2140304" cy="2152711"/>
            </a:xfrm>
            <a:prstGeom prst="rect">
              <a:avLst/>
            </a:prstGeom>
          </p:spPr>
        </p:pic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B407648E-5825-C39D-12FF-E017E1FC51AE}"/>
                </a:ext>
              </a:extLst>
            </p:cNvPr>
            <p:cNvSpPr/>
            <p:nvPr/>
          </p:nvSpPr>
          <p:spPr>
            <a:xfrm>
              <a:off x="4265548" y="4229465"/>
              <a:ext cx="1407777" cy="195786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095FEEE0-ADCF-A5AC-9C7F-C9092227F9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0238" y="4879309"/>
            <a:ext cx="1646063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60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DD65F7D-399B-614D-8CF7-FC51F816224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3" imgH="476" progId="TCLayout.ActiveDocument.1">
                  <p:embed/>
                </p:oleObj>
              </mc:Choice>
              <mc:Fallback>
                <p:oleObj name="Slide do think-cell" r:id="rId3" imgW="473" imgH="47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D65F7D-399B-614D-8CF7-FC51F81622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426DF7A-28AE-04BE-CE4F-2FDF2A2B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Identidade visual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726D3D-AFEF-E246-52A7-5FD098C20D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>
                <a:solidFill>
                  <a:srgbClr val="000000"/>
                </a:solidFill>
              </a:rPr>
              <a:t>Padronização visual de letras e cores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714BD2-D035-1A41-E9E8-5909016A76B6}"/>
              </a:ext>
            </a:extLst>
          </p:cNvPr>
          <p:cNvSpPr>
            <a:spLocks noGrp="1"/>
          </p:cNvSpPr>
          <p:nvPr/>
        </p:nvSpPr>
        <p:spPr>
          <a:xfrm>
            <a:off x="314792" y="1423608"/>
            <a:ext cx="11490568" cy="118298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Segoe UI"/>
                <a:cs typeface="Segoe UI"/>
              </a:rPr>
              <a:t>O slide mestre determina todo o layout fixo do slide (posição do título e subtítulo, cabeçalho, rodapé, logo etc.). Esse layout </a:t>
            </a:r>
            <a:r>
              <a:rPr lang="pt-BR" b="1">
                <a:latin typeface="Segoe UI"/>
                <a:cs typeface="Segoe UI"/>
              </a:rPr>
              <a:t>não deve ser alterado</a:t>
            </a:r>
            <a:r>
              <a:rPr lang="pt-BR">
                <a:latin typeface="Segoe UI"/>
                <a:cs typeface="Segoe UI"/>
              </a:rPr>
              <a:t>, o usuário só deve acessar o slide mestre para </a:t>
            </a:r>
            <a:r>
              <a:rPr lang="pt-BR" b="1">
                <a:latin typeface="Segoe UI"/>
                <a:cs typeface="Segoe UI"/>
              </a:rPr>
              <a:t>inserir a logotipo da empresa cliente</a:t>
            </a:r>
            <a:r>
              <a:rPr lang="pt-BR">
                <a:latin typeface="Segoe UI"/>
                <a:cs typeface="Segoe UI"/>
              </a:rPr>
              <a:t>, seguindo o passo a passo abaixo. A logotipo do cliente deve ser inserida </a:t>
            </a:r>
            <a:r>
              <a:rPr lang="pt-BR" b="1">
                <a:latin typeface="Segoe UI"/>
                <a:cs typeface="Segoe UI"/>
              </a:rPr>
              <a:t>em todos os slides mestres que possuem a indicação</a:t>
            </a:r>
            <a:r>
              <a:rPr lang="pt-BR">
                <a:latin typeface="Segoe UI"/>
                <a:cs typeface="Segoe UI"/>
              </a:rPr>
              <a:t>.</a:t>
            </a:r>
          </a:p>
          <a:p>
            <a:r>
              <a:rPr lang="pt-BR">
                <a:latin typeface="Segoe UI"/>
                <a:cs typeface="Segoe UI"/>
              </a:rPr>
              <a:t>No canto esquerdo de todo slide mestre ficarão as cores a serem utilizadas no slide, essa paleta não aparecerá no modo apresentação do slide, ela serve apenas de auxílio e não deve ser excluída da apresentação.</a:t>
            </a:r>
            <a:endParaRPr lang="pt-BR"/>
          </a:p>
          <a:p>
            <a:endParaRPr lang="pt-BR"/>
          </a:p>
        </p:txBody>
      </p:sp>
      <p:sp>
        <p:nvSpPr>
          <p:cNvPr id="8" name="TextBox 27">
            <a:extLst>
              <a:ext uri="{FF2B5EF4-FFF2-40B4-BE49-F238E27FC236}">
                <a16:creationId xmlns:a16="http://schemas.microsoft.com/office/drawing/2014/main" id="{1262436F-D6E5-12C1-CF69-FCD67FDE0184}"/>
              </a:ext>
            </a:extLst>
          </p:cNvPr>
          <p:cNvSpPr txBox="1"/>
          <p:nvPr/>
        </p:nvSpPr>
        <p:spPr>
          <a:xfrm>
            <a:off x="314793" y="973919"/>
            <a:ext cx="1744388" cy="307777"/>
          </a:xfrm>
          <a:prstGeom prst="rect">
            <a:avLst/>
          </a:prstGeom>
          <a:noFill/>
          <a:ln>
            <a:noFill/>
          </a:ln>
        </p:spPr>
        <p:txBody>
          <a:bodyPr wrap="none" rtlCol="0" anchor="b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217"/>
            <a:r>
              <a:rPr lang="en-US" sz="1400" b="1" spc="75">
                <a:latin typeface="Segoe UI" panose="020B0502040204020203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5. SLIDE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1F3A74E-C1D6-3CA5-390B-DDB125FE02F1}"/>
              </a:ext>
            </a:extLst>
          </p:cNvPr>
          <p:cNvCxnSpPr>
            <a:cxnSpLocks/>
          </p:cNvCxnSpPr>
          <p:nvPr/>
        </p:nvCxnSpPr>
        <p:spPr>
          <a:xfrm flipV="1">
            <a:off x="378781" y="1287288"/>
            <a:ext cx="3584158" cy="709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9428FB0A-E92A-3917-FD61-D71EB378F3AD}"/>
              </a:ext>
            </a:extLst>
          </p:cNvPr>
          <p:cNvGrpSpPr/>
          <p:nvPr/>
        </p:nvGrpSpPr>
        <p:grpSpPr>
          <a:xfrm>
            <a:off x="378781" y="2750196"/>
            <a:ext cx="4455859" cy="937597"/>
            <a:chOff x="378781" y="2221844"/>
            <a:chExt cx="5131996" cy="1171739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6475C53-2932-F4D3-3E0A-BEA399E1FA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8781" y="2221844"/>
              <a:ext cx="5068007" cy="1171739"/>
            </a:xfrm>
            <a:prstGeom prst="rect">
              <a:avLst/>
            </a:prstGeom>
          </p:spPr>
        </p:pic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29ED3C44-0678-8655-8B1A-F416B8EDB91B}"/>
                </a:ext>
              </a:extLst>
            </p:cNvPr>
            <p:cNvSpPr/>
            <p:nvPr/>
          </p:nvSpPr>
          <p:spPr>
            <a:xfrm>
              <a:off x="378781" y="2518117"/>
              <a:ext cx="571473" cy="70338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E5E34C06-158D-04CE-6E5D-0C9FEB1D0AC4}"/>
                </a:ext>
              </a:extLst>
            </p:cNvPr>
            <p:cNvSpPr/>
            <p:nvPr/>
          </p:nvSpPr>
          <p:spPr>
            <a:xfrm>
              <a:off x="4939304" y="2259236"/>
              <a:ext cx="571473" cy="25888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36A489E-F184-67EE-606E-FFEC402DAAA7}"/>
              </a:ext>
            </a:extLst>
          </p:cNvPr>
          <p:cNvGrpSpPr/>
          <p:nvPr/>
        </p:nvGrpSpPr>
        <p:grpSpPr>
          <a:xfrm>
            <a:off x="378781" y="3791262"/>
            <a:ext cx="5600431" cy="2542792"/>
            <a:chOff x="378781" y="3795435"/>
            <a:chExt cx="5193812" cy="2230749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A65B239D-DBAF-D1E2-A991-8CB7919AC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2687" y="3795435"/>
              <a:ext cx="5189906" cy="2230749"/>
            </a:xfrm>
            <a:prstGeom prst="rect">
              <a:avLst/>
            </a:prstGeom>
          </p:spPr>
        </p:pic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5E7BFE1-33FC-1695-74A7-4B5BA199BD52}"/>
                </a:ext>
              </a:extLst>
            </p:cNvPr>
            <p:cNvSpPr/>
            <p:nvPr/>
          </p:nvSpPr>
          <p:spPr>
            <a:xfrm>
              <a:off x="378781" y="3795435"/>
              <a:ext cx="802905" cy="219684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226C4075-2F0B-00F2-A447-D8D80AF67C1E}"/>
                </a:ext>
              </a:extLst>
            </p:cNvPr>
            <p:cNvSpPr/>
            <p:nvPr/>
          </p:nvSpPr>
          <p:spPr>
            <a:xfrm>
              <a:off x="1657728" y="5850177"/>
              <a:ext cx="802905" cy="14210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43998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61D9B548-B81B-479B-A89D-4E50E1DE910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611505" y="1905"/>
          <a:ext cx="1906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4" progId="TCLayout.ActiveDocument.1">
                  <p:embed/>
                </p:oleObj>
              </mc:Choice>
              <mc:Fallback>
                <p:oleObj name="Slide do think-cell" r:id="rId4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61D9B548-B81B-479B-A89D-4E50E1DE91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1505" y="1905"/>
                        <a:ext cx="1906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bject 6"/>
          <p:cNvSpPr txBox="1"/>
          <p:nvPr/>
        </p:nvSpPr>
        <p:spPr>
          <a:xfrm>
            <a:off x="3190565" y="3797456"/>
            <a:ext cx="5810870" cy="6378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spcAft>
                <a:spcPts val="1200"/>
              </a:spcAft>
            </a:pPr>
            <a:r>
              <a:rPr lang="pt-BR" sz="3200" b="1">
                <a:latin typeface="Arial"/>
                <a:ea typeface="Poppins" pitchFamily="34" charset="-122"/>
                <a:cs typeface="Arial"/>
              </a:rPr>
              <a:t>Apresentação Operacional 1</a:t>
            </a:r>
            <a:endParaRPr lang="pt-BR" sz="2400" b="1">
              <a:latin typeface="Arial" panose="020B0604020202020204" pitchFamily="34" charset="0"/>
              <a:ea typeface="Poppins" pitchFamily="34" charset="-122"/>
              <a:cs typeface="Arial" panose="020B0604020202020204" pitchFamily="34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1910485-E5BB-9A23-A873-DE27D4C7440F}"/>
              </a:ext>
            </a:extLst>
          </p:cNvPr>
          <p:cNvGrpSpPr/>
          <p:nvPr/>
        </p:nvGrpSpPr>
        <p:grpSpPr>
          <a:xfrm>
            <a:off x="3015373" y="1628481"/>
            <a:ext cx="6161253" cy="1800519"/>
            <a:chOff x="3530338" y="1979629"/>
            <a:chExt cx="5123468" cy="139988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238CFD25-004C-0A7D-E6BA-346F7AA01E4D}"/>
                </a:ext>
              </a:extLst>
            </p:cNvPr>
            <p:cNvSpPr/>
            <p:nvPr/>
          </p:nvSpPr>
          <p:spPr>
            <a:xfrm>
              <a:off x="3530338" y="1979629"/>
              <a:ext cx="5123468" cy="1399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" name="Imagem 2" descr="Uma imagem contendo Texto&#10;&#10;Descrição gerada automaticamente">
              <a:extLst>
                <a:ext uri="{FF2B5EF4-FFF2-40B4-BE49-F238E27FC236}">
                  <a16:creationId xmlns:a16="http://schemas.microsoft.com/office/drawing/2014/main" id="{7291CA80-6931-44E9-F71A-19CF8AEBA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8173" y="2242232"/>
              <a:ext cx="4255655" cy="72954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1818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Temas abordados nessa apresentação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678CC38-23B8-B78F-F0C2-39DD7654DF84}"/>
              </a:ext>
            </a:extLst>
          </p:cNvPr>
          <p:cNvSpPr txBox="1"/>
          <p:nvPr/>
        </p:nvSpPr>
        <p:spPr>
          <a:xfrm>
            <a:off x="604975" y="1075039"/>
            <a:ext cx="4656198" cy="4583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00050" indent="-400050">
              <a:buFont typeface="+mj-lt"/>
              <a:buAutoNum type="romanUcPeriod"/>
            </a:pPr>
            <a:r>
              <a:rPr lang="pt-BR" b="1" dirty="0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Galeazzi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 dirty="0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Quem Somos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 dirty="0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Nossa Cultura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 dirty="0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Segmentos e serviços</a:t>
            </a:r>
          </a:p>
          <a:p>
            <a:pPr marL="857250" lvl="1" indent="-400050">
              <a:buFont typeface="+mj-lt"/>
              <a:buAutoNum type="arabicPeriod"/>
            </a:pPr>
            <a:endParaRPr lang="pt-BR" dirty="0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pt-BR" b="1" dirty="0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Nossas Soluções</a:t>
            </a:r>
            <a:endParaRPr lang="pt-BR" dirty="0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857250" lvl="1" indent="-400050">
              <a:buFont typeface="+mj-lt"/>
              <a:buAutoNum type="arabicPeriod"/>
            </a:pPr>
            <a:r>
              <a:rPr lang="pt-BR" dirty="0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Melhoria de Performance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 dirty="0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Reestruturação Operacional e Financeira</a:t>
            </a:r>
          </a:p>
          <a:p>
            <a:pPr marL="857250" lvl="1" indent="-400050">
              <a:buFont typeface="+mj-lt"/>
              <a:buAutoNum type="romanUcPeriod"/>
            </a:pPr>
            <a:endParaRPr lang="pt-BR" dirty="0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pt-BR" b="1" dirty="0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Cases G&amp;A</a:t>
            </a:r>
          </a:p>
        </p:txBody>
      </p:sp>
    </p:spTree>
    <p:extLst>
      <p:ext uri="{BB962C8B-B14F-4D97-AF65-F5344CB8AC3E}">
        <p14:creationId xmlns:p14="http://schemas.microsoft.com/office/powerpoint/2010/main" val="140365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Temas abordados nessa apresentação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678CC38-23B8-B78F-F0C2-39DD7654DF84}"/>
              </a:ext>
            </a:extLst>
          </p:cNvPr>
          <p:cNvSpPr txBox="1"/>
          <p:nvPr/>
        </p:nvSpPr>
        <p:spPr>
          <a:xfrm>
            <a:off x="604975" y="1075039"/>
            <a:ext cx="4656198" cy="4583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00050" indent="-400050">
              <a:buFont typeface="+mj-lt"/>
              <a:buAutoNum type="romanUcPeriod"/>
            </a:pPr>
            <a:r>
              <a:rPr lang="pt-BR" b="1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Galeazzi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Quem Somos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Nossa Cultura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Segmentos e serviços</a:t>
            </a:r>
          </a:p>
          <a:p>
            <a:pPr marL="857250" lvl="1" indent="-400050">
              <a:buFont typeface="+mj-lt"/>
              <a:buAutoNum type="arabicPeriod"/>
            </a:pPr>
            <a:endParaRPr lang="pt-BR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pt-BR" b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Nossas Soluções</a:t>
            </a:r>
            <a:endParaRPr lang="pt-BR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Melhoria de Performance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Reestruturação Operacional e Financeira</a:t>
            </a:r>
          </a:p>
          <a:p>
            <a:pPr marL="857250" lvl="1" indent="-400050">
              <a:buFont typeface="+mj-lt"/>
              <a:buAutoNum type="romanUcPeriod"/>
            </a:pPr>
            <a:endParaRPr lang="pt-BR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pt-BR" b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Cases G&amp;A</a:t>
            </a:r>
            <a:endParaRPr lang="pt-BR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973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AC938BB2-9777-4303-566E-3EBCB4997C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62339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AC938BB2-9777-4303-566E-3EBCB4997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A406CE0-EB5D-4306-674C-B0511078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Quem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0AFF88-CF2F-099B-7188-041E26ADD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História, Equipe, Metodologia, O que fazemos 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B8429D-9394-2164-1C1C-D2FD676DD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Somos</a:t>
            </a:r>
          </a:p>
        </p:txBody>
      </p:sp>
    </p:spTree>
    <p:extLst>
      <p:ext uri="{BB962C8B-B14F-4D97-AF65-F5344CB8AC3E}">
        <p14:creationId xmlns:p14="http://schemas.microsoft.com/office/powerpoint/2010/main" val="2689834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7137E683-2169-9B9C-9E89-E61DCB3A2AD0}"/>
              </a:ext>
            </a:extLst>
          </p:cNvPr>
          <p:cNvSpPr/>
          <p:nvPr/>
        </p:nvSpPr>
        <p:spPr>
          <a:xfrm>
            <a:off x="556181" y="2599516"/>
            <a:ext cx="1774521" cy="716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EQUIPE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C244280-3905-363E-1DD4-FBB87F5DEBBB}"/>
              </a:ext>
            </a:extLst>
          </p:cNvPr>
          <p:cNvSpPr/>
          <p:nvPr/>
        </p:nvSpPr>
        <p:spPr>
          <a:xfrm>
            <a:off x="556181" y="3808118"/>
            <a:ext cx="1774521" cy="7158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QUE </a:t>
            </a:r>
          </a:p>
          <a:p>
            <a:pPr algn="ctr"/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FAZEMOS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5042618-EC75-015F-B7D0-234D666FCD5E}"/>
              </a:ext>
            </a:extLst>
          </p:cNvPr>
          <p:cNvSpPr/>
          <p:nvPr/>
        </p:nvSpPr>
        <p:spPr>
          <a:xfrm>
            <a:off x="556180" y="5016123"/>
            <a:ext cx="1774521" cy="7158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 QUE A </a:t>
            </a:r>
          </a:p>
          <a:p>
            <a:pPr algn="ctr"/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GALEAZZI?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9DC13EA-0D0D-97DB-5CFF-20A7997B9662}"/>
              </a:ext>
            </a:extLst>
          </p:cNvPr>
          <p:cNvSpPr/>
          <p:nvPr/>
        </p:nvSpPr>
        <p:spPr>
          <a:xfrm>
            <a:off x="556181" y="1390914"/>
            <a:ext cx="1774521" cy="716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HISTÓRIA</a:t>
            </a:r>
          </a:p>
        </p:txBody>
      </p:sp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Quem Somos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História, Equipe, Metodologia, O que fazemos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3AB3BE7-0B14-961C-D717-DB371203DD52}"/>
              </a:ext>
            </a:extLst>
          </p:cNvPr>
          <p:cNvSpPr txBox="1">
            <a:spLocks/>
          </p:cNvSpPr>
          <p:nvPr/>
        </p:nvSpPr>
        <p:spPr>
          <a:xfrm>
            <a:off x="2912165" y="1481189"/>
            <a:ext cx="7918228" cy="53585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543818">
              <a:lnSpc>
                <a:spcPts val="2000"/>
              </a:lnSpc>
              <a:spcBef>
                <a:spcPts val="600"/>
              </a:spcBef>
            </a:pP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Desde 1988, com foco em </a:t>
            </a: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Reestruturação</a:t>
            </a: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 e </a:t>
            </a: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Melhoria de Performance</a:t>
            </a: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 de Grandes e Médias Empresas, nacionais e multinacionais</a:t>
            </a:r>
            <a:endParaRPr lang="pt-BR" sz="1400">
              <a:latin typeface="Segoe UI" panose="020B0502040204020203" pitchFamily="34" charset="0"/>
              <a:ea typeface="Noto Sans Light" panose="020B0402040504020204" pitchFamily="34" charset="0"/>
              <a:cs typeface="Segoe UI" panose="020B0502040204020203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4852D7B-A1DB-E74A-D21D-C008E13CEDCE}"/>
              </a:ext>
            </a:extLst>
          </p:cNvPr>
          <p:cNvSpPr txBox="1">
            <a:spLocks/>
          </p:cNvSpPr>
          <p:nvPr/>
        </p:nvSpPr>
        <p:spPr>
          <a:xfrm>
            <a:off x="2912165" y="2608326"/>
            <a:ext cx="7918228" cy="53585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543818">
              <a:lnSpc>
                <a:spcPts val="2000"/>
              </a:lnSpc>
              <a:spcBef>
                <a:spcPts val="600"/>
              </a:spcBef>
            </a:pP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Profissionais atualizados e multifuncionais com expertise em diferentes áreas e em funções executivas</a:t>
            </a:r>
            <a:endParaRPr lang="en-US" sz="1400">
              <a:solidFill>
                <a:schemeClr val="tx1"/>
              </a:solidFill>
              <a:latin typeface="Segoe UI" panose="020B0502040204020203" pitchFamily="34" charset="0"/>
              <a:ea typeface="Noto Sans Light" panose="020B0402040504020204" pitchFamily="34" charset="0"/>
              <a:cs typeface="Segoe UI" panose="020B0502040204020203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002F318-B147-AFBE-B5AA-7949622639F2}"/>
              </a:ext>
            </a:extLst>
          </p:cNvPr>
          <p:cNvSpPr txBox="1">
            <a:spLocks/>
          </p:cNvSpPr>
          <p:nvPr/>
        </p:nvSpPr>
        <p:spPr>
          <a:xfrm>
            <a:off x="2912165" y="3735463"/>
            <a:ext cx="7918228" cy="535852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543818">
              <a:lnSpc>
                <a:spcPts val="2000"/>
              </a:lnSpc>
              <a:spcBef>
                <a:spcPts val="600"/>
              </a:spcBef>
            </a:pP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Aplicação de metodologias, otimizamos processos e implementação de ações, gerando </a:t>
            </a: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maior competitividade, lucratividade e performance </a:t>
            </a: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dos nossos clientes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BD0D31-5B06-9A6C-9410-6E185C33E709}"/>
              </a:ext>
            </a:extLst>
          </p:cNvPr>
          <p:cNvSpPr txBox="1">
            <a:spLocks/>
          </p:cNvSpPr>
          <p:nvPr/>
        </p:nvSpPr>
        <p:spPr>
          <a:xfrm>
            <a:off x="2912165" y="4862599"/>
            <a:ext cx="7918228" cy="1061829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543818">
              <a:lnSpc>
                <a:spcPct val="100000"/>
              </a:lnSpc>
              <a:spcBef>
                <a:spcPts val="600"/>
              </a:spcBef>
            </a:pP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Abordagens e soluções adaptadas para atender as necessidades únicas dos clientes</a:t>
            </a:r>
            <a:endParaRPr lang="pt-BR" sz="1400" b="1">
              <a:solidFill>
                <a:schemeClr val="tx1"/>
              </a:solidFill>
              <a:latin typeface="Segoe UI" panose="020B0502040204020203" pitchFamily="34" charset="0"/>
              <a:ea typeface="Noto Sans Light" panose="020B0402040504020204" pitchFamily="34" charset="0"/>
              <a:cs typeface="Segoe UI" panose="020B0502040204020203" pitchFamily="34" charset="0"/>
            </a:endParaRPr>
          </a:p>
          <a:p>
            <a:pPr algn="just" defTabSz="543818">
              <a:lnSpc>
                <a:spcPct val="100000"/>
              </a:lnSpc>
              <a:spcBef>
                <a:spcPts val="600"/>
              </a:spcBef>
            </a:pP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Pragmatismo: </a:t>
            </a: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Entregas viáveis para a realidade do dia a dia </a:t>
            </a:r>
          </a:p>
          <a:p>
            <a:pPr algn="just" defTabSz="543818">
              <a:lnSpc>
                <a:spcPct val="100000"/>
              </a:lnSpc>
              <a:spcBef>
                <a:spcPts val="600"/>
              </a:spcBef>
            </a:pP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Hands-On: </a:t>
            </a: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Fazemos acontecer junto com o cliente – transformamos os planos em ação -</a:t>
            </a: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 execução</a:t>
            </a: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ea typeface="Noto Sans Light" panose="020B0402040504020204" pitchFamily="34" charset="0"/>
                <a:cs typeface="Segoe UI" panose="020B0502040204020203" pitchFamily="34" charset="0"/>
              </a:rPr>
              <a:t>. 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1C2B0405-1FE7-89F4-644B-EAA2B828CFDF}"/>
              </a:ext>
            </a:extLst>
          </p:cNvPr>
          <p:cNvCxnSpPr/>
          <p:nvPr/>
        </p:nvCxnSpPr>
        <p:spPr>
          <a:xfrm>
            <a:off x="2672501" y="1381469"/>
            <a:ext cx="0" cy="735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164F5147-EA74-0EF5-4458-566B8A73ED1D}"/>
              </a:ext>
            </a:extLst>
          </p:cNvPr>
          <p:cNvCxnSpPr/>
          <p:nvPr/>
        </p:nvCxnSpPr>
        <p:spPr>
          <a:xfrm>
            <a:off x="2672501" y="2593020"/>
            <a:ext cx="0" cy="735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845E6637-5AEA-24CF-A2B4-73888F4DE76B}"/>
              </a:ext>
            </a:extLst>
          </p:cNvPr>
          <p:cNvCxnSpPr/>
          <p:nvPr/>
        </p:nvCxnSpPr>
        <p:spPr>
          <a:xfrm>
            <a:off x="2672501" y="3804571"/>
            <a:ext cx="0" cy="735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3F436E04-7ECC-5F36-20CE-E8A91D1335A5}"/>
              </a:ext>
            </a:extLst>
          </p:cNvPr>
          <p:cNvCxnSpPr/>
          <p:nvPr/>
        </p:nvCxnSpPr>
        <p:spPr>
          <a:xfrm>
            <a:off x="2649271" y="5016123"/>
            <a:ext cx="0" cy="735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307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AC938BB2-9777-4303-566E-3EBCB4997C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360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AC938BB2-9777-4303-566E-3EBCB4997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A406CE0-EB5D-4306-674C-B0511078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Nossa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0AFF88-CF2F-099B-7188-041E26ADD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Missão, Visão, Valores 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B8429D-9394-2164-1C1C-D2FD676DD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Cultura</a:t>
            </a:r>
          </a:p>
        </p:txBody>
      </p:sp>
    </p:spTree>
    <p:extLst>
      <p:ext uri="{BB962C8B-B14F-4D97-AF65-F5344CB8AC3E}">
        <p14:creationId xmlns:p14="http://schemas.microsoft.com/office/powerpoint/2010/main" val="3907039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CA9BCD84-53F9-F270-8A62-09877068A51C}"/>
              </a:ext>
            </a:extLst>
          </p:cNvPr>
          <p:cNvSpPr/>
          <p:nvPr/>
        </p:nvSpPr>
        <p:spPr>
          <a:xfrm>
            <a:off x="824011" y="3118106"/>
            <a:ext cx="1295314" cy="716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103AD0A-1CA1-4C49-854E-7DD513647BE2}"/>
              </a:ext>
            </a:extLst>
          </p:cNvPr>
          <p:cNvSpPr/>
          <p:nvPr/>
        </p:nvSpPr>
        <p:spPr>
          <a:xfrm>
            <a:off x="824015" y="4581419"/>
            <a:ext cx="1295310" cy="71580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VALORES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E6C35F8-1465-8DAD-B763-7472AF2F4DD9}"/>
              </a:ext>
            </a:extLst>
          </p:cNvPr>
          <p:cNvSpPr/>
          <p:nvPr/>
        </p:nvSpPr>
        <p:spPr>
          <a:xfrm>
            <a:off x="824011" y="1654793"/>
            <a:ext cx="1295314" cy="716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MISSÃO</a:t>
            </a:r>
          </a:p>
        </p:txBody>
      </p:sp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Nossa Cultura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Missão, Visão, Valores</a:t>
            </a:r>
          </a:p>
        </p:txBody>
      </p:sp>
      <p:sp>
        <p:nvSpPr>
          <p:cNvPr id="8" name="CaixaDeTexto 11">
            <a:extLst>
              <a:ext uri="{FF2B5EF4-FFF2-40B4-BE49-F238E27FC236}">
                <a16:creationId xmlns:a16="http://schemas.microsoft.com/office/drawing/2014/main" id="{AB96F89B-7548-75B7-5196-B725C62B511E}"/>
              </a:ext>
            </a:extLst>
          </p:cNvPr>
          <p:cNvSpPr txBox="1"/>
          <p:nvPr/>
        </p:nvSpPr>
        <p:spPr>
          <a:xfrm>
            <a:off x="2946300" y="3215403"/>
            <a:ext cx="78136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Acreditamos que empresas bem geridas e duradouras podem fazer uma nação melhor</a:t>
            </a:r>
          </a:p>
        </p:txBody>
      </p:sp>
      <p:sp>
        <p:nvSpPr>
          <p:cNvPr id="10" name="CaixaDeTexto 24">
            <a:extLst>
              <a:ext uri="{FF2B5EF4-FFF2-40B4-BE49-F238E27FC236}">
                <a16:creationId xmlns:a16="http://schemas.microsoft.com/office/drawing/2014/main" id="{4DCB8704-950A-28BE-CEC3-471B002A92A4}"/>
              </a:ext>
            </a:extLst>
          </p:cNvPr>
          <p:cNvSpPr txBox="1"/>
          <p:nvPr/>
        </p:nvSpPr>
        <p:spPr>
          <a:xfrm>
            <a:off x="2861458" y="4569988"/>
            <a:ext cx="79790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Pessoas como agentes de transformação</a:t>
            </a:r>
          </a:p>
          <a:p>
            <a:pPr algn="just"/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Ética &amp; transparência | Obsessão por resultados | Visão holística do negócio | Coragem | Visão de dono | Pragmatismo | Disciplina | Respeito aos valores do cliente</a:t>
            </a:r>
          </a:p>
        </p:txBody>
      </p:sp>
      <p:sp>
        <p:nvSpPr>
          <p:cNvPr id="12" name="CaixaDeTexto 35">
            <a:extLst>
              <a:ext uri="{FF2B5EF4-FFF2-40B4-BE49-F238E27FC236}">
                <a16:creationId xmlns:a16="http://schemas.microsoft.com/office/drawing/2014/main" id="{B16BE567-C156-E875-080B-F5008D8049E5}"/>
              </a:ext>
            </a:extLst>
          </p:cNvPr>
          <p:cNvSpPr txBox="1"/>
          <p:nvPr/>
        </p:nvSpPr>
        <p:spPr>
          <a:xfrm>
            <a:off x="2946299" y="1645374"/>
            <a:ext cx="7884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Ajudar na evolução das organizações por meio da entrega de resultados alinhando estratégia, pessoas e ações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1EB387E2-C7AF-3660-1DCE-3DBD54E9736F}"/>
              </a:ext>
            </a:extLst>
          </p:cNvPr>
          <p:cNvCxnSpPr>
            <a:cxnSpLocks/>
          </p:cNvCxnSpPr>
          <p:nvPr/>
        </p:nvCxnSpPr>
        <p:spPr>
          <a:xfrm>
            <a:off x="2672501" y="1600044"/>
            <a:ext cx="0" cy="735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FC2E8F3F-AF3A-9474-9533-36923238C994}"/>
              </a:ext>
            </a:extLst>
          </p:cNvPr>
          <p:cNvCxnSpPr>
            <a:cxnSpLocks/>
          </p:cNvCxnSpPr>
          <p:nvPr/>
        </p:nvCxnSpPr>
        <p:spPr>
          <a:xfrm>
            <a:off x="2672501" y="3088482"/>
            <a:ext cx="0" cy="735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34F87F4A-4A30-C8BA-18FE-B5C4F158F758}"/>
              </a:ext>
            </a:extLst>
          </p:cNvPr>
          <p:cNvCxnSpPr>
            <a:cxnSpLocks/>
          </p:cNvCxnSpPr>
          <p:nvPr/>
        </p:nvCxnSpPr>
        <p:spPr>
          <a:xfrm>
            <a:off x="2672501" y="4576920"/>
            <a:ext cx="0" cy="7352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522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AC938BB2-9777-4303-566E-3EBCB4997C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28706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AC938BB2-9777-4303-566E-3EBCB4997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A406CE0-EB5D-4306-674C-B0511078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Segmentos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0AFF88-CF2F-099B-7188-041E26ADD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Clientes, Setores 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B8429D-9394-2164-1C1C-D2FD676DD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De Atuação</a:t>
            </a:r>
          </a:p>
        </p:txBody>
      </p:sp>
    </p:spTree>
    <p:extLst>
      <p:ext uri="{BB962C8B-B14F-4D97-AF65-F5344CB8AC3E}">
        <p14:creationId xmlns:p14="http://schemas.microsoft.com/office/powerpoint/2010/main" val="2985338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1309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12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Segmentos de Atuação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Clientes, Setores</a:t>
            </a:r>
          </a:p>
        </p:txBody>
      </p:sp>
      <p:sp>
        <p:nvSpPr>
          <p:cNvPr id="57" name="object 2">
            <a:extLst>
              <a:ext uri="{FF2B5EF4-FFF2-40B4-BE49-F238E27FC236}">
                <a16:creationId xmlns:a16="http://schemas.microsoft.com/office/drawing/2014/main" id="{1C6842F1-2CC6-2E4B-EBAB-16FB2270C3EA}"/>
              </a:ext>
            </a:extLst>
          </p:cNvPr>
          <p:cNvSpPr txBox="1"/>
          <p:nvPr/>
        </p:nvSpPr>
        <p:spPr>
          <a:xfrm>
            <a:off x="41705" y="3043391"/>
            <a:ext cx="3013023" cy="11439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7890">
              <a:lnSpc>
                <a:spcPts val="3540"/>
              </a:lnSpc>
            </a:pPr>
            <a:r>
              <a:rPr lang="pt-BR" sz="3000" b="1" spc="-10">
                <a:latin typeface="Segoe UI" panose="020B0502040204020203" pitchFamily="34" charset="0"/>
                <a:cs typeface="Segoe UI" panose="020B0502040204020203" pitchFamily="34" charset="0"/>
              </a:rPr>
              <a:t>Segmentos de atuação</a:t>
            </a:r>
            <a:endParaRPr sz="3000" b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lang="pt-BR" sz="1100" spc="-10">
                <a:latin typeface="Segoe UI" panose="020B0502040204020203" pitchFamily="34" charset="0"/>
                <a:cs typeface="Segoe UI" panose="020B0502040204020203" pitchFamily="34" charset="0"/>
              </a:rPr>
              <a:t>		     Alguns de nossos clientes</a:t>
            </a:r>
            <a:endParaRPr sz="11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Rectangle 12">
            <a:extLst>
              <a:ext uri="{FF2B5EF4-FFF2-40B4-BE49-F238E27FC236}">
                <a16:creationId xmlns:a16="http://schemas.microsoft.com/office/drawing/2014/main" id="{B50E9815-0316-8659-545A-FB60E6672822}"/>
              </a:ext>
            </a:extLst>
          </p:cNvPr>
          <p:cNvSpPr/>
          <p:nvPr/>
        </p:nvSpPr>
        <p:spPr>
          <a:xfrm>
            <a:off x="3816352" y="4713743"/>
            <a:ext cx="7962832" cy="1512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Box 40">
            <a:extLst>
              <a:ext uri="{FF2B5EF4-FFF2-40B4-BE49-F238E27FC236}">
                <a16:creationId xmlns:a16="http://schemas.microsoft.com/office/drawing/2014/main" id="{7C903B1E-448F-6646-06F0-FC59EF67895A}"/>
              </a:ext>
            </a:extLst>
          </p:cNvPr>
          <p:cNvSpPr txBox="1"/>
          <p:nvPr/>
        </p:nvSpPr>
        <p:spPr>
          <a:xfrm>
            <a:off x="3934659" y="5046066"/>
            <a:ext cx="1058495" cy="323165"/>
          </a:xfrm>
          <a:prstGeom prst="rect">
            <a:avLst/>
          </a:prstGeom>
          <a:noFill/>
          <a:ln>
            <a:noFill/>
          </a:ln>
        </p:spPr>
        <p:txBody>
          <a:bodyPr wrap="none" rtlCol="0" anchor="b">
            <a:spAutoFit/>
          </a:bodyPr>
          <a:lstStyle>
            <a:defPPr>
              <a:defRPr lang="pt-BR"/>
            </a:defPPr>
            <a:lvl1pPr defTabSz="914217">
              <a:defRPr sz="2000" b="1" spc="75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r>
              <a:rPr lang="pt-BR" sz="1600">
                <a:solidFill>
                  <a:schemeClr val="tx1"/>
                </a:solidFill>
              </a:rPr>
              <a:t>Serviços</a:t>
            </a:r>
          </a:p>
        </p:txBody>
      </p:sp>
      <p:pic>
        <p:nvPicPr>
          <p:cNvPr id="71" name="Picture 13" descr="Resultado de imagem para dasa logo">
            <a:extLst>
              <a:ext uri="{FF2B5EF4-FFF2-40B4-BE49-F238E27FC236}">
                <a16:creationId xmlns:a16="http://schemas.microsoft.com/office/drawing/2014/main" id="{9E9567FC-416F-890D-0AAC-6BF586E95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549" y="5792344"/>
            <a:ext cx="675710" cy="41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17" descr="Resultado de imagem para itau logo">
            <a:extLst>
              <a:ext uri="{FF2B5EF4-FFF2-40B4-BE49-F238E27FC236}">
                <a16:creationId xmlns:a16="http://schemas.microsoft.com/office/drawing/2014/main" id="{A4471D56-08F8-9E8F-17F1-E5569B6F52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22" r="23345"/>
          <a:stretch/>
        </p:blipFill>
        <p:spPr bwMode="auto">
          <a:xfrm>
            <a:off x="5236334" y="4860377"/>
            <a:ext cx="692892" cy="631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31" descr="Resultado de imagem para rede logo">
            <a:extLst>
              <a:ext uri="{FF2B5EF4-FFF2-40B4-BE49-F238E27FC236}">
                <a16:creationId xmlns:a16="http://schemas.microsoft.com/office/drawing/2014/main" id="{1B971E84-9F77-1277-788A-48F7A831E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647" y="5914349"/>
            <a:ext cx="792662" cy="24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52" descr="Resultado de imagem para claro logo">
            <a:extLst>
              <a:ext uri="{FF2B5EF4-FFF2-40B4-BE49-F238E27FC236}">
                <a16:creationId xmlns:a16="http://schemas.microsoft.com/office/drawing/2014/main" id="{413DA425-60AB-D793-D89B-54101436D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543" y="5436937"/>
            <a:ext cx="692894" cy="24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15" descr="Resultado de imagem para santos brasil logo">
            <a:extLst>
              <a:ext uri="{FF2B5EF4-FFF2-40B4-BE49-F238E27FC236}">
                <a16:creationId xmlns:a16="http://schemas.microsoft.com/office/drawing/2014/main" id="{2315254D-F6F4-0CEE-BD46-240AE8C6A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3354" y="4821860"/>
            <a:ext cx="978940" cy="519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Imagem 79">
            <a:extLst>
              <a:ext uri="{FF2B5EF4-FFF2-40B4-BE49-F238E27FC236}">
                <a16:creationId xmlns:a16="http://schemas.microsoft.com/office/drawing/2014/main" id="{BD205936-9E32-3D72-EB97-A6661DB0D74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</a:blip>
          <a:stretch>
            <a:fillRect/>
          </a:stretch>
        </p:blipFill>
        <p:spPr>
          <a:xfrm>
            <a:off x="10455080" y="4961310"/>
            <a:ext cx="1040078" cy="284758"/>
          </a:xfrm>
          <a:prstGeom prst="rect">
            <a:avLst/>
          </a:prstGeom>
        </p:spPr>
      </p:pic>
      <p:pic>
        <p:nvPicPr>
          <p:cNvPr id="81" name="Picture 27" descr="Resultado de imagem para sbt logo">
            <a:extLst>
              <a:ext uri="{FF2B5EF4-FFF2-40B4-BE49-F238E27FC236}">
                <a16:creationId xmlns:a16="http://schemas.microsoft.com/office/drawing/2014/main" id="{F35FA421-CBEC-1926-499F-2B4287531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227" y="5764825"/>
            <a:ext cx="430486" cy="410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6">
            <a:extLst>
              <a:ext uri="{FF2B5EF4-FFF2-40B4-BE49-F238E27FC236}">
                <a16:creationId xmlns:a16="http://schemas.microsoft.com/office/drawing/2014/main" id="{E103907D-D9BA-8073-5BCD-F129A9517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4" t="34830" r="9775" b="40083"/>
          <a:stretch/>
        </p:blipFill>
        <p:spPr bwMode="auto">
          <a:xfrm>
            <a:off x="9449685" y="5325446"/>
            <a:ext cx="1017948" cy="30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4" descr="Novo logotipo Boleto Banrisul - ACBrBoleto - Projeto ACBr">
            <a:extLst>
              <a:ext uri="{FF2B5EF4-FFF2-40B4-BE49-F238E27FC236}">
                <a16:creationId xmlns:a16="http://schemas.microsoft.com/office/drawing/2014/main" id="{32036E69-8EAF-38D7-70D3-6730F1F2C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clrChange>
              <a:clrFrom>
                <a:srgbClr val="FFFEFC"/>
              </a:clrFrom>
              <a:clrTo>
                <a:srgbClr val="FFFE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0" t="40177" r="21332" b="38425"/>
          <a:stretch/>
        </p:blipFill>
        <p:spPr bwMode="auto">
          <a:xfrm>
            <a:off x="8303822" y="5898910"/>
            <a:ext cx="1087622" cy="228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6" descr="Light Energia Logo – PNG e Vetor – Download de Logo">
            <a:extLst>
              <a:ext uri="{FF2B5EF4-FFF2-40B4-BE49-F238E27FC236}">
                <a16:creationId xmlns:a16="http://schemas.microsoft.com/office/drawing/2014/main" id="{9065E39A-85FE-7C0D-C94F-FF8978B0B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093" y="5398366"/>
            <a:ext cx="781634" cy="279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9" descr="Resultado de imagem para cpfl logo">
            <a:extLst>
              <a:ext uri="{FF2B5EF4-FFF2-40B4-BE49-F238E27FC236}">
                <a16:creationId xmlns:a16="http://schemas.microsoft.com/office/drawing/2014/main" id="{449CC810-5E69-2019-3E57-2B86B733B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0977" y="5800764"/>
            <a:ext cx="536656" cy="395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12" descr="Plataforma de serviços financeiros pensada para você | digio. Tudo se  transforma.">
            <a:extLst>
              <a:ext uri="{FF2B5EF4-FFF2-40B4-BE49-F238E27FC236}">
                <a16:creationId xmlns:a16="http://schemas.microsoft.com/office/drawing/2014/main" id="{794BD298-8828-4BEA-9BFB-941EF9DA30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1" t="30290" r="27362" b="33901"/>
          <a:stretch/>
        </p:blipFill>
        <p:spPr bwMode="auto">
          <a:xfrm>
            <a:off x="6894232" y="4887499"/>
            <a:ext cx="698538" cy="27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Rectangle 12">
            <a:extLst>
              <a:ext uri="{FF2B5EF4-FFF2-40B4-BE49-F238E27FC236}">
                <a16:creationId xmlns:a16="http://schemas.microsoft.com/office/drawing/2014/main" id="{B0A8D84E-C60A-6C12-7C19-022E3C4FA7E4}"/>
              </a:ext>
            </a:extLst>
          </p:cNvPr>
          <p:cNvSpPr/>
          <p:nvPr/>
        </p:nvSpPr>
        <p:spPr>
          <a:xfrm>
            <a:off x="3816352" y="2895568"/>
            <a:ext cx="7962832" cy="146372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Box 40">
            <a:extLst>
              <a:ext uri="{FF2B5EF4-FFF2-40B4-BE49-F238E27FC236}">
                <a16:creationId xmlns:a16="http://schemas.microsoft.com/office/drawing/2014/main" id="{7626D260-536D-17F9-2F80-E4D7117F1B66}"/>
              </a:ext>
            </a:extLst>
          </p:cNvPr>
          <p:cNvSpPr txBox="1"/>
          <p:nvPr/>
        </p:nvSpPr>
        <p:spPr>
          <a:xfrm>
            <a:off x="3969291" y="3318188"/>
            <a:ext cx="848053" cy="312848"/>
          </a:xfrm>
          <a:prstGeom prst="rect">
            <a:avLst/>
          </a:prstGeom>
          <a:noFill/>
          <a:ln>
            <a:noFill/>
          </a:ln>
        </p:spPr>
        <p:txBody>
          <a:bodyPr wrap="none" rtlCol="0" anchor="b">
            <a:spAutoFit/>
          </a:bodyPr>
          <a:lstStyle>
            <a:defPPr>
              <a:defRPr lang="pt-BR"/>
            </a:defPPr>
            <a:lvl1pPr defTabSz="914217">
              <a:defRPr sz="2000" b="1" spc="75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r>
              <a:rPr lang="pt-BR" sz="1600">
                <a:solidFill>
                  <a:schemeClr val="tx1"/>
                </a:solidFill>
              </a:rPr>
              <a:t>Varejo</a:t>
            </a:r>
          </a:p>
        </p:txBody>
      </p:sp>
      <p:pic>
        <p:nvPicPr>
          <p:cNvPr id="73" name="Imagem 72" descr="Uma imagem contendo desenho, flor&#10;&#10;Descrição gerada automaticamente">
            <a:extLst>
              <a:ext uri="{FF2B5EF4-FFF2-40B4-BE49-F238E27FC236}">
                <a16:creationId xmlns:a16="http://schemas.microsoft.com/office/drawing/2014/main" id="{D82F3C7F-FF89-1260-A540-6661BFF48066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21" t="25741" r="14802" b="27306"/>
          <a:stretch/>
        </p:blipFill>
        <p:spPr>
          <a:xfrm>
            <a:off x="8926089" y="3944644"/>
            <a:ext cx="1134022" cy="260588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4" name="Picture 6" descr="Resultado de imagem para mercado livre logo">
            <a:extLst>
              <a:ext uri="{FF2B5EF4-FFF2-40B4-BE49-F238E27FC236}">
                <a16:creationId xmlns:a16="http://schemas.microsoft.com/office/drawing/2014/main" id="{9CCE19B6-FB74-C5D0-33F5-067484B02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2304" y="3206206"/>
            <a:ext cx="1264464" cy="32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Imagem 74" descr="Tela de computador com fundo preto&#10;&#10;Descrição gerada automaticamente">
            <a:extLst>
              <a:ext uri="{FF2B5EF4-FFF2-40B4-BE49-F238E27FC236}">
                <a16:creationId xmlns:a16="http://schemas.microsoft.com/office/drawing/2014/main" id="{F0973C52-ED6E-FE29-58BC-01F189DFB74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478" y="3858483"/>
            <a:ext cx="1273292" cy="549085"/>
          </a:xfrm>
          <a:prstGeom prst="rect">
            <a:avLst/>
          </a:prstGeom>
        </p:spPr>
      </p:pic>
      <p:pic>
        <p:nvPicPr>
          <p:cNvPr id="84" name="Picture 2" descr="GPA – Wikipédia, a enciclopédia livre">
            <a:extLst>
              <a:ext uri="{FF2B5EF4-FFF2-40B4-BE49-F238E27FC236}">
                <a16:creationId xmlns:a16="http://schemas.microsoft.com/office/drawing/2014/main" id="{56C1C735-40EA-EDB1-225A-8C1194562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70" y="3260818"/>
            <a:ext cx="582306" cy="27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6" descr="Americanas Logo – PNG e Vetor – Download de Logo">
            <a:extLst>
              <a:ext uri="{FF2B5EF4-FFF2-40B4-BE49-F238E27FC236}">
                <a16:creationId xmlns:a16="http://schemas.microsoft.com/office/drawing/2014/main" id="{94FF403D-221E-88DE-FC00-655341B7F9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554" b="37730"/>
          <a:stretch/>
        </p:blipFill>
        <p:spPr bwMode="auto">
          <a:xfrm>
            <a:off x="6286538" y="3396276"/>
            <a:ext cx="1264464" cy="27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8">
            <a:extLst>
              <a:ext uri="{FF2B5EF4-FFF2-40B4-BE49-F238E27FC236}">
                <a16:creationId xmlns:a16="http://schemas.microsoft.com/office/drawing/2014/main" id="{93C23885-3A29-DD5E-4128-E3A86175C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3153" y="3115471"/>
            <a:ext cx="781900" cy="36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logo-raia-drogasil - Trama">
            <a:extLst>
              <a:ext uri="{FF2B5EF4-FFF2-40B4-BE49-F238E27FC236}">
                <a16:creationId xmlns:a16="http://schemas.microsoft.com/office/drawing/2014/main" id="{9196ABF5-255F-10B2-6900-B6798D40B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816" y="3615343"/>
            <a:ext cx="578288" cy="53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40">
            <a:extLst>
              <a:ext uri="{FF2B5EF4-FFF2-40B4-BE49-F238E27FC236}">
                <a16:creationId xmlns:a16="http://schemas.microsoft.com/office/drawing/2014/main" id="{3E7B30B9-C48F-21A3-3F69-02531110E3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66" b="23017"/>
          <a:stretch/>
        </p:blipFill>
        <p:spPr bwMode="auto">
          <a:xfrm>
            <a:off x="10777434" y="4002888"/>
            <a:ext cx="679296" cy="33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Rectangle 12">
            <a:extLst>
              <a:ext uri="{FF2B5EF4-FFF2-40B4-BE49-F238E27FC236}">
                <a16:creationId xmlns:a16="http://schemas.microsoft.com/office/drawing/2014/main" id="{C77F9EA3-7E7A-FA03-E8D6-0CD66C682B61}"/>
              </a:ext>
            </a:extLst>
          </p:cNvPr>
          <p:cNvSpPr/>
          <p:nvPr/>
        </p:nvSpPr>
        <p:spPr>
          <a:xfrm>
            <a:off x="3816352" y="1077393"/>
            <a:ext cx="7962832" cy="1512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Box 40">
            <a:extLst>
              <a:ext uri="{FF2B5EF4-FFF2-40B4-BE49-F238E27FC236}">
                <a16:creationId xmlns:a16="http://schemas.microsoft.com/office/drawing/2014/main" id="{7385978E-979C-3A3C-0CC4-FB36465F05FE}"/>
              </a:ext>
            </a:extLst>
          </p:cNvPr>
          <p:cNvSpPr txBox="1"/>
          <p:nvPr/>
        </p:nvSpPr>
        <p:spPr>
          <a:xfrm>
            <a:off x="3940999" y="1405506"/>
            <a:ext cx="1131272" cy="323165"/>
          </a:xfrm>
          <a:prstGeom prst="rect">
            <a:avLst/>
          </a:prstGeom>
          <a:noFill/>
          <a:ln>
            <a:noFill/>
          </a:ln>
        </p:spPr>
        <p:txBody>
          <a:bodyPr wrap="none" rtlCol="0" anchor="b">
            <a:spAutoFit/>
          </a:bodyPr>
          <a:lstStyle>
            <a:defPPr>
              <a:defRPr lang="pt-BR"/>
            </a:defPPr>
            <a:lvl1pPr defTabSz="914217">
              <a:defRPr sz="2000" b="1" spc="75">
                <a:solidFill>
                  <a:schemeClr val="accent5">
                    <a:lumMod val="50000"/>
                  </a:schemeClr>
                </a:solidFill>
                <a:latin typeface="Segoe UI" panose="020B0502040204020203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r>
              <a:rPr lang="pt-BR" sz="1600">
                <a:solidFill>
                  <a:schemeClr val="tx1"/>
                </a:solidFill>
              </a:rPr>
              <a:t>Industria</a:t>
            </a:r>
          </a:p>
        </p:txBody>
      </p:sp>
      <p:pic>
        <p:nvPicPr>
          <p:cNvPr id="70" name="Picture 11" descr="Resultado de imagem para ems logo">
            <a:extLst>
              <a:ext uri="{FF2B5EF4-FFF2-40B4-BE49-F238E27FC236}">
                <a16:creationId xmlns:a16="http://schemas.microsoft.com/office/drawing/2014/main" id="{7DFC20F9-3E6F-FAA7-0B13-878335212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888" y="1335001"/>
            <a:ext cx="608138" cy="38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5" descr="Resultado de imagem para medabil logo">
            <a:extLst>
              <a:ext uri="{FF2B5EF4-FFF2-40B4-BE49-F238E27FC236}">
                <a16:creationId xmlns:a16="http://schemas.microsoft.com/office/drawing/2014/main" id="{5C61A01A-2A57-4C3C-A99E-CF088FA7F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7831" y="2224701"/>
            <a:ext cx="1021646" cy="28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Imagem 82">
            <a:extLst>
              <a:ext uri="{FF2B5EF4-FFF2-40B4-BE49-F238E27FC236}">
                <a16:creationId xmlns:a16="http://schemas.microsoft.com/office/drawing/2014/main" id="{7CEAC280-24BB-1259-3A01-1DD6A39DA84B}"/>
              </a:ext>
            </a:extLst>
          </p:cNvPr>
          <p:cNvPicPr>
            <a:picLocks noChangeAspect="1"/>
          </p:cNvPicPr>
          <p:nvPr/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91212" y="1336565"/>
            <a:ext cx="576838" cy="567935"/>
          </a:xfrm>
          <a:prstGeom prst="rect">
            <a:avLst/>
          </a:prstGeom>
        </p:spPr>
      </p:pic>
      <p:pic>
        <p:nvPicPr>
          <p:cNvPr id="85" name="Picture 4" descr="Wickbold Logo – PNG e Vetor – Download de Logo">
            <a:extLst>
              <a:ext uri="{FF2B5EF4-FFF2-40B4-BE49-F238E27FC236}">
                <a16:creationId xmlns:a16="http://schemas.microsoft.com/office/drawing/2014/main" id="{EA77720B-433C-757D-FDD6-CD7048E40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195" y="1292541"/>
            <a:ext cx="859590" cy="29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4" descr="Quem somos - Urca Energia">
            <a:extLst>
              <a:ext uri="{FF2B5EF4-FFF2-40B4-BE49-F238E27FC236}">
                <a16:creationId xmlns:a16="http://schemas.microsoft.com/office/drawing/2014/main" id="{10339904-2057-6C1A-B8FC-4A011FBDB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3960" y="2007440"/>
            <a:ext cx="792282" cy="50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72" descr="OXE Energia | LinkedIn">
            <a:extLst>
              <a:ext uri="{FF2B5EF4-FFF2-40B4-BE49-F238E27FC236}">
                <a16:creationId xmlns:a16="http://schemas.microsoft.com/office/drawing/2014/main" id="{59107B13-2359-CDE5-0981-AFEF1387CE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79" b="33118"/>
          <a:stretch/>
        </p:blipFill>
        <p:spPr bwMode="auto">
          <a:xfrm>
            <a:off x="6636620" y="1843534"/>
            <a:ext cx="1097056" cy="32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18" descr="Vulcabras - Relações com Investidores">
            <a:extLst>
              <a:ext uri="{FF2B5EF4-FFF2-40B4-BE49-F238E27FC236}">
                <a16:creationId xmlns:a16="http://schemas.microsoft.com/office/drawing/2014/main" id="{6233AC3B-850A-BC91-E441-0158709D4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953" y="1409669"/>
            <a:ext cx="1198058" cy="162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2">
            <a:extLst>
              <a:ext uri="{FF2B5EF4-FFF2-40B4-BE49-F238E27FC236}">
                <a16:creationId xmlns:a16="http://schemas.microsoft.com/office/drawing/2014/main" id="{1B077C08-B77C-D100-4F9A-F72E27E41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6475" y="1292541"/>
            <a:ext cx="898578" cy="27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Short Presentation - Paquetá The Shoe Corp.">
            <a:extLst>
              <a:ext uri="{FF2B5EF4-FFF2-40B4-BE49-F238E27FC236}">
                <a16:creationId xmlns:a16="http://schemas.microsoft.com/office/drawing/2014/main" id="{4BFED78D-CB74-AB47-A0B3-B7BDB429BC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2" t="36066" r="13237" b="37066"/>
          <a:stretch/>
        </p:blipFill>
        <p:spPr bwMode="auto">
          <a:xfrm>
            <a:off x="5274428" y="2169866"/>
            <a:ext cx="1359890" cy="352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Imagem 98">
            <a:extLst>
              <a:ext uri="{FF2B5EF4-FFF2-40B4-BE49-F238E27FC236}">
                <a16:creationId xmlns:a16="http://schemas.microsoft.com/office/drawing/2014/main" id="{6B7CB56E-E8D4-67C8-C022-9620076F454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663955" y="1858006"/>
            <a:ext cx="875342" cy="55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8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13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Temas abordados nessa apresentação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678CC38-23B8-B78F-F0C2-39DD7654DF84}"/>
              </a:ext>
            </a:extLst>
          </p:cNvPr>
          <p:cNvSpPr txBox="1"/>
          <p:nvPr/>
        </p:nvSpPr>
        <p:spPr>
          <a:xfrm>
            <a:off x="604975" y="1075039"/>
            <a:ext cx="4656198" cy="4583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00050" indent="-400050">
              <a:buFont typeface="+mj-lt"/>
              <a:buAutoNum type="romanUcPeriod"/>
            </a:pPr>
            <a:r>
              <a:rPr lang="pt-BR" b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Galeazzi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Quem Somos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Nossa Cultura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Segmentos e serviços</a:t>
            </a:r>
          </a:p>
          <a:p>
            <a:pPr marL="857250" lvl="1" indent="-400050">
              <a:buFont typeface="+mj-lt"/>
              <a:buAutoNum type="arabicPeriod"/>
            </a:pPr>
            <a:endParaRPr lang="pt-BR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pt-BR" b="1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Nossas Soluções</a:t>
            </a:r>
            <a:endParaRPr lang="pt-BR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Melhoria de Performance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Reestruturação Operacional e Financeira</a:t>
            </a:r>
          </a:p>
          <a:p>
            <a:pPr marL="857250" lvl="1" indent="-400050">
              <a:buFont typeface="+mj-lt"/>
              <a:buAutoNum type="romanUcPeriod"/>
            </a:pPr>
            <a:endParaRPr lang="pt-BR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pt-BR" b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Cases G&amp;A</a:t>
            </a:r>
            <a:endParaRPr lang="pt-BR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586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AC938BB2-9777-4303-566E-3EBCB4997C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46143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AC938BB2-9777-4303-566E-3EBCB4997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A406CE0-EB5D-4306-674C-B0511078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Nossas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0AFF88-CF2F-099B-7188-041E26ADD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Serviços Prestados 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B8429D-9394-2164-1C1C-D2FD676DD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Soluções</a:t>
            </a:r>
          </a:p>
        </p:txBody>
      </p:sp>
    </p:spTree>
    <p:extLst>
      <p:ext uri="{BB962C8B-B14F-4D97-AF65-F5344CB8AC3E}">
        <p14:creationId xmlns:p14="http://schemas.microsoft.com/office/powerpoint/2010/main" val="2519646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E9D572C6-D4F1-E3DD-7B55-00A3366EE22D}"/>
              </a:ext>
            </a:extLst>
          </p:cNvPr>
          <p:cNvSpPr/>
          <p:nvPr/>
        </p:nvSpPr>
        <p:spPr>
          <a:xfrm>
            <a:off x="342613" y="4060908"/>
            <a:ext cx="2835299" cy="17648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Reestruturação Operacional e Financeira</a:t>
            </a:r>
          </a:p>
          <a:p>
            <a:r>
              <a:rPr lang="pt-BR" sz="11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Gestão de crise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6C5B88B-B780-0445-825F-59BC6CDAF232}"/>
              </a:ext>
            </a:extLst>
          </p:cNvPr>
          <p:cNvSpPr/>
          <p:nvPr/>
        </p:nvSpPr>
        <p:spPr>
          <a:xfrm>
            <a:off x="314325" y="1611984"/>
            <a:ext cx="2863585" cy="154833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8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Melhoria de </a:t>
            </a:r>
          </a:p>
          <a:p>
            <a:r>
              <a:rPr lang="pt-BR" sz="28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</a:t>
            </a:r>
          </a:p>
          <a:p>
            <a:r>
              <a:rPr lang="pt-BR" sz="11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Resultados e Competitividade </a:t>
            </a:r>
          </a:p>
        </p:txBody>
      </p:sp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15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Nossas Soluções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Serviços Prestados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8413CDE-28F9-1577-1CCE-1B05DA83ACD1}"/>
              </a:ext>
            </a:extLst>
          </p:cNvPr>
          <p:cNvSpPr/>
          <p:nvPr/>
        </p:nvSpPr>
        <p:spPr>
          <a:xfrm>
            <a:off x="314325" y="1248761"/>
            <a:ext cx="11422045" cy="2193158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6C4B094-1AE7-D531-B3AB-E44C534C0BB1}"/>
              </a:ext>
            </a:extLst>
          </p:cNvPr>
          <p:cNvSpPr/>
          <p:nvPr/>
        </p:nvSpPr>
        <p:spPr>
          <a:xfrm>
            <a:off x="314325" y="3788341"/>
            <a:ext cx="11377999" cy="2193158"/>
          </a:xfrm>
          <a:prstGeom prst="round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C85DE7E-ED4D-C25E-ED64-DD877865DB54}"/>
              </a:ext>
            </a:extLst>
          </p:cNvPr>
          <p:cNvSpPr txBox="1"/>
          <p:nvPr/>
        </p:nvSpPr>
        <p:spPr>
          <a:xfrm>
            <a:off x="4017361" y="1519156"/>
            <a:ext cx="7510075" cy="1723549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pt-BR" b="1">
                <a:latin typeface="Segoe UI" panose="020B0502040204020203" pitchFamily="34" charset="0"/>
                <a:cs typeface="Segoe UI" panose="020B0502040204020203" pitchFamily="34" charset="0"/>
              </a:rPr>
              <a:t>O que é? </a:t>
            </a:r>
          </a:p>
          <a:p>
            <a:r>
              <a:rPr lang="pt-BR" sz="1200">
                <a:latin typeface="Segoe UI" panose="020B0502040204020203" pitchFamily="34" charset="0"/>
                <a:cs typeface="Segoe UI" panose="020B0502040204020203" pitchFamily="34" charset="0"/>
              </a:rPr>
              <a:t>Projeto de consultoria com foco no incremento efetivo nos </a:t>
            </a:r>
            <a:r>
              <a:rPr lang="pt-BR" sz="1200" b="1">
                <a:latin typeface="Segoe UI" panose="020B0502040204020203" pitchFamily="34" charset="0"/>
                <a:cs typeface="Segoe UI" panose="020B0502040204020203" pitchFamily="34" charset="0"/>
              </a:rPr>
              <a:t>resultados</a:t>
            </a:r>
            <a:r>
              <a:rPr lang="pt-BR" sz="1200">
                <a:latin typeface="Segoe UI" panose="020B0502040204020203" pitchFamily="34" charset="0"/>
                <a:cs typeface="Segoe UI" panose="020B0502040204020203" pitchFamily="34" charset="0"/>
              </a:rPr>
              <a:t> e na </a:t>
            </a:r>
            <a:r>
              <a:rPr lang="pt-BR" sz="1200" b="1">
                <a:latin typeface="Segoe UI" panose="020B0502040204020203" pitchFamily="34" charset="0"/>
                <a:cs typeface="Segoe UI" panose="020B0502040204020203" pitchFamily="34" charset="0"/>
              </a:rPr>
              <a:t>competitividade</a:t>
            </a:r>
            <a:r>
              <a:rPr lang="pt-BR" sz="1200">
                <a:latin typeface="Segoe UI" panose="020B0502040204020203" pitchFamily="34" charset="0"/>
                <a:cs typeface="Segoe UI" panose="020B0502040204020203" pitchFamily="34" charset="0"/>
              </a:rPr>
              <a:t> da empresa no mercado.</a:t>
            </a:r>
          </a:p>
          <a:p>
            <a:r>
              <a:rPr lang="pt-BR" sz="11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endParaRPr lang="pt-BR" sz="11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b="1">
                <a:latin typeface="Segoe UI" panose="020B0502040204020203" pitchFamily="34" charset="0"/>
                <a:cs typeface="Segoe UI" panose="020B0502040204020203" pitchFamily="34" charset="0"/>
              </a:rPr>
              <a:t>Para quem?</a:t>
            </a:r>
          </a:p>
          <a:p>
            <a:r>
              <a:rPr lang="pt-BR" sz="1200">
                <a:latin typeface="Segoe UI" panose="020B0502040204020203" pitchFamily="34" charset="0"/>
                <a:cs typeface="Segoe UI" panose="020B0502040204020203" pitchFamily="34" charset="0"/>
              </a:rPr>
              <a:t>Para empresas com boa gestão, sem problemas financeiros, mas que entendam a necessidade de fazer mudanças para garantir a consistência de resultados no futuro.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BCE2B49-8DE9-E3A4-ACDE-7B3BC8275D20}"/>
              </a:ext>
            </a:extLst>
          </p:cNvPr>
          <p:cNvSpPr txBox="1"/>
          <p:nvPr/>
        </p:nvSpPr>
        <p:spPr>
          <a:xfrm>
            <a:off x="4017362" y="4053923"/>
            <a:ext cx="7510074" cy="1661993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pt-BR">
                <a:latin typeface="Segoe UI" panose="020B0502040204020203" pitchFamily="34" charset="0"/>
                <a:cs typeface="Segoe UI" panose="020B0502040204020203" pitchFamily="34" charset="0"/>
              </a:rPr>
              <a:t>O que é? </a:t>
            </a:r>
          </a:p>
          <a:p>
            <a:r>
              <a:rPr lang="pt-BR" sz="1200" b="0">
                <a:latin typeface="Segoe UI" panose="020B0502040204020203" pitchFamily="34" charset="0"/>
                <a:cs typeface="Segoe UI" panose="020B0502040204020203" pitchFamily="34" charset="0"/>
              </a:rPr>
              <a:t>Ações voltadas para a </a:t>
            </a:r>
            <a:r>
              <a:rPr lang="pt-BR" sz="1200">
                <a:latin typeface="Segoe UI" panose="020B0502040204020203" pitchFamily="34" charset="0"/>
                <a:cs typeface="Segoe UI" panose="020B0502040204020203" pitchFamily="34" charset="0"/>
              </a:rPr>
              <a:t>gestão de crise</a:t>
            </a:r>
            <a:r>
              <a:rPr lang="pt-BR" sz="1200" b="0">
                <a:latin typeface="Segoe UI" panose="020B0502040204020203" pitchFamily="34" charset="0"/>
                <a:cs typeface="Segoe UI" panose="020B0502040204020203" pitchFamily="34" charset="0"/>
              </a:rPr>
              <a:t>. Promove uma melhoria operacional de curto prazo com foco no caixa, na reestruturação de dívida e/ou no suporte aos credores.</a:t>
            </a:r>
          </a:p>
          <a:p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>
                <a:latin typeface="Segoe UI" panose="020B0502040204020203" pitchFamily="34" charset="0"/>
                <a:cs typeface="Segoe UI" panose="020B0502040204020203" pitchFamily="34" charset="0"/>
              </a:rPr>
              <a:t>Para quem?</a:t>
            </a:r>
          </a:p>
          <a:p>
            <a:r>
              <a:rPr lang="pt-BR" sz="1200" b="0">
                <a:latin typeface="Segoe UI" panose="020B0502040204020203" pitchFamily="34" charset="0"/>
                <a:cs typeface="Segoe UI" panose="020B0502040204020203" pitchFamily="34" charset="0"/>
              </a:rPr>
              <a:t>Empresas com severas dificuldades para gerar caixa ou suportar seu nível de endividamento financeiro, tributário ou operacional . Credores de empresas em reestruturação de dívida, judicial ou extrajudicial.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739B14A8-C956-294F-70F6-0589FB6EC017}"/>
              </a:ext>
            </a:extLst>
          </p:cNvPr>
          <p:cNvCxnSpPr/>
          <p:nvPr/>
        </p:nvCxnSpPr>
        <p:spPr>
          <a:xfrm>
            <a:off x="3822492" y="1566449"/>
            <a:ext cx="0" cy="15483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D7EB4CB1-DA97-E527-F69B-DC80150587D4}"/>
              </a:ext>
            </a:extLst>
          </p:cNvPr>
          <p:cNvCxnSpPr/>
          <p:nvPr/>
        </p:nvCxnSpPr>
        <p:spPr>
          <a:xfrm>
            <a:off x="3822492" y="4103537"/>
            <a:ext cx="0" cy="15483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63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910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16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Soluções em melhoria de performance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Nossas soluções</a:t>
            </a:r>
          </a:p>
        </p:txBody>
      </p:sp>
      <p:sp>
        <p:nvSpPr>
          <p:cNvPr id="17" name="Retângulo 9">
            <a:hlinkClick r:id="" action="ppaction://noaction"/>
            <a:extLst>
              <a:ext uri="{FF2B5EF4-FFF2-40B4-BE49-F238E27FC236}">
                <a16:creationId xmlns:a16="http://schemas.microsoft.com/office/drawing/2014/main" id="{127FE891-3970-2389-D2A6-D953BF37C335}"/>
              </a:ext>
            </a:extLst>
          </p:cNvPr>
          <p:cNvSpPr/>
          <p:nvPr/>
        </p:nvSpPr>
        <p:spPr>
          <a:xfrm>
            <a:off x="661916" y="1157344"/>
            <a:ext cx="10800000" cy="4313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pt-BR" sz="1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Melhoria de Performance e Processo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D7D49F2-B809-47E8-FD63-4DD50A18A6FF}"/>
              </a:ext>
            </a:extLst>
          </p:cNvPr>
          <p:cNvGrpSpPr/>
          <p:nvPr/>
        </p:nvGrpSpPr>
        <p:grpSpPr>
          <a:xfrm>
            <a:off x="7254100" y="1699843"/>
            <a:ext cx="2016000" cy="2002235"/>
            <a:chOff x="6960273" y="1676496"/>
            <a:chExt cx="2016000" cy="200223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Retângulo 9">
              <a:hlinkClick r:id="" action="ppaction://noaction"/>
              <a:extLst>
                <a:ext uri="{FF2B5EF4-FFF2-40B4-BE49-F238E27FC236}">
                  <a16:creationId xmlns:a16="http://schemas.microsoft.com/office/drawing/2014/main" id="{EBCEEED0-8DA3-6293-CD50-BC3D87C44DD1}"/>
                </a:ext>
              </a:extLst>
            </p:cNvPr>
            <p:cNvSpPr/>
            <p:nvPr/>
          </p:nvSpPr>
          <p:spPr>
            <a:xfrm>
              <a:off x="6960273" y="1676496"/>
              <a:ext cx="2016000" cy="7654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pt-BR" sz="1200" b="1" ker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Gestão de Capital Humano</a:t>
              </a: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94FCFFE4-531B-8514-315D-37D67A27CE8D}"/>
                </a:ext>
              </a:extLst>
            </p:cNvPr>
            <p:cNvSpPr/>
            <p:nvPr/>
          </p:nvSpPr>
          <p:spPr>
            <a:xfrm>
              <a:off x="6960273" y="2500381"/>
              <a:ext cx="2016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Revisão da Estrutura Organizacional</a:t>
              </a: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5E8501C2-0404-50D1-CE57-68CE831A7C24}"/>
                </a:ext>
              </a:extLst>
            </p:cNvPr>
            <p:cNvSpPr/>
            <p:nvPr/>
          </p:nvSpPr>
          <p:spPr>
            <a:xfrm>
              <a:off x="6960273" y="2919373"/>
              <a:ext cx="2016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Assessment da Estrutura de Pessoas</a:t>
              </a:r>
            </a:p>
          </p:txBody>
        </p:sp>
        <p:sp>
          <p:nvSpPr>
            <p:cNvPr id="33" name="Retângulo 32">
              <a:extLst>
                <a:ext uri="{FF2B5EF4-FFF2-40B4-BE49-F238E27FC236}">
                  <a16:creationId xmlns:a16="http://schemas.microsoft.com/office/drawing/2014/main" id="{A3E99D50-5D41-4A33-C27C-48C792AF4AAA}"/>
                </a:ext>
              </a:extLst>
            </p:cNvPr>
            <p:cNvSpPr/>
            <p:nvPr/>
          </p:nvSpPr>
          <p:spPr>
            <a:xfrm>
              <a:off x="6960273" y="3334653"/>
              <a:ext cx="2016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Gestão </a:t>
              </a:r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 Sucessão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AEE74D9-A6F3-7222-DF55-2925A8A8F121}"/>
              </a:ext>
            </a:extLst>
          </p:cNvPr>
          <p:cNvGrpSpPr/>
          <p:nvPr/>
        </p:nvGrpSpPr>
        <p:grpSpPr>
          <a:xfrm>
            <a:off x="9418381" y="1699843"/>
            <a:ext cx="2016000" cy="2002235"/>
            <a:chOff x="9445677" y="1660326"/>
            <a:chExt cx="1980000" cy="200223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tângulo 9">
              <a:extLst>
                <a:ext uri="{FF2B5EF4-FFF2-40B4-BE49-F238E27FC236}">
                  <a16:creationId xmlns:a16="http://schemas.microsoft.com/office/drawing/2014/main" id="{DA250734-3F66-45CB-DD81-716005836189}"/>
                </a:ext>
              </a:extLst>
            </p:cNvPr>
            <p:cNvSpPr/>
            <p:nvPr/>
          </p:nvSpPr>
          <p:spPr>
            <a:xfrm>
              <a:off x="9445677" y="1660326"/>
              <a:ext cx="1980000" cy="7654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pt-BR" sz="1200" b="1" ker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Tecnologia da Informação</a:t>
              </a:r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D392089D-F32D-D946-42FD-412230414BE3}"/>
                </a:ext>
              </a:extLst>
            </p:cNvPr>
            <p:cNvSpPr/>
            <p:nvPr/>
          </p:nvSpPr>
          <p:spPr>
            <a:xfrm>
              <a:off x="9445677" y="2484211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Desenvolvimento e Implementação KPIs</a:t>
              </a:r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F540D81D-FBA5-EB74-9756-6F867BDFC94B}"/>
                </a:ext>
              </a:extLst>
            </p:cNvPr>
            <p:cNvSpPr/>
            <p:nvPr/>
          </p:nvSpPr>
          <p:spPr>
            <a:xfrm>
              <a:off x="9445677" y="2903203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Suporte Implant. Sistemas</a:t>
              </a:r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DDB8A158-FF6C-CABD-F821-250C986978D0}"/>
                </a:ext>
              </a:extLst>
            </p:cNvPr>
            <p:cNvSpPr/>
            <p:nvPr/>
          </p:nvSpPr>
          <p:spPr>
            <a:xfrm>
              <a:off x="9445677" y="3318483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PMO (Gestão de Projetos)</a:t>
              </a: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A95F7B9-CADE-117F-596E-E46A6E03F84A}"/>
              </a:ext>
            </a:extLst>
          </p:cNvPr>
          <p:cNvGrpSpPr/>
          <p:nvPr/>
        </p:nvGrpSpPr>
        <p:grpSpPr>
          <a:xfrm>
            <a:off x="705385" y="1699843"/>
            <a:ext cx="2016000" cy="2417515"/>
            <a:chOff x="705385" y="1699843"/>
            <a:chExt cx="2016000" cy="241751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Retângulo 9">
              <a:hlinkClick r:id="" action="ppaction://noaction"/>
              <a:extLst>
                <a:ext uri="{FF2B5EF4-FFF2-40B4-BE49-F238E27FC236}">
                  <a16:creationId xmlns:a16="http://schemas.microsoft.com/office/drawing/2014/main" id="{D5B089D8-1E8A-3D6B-3640-C58CB054827E}"/>
                </a:ext>
              </a:extLst>
            </p:cNvPr>
            <p:cNvSpPr/>
            <p:nvPr/>
          </p:nvSpPr>
          <p:spPr>
            <a:xfrm>
              <a:off x="705385" y="1699843"/>
              <a:ext cx="2016000" cy="7654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pt-BR" sz="1200" b="1" ker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Otimização de Custos e Despesas</a:t>
              </a: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29257956-33D2-9711-56AD-9462A09A82C1}"/>
                </a:ext>
              </a:extLst>
            </p:cNvPr>
            <p:cNvSpPr/>
            <p:nvPr/>
          </p:nvSpPr>
          <p:spPr>
            <a:xfrm>
              <a:off x="705385" y="2523728"/>
              <a:ext cx="2016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OBZ (Orçamento Base Zero)</a:t>
              </a:r>
            </a:p>
          </p:txBody>
        </p:sp>
        <p:sp>
          <p:nvSpPr>
            <p:cNvPr id="25" name="Retângulo 24">
              <a:extLst>
                <a:ext uri="{FF2B5EF4-FFF2-40B4-BE49-F238E27FC236}">
                  <a16:creationId xmlns:a16="http://schemas.microsoft.com/office/drawing/2014/main" id="{B79C0C40-1A9B-0193-AD7F-93093326B19A}"/>
                </a:ext>
              </a:extLst>
            </p:cNvPr>
            <p:cNvSpPr/>
            <p:nvPr/>
          </p:nvSpPr>
          <p:spPr>
            <a:xfrm>
              <a:off x="705385" y="2942720"/>
              <a:ext cx="2016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MVA (Mapeamento Valor da Atividade)</a:t>
              </a: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2B6632CC-0983-D961-9625-C1A1FA7B608D}"/>
                </a:ext>
              </a:extLst>
            </p:cNvPr>
            <p:cNvSpPr/>
            <p:nvPr/>
          </p:nvSpPr>
          <p:spPr>
            <a:xfrm>
              <a:off x="705385" y="3358000"/>
              <a:ext cx="2016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Melhoria e Simplificar Processo</a:t>
              </a:r>
            </a:p>
          </p:txBody>
        </p:sp>
        <p:sp>
          <p:nvSpPr>
            <p:cNvPr id="35" name="Retângulo 34">
              <a:extLst>
                <a:ext uri="{FF2B5EF4-FFF2-40B4-BE49-F238E27FC236}">
                  <a16:creationId xmlns:a16="http://schemas.microsoft.com/office/drawing/2014/main" id="{30E04617-1587-6ACF-E311-95165F29807E}"/>
                </a:ext>
              </a:extLst>
            </p:cNvPr>
            <p:cNvSpPr/>
            <p:nvPr/>
          </p:nvSpPr>
          <p:spPr>
            <a:xfrm>
              <a:off x="705385" y="3773280"/>
              <a:ext cx="2016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GMD (Gestão Matricial Despesas)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25FC522-2BE7-4CEC-D862-D47A75EFE9E1}"/>
              </a:ext>
            </a:extLst>
          </p:cNvPr>
          <p:cNvGrpSpPr/>
          <p:nvPr/>
        </p:nvGrpSpPr>
        <p:grpSpPr>
          <a:xfrm>
            <a:off x="2870944" y="1699843"/>
            <a:ext cx="2016000" cy="4090064"/>
            <a:chOff x="2802009" y="1647430"/>
            <a:chExt cx="1980000" cy="409006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Retângulo 9">
              <a:hlinkClick r:id="" action="ppaction://noaction"/>
              <a:extLst>
                <a:ext uri="{FF2B5EF4-FFF2-40B4-BE49-F238E27FC236}">
                  <a16:creationId xmlns:a16="http://schemas.microsoft.com/office/drawing/2014/main" id="{39203C5B-0947-7143-EC1A-E8B4BBD786B0}"/>
                </a:ext>
              </a:extLst>
            </p:cNvPr>
            <p:cNvSpPr/>
            <p:nvPr/>
          </p:nvSpPr>
          <p:spPr>
            <a:xfrm>
              <a:off x="2802009" y="1647430"/>
              <a:ext cx="1980000" cy="7654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pt-BR" sz="1200" b="1" ker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Cadeia Supply, Logística e Transportes </a:t>
              </a: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039D8BFE-F59B-8640-647B-0D0F41A0AE0A}"/>
                </a:ext>
              </a:extLst>
            </p:cNvPr>
            <p:cNvSpPr/>
            <p:nvPr/>
          </p:nvSpPr>
          <p:spPr>
            <a:xfrm>
              <a:off x="2802009" y="2471315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Otimização Operação Logística</a:t>
              </a:r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5F56D640-E168-ABED-692F-D486059E5225}"/>
                </a:ext>
              </a:extLst>
            </p:cNvPr>
            <p:cNvSpPr/>
            <p:nvPr/>
          </p:nvSpPr>
          <p:spPr>
            <a:xfrm>
              <a:off x="2802009" y="2890307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Otimização Oper. Transporte</a:t>
              </a: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288775BD-6F73-7D64-FD2A-4054988B3E7C}"/>
                </a:ext>
              </a:extLst>
            </p:cNvPr>
            <p:cNvSpPr/>
            <p:nvPr/>
          </p:nvSpPr>
          <p:spPr>
            <a:xfrm>
              <a:off x="2802009" y="3305587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Revisão Malha Distribuição</a:t>
              </a:r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B0820A34-D4C3-40D8-53F6-E6491B074CE1}"/>
                </a:ext>
              </a:extLst>
            </p:cNvPr>
            <p:cNvSpPr/>
            <p:nvPr/>
          </p:nvSpPr>
          <p:spPr>
            <a:xfrm>
              <a:off x="2802009" y="3720867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Plano Diretor Transporte/Logística</a:t>
              </a:r>
            </a:p>
          </p:txBody>
        </p:sp>
        <p:sp>
          <p:nvSpPr>
            <p:cNvPr id="38" name="Retângulo 37">
              <a:extLst>
                <a:ext uri="{FF2B5EF4-FFF2-40B4-BE49-F238E27FC236}">
                  <a16:creationId xmlns:a16="http://schemas.microsoft.com/office/drawing/2014/main" id="{213328A7-41B9-C544-7811-9A9FD7877DE4}"/>
                </a:ext>
              </a:extLst>
            </p:cNvPr>
            <p:cNvSpPr/>
            <p:nvPr/>
          </p:nvSpPr>
          <p:spPr>
            <a:xfrm>
              <a:off x="2802009" y="4136147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Otimização de Estoques (Ativos)</a:t>
              </a:r>
            </a:p>
          </p:txBody>
        </p: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85C4B1E3-6EE6-F95D-6964-A9ED4016E528}"/>
                </a:ext>
              </a:extLst>
            </p:cNvPr>
            <p:cNvSpPr/>
            <p:nvPr/>
          </p:nvSpPr>
          <p:spPr>
            <a:xfrm>
              <a:off x="2802009" y="4551427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Implementação S&amp;OP</a:t>
              </a: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8A27A7F6-96DF-8087-81C1-9C9AC2950641}"/>
                </a:ext>
              </a:extLst>
            </p:cNvPr>
            <p:cNvSpPr/>
            <p:nvPr/>
          </p:nvSpPr>
          <p:spPr>
            <a:xfrm>
              <a:off x="2802009" y="4966707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Sourcing e Reestrut. Compras</a:t>
              </a:r>
            </a:p>
          </p:txBody>
        </p:sp>
        <p:sp>
          <p:nvSpPr>
            <p:cNvPr id="44" name="Retângulo 43">
              <a:extLst>
                <a:ext uri="{FF2B5EF4-FFF2-40B4-BE49-F238E27FC236}">
                  <a16:creationId xmlns:a16="http://schemas.microsoft.com/office/drawing/2014/main" id="{FAA5F6EC-5C0F-B7A0-3FF3-2AB8ED1DD78F}"/>
                </a:ext>
              </a:extLst>
            </p:cNvPr>
            <p:cNvSpPr/>
            <p:nvPr/>
          </p:nvSpPr>
          <p:spPr>
            <a:xfrm>
              <a:off x="2802009" y="5393416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BID’s e Gestão Fornecedores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498927D8-3ED6-80DE-C365-CA9782903FE2}"/>
              </a:ext>
            </a:extLst>
          </p:cNvPr>
          <p:cNvGrpSpPr/>
          <p:nvPr/>
        </p:nvGrpSpPr>
        <p:grpSpPr>
          <a:xfrm>
            <a:off x="5062522" y="1699843"/>
            <a:ext cx="2016000" cy="4516773"/>
            <a:chOff x="4875992" y="1666463"/>
            <a:chExt cx="1980000" cy="451677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B3025DF6-C96C-B481-17C2-F11726EE984C}"/>
                </a:ext>
              </a:extLst>
            </p:cNvPr>
            <p:cNvSpPr/>
            <p:nvPr/>
          </p:nvSpPr>
          <p:spPr>
            <a:xfrm>
              <a:off x="4875992" y="1666463"/>
              <a:ext cx="1980000" cy="7654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pt-BR" sz="1200" b="1" ker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Marketing &amp; Vendas</a:t>
              </a: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E36057CD-4DB7-C403-E052-D88B779DA6DE}"/>
                </a:ext>
              </a:extLst>
            </p:cNvPr>
            <p:cNvSpPr/>
            <p:nvPr/>
          </p:nvSpPr>
          <p:spPr>
            <a:xfrm>
              <a:off x="4875992" y="2490348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Estratégia Go to Market</a:t>
              </a: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34CFC550-8829-2243-44F1-146F86021E0D}"/>
                </a:ext>
              </a:extLst>
            </p:cNvPr>
            <p:cNvSpPr/>
            <p:nvPr/>
          </p:nvSpPr>
          <p:spPr>
            <a:xfrm>
              <a:off x="4875992" y="2909340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Gestão de Categorias</a:t>
              </a:r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12C1CE0F-5806-49B1-7885-D2A06223FB38}"/>
                </a:ext>
              </a:extLst>
            </p:cNvPr>
            <p:cNvSpPr/>
            <p:nvPr/>
          </p:nvSpPr>
          <p:spPr>
            <a:xfrm>
              <a:off x="4875992" y="3324620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Estratégia de Portfólio</a:t>
              </a:r>
            </a:p>
          </p:txBody>
        </p:sp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D6A3209B-260B-7F05-0C4F-26FAB6C2CD46}"/>
                </a:ext>
              </a:extLst>
            </p:cNvPr>
            <p:cNvSpPr/>
            <p:nvPr/>
          </p:nvSpPr>
          <p:spPr>
            <a:xfrm>
              <a:off x="4875992" y="3739900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Política Comercial e Gestão de Vendas</a:t>
              </a:r>
            </a:p>
          </p:txBody>
        </p:sp>
        <p:sp>
          <p:nvSpPr>
            <p:cNvPr id="39" name="Retângulo 38">
              <a:extLst>
                <a:ext uri="{FF2B5EF4-FFF2-40B4-BE49-F238E27FC236}">
                  <a16:creationId xmlns:a16="http://schemas.microsoft.com/office/drawing/2014/main" id="{245B02BA-844A-D6A3-D9F9-1579F3F79D8E}"/>
                </a:ext>
              </a:extLst>
            </p:cNvPr>
            <p:cNvSpPr/>
            <p:nvPr/>
          </p:nvSpPr>
          <p:spPr>
            <a:xfrm>
              <a:off x="4875992" y="4155180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Gestão Comercial e Desempenho</a:t>
              </a:r>
            </a:p>
          </p:txBody>
        </p:sp>
        <p:sp>
          <p:nvSpPr>
            <p:cNvPr id="41" name="Retângulo 40">
              <a:extLst>
                <a:ext uri="{FF2B5EF4-FFF2-40B4-BE49-F238E27FC236}">
                  <a16:creationId xmlns:a16="http://schemas.microsoft.com/office/drawing/2014/main" id="{3066AF1A-1455-1AFF-9450-5D17F34A4959}"/>
                </a:ext>
              </a:extLst>
            </p:cNvPr>
            <p:cNvSpPr/>
            <p:nvPr/>
          </p:nvSpPr>
          <p:spPr>
            <a:xfrm>
              <a:off x="4875992" y="4570460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Estratégia de Pricing</a:t>
              </a:r>
            </a:p>
          </p:txBody>
        </p:sp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605EC18A-591A-89E9-BABC-D8F2A6C7A5E8}"/>
                </a:ext>
              </a:extLst>
            </p:cNvPr>
            <p:cNvSpPr/>
            <p:nvPr/>
          </p:nvSpPr>
          <p:spPr>
            <a:xfrm>
              <a:off x="4875992" y="4985740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Estratégia de Expansão</a:t>
              </a:r>
            </a:p>
          </p:txBody>
        </p:sp>
        <p:sp>
          <p:nvSpPr>
            <p:cNvPr id="45" name="Retângulo 44">
              <a:extLst>
                <a:ext uri="{FF2B5EF4-FFF2-40B4-BE49-F238E27FC236}">
                  <a16:creationId xmlns:a16="http://schemas.microsoft.com/office/drawing/2014/main" id="{AB99479A-BF35-7DB0-1B10-A7E40197726C}"/>
                </a:ext>
              </a:extLst>
            </p:cNvPr>
            <p:cNvSpPr/>
            <p:nvPr/>
          </p:nvSpPr>
          <p:spPr>
            <a:xfrm>
              <a:off x="4875992" y="5412449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Mapeamento de Mercado</a:t>
              </a:r>
            </a:p>
          </p:txBody>
        </p: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83FC734D-4BAC-0109-4E9B-27AF7961AF75}"/>
                </a:ext>
              </a:extLst>
            </p:cNvPr>
            <p:cNvSpPr/>
            <p:nvPr/>
          </p:nvSpPr>
          <p:spPr>
            <a:xfrm>
              <a:off x="4875992" y="5839158"/>
              <a:ext cx="198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Customer Experience</a:t>
              </a:r>
            </a:p>
          </p:txBody>
        </p:sp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DB89A228-9972-0760-E387-C4E844EF6B18}"/>
              </a:ext>
            </a:extLst>
          </p:cNvPr>
          <p:cNvSpPr/>
          <p:nvPr/>
        </p:nvSpPr>
        <p:spPr>
          <a:xfrm>
            <a:off x="9445916" y="3773280"/>
            <a:ext cx="2016000" cy="344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kern="0">
                <a:solidFill>
                  <a:schemeClr val="tx1"/>
                </a:solidFill>
                <a:latin typeface="Calibri" panose="020F0502020204030204" pitchFamily="34" charset="0"/>
              </a:rPr>
              <a:t>Revisão de Custos e Modelo de Contratação de Tecnologia</a:t>
            </a:r>
          </a:p>
        </p:txBody>
      </p:sp>
    </p:spTree>
    <p:extLst>
      <p:ext uri="{BB962C8B-B14F-4D97-AF65-F5344CB8AC3E}">
        <p14:creationId xmlns:p14="http://schemas.microsoft.com/office/powerpoint/2010/main" val="3069702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1773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Soluções em reestruturação operacional e financeira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Nossas soluções</a:t>
            </a:r>
          </a:p>
        </p:txBody>
      </p:sp>
      <p:sp>
        <p:nvSpPr>
          <p:cNvPr id="13" name="Retângulo 9">
            <a:hlinkClick r:id="" action="ppaction://noaction"/>
            <a:extLst>
              <a:ext uri="{FF2B5EF4-FFF2-40B4-BE49-F238E27FC236}">
                <a16:creationId xmlns:a16="http://schemas.microsoft.com/office/drawing/2014/main" id="{BE1C72FF-3981-B277-A873-96A0C01EBA7A}"/>
              </a:ext>
            </a:extLst>
          </p:cNvPr>
          <p:cNvSpPr/>
          <p:nvPr/>
        </p:nvSpPr>
        <p:spPr>
          <a:xfrm>
            <a:off x="682845" y="1153851"/>
            <a:ext cx="10800000" cy="4313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Reestruturação Operacional e Financeira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D4BAC8E-8F68-D8B5-5EDE-09DF3945E3E1}"/>
              </a:ext>
            </a:extLst>
          </p:cNvPr>
          <p:cNvGrpSpPr/>
          <p:nvPr/>
        </p:nvGrpSpPr>
        <p:grpSpPr>
          <a:xfrm>
            <a:off x="4313120" y="1682292"/>
            <a:ext cx="3528000" cy="3302716"/>
            <a:chOff x="4370700" y="1723236"/>
            <a:chExt cx="3420000" cy="330271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Retângulo 9">
              <a:extLst>
                <a:ext uri="{FF2B5EF4-FFF2-40B4-BE49-F238E27FC236}">
                  <a16:creationId xmlns:a16="http://schemas.microsoft.com/office/drawing/2014/main" id="{611A8D48-ED77-1A91-BF1F-A9B441F27509}"/>
                </a:ext>
              </a:extLst>
            </p:cNvPr>
            <p:cNvSpPr/>
            <p:nvPr/>
          </p:nvSpPr>
          <p:spPr>
            <a:xfrm>
              <a:off x="4370700" y="1723236"/>
              <a:ext cx="3420000" cy="7654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ker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Reestruturação e Operacional</a:t>
              </a: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AEC633B4-9E9C-2A3B-43AA-5CAE7993A049}"/>
                </a:ext>
              </a:extLst>
            </p:cNvPr>
            <p:cNvSpPr/>
            <p:nvPr/>
          </p:nvSpPr>
          <p:spPr>
            <a:xfrm>
              <a:off x="4370700" y="2570332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Turnaround e Gerenciamento de Crise </a:t>
              </a:r>
            </a:p>
          </p:txBody>
        </p:sp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id="{220F0074-39E1-A029-3EA0-054148BDA72B}"/>
                </a:ext>
              </a:extLst>
            </p:cNvPr>
            <p:cNvSpPr/>
            <p:nvPr/>
          </p:nvSpPr>
          <p:spPr>
            <a:xfrm>
              <a:off x="4370700" y="2989821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Reestruturação de Projetos</a:t>
              </a:r>
            </a:p>
          </p:txBody>
        </p:sp>
        <p:sp>
          <p:nvSpPr>
            <p:cNvPr id="51" name="Retângulo 50">
              <a:extLst>
                <a:ext uri="{FF2B5EF4-FFF2-40B4-BE49-F238E27FC236}">
                  <a16:creationId xmlns:a16="http://schemas.microsoft.com/office/drawing/2014/main" id="{97273825-0D1E-8A38-9DFD-1A7100F2566B}"/>
                </a:ext>
              </a:extLst>
            </p:cNvPr>
            <p:cNvSpPr/>
            <p:nvPr/>
          </p:nvSpPr>
          <p:spPr>
            <a:xfrm>
              <a:off x="4370700" y="3409306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Otimização de Custos e Despesas</a:t>
              </a:r>
            </a:p>
          </p:txBody>
        </p:sp>
        <p:sp>
          <p:nvSpPr>
            <p:cNvPr id="55" name="Retângulo 54">
              <a:extLst>
                <a:ext uri="{FF2B5EF4-FFF2-40B4-BE49-F238E27FC236}">
                  <a16:creationId xmlns:a16="http://schemas.microsoft.com/office/drawing/2014/main" id="{C81787E4-4274-7963-5894-A65FCC838542}"/>
                </a:ext>
              </a:extLst>
            </p:cNvPr>
            <p:cNvSpPr/>
            <p:nvPr/>
          </p:nvSpPr>
          <p:spPr>
            <a:xfrm>
              <a:off x="4370700" y="3828791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Revisão ou Apuração do Custo de Servir</a:t>
              </a:r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id="{37ECE188-BF45-1176-9F43-6C5626957A3B}"/>
                </a:ext>
              </a:extLst>
            </p:cNvPr>
            <p:cNvSpPr/>
            <p:nvPr/>
          </p:nvSpPr>
          <p:spPr>
            <a:xfrm>
              <a:off x="4370700" y="4248276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OBZ Capex e Infraestrutura</a:t>
              </a:r>
            </a:p>
          </p:txBody>
        </p:sp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id="{54664445-A19B-2DCC-BA6D-6603D083215A}"/>
                </a:ext>
              </a:extLst>
            </p:cNvPr>
            <p:cNvSpPr/>
            <p:nvPr/>
          </p:nvSpPr>
          <p:spPr>
            <a:xfrm>
              <a:off x="4370700" y="4681874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Governança e Compliance</a:t>
              </a:r>
            </a:p>
          </p:txBody>
        </p: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B49E5AAD-2A7E-63FB-CFA2-8D7FCA43F9F6}"/>
              </a:ext>
            </a:extLst>
          </p:cNvPr>
          <p:cNvGrpSpPr/>
          <p:nvPr/>
        </p:nvGrpSpPr>
        <p:grpSpPr>
          <a:xfrm>
            <a:off x="7943396" y="1682292"/>
            <a:ext cx="3528000" cy="3736314"/>
            <a:chOff x="8052580" y="1723236"/>
            <a:chExt cx="3420000" cy="373631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4DF276C-D859-14F7-33E2-C7A24AC28D24}"/>
                </a:ext>
              </a:extLst>
            </p:cNvPr>
            <p:cNvSpPr/>
            <p:nvPr/>
          </p:nvSpPr>
          <p:spPr>
            <a:xfrm>
              <a:off x="8052580" y="1723236"/>
              <a:ext cx="3420000" cy="7654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ker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Reestruturação Financeira</a:t>
              </a: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1AEB9BD-3F26-7C8F-FBD0-62CC5F21960A}"/>
                </a:ext>
              </a:extLst>
            </p:cNvPr>
            <p:cNvSpPr/>
            <p:nvPr/>
          </p:nvSpPr>
          <p:spPr>
            <a:xfrm>
              <a:off x="8052580" y="2570332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Reestruturação de Divida</a:t>
              </a:r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id="{9F04A4DB-8B52-A963-8B74-F5F9C82A24ED}"/>
                </a:ext>
              </a:extLst>
            </p:cNvPr>
            <p:cNvSpPr/>
            <p:nvPr/>
          </p:nvSpPr>
          <p:spPr>
            <a:xfrm>
              <a:off x="8052580" y="2989821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Apoio a Credores</a:t>
              </a:r>
            </a:p>
          </p:txBody>
        </p:sp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3E7DC228-F1FA-F487-BCBC-C224ECDCBEAF}"/>
                </a:ext>
              </a:extLst>
            </p:cNvPr>
            <p:cNvSpPr/>
            <p:nvPr/>
          </p:nvSpPr>
          <p:spPr>
            <a:xfrm>
              <a:off x="8052580" y="3409306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Apoio a Empresa Devedora</a:t>
              </a:r>
            </a:p>
          </p:txBody>
        </p:sp>
        <p:sp>
          <p:nvSpPr>
            <p:cNvPr id="56" name="Retângulo 55">
              <a:extLst>
                <a:ext uri="{FF2B5EF4-FFF2-40B4-BE49-F238E27FC236}">
                  <a16:creationId xmlns:a16="http://schemas.microsoft.com/office/drawing/2014/main" id="{D2D323E7-A9E8-ECB4-BED0-3D5117CB9BE7}"/>
                </a:ext>
              </a:extLst>
            </p:cNvPr>
            <p:cNvSpPr/>
            <p:nvPr/>
          </p:nvSpPr>
          <p:spPr>
            <a:xfrm>
              <a:off x="8052580" y="3828791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Estratégia de Solvência</a:t>
              </a:r>
            </a:p>
          </p:txBody>
        </p:sp>
        <p:sp>
          <p:nvSpPr>
            <p:cNvPr id="59" name="Retângulo 58">
              <a:extLst>
                <a:ext uri="{FF2B5EF4-FFF2-40B4-BE49-F238E27FC236}">
                  <a16:creationId xmlns:a16="http://schemas.microsoft.com/office/drawing/2014/main" id="{C2978819-90C8-5BCD-BF9F-B27095389C6E}"/>
                </a:ext>
              </a:extLst>
            </p:cNvPr>
            <p:cNvSpPr/>
            <p:nvPr/>
          </p:nvSpPr>
          <p:spPr>
            <a:xfrm>
              <a:off x="8052580" y="4248276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Apoio ao Poder Judiciário</a:t>
              </a:r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id="{7C68DC7D-E5A2-5D15-D805-F43A86696246}"/>
                </a:ext>
              </a:extLst>
            </p:cNvPr>
            <p:cNvSpPr/>
            <p:nvPr/>
          </p:nvSpPr>
          <p:spPr>
            <a:xfrm>
              <a:off x="8052580" y="4681874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Melhoria de Capital de Giro</a:t>
              </a:r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id="{4678AB60-4C87-5C37-2A02-7CB45004C406}"/>
                </a:ext>
              </a:extLst>
            </p:cNvPr>
            <p:cNvSpPr/>
            <p:nvPr/>
          </p:nvSpPr>
          <p:spPr>
            <a:xfrm>
              <a:off x="8052580" y="5115472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RJ – Recuperação Judicial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DBCEB33-09FB-AD2C-F48D-B1A450CA8686}"/>
              </a:ext>
            </a:extLst>
          </p:cNvPr>
          <p:cNvGrpSpPr/>
          <p:nvPr/>
        </p:nvGrpSpPr>
        <p:grpSpPr>
          <a:xfrm>
            <a:off x="682845" y="1682292"/>
            <a:ext cx="3528000" cy="4169912"/>
            <a:chOff x="693423" y="1723236"/>
            <a:chExt cx="3420000" cy="41699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Retângulo 9">
              <a:hlinkClick r:id="" action="ppaction://noaction"/>
              <a:extLst>
                <a:ext uri="{FF2B5EF4-FFF2-40B4-BE49-F238E27FC236}">
                  <a16:creationId xmlns:a16="http://schemas.microsoft.com/office/drawing/2014/main" id="{A119A720-4D99-830A-FAEF-320F7F0FE144}"/>
                </a:ext>
              </a:extLst>
            </p:cNvPr>
            <p:cNvSpPr/>
            <p:nvPr/>
          </p:nvSpPr>
          <p:spPr>
            <a:xfrm>
              <a:off x="693423" y="1723236"/>
              <a:ext cx="3420000" cy="76544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kern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Fusões e Aquisições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6E7EE267-B610-6A43-63E7-826B600EB7C7}"/>
                </a:ext>
              </a:extLst>
            </p:cNvPr>
            <p:cNvSpPr/>
            <p:nvPr/>
          </p:nvSpPr>
          <p:spPr>
            <a:xfrm>
              <a:off x="693423" y="2570332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Desenho do Escopo e Estratégia de M&amp;A</a:t>
              </a:r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id="{6A9EC1ED-6854-FA0B-88C4-6CB658CFDF3B}"/>
                </a:ext>
              </a:extLst>
            </p:cNvPr>
            <p:cNvSpPr/>
            <p:nvPr/>
          </p:nvSpPr>
          <p:spPr>
            <a:xfrm>
              <a:off x="693423" y="2989821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Estratégia de Desinvestimento</a:t>
              </a: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CE75C64C-2F8B-B8E4-0E08-3D350E8181B2}"/>
                </a:ext>
              </a:extLst>
            </p:cNvPr>
            <p:cNvSpPr/>
            <p:nvPr/>
          </p:nvSpPr>
          <p:spPr>
            <a:xfrm>
              <a:off x="693423" y="3409306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Valuation</a:t>
              </a:r>
            </a:p>
          </p:txBody>
        </p:sp>
        <p:sp>
          <p:nvSpPr>
            <p:cNvPr id="54" name="Retângulo 53">
              <a:extLst>
                <a:ext uri="{FF2B5EF4-FFF2-40B4-BE49-F238E27FC236}">
                  <a16:creationId xmlns:a16="http://schemas.microsoft.com/office/drawing/2014/main" id="{EC04669F-D20A-1DC4-5BF9-838495A494B9}"/>
                </a:ext>
              </a:extLst>
            </p:cNvPr>
            <p:cNvSpPr/>
            <p:nvPr/>
          </p:nvSpPr>
          <p:spPr>
            <a:xfrm>
              <a:off x="693423" y="3828791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Modelagens e Análises Financeiras</a:t>
              </a: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42D11C4D-9278-6F56-8D01-E4535414113B}"/>
                </a:ext>
              </a:extLst>
            </p:cNvPr>
            <p:cNvSpPr/>
            <p:nvPr/>
          </p:nvSpPr>
          <p:spPr>
            <a:xfrm>
              <a:off x="693423" y="4248276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Coordenação do Processo de Duo Diligência</a:t>
              </a:r>
            </a:p>
          </p:txBody>
        </p:sp>
        <p:sp>
          <p:nvSpPr>
            <p:cNvPr id="60" name="Retângulo 59">
              <a:extLst>
                <a:ext uri="{FF2B5EF4-FFF2-40B4-BE49-F238E27FC236}">
                  <a16:creationId xmlns:a16="http://schemas.microsoft.com/office/drawing/2014/main" id="{D7120C1C-5081-7EB8-C4C0-AB91347D7ED4}"/>
                </a:ext>
              </a:extLst>
            </p:cNvPr>
            <p:cNvSpPr/>
            <p:nvPr/>
          </p:nvSpPr>
          <p:spPr>
            <a:xfrm>
              <a:off x="693423" y="4681874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Representação durantes as Negociações</a:t>
              </a:r>
            </a:p>
          </p:txBody>
        </p:sp>
        <p:sp>
          <p:nvSpPr>
            <p:cNvPr id="63" name="Retângulo 62">
              <a:extLst>
                <a:ext uri="{FF2B5EF4-FFF2-40B4-BE49-F238E27FC236}">
                  <a16:creationId xmlns:a16="http://schemas.microsoft.com/office/drawing/2014/main" id="{D87BE462-657C-20A9-76DE-C5DD134B943E}"/>
                </a:ext>
              </a:extLst>
            </p:cNvPr>
            <p:cNvSpPr/>
            <p:nvPr/>
          </p:nvSpPr>
          <p:spPr>
            <a:xfrm>
              <a:off x="693423" y="5115472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PMI (Integração Pós-M&amp;A)</a:t>
              </a:r>
            </a:p>
          </p:txBody>
        </p:sp>
        <p:sp>
          <p:nvSpPr>
            <p:cNvPr id="65" name="Retângulo 64">
              <a:extLst>
                <a:ext uri="{FF2B5EF4-FFF2-40B4-BE49-F238E27FC236}">
                  <a16:creationId xmlns:a16="http://schemas.microsoft.com/office/drawing/2014/main" id="{6F02E255-AB23-19BB-7B39-2C69EAE6CA5B}"/>
                </a:ext>
              </a:extLst>
            </p:cNvPr>
            <p:cNvSpPr/>
            <p:nvPr/>
          </p:nvSpPr>
          <p:spPr>
            <a:xfrm>
              <a:off x="693423" y="5549070"/>
              <a:ext cx="3420000" cy="3440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Preparar Empresa para o IPO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5307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18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Temas abordados nessa apresentação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678CC38-23B8-B78F-F0C2-39DD7654DF84}"/>
              </a:ext>
            </a:extLst>
          </p:cNvPr>
          <p:cNvSpPr txBox="1"/>
          <p:nvPr/>
        </p:nvSpPr>
        <p:spPr>
          <a:xfrm>
            <a:off x="604975" y="1075039"/>
            <a:ext cx="4656198" cy="4583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00050" indent="-400050">
              <a:buFont typeface="+mj-lt"/>
              <a:buAutoNum type="romanUcPeriod"/>
            </a:pPr>
            <a:r>
              <a:rPr lang="pt-BR" b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Galeazzi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Quem Somos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Nossa Cultura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Segmentos e serviços</a:t>
            </a:r>
          </a:p>
          <a:p>
            <a:pPr marL="857250" lvl="1" indent="-400050">
              <a:buFont typeface="+mj-lt"/>
              <a:buAutoNum type="arabicPeriod"/>
            </a:pPr>
            <a:endParaRPr lang="pt-BR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pt-BR" b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Nossas Soluções</a:t>
            </a:r>
            <a:endParaRPr lang="pt-BR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Melhoria de Performance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Reestruturação Operacional e Financeira</a:t>
            </a:r>
          </a:p>
          <a:p>
            <a:pPr marL="857250" lvl="1" indent="-400050">
              <a:buFont typeface="+mj-lt"/>
              <a:buAutoNum type="romanUcPeriod"/>
            </a:pPr>
            <a:endParaRPr lang="pt-BR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pt-BR" b="1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Cases G&amp;A</a:t>
            </a:r>
            <a:endParaRPr lang="pt-BR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832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6054CE96-956F-BF69-CF83-3AFC7EEF2C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87214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6054CE96-956F-BF69-CF83-3AFC7EEF2C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" name="Espaço Reservado para Número de Slide 1">
            <a:extLst>
              <a:ext uri="{FF2B5EF4-FFF2-40B4-BE49-F238E27FC236}">
                <a16:creationId xmlns:a16="http://schemas.microsoft.com/office/drawing/2014/main" id="{725D91B9-F4EC-97EF-84E6-C4823BB2B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CF03348-9B08-47EC-B8A2-C35F86196EB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0" name="Título 29">
            <a:extLst>
              <a:ext uri="{FF2B5EF4-FFF2-40B4-BE49-F238E27FC236}">
                <a16:creationId xmlns:a16="http://schemas.microsoft.com/office/drawing/2014/main" id="{022BA4D4-E685-68B5-64EC-D2072871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Otimização de Custos e Despesas</a:t>
            </a:r>
            <a:endParaRPr lang="en-US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43A23CC8-F8A3-FD37-BBA2-7A905EE637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Para quem, Entregáveis, Ferramentas, Resultados</a:t>
            </a:r>
          </a:p>
        </p:txBody>
      </p:sp>
      <p:sp>
        <p:nvSpPr>
          <p:cNvPr id="79" name="TextBox 5">
            <a:extLst>
              <a:ext uri="{FF2B5EF4-FFF2-40B4-BE49-F238E27FC236}">
                <a16:creationId xmlns:a16="http://schemas.microsoft.com/office/drawing/2014/main" id="{D021C52D-2E3D-7C1B-BE8A-F2642ADB4DC4}"/>
              </a:ext>
            </a:extLst>
          </p:cNvPr>
          <p:cNvSpPr txBox="1"/>
          <p:nvPr/>
        </p:nvSpPr>
        <p:spPr>
          <a:xfrm>
            <a:off x="423172" y="946455"/>
            <a:ext cx="583891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217"/>
            <a:r>
              <a:rPr lang="pt-BR" b="1">
                <a:solidFill>
                  <a:srgbClr val="000000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Para Quem?</a:t>
            </a:r>
          </a:p>
        </p:txBody>
      </p:sp>
      <p:sp>
        <p:nvSpPr>
          <p:cNvPr id="80" name="TextBox 4">
            <a:extLst>
              <a:ext uri="{FF2B5EF4-FFF2-40B4-BE49-F238E27FC236}">
                <a16:creationId xmlns:a16="http://schemas.microsoft.com/office/drawing/2014/main" id="{0C107A17-02E2-CD02-8740-49101EC12CCC}"/>
              </a:ext>
            </a:extLst>
          </p:cNvPr>
          <p:cNvSpPr txBox="1"/>
          <p:nvPr/>
        </p:nvSpPr>
        <p:spPr>
          <a:xfrm>
            <a:off x="423172" y="1294359"/>
            <a:ext cx="5838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BR" sz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Empresas que visam otimizar os resultados </a:t>
            </a:r>
            <a:r>
              <a:rPr lang="pt-BR" sz="1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reduzindo custos das operações, fabricação, despesas de pessoal e gerais</a:t>
            </a:r>
          </a:p>
        </p:txBody>
      </p:sp>
      <p:sp>
        <p:nvSpPr>
          <p:cNvPr id="82" name="TextBox 5">
            <a:extLst>
              <a:ext uri="{FF2B5EF4-FFF2-40B4-BE49-F238E27FC236}">
                <a16:creationId xmlns:a16="http://schemas.microsoft.com/office/drawing/2014/main" id="{5F838363-1358-D75A-9A3C-766FBC936258}"/>
              </a:ext>
            </a:extLst>
          </p:cNvPr>
          <p:cNvSpPr txBox="1"/>
          <p:nvPr/>
        </p:nvSpPr>
        <p:spPr>
          <a:xfrm>
            <a:off x="423172" y="1807148"/>
            <a:ext cx="154120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217"/>
            <a:r>
              <a:rPr lang="pt-BR" b="1">
                <a:solidFill>
                  <a:srgbClr val="000000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Entregáveis</a:t>
            </a:r>
          </a:p>
        </p:txBody>
      </p:sp>
      <p:sp>
        <p:nvSpPr>
          <p:cNvPr id="83" name="TextBox 4">
            <a:extLst>
              <a:ext uri="{FF2B5EF4-FFF2-40B4-BE49-F238E27FC236}">
                <a16:creationId xmlns:a16="http://schemas.microsoft.com/office/drawing/2014/main" id="{051F8DD1-5E64-2DC5-1489-993E62102E4C}"/>
              </a:ext>
            </a:extLst>
          </p:cNvPr>
          <p:cNvSpPr txBox="1"/>
          <p:nvPr/>
        </p:nvSpPr>
        <p:spPr>
          <a:xfrm>
            <a:off x="723485" y="2629631"/>
            <a:ext cx="1681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BR" sz="1200" b="1"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1 - Diagnóstico As </a:t>
            </a:r>
            <a:r>
              <a:rPr lang="pt-BR" sz="1200" b="1" err="1"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Is</a:t>
            </a:r>
            <a:r>
              <a:rPr lang="pt-BR" sz="1200" b="1"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 e Oportunidades</a:t>
            </a:r>
          </a:p>
        </p:txBody>
      </p:sp>
      <p:sp>
        <p:nvSpPr>
          <p:cNvPr id="84" name="TextBox 4">
            <a:extLst>
              <a:ext uri="{FF2B5EF4-FFF2-40B4-BE49-F238E27FC236}">
                <a16:creationId xmlns:a16="http://schemas.microsoft.com/office/drawing/2014/main" id="{69D13D79-C170-1701-8164-6328197E8E1D}"/>
              </a:ext>
            </a:extLst>
          </p:cNvPr>
          <p:cNvSpPr txBox="1"/>
          <p:nvPr/>
        </p:nvSpPr>
        <p:spPr>
          <a:xfrm>
            <a:off x="724099" y="3189020"/>
            <a:ext cx="1681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BR" sz="1200" b="1"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2 - Elaboração de Plano de Ação</a:t>
            </a:r>
          </a:p>
        </p:txBody>
      </p:sp>
      <p:sp>
        <p:nvSpPr>
          <p:cNvPr id="85" name="TextBox 4">
            <a:extLst>
              <a:ext uri="{FF2B5EF4-FFF2-40B4-BE49-F238E27FC236}">
                <a16:creationId xmlns:a16="http://schemas.microsoft.com/office/drawing/2014/main" id="{241F9D9B-EB5E-FD12-B2EB-4C2BD5A5CF6B}"/>
              </a:ext>
            </a:extLst>
          </p:cNvPr>
          <p:cNvSpPr txBox="1"/>
          <p:nvPr/>
        </p:nvSpPr>
        <p:spPr>
          <a:xfrm>
            <a:off x="724099" y="3768152"/>
            <a:ext cx="1600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BR" sz="1200" b="1"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3 - Implementação</a:t>
            </a:r>
          </a:p>
        </p:txBody>
      </p:sp>
      <p:grpSp>
        <p:nvGrpSpPr>
          <p:cNvPr id="87" name="Google Shape;11650;p67">
            <a:extLst>
              <a:ext uri="{FF2B5EF4-FFF2-40B4-BE49-F238E27FC236}">
                <a16:creationId xmlns:a16="http://schemas.microsoft.com/office/drawing/2014/main" id="{DE5212D1-4C5F-9234-740C-08D5BEA55F1C}"/>
              </a:ext>
            </a:extLst>
          </p:cNvPr>
          <p:cNvGrpSpPr/>
          <p:nvPr/>
        </p:nvGrpSpPr>
        <p:grpSpPr>
          <a:xfrm>
            <a:off x="2860009" y="3412521"/>
            <a:ext cx="263856" cy="353592"/>
            <a:chOff x="6264109" y="4279432"/>
            <a:chExt cx="225498" cy="361560"/>
          </a:xfrm>
          <a:solidFill>
            <a:schemeClr val="tx1"/>
          </a:solidFill>
        </p:grpSpPr>
        <p:sp>
          <p:nvSpPr>
            <p:cNvPr id="88" name="Google Shape;11651;p67">
              <a:extLst>
                <a:ext uri="{FF2B5EF4-FFF2-40B4-BE49-F238E27FC236}">
                  <a16:creationId xmlns:a16="http://schemas.microsoft.com/office/drawing/2014/main" id="{6B59699A-8837-0602-D7D0-EED85FA14737}"/>
                </a:ext>
              </a:extLst>
            </p:cNvPr>
            <p:cNvSpPr/>
            <p:nvPr/>
          </p:nvSpPr>
          <p:spPr>
            <a:xfrm>
              <a:off x="6264109" y="4279432"/>
              <a:ext cx="225498" cy="361560"/>
            </a:xfrm>
            <a:custGeom>
              <a:avLst/>
              <a:gdLst/>
              <a:ahLst/>
              <a:cxnLst/>
              <a:rect l="l" t="t" r="r" b="b"/>
              <a:pathLst>
                <a:path w="7085" h="11360" extrusionOk="0">
                  <a:moveTo>
                    <a:pt x="6716" y="870"/>
                  </a:moveTo>
                  <a:cubicBezTo>
                    <a:pt x="6716" y="870"/>
                    <a:pt x="6728" y="870"/>
                    <a:pt x="6728" y="882"/>
                  </a:cubicBezTo>
                  <a:lnTo>
                    <a:pt x="6728" y="1239"/>
                  </a:lnTo>
                  <a:lnTo>
                    <a:pt x="6751" y="1239"/>
                  </a:lnTo>
                  <a:lnTo>
                    <a:pt x="6192" y="1251"/>
                  </a:lnTo>
                  <a:cubicBezTo>
                    <a:pt x="6108" y="1251"/>
                    <a:pt x="6037" y="1322"/>
                    <a:pt x="6037" y="1418"/>
                  </a:cubicBezTo>
                  <a:cubicBezTo>
                    <a:pt x="6037" y="1501"/>
                    <a:pt x="6108" y="1584"/>
                    <a:pt x="6192" y="1584"/>
                  </a:cubicBezTo>
                  <a:lnTo>
                    <a:pt x="6394" y="1584"/>
                  </a:lnTo>
                  <a:lnTo>
                    <a:pt x="6394" y="7454"/>
                  </a:lnTo>
                  <a:cubicBezTo>
                    <a:pt x="6394" y="7454"/>
                    <a:pt x="6394" y="7478"/>
                    <a:pt x="6370" y="7478"/>
                  </a:cubicBezTo>
                  <a:lnTo>
                    <a:pt x="679" y="7478"/>
                  </a:lnTo>
                  <a:cubicBezTo>
                    <a:pt x="679" y="7478"/>
                    <a:pt x="655" y="7478"/>
                    <a:pt x="655" y="7454"/>
                  </a:cubicBezTo>
                  <a:lnTo>
                    <a:pt x="655" y="1584"/>
                  </a:lnTo>
                  <a:lnTo>
                    <a:pt x="5477" y="1584"/>
                  </a:lnTo>
                  <a:cubicBezTo>
                    <a:pt x="5573" y="1584"/>
                    <a:pt x="5644" y="1501"/>
                    <a:pt x="5644" y="1418"/>
                  </a:cubicBezTo>
                  <a:cubicBezTo>
                    <a:pt x="5644" y="1322"/>
                    <a:pt x="5573" y="1251"/>
                    <a:pt x="5477" y="1251"/>
                  </a:cubicBezTo>
                  <a:lnTo>
                    <a:pt x="322" y="1251"/>
                  </a:lnTo>
                  <a:cubicBezTo>
                    <a:pt x="322" y="1251"/>
                    <a:pt x="298" y="1251"/>
                    <a:pt x="298" y="1239"/>
                  </a:cubicBezTo>
                  <a:lnTo>
                    <a:pt x="298" y="882"/>
                  </a:lnTo>
                  <a:cubicBezTo>
                    <a:pt x="298" y="882"/>
                    <a:pt x="298" y="870"/>
                    <a:pt x="322" y="870"/>
                  </a:cubicBezTo>
                  <a:close/>
                  <a:moveTo>
                    <a:pt x="5358" y="7811"/>
                  </a:moveTo>
                  <a:lnTo>
                    <a:pt x="5858" y="10335"/>
                  </a:lnTo>
                  <a:lnTo>
                    <a:pt x="3691" y="10335"/>
                  </a:lnTo>
                  <a:lnTo>
                    <a:pt x="3691" y="8371"/>
                  </a:lnTo>
                  <a:cubicBezTo>
                    <a:pt x="3691" y="8276"/>
                    <a:pt x="3620" y="8204"/>
                    <a:pt x="3537" y="8204"/>
                  </a:cubicBezTo>
                  <a:cubicBezTo>
                    <a:pt x="3441" y="8204"/>
                    <a:pt x="3370" y="8276"/>
                    <a:pt x="3370" y="8371"/>
                  </a:cubicBezTo>
                  <a:lnTo>
                    <a:pt x="3370" y="10335"/>
                  </a:lnTo>
                  <a:lnTo>
                    <a:pt x="1215" y="10335"/>
                  </a:lnTo>
                  <a:lnTo>
                    <a:pt x="1715" y="7811"/>
                  </a:lnTo>
                  <a:close/>
                  <a:moveTo>
                    <a:pt x="3549" y="1"/>
                  </a:moveTo>
                  <a:cubicBezTo>
                    <a:pt x="3453" y="1"/>
                    <a:pt x="3382" y="72"/>
                    <a:pt x="3382" y="168"/>
                  </a:cubicBezTo>
                  <a:lnTo>
                    <a:pt x="3382" y="537"/>
                  </a:lnTo>
                  <a:lnTo>
                    <a:pt x="346" y="537"/>
                  </a:lnTo>
                  <a:cubicBezTo>
                    <a:pt x="155" y="537"/>
                    <a:pt x="0" y="691"/>
                    <a:pt x="0" y="882"/>
                  </a:cubicBezTo>
                  <a:lnTo>
                    <a:pt x="0" y="1239"/>
                  </a:lnTo>
                  <a:cubicBezTo>
                    <a:pt x="0" y="1430"/>
                    <a:pt x="155" y="1584"/>
                    <a:pt x="346" y="1584"/>
                  </a:cubicBezTo>
                  <a:lnTo>
                    <a:pt x="358" y="1584"/>
                  </a:lnTo>
                  <a:lnTo>
                    <a:pt x="358" y="7454"/>
                  </a:lnTo>
                  <a:cubicBezTo>
                    <a:pt x="358" y="7645"/>
                    <a:pt x="512" y="7799"/>
                    <a:pt x="703" y="7799"/>
                  </a:cubicBezTo>
                  <a:lnTo>
                    <a:pt x="1382" y="7799"/>
                  </a:lnTo>
                  <a:lnTo>
                    <a:pt x="715" y="11157"/>
                  </a:lnTo>
                  <a:cubicBezTo>
                    <a:pt x="703" y="11252"/>
                    <a:pt x="762" y="11347"/>
                    <a:pt x="858" y="11359"/>
                  </a:cubicBezTo>
                  <a:lnTo>
                    <a:pt x="882" y="11359"/>
                  </a:lnTo>
                  <a:cubicBezTo>
                    <a:pt x="953" y="11359"/>
                    <a:pt x="1036" y="11300"/>
                    <a:pt x="1048" y="11217"/>
                  </a:cubicBezTo>
                  <a:lnTo>
                    <a:pt x="1167" y="10645"/>
                  </a:lnTo>
                  <a:lnTo>
                    <a:pt x="3382" y="10645"/>
                  </a:lnTo>
                  <a:lnTo>
                    <a:pt x="3382" y="11193"/>
                  </a:lnTo>
                  <a:cubicBezTo>
                    <a:pt x="3382" y="11288"/>
                    <a:pt x="3453" y="11359"/>
                    <a:pt x="3549" y="11359"/>
                  </a:cubicBezTo>
                  <a:cubicBezTo>
                    <a:pt x="3632" y="11359"/>
                    <a:pt x="3703" y="11288"/>
                    <a:pt x="3703" y="11193"/>
                  </a:cubicBezTo>
                  <a:lnTo>
                    <a:pt x="3703" y="10645"/>
                  </a:lnTo>
                  <a:lnTo>
                    <a:pt x="5930" y="10645"/>
                  </a:lnTo>
                  <a:lnTo>
                    <a:pt x="6049" y="11217"/>
                  </a:lnTo>
                  <a:cubicBezTo>
                    <a:pt x="6061" y="11300"/>
                    <a:pt x="6132" y="11359"/>
                    <a:pt x="6204" y="11359"/>
                  </a:cubicBezTo>
                  <a:lnTo>
                    <a:pt x="6239" y="11359"/>
                  </a:lnTo>
                  <a:cubicBezTo>
                    <a:pt x="6323" y="11336"/>
                    <a:pt x="6382" y="11252"/>
                    <a:pt x="6370" y="11157"/>
                  </a:cubicBezTo>
                  <a:lnTo>
                    <a:pt x="5704" y="7799"/>
                  </a:lnTo>
                  <a:lnTo>
                    <a:pt x="6382" y="7799"/>
                  </a:lnTo>
                  <a:cubicBezTo>
                    <a:pt x="6585" y="7799"/>
                    <a:pt x="6728" y="7645"/>
                    <a:pt x="6728" y="7454"/>
                  </a:cubicBezTo>
                  <a:lnTo>
                    <a:pt x="6728" y="1584"/>
                  </a:lnTo>
                  <a:lnTo>
                    <a:pt x="6739" y="1584"/>
                  </a:lnTo>
                  <a:cubicBezTo>
                    <a:pt x="6942" y="1584"/>
                    <a:pt x="7085" y="1430"/>
                    <a:pt x="7085" y="1239"/>
                  </a:cubicBezTo>
                  <a:lnTo>
                    <a:pt x="7085" y="882"/>
                  </a:lnTo>
                  <a:cubicBezTo>
                    <a:pt x="7085" y="691"/>
                    <a:pt x="6930" y="537"/>
                    <a:pt x="6751" y="537"/>
                  </a:cubicBezTo>
                  <a:lnTo>
                    <a:pt x="3715" y="537"/>
                  </a:lnTo>
                  <a:lnTo>
                    <a:pt x="3715" y="168"/>
                  </a:lnTo>
                  <a:cubicBezTo>
                    <a:pt x="3715" y="72"/>
                    <a:pt x="3632" y="1"/>
                    <a:pt x="35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9" name="Google Shape;11652;p67">
              <a:extLst>
                <a:ext uri="{FF2B5EF4-FFF2-40B4-BE49-F238E27FC236}">
                  <a16:creationId xmlns:a16="http://schemas.microsoft.com/office/drawing/2014/main" id="{F17872B8-8342-F5C2-A388-A28F4AA594C6}"/>
                </a:ext>
              </a:extLst>
            </p:cNvPr>
            <p:cNvSpPr/>
            <p:nvPr/>
          </p:nvSpPr>
          <p:spPr>
            <a:xfrm>
              <a:off x="6303129" y="4370395"/>
              <a:ext cx="146693" cy="106495"/>
            </a:xfrm>
            <a:custGeom>
              <a:avLst/>
              <a:gdLst/>
              <a:ahLst/>
              <a:cxnLst/>
              <a:rect l="l" t="t" r="r" b="b"/>
              <a:pathLst>
                <a:path w="4609" h="3346" extrusionOk="0">
                  <a:moveTo>
                    <a:pt x="3561" y="0"/>
                  </a:moveTo>
                  <a:cubicBezTo>
                    <a:pt x="3466" y="0"/>
                    <a:pt x="3394" y="72"/>
                    <a:pt x="3394" y="167"/>
                  </a:cubicBezTo>
                  <a:cubicBezTo>
                    <a:pt x="3394" y="250"/>
                    <a:pt x="3466" y="334"/>
                    <a:pt x="3561" y="334"/>
                  </a:cubicBezTo>
                  <a:lnTo>
                    <a:pt x="4049" y="334"/>
                  </a:lnTo>
                  <a:lnTo>
                    <a:pt x="2406" y="1965"/>
                  </a:lnTo>
                  <a:lnTo>
                    <a:pt x="2394" y="1965"/>
                  </a:lnTo>
                  <a:lnTo>
                    <a:pt x="2025" y="1596"/>
                  </a:lnTo>
                  <a:cubicBezTo>
                    <a:pt x="1959" y="1530"/>
                    <a:pt x="1870" y="1498"/>
                    <a:pt x="1781" y="1498"/>
                  </a:cubicBezTo>
                  <a:cubicBezTo>
                    <a:pt x="1692" y="1498"/>
                    <a:pt x="1602" y="1530"/>
                    <a:pt x="1537" y="1596"/>
                  </a:cubicBezTo>
                  <a:lnTo>
                    <a:pt x="60" y="3072"/>
                  </a:lnTo>
                  <a:cubicBezTo>
                    <a:pt x="1" y="3132"/>
                    <a:pt x="1" y="3227"/>
                    <a:pt x="60" y="3310"/>
                  </a:cubicBezTo>
                  <a:cubicBezTo>
                    <a:pt x="84" y="3334"/>
                    <a:pt x="132" y="3346"/>
                    <a:pt x="179" y="3346"/>
                  </a:cubicBezTo>
                  <a:cubicBezTo>
                    <a:pt x="227" y="3346"/>
                    <a:pt x="263" y="3334"/>
                    <a:pt x="298" y="3310"/>
                  </a:cubicBezTo>
                  <a:lnTo>
                    <a:pt x="1775" y="1834"/>
                  </a:lnTo>
                  <a:lnTo>
                    <a:pt x="1787" y="1834"/>
                  </a:lnTo>
                  <a:lnTo>
                    <a:pt x="2156" y="2203"/>
                  </a:lnTo>
                  <a:cubicBezTo>
                    <a:pt x="2215" y="2263"/>
                    <a:pt x="2311" y="2310"/>
                    <a:pt x="2394" y="2310"/>
                  </a:cubicBezTo>
                  <a:cubicBezTo>
                    <a:pt x="2477" y="2310"/>
                    <a:pt x="2573" y="2274"/>
                    <a:pt x="2632" y="2203"/>
                  </a:cubicBezTo>
                  <a:lnTo>
                    <a:pt x="4263" y="572"/>
                  </a:lnTo>
                  <a:lnTo>
                    <a:pt x="4263" y="1060"/>
                  </a:lnTo>
                  <a:cubicBezTo>
                    <a:pt x="4263" y="1143"/>
                    <a:pt x="4347" y="1227"/>
                    <a:pt x="4430" y="1227"/>
                  </a:cubicBezTo>
                  <a:cubicBezTo>
                    <a:pt x="4525" y="1227"/>
                    <a:pt x="4597" y="1143"/>
                    <a:pt x="4597" y="1060"/>
                  </a:cubicBezTo>
                  <a:lnTo>
                    <a:pt x="4597" y="167"/>
                  </a:lnTo>
                  <a:cubicBezTo>
                    <a:pt x="4609" y="72"/>
                    <a:pt x="4537" y="0"/>
                    <a:pt x="44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0" name="TextBox 4">
            <a:extLst>
              <a:ext uri="{FF2B5EF4-FFF2-40B4-BE49-F238E27FC236}">
                <a16:creationId xmlns:a16="http://schemas.microsoft.com/office/drawing/2014/main" id="{9E1AE5DB-A983-266D-586D-091A24C7DBB6}"/>
              </a:ext>
            </a:extLst>
          </p:cNvPr>
          <p:cNvSpPr txBox="1"/>
          <p:nvPr/>
        </p:nvSpPr>
        <p:spPr>
          <a:xfrm>
            <a:off x="3206442" y="3354836"/>
            <a:ext cx="3226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BR" sz="12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Maximizar valor agregado dos processos para o aumento de produtividade</a:t>
            </a:r>
          </a:p>
        </p:txBody>
      </p:sp>
      <p:sp>
        <p:nvSpPr>
          <p:cNvPr id="91" name="Google Shape;11249;p67">
            <a:extLst>
              <a:ext uri="{FF2B5EF4-FFF2-40B4-BE49-F238E27FC236}">
                <a16:creationId xmlns:a16="http://schemas.microsoft.com/office/drawing/2014/main" id="{9DF250D9-D295-E4A2-C7E9-062E70ECA84F}"/>
              </a:ext>
            </a:extLst>
          </p:cNvPr>
          <p:cNvSpPr/>
          <p:nvPr/>
        </p:nvSpPr>
        <p:spPr>
          <a:xfrm>
            <a:off x="2844377" y="2925557"/>
            <a:ext cx="348558" cy="291322"/>
          </a:xfrm>
          <a:custGeom>
            <a:avLst/>
            <a:gdLst/>
            <a:ahLst/>
            <a:cxnLst/>
            <a:rect l="l" t="t" r="r" b="b"/>
            <a:pathLst>
              <a:path w="11693" h="11693" extrusionOk="0">
                <a:moveTo>
                  <a:pt x="10252" y="584"/>
                </a:moveTo>
                <a:lnTo>
                  <a:pt x="10252" y="1263"/>
                </a:lnTo>
                <a:cubicBezTo>
                  <a:pt x="10252" y="1358"/>
                  <a:pt x="10323" y="1429"/>
                  <a:pt x="10406" y="1429"/>
                </a:cubicBezTo>
                <a:lnTo>
                  <a:pt x="11097" y="1429"/>
                </a:lnTo>
                <a:lnTo>
                  <a:pt x="9609" y="2918"/>
                </a:lnTo>
                <a:lnTo>
                  <a:pt x="9001" y="2918"/>
                </a:lnTo>
                <a:lnTo>
                  <a:pt x="9978" y="1941"/>
                </a:lnTo>
                <a:cubicBezTo>
                  <a:pt x="10037" y="1882"/>
                  <a:pt x="10037" y="1751"/>
                  <a:pt x="9978" y="1691"/>
                </a:cubicBezTo>
                <a:cubicBezTo>
                  <a:pt x="9948" y="1667"/>
                  <a:pt x="9903" y="1656"/>
                  <a:pt x="9859" y="1656"/>
                </a:cubicBezTo>
                <a:cubicBezTo>
                  <a:pt x="9814" y="1656"/>
                  <a:pt x="9769" y="1667"/>
                  <a:pt x="9740" y="1691"/>
                </a:cubicBezTo>
                <a:lnTo>
                  <a:pt x="8763" y="2679"/>
                </a:lnTo>
                <a:lnTo>
                  <a:pt x="8763" y="2072"/>
                </a:lnTo>
                <a:lnTo>
                  <a:pt x="10252" y="584"/>
                </a:lnTo>
                <a:close/>
                <a:moveTo>
                  <a:pt x="4739" y="2537"/>
                </a:moveTo>
                <a:cubicBezTo>
                  <a:pt x="5894" y="2537"/>
                  <a:pt x="6942" y="2977"/>
                  <a:pt x="7739" y="3703"/>
                </a:cubicBezTo>
                <a:lnTo>
                  <a:pt x="4620" y="6811"/>
                </a:lnTo>
                <a:cubicBezTo>
                  <a:pt x="4560" y="6870"/>
                  <a:pt x="4560" y="7001"/>
                  <a:pt x="4620" y="7049"/>
                </a:cubicBezTo>
                <a:cubicBezTo>
                  <a:pt x="4656" y="7085"/>
                  <a:pt x="4703" y="7097"/>
                  <a:pt x="4739" y="7097"/>
                </a:cubicBezTo>
                <a:cubicBezTo>
                  <a:pt x="4787" y="7097"/>
                  <a:pt x="4834" y="7085"/>
                  <a:pt x="4858" y="7049"/>
                </a:cubicBezTo>
                <a:lnTo>
                  <a:pt x="5632" y="6275"/>
                </a:lnTo>
                <a:cubicBezTo>
                  <a:pt x="5775" y="6478"/>
                  <a:pt x="5846" y="6692"/>
                  <a:pt x="5846" y="6930"/>
                </a:cubicBezTo>
                <a:cubicBezTo>
                  <a:pt x="5846" y="7549"/>
                  <a:pt x="5358" y="8037"/>
                  <a:pt x="4739" y="8037"/>
                </a:cubicBezTo>
                <a:cubicBezTo>
                  <a:pt x="4132" y="8037"/>
                  <a:pt x="3644" y="7549"/>
                  <a:pt x="3644" y="6930"/>
                </a:cubicBezTo>
                <a:cubicBezTo>
                  <a:pt x="3644" y="6323"/>
                  <a:pt x="4132" y="5835"/>
                  <a:pt x="4739" y="5835"/>
                </a:cubicBezTo>
                <a:cubicBezTo>
                  <a:pt x="4822" y="5835"/>
                  <a:pt x="4882" y="5835"/>
                  <a:pt x="4953" y="5847"/>
                </a:cubicBezTo>
                <a:cubicBezTo>
                  <a:pt x="4962" y="5848"/>
                  <a:pt x="4970" y="5848"/>
                  <a:pt x="4979" y="5848"/>
                </a:cubicBezTo>
                <a:cubicBezTo>
                  <a:pt x="5055" y="5848"/>
                  <a:pt x="5133" y="5801"/>
                  <a:pt x="5144" y="5716"/>
                </a:cubicBezTo>
                <a:cubicBezTo>
                  <a:pt x="5156" y="5620"/>
                  <a:pt x="5096" y="5537"/>
                  <a:pt x="5013" y="5525"/>
                </a:cubicBezTo>
                <a:cubicBezTo>
                  <a:pt x="4918" y="5513"/>
                  <a:pt x="4834" y="5489"/>
                  <a:pt x="4739" y="5489"/>
                </a:cubicBezTo>
                <a:cubicBezTo>
                  <a:pt x="3941" y="5489"/>
                  <a:pt x="3298" y="6144"/>
                  <a:pt x="3298" y="6942"/>
                </a:cubicBezTo>
                <a:cubicBezTo>
                  <a:pt x="3298" y="7740"/>
                  <a:pt x="3953" y="8383"/>
                  <a:pt x="4739" y="8383"/>
                </a:cubicBezTo>
                <a:cubicBezTo>
                  <a:pt x="5549" y="8383"/>
                  <a:pt x="6192" y="7728"/>
                  <a:pt x="6192" y="6942"/>
                </a:cubicBezTo>
                <a:cubicBezTo>
                  <a:pt x="6192" y="6609"/>
                  <a:pt x="6084" y="6299"/>
                  <a:pt x="5870" y="6049"/>
                </a:cubicBezTo>
                <a:lnTo>
                  <a:pt x="6406" y="5513"/>
                </a:lnTo>
                <a:cubicBezTo>
                  <a:pt x="6751" y="5906"/>
                  <a:pt x="6942" y="6418"/>
                  <a:pt x="6942" y="6942"/>
                </a:cubicBezTo>
                <a:cubicBezTo>
                  <a:pt x="6942" y="8156"/>
                  <a:pt x="5965" y="9133"/>
                  <a:pt x="4739" y="9133"/>
                </a:cubicBezTo>
                <a:cubicBezTo>
                  <a:pt x="3525" y="9133"/>
                  <a:pt x="2536" y="8156"/>
                  <a:pt x="2536" y="6942"/>
                </a:cubicBezTo>
                <a:cubicBezTo>
                  <a:pt x="2536" y="5716"/>
                  <a:pt x="3525" y="4739"/>
                  <a:pt x="4739" y="4739"/>
                </a:cubicBezTo>
                <a:cubicBezTo>
                  <a:pt x="5120" y="4739"/>
                  <a:pt x="5477" y="4823"/>
                  <a:pt x="5787" y="5001"/>
                </a:cubicBezTo>
                <a:cubicBezTo>
                  <a:pt x="5812" y="5016"/>
                  <a:pt x="5840" y="5022"/>
                  <a:pt x="5868" y="5022"/>
                </a:cubicBezTo>
                <a:cubicBezTo>
                  <a:pt x="5930" y="5022"/>
                  <a:pt x="5992" y="4988"/>
                  <a:pt x="6025" y="4930"/>
                </a:cubicBezTo>
                <a:cubicBezTo>
                  <a:pt x="6073" y="4834"/>
                  <a:pt x="6037" y="4739"/>
                  <a:pt x="5953" y="4692"/>
                </a:cubicBezTo>
                <a:cubicBezTo>
                  <a:pt x="5572" y="4501"/>
                  <a:pt x="5156" y="4370"/>
                  <a:pt x="4739" y="4370"/>
                </a:cubicBezTo>
                <a:cubicBezTo>
                  <a:pt x="3346" y="4370"/>
                  <a:pt x="2203" y="5525"/>
                  <a:pt x="2203" y="6918"/>
                </a:cubicBezTo>
                <a:cubicBezTo>
                  <a:pt x="2203" y="8323"/>
                  <a:pt x="3346" y="9466"/>
                  <a:pt x="4739" y="9466"/>
                </a:cubicBezTo>
                <a:cubicBezTo>
                  <a:pt x="6144" y="9466"/>
                  <a:pt x="7287" y="8323"/>
                  <a:pt x="7287" y="6918"/>
                </a:cubicBezTo>
                <a:cubicBezTo>
                  <a:pt x="7287" y="6299"/>
                  <a:pt x="7061" y="5716"/>
                  <a:pt x="6668" y="5239"/>
                </a:cubicBezTo>
                <a:lnTo>
                  <a:pt x="7204" y="4704"/>
                </a:lnTo>
                <a:cubicBezTo>
                  <a:pt x="7751" y="5311"/>
                  <a:pt x="8049" y="6085"/>
                  <a:pt x="8049" y="6918"/>
                </a:cubicBezTo>
                <a:cubicBezTo>
                  <a:pt x="8049" y="8740"/>
                  <a:pt x="6561" y="10228"/>
                  <a:pt x="4739" y="10228"/>
                </a:cubicBezTo>
                <a:cubicBezTo>
                  <a:pt x="2929" y="10228"/>
                  <a:pt x="1441" y="8740"/>
                  <a:pt x="1441" y="6918"/>
                </a:cubicBezTo>
                <a:cubicBezTo>
                  <a:pt x="1441" y="5108"/>
                  <a:pt x="2929" y="3620"/>
                  <a:pt x="4739" y="3620"/>
                </a:cubicBezTo>
                <a:cubicBezTo>
                  <a:pt x="5382" y="3620"/>
                  <a:pt x="5989" y="3799"/>
                  <a:pt x="6525" y="4132"/>
                </a:cubicBezTo>
                <a:cubicBezTo>
                  <a:pt x="6558" y="4151"/>
                  <a:pt x="6594" y="4161"/>
                  <a:pt x="6628" y="4161"/>
                </a:cubicBezTo>
                <a:cubicBezTo>
                  <a:pt x="6679" y="4161"/>
                  <a:pt x="6727" y="4139"/>
                  <a:pt x="6763" y="4096"/>
                </a:cubicBezTo>
                <a:cubicBezTo>
                  <a:pt x="6811" y="4025"/>
                  <a:pt x="6799" y="3918"/>
                  <a:pt x="6727" y="3858"/>
                </a:cubicBezTo>
                <a:cubicBezTo>
                  <a:pt x="6144" y="3477"/>
                  <a:pt x="5453" y="3275"/>
                  <a:pt x="4763" y="3275"/>
                </a:cubicBezTo>
                <a:cubicBezTo>
                  <a:pt x="2751" y="3275"/>
                  <a:pt x="1108" y="4918"/>
                  <a:pt x="1108" y="6918"/>
                </a:cubicBezTo>
                <a:cubicBezTo>
                  <a:pt x="1108" y="8930"/>
                  <a:pt x="2751" y="10573"/>
                  <a:pt x="4763" y="10573"/>
                </a:cubicBezTo>
                <a:cubicBezTo>
                  <a:pt x="6763" y="10573"/>
                  <a:pt x="8406" y="8930"/>
                  <a:pt x="8406" y="6918"/>
                </a:cubicBezTo>
                <a:cubicBezTo>
                  <a:pt x="8406" y="6013"/>
                  <a:pt x="8061" y="5132"/>
                  <a:pt x="7454" y="4465"/>
                </a:cubicBezTo>
                <a:lnTo>
                  <a:pt x="7989" y="3930"/>
                </a:lnTo>
                <a:cubicBezTo>
                  <a:pt x="8704" y="4739"/>
                  <a:pt x="9144" y="5775"/>
                  <a:pt x="9144" y="6942"/>
                </a:cubicBezTo>
                <a:cubicBezTo>
                  <a:pt x="9144" y="9359"/>
                  <a:pt x="7168" y="11347"/>
                  <a:pt x="4739" y="11347"/>
                </a:cubicBezTo>
                <a:cubicBezTo>
                  <a:pt x="2322" y="11347"/>
                  <a:pt x="334" y="9359"/>
                  <a:pt x="334" y="6942"/>
                </a:cubicBezTo>
                <a:cubicBezTo>
                  <a:pt x="334" y="4513"/>
                  <a:pt x="2322" y="2537"/>
                  <a:pt x="4739" y="2537"/>
                </a:cubicBezTo>
                <a:close/>
                <a:moveTo>
                  <a:pt x="10403" y="1"/>
                </a:moveTo>
                <a:cubicBezTo>
                  <a:pt x="10360" y="1"/>
                  <a:pt x="10315" y="16"/>
                  <a:pt x="10275" y="48"/>
                </a:cubicBezTo>
                <a:lnTo>
                  <a:pt x="8466" y="1882"/>
                </a:lnTo>
                <a:cubicBezTo>
                  <a:pt x="8430" y="1906"/>
                  <a:pt x="8418" y="1953"/>
                  <a:pt x="8418" y="1989"/>
                </a:cubicBezTo>
                <a:lnTo>
                  <a:pt x="8418" y="3025"/>
                </a:lnTo>
                <a:lnTo>
                  <a:pt x="7978" y="3465"/>
                </a:lnTo>
                <a:cubicBezTo>
                  <a:pt x="7120" y="2679"/>
                  <a:pt x="5989" y="2203"/>
                  <a:pt x="4739" y="2203"/>
                </a:cubicBezTo>
                <a:cubicBezTo>
                  <a:pt x="2120" y="2203"/>
                  <a:pt x="0" y="4334"/>
                  <a:pt x="0" y="6954"/>
                </a:cubicBezTo>
                <a:cubicBezTo>
                  <a:pt x="0" y="9573"/>
                  <a:pt x="2120" y="11692"/>
                  <a:pt x="4739" y="11692"/>
                </a:cubicBezTo>
                <a:cubicBezTo>
                  <a:pt x="7358" y="11692"/>
                  <a:pt x="9490" y="9573"/>
                  <a:pt x="9490" y="6954"/>
                </a:cubicBezTo>
                <a:cubicBezTo>
                  <a:pt x="9490" y="5704"/>
                  <a:pt x="9013" y="4573"/>
                  <a:pt x="8228" y="3715"/>
                </a:cubicBezTo>
                <a:lnTo>
                  <a:pt x="8668" y="3275"/>
                </a:lnTo>
                <a:lnTo>
                  <a:pt x="9704" y="3275"/>
                </a:lnTo>
                <a:cubicBezTo>
                  <a:pt x="9740" y="3275"/>
                  <a:pt x="9787" y="3263"/>
                  <a:pt x="9823" y="3227"/>
                </a:cubicBezTo>
                <a:lnTo>
                  <a:pt x="11645" y="1394"/>
                </a:lnTo>
                <a:cubicBezTo>
                  <a:pt x="11680" y="1346"/>
                  <a:pt x="11692" y="1263"/>
                  <a:pt x="11668" y="1203"/>
                </a:cubicBezTo>
                <a:cubicBezTo>
                  <a:pt x="11633" y="1144"/>
                  <a:pt x="11573" y="1096"/>
                  <a:pt x="11502" y="1096"/>
                </a:cubicBezTo>
                <a:lnTo>
                  <a:pt x="10573" y="1096"/>
                </a:lnTo>
                <a:lnTo>
                  <a:pt x="10573" y="179"/>
                </a:lnTo>
                <a:cubicBezTo>
                  <a:pt x="10573" y="108"/>
                  <a:pt x="10537" y="48"/>
                  <a:pt x="10466" y="12"/>
                </a:cubicBezTo>
                <a:cubicBezTo>
                  <a:pt x="10446" y="5"/>
                  <a:pt x="10425" y="1"/>
                  <a:pt x="10403" y="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TextBox 4">
            <a:extLst>
              <a:ext uri="{FF2B5EF4-FFF2-40B4-BE49-F238E27FC236}">
                <a16:creationId xmlns:a16="http://schemas.microsoft.com/office/drawing/2014/main" id="{12C097AB-7ACD-B5B2-BE8D-4577D68C34DA}"/>
              </a:ext>
            </a:extLst>
          </p:cNvPr>
          <p:cNvSpPr txBox="1"/>
          <p:nvPr/>
        </p:nvSpPr>
        <p:spPr>
          <a:xfrm>
            <a:off x="3172194" y="2801847"/>
            <a:ext cx="3226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BR" sz="12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Otimização custos de contratação e volumetrias / consumo</a:t>
            </a:r>
          </a:p>
        </p:txBody>
      </p:sp>
      <p:grpSp>
        <p:nvGrpSpPr>
          <p:cNvPr id="93" name="Google Shape;11231;p67">
            <a:extLst>
              <a:ext uri="{FF2B5EF4-FFF2-40B4-BE49-F238E27FC236}">
                <a16:creationId xmlns:a16="http://schemas.microsoft.com/office/drawing/2014/main" id="{061A6403-DFA1-BEF0-0925-8BB47B5E27AC}"/>
              </a:ext>
            </a:extLst>
          </p:cNvPr>
          <p:cNvGrpSpPr/>
          <p:nvPr/>
        </p:nvGrpSpPr>
        <p:grpSpPr>
          <a:xfrm>
            <a:off x="2831166" y="3945247"/>
            <a:ext cx="320616" cy="267968"/>
            <a:chOff x="6216367" y="1970156"/>
            <a:chExt cx="361147" cy="361147"/>
          </a:xfrm>
          <a:solidFill>
            <a:schemeClr val="tx1"/>
          </a:solidFill>
        </p:grpSpPr>
        <p:sp>
          <p:nvSpPr>
            <p:cNvPr id="94" name="Google Shape;11232;p67">
              <a:extLst>
                <a:ext uri="{FF2B5EF4-FFF2-40B4-BE49-F238E27FC236}">
                  <a16:creationId xmlns:a16="http://schemas.microsoft.com/office/drawing/2014/main" id="{5AB46123-39E3-84C2-E0F5-30C9B50D6993}"/>
                </a:ext>
              </a:extLst>
            </p:cNvPr>
            <p:cNvSpPr/>
            <p:nvPr/>
          </p:nvSpPr>
          <p:spPr>
            <a:xfrm>
              <a:off x="6247813" y="2069522"/>
              <a:ext cx="329701" cy="261781"/>
            </a:xfrm>
            <a:custGeom>
              <a:avLst/>
              <a:gdLst/>
              <a:ahLst/>
              <a:cxnLst/>
              <a:rect l="l" t="t" r="r" b="b"/>
              <a:pathLst>
                <a:path w="10359" h="8225" extrusionOk="0">
                  <a:moveTo>
                    <a:pt x="9663" y="0"/>
                  </a:moveTo>
                  <a:cubicBezTo>
                    <a:pt x="9637" y="0"/>
                    <a:pt x="9611" y="7"/>
                    <a:pt x="9585" y="22"/>
                  </a:cubicBezTo>
                  <a:cubicBezTo>
                    <a:pt x="9490" y="69"/>
                    <a:pt x="9466" y="153"/>
                    <a:pt x="9502" y="248"/>
                  </a:cubicBezTo>
                  <a:cubicBezTo>
                    <a:pt x="9847" y="962"/>
                    <a:pt x="10026" y="1736"/>
                    <a:pt x="10026" y="2534"/>
                  </a:cubicBezTo>
                  <a:cubicBezTo>
                    <a:pt x="10026" y="3963"/>
                    <a:pt x="9478" y="5308"/>
                    <a:pt x="8466" y="6320"/>
                  </a:cubicBezTo>
                  <a:cubicBezTo>
                    <a:pt x="7454" y="7332"/>
                    <a:pt x="6108" y="7880"/>
                    <a:pt x="4680" y="7880"/>
                  </a:cubicBezTo>
                  <a:cubicBezTo>
                    <a:pt x="3834" y="7880"/>
                    <a:pt x="3037" y="7689"/>
                    <a:pt x="2287" y="7308"/>
                  </a:cubicBezTo>
                  <a:cubicBezTo>
                    <a:pt x="1667" y="6999"/>
                    <a:pt x="1096" y="6558"/>
                    <a:pt x="632" y="6022"/>
                  </a:cubicBezTo>
                  <a:lnTo>
                    <a:pt x="632" y="6022"/>
                  </a:lnTo>
                  <a:lnTo>
                    <a:pt x="1286" y="6237"/>
                  </a:lnTo>
                  <a:cubicBezTo>
                    <a:pt x="1308" y="6245"/>
                    <a:pt x="1329" y="6249"/>
                    <a:pt x="1350" y="6249"/>
                  </a:cubicBezTo>
                  <a:cubicBezTo>
                    <a:pt x="1417" y="6249"/>
                    <a:pt x="1473" y="6206"/>
                    <a:pt x="1501" y="6141"/>
                  </a:cubicBezTo>
                  <a:cubicBezTo>
                    <a:pt x="1525" y="6046"/>
                    <a:pt x="1489" y="5963"/>
                    <a:pt x="1394" y="5927"/>
                  </a:cubicBezTo>
                  <a:lnTo>
                    <a:pt x="215" y="5546"/>
                  </a:lnTo>
                  <a:cubicBezTo>
                    <a:pt x="197" y="5539"/>
                    <a:pt x="180" y="5536"/>
                    <a:pt x="163" y="5536"/>
                  </a:cubicBezTo>
                  <a:cubicBezTo>
                    <a:pt x="122" y="5536"/>
                    <a:pt x="85" y="5553"/>
                    <a:pt x="60" y="5570"/>
                  </a:cubicBezTo>
                  <a:cubicBezTo>
                    <a:pt x="12" y="5606"/>
                    <a:pt x="1" y="5665"/>
                    <a:pt x="1" y="5725"/>
                  </a:cubicBezTo>
                  <a:lnTo>
                    <a:pt x="191" y="7094"/>
                  </a:lnTo>
                  <a:cubicBezTo>
                    <a:pt x="203" y="7177"/>
                    <a:pt x="274" y="7237"/>
                    <a:pt x="358" y="7237"/>
                  </a:cubicBezTo>
                  <a:lnTo>
                    <a:pt x="382" y="7237"/>
                  </a:lnTo>
                  <a:cubicBezTo>
                    <a:pt x="477" y="7225"/>
                    <a:pt x="536" y="7130"/>
                    <a:pt x="512" y="7046"/>
                  </a:cubicBezTo>
                  <a:lnTo>
                    <a:pt x="417" y="6272"/>
                  </a:lnTo>
                  <a:lnTo>
                    <a:pt x="417" y="6272"/>
                  </a:lnTo>
                  <a:cubicBezTo>
                    <a:pt x="893" y="6820"/>
                    <a:pt x="1489" y="7284"/>
                    <a:pt x="2120" y="7606"/>
                  </a:cubicBezTo>
                  <a:cubicBezTo>
                    <a:pt x="2918" y="8011"/>
                    <a:pt x="3775" y="8225"/>
                    <a:pt x="4680" y="8225"/>
                  </a:cubicBezTo>
                  <a:cubicBezTo>
                    <a:pt x="6204" y="8225"/>
                    <a:pt x="7621" y="7630"/>
                    <a:pt x="8692" y="6558"/>
                  </a:cubicBezTo>
                  <a:cubicBezTo>
                    <a:pt x="9764" y="5487"/>
                    <a:pt x="10359" y="4058"/>
                    <a:pt x="10359" y="2558"/>
                  </a:cubicBezTo>
                  <a:cubicBezTo>
                    <a:pt x="10359" y="1677"/>
                    <a:pt x="10157" y="855"/>
                    <a:pt x="9799" y="93"/>
                  </a:cubicBezTo>
                  <a:cubicBezTo>
                    <a:pt x="9775" y="35"/>
                    <a:pt x="9721" y="0"/>
                    <a:pt x="9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Google Shape;11233;p67">
              <a:extLst>
                <a:ext uri="{FF2B5EF4-FFF2-40B4-BE49-F238E27FC236}">
                  <a16:creationId xmlns:a16="http://schemas.microsoft.com/office/drawing/2014/main" id="{8BFE3CDA-BB02-35E8-C2ED-DC151F3CECE4}"/>
                </a:ext>
              </a:extLst>
            </p:cNvPr>
            <p:cNvSpPr/>
            <p:nvPr/>
          </p:nvSpPr>
          <p:spPr>
            <a:xfrm>
              <a:off x="6216367" y="1970156"/>
              <a:ext cx="329701" cy="260731"/>
            </a:xfrm>
            <a:custGeom>
              <a:avLst/>
              <a:gdLst/>
              <a:ahLst/>
              <a:cxnLst/>
              <a:rect l="l" t="t" r="r" b="b"/>
              <a:pathLst>
                <a:path w="10359" h="8192" extrusionOk="0">
                  <a:moveTo>
                    <a:pt x="5668" y="0"/>
                  </a:moveTo>
                  <a:cubicBezTo>
                    <a:pt x="4156" y="0"/>
                    <a:pt x="2739" y="596"/>
                    <a:pt x="1667" y="1667"/>
                  </a:cubicBezTo>
                  <a:cubicBezTo>
                    <a:pt x="596" y="2739"/>
                    <a:pt x="0" y="4168"/>
                    <a:pt x="0" y="5680"/>
                  </a:cubicBezTo>
                  <a:cubicBezTo>
                    <a:pt x="0" y="6525"/>
                    <a:pt x="179" y="7346"/>
                    <a:pt x="548" y="8097"/>
                  </a:cubicBezTo>
                  <a:cubicBezTo>
                    <a:pt x="584" y="8156"/>
                    <a:pt x="643" y="8192"/>
                    <a:pt x="703" y="8192"/>
                  </a:cubicBezTo>
                  <a:cubicBezTo>
                    <a:pt x="727" y="8192"/>
                    <a:pt x="750" y="8192"/>
                    <a:pt x="774" y="8180"/>
                  </a:cubicBezTo>
                  <a:cubicBezTo>
                    <a:pt x="858" y="8132"/>
                    <a:pt x="893" y="8037"/>
                    <a:pt x="846" y="7954"/>
                  </a:cubicBezTo>
                  <a:cubicBezTo>
                    <a:pt x="512" y="7239"/>
                    <a:pt x="334" y="6465"/>
                    <a:pt x="334" y="5656"/>
                  </a:cubicBezTo>
                  <a:cubicBezTo>
                    <a:pt x="334" y="4227"/>
                    <a:pt x="881" y="2894"/>
                    <a:pt x="1893" y="1882"/>
                  </a:cubicBezTo>
                  <a:cubicBezTo>
                    <a:pt x="2905" y="869"/>
                    <a:pt x="4239" y="322"/>
                    <a:pt x="5668" y="322"/>
                  </a:cubicBezTo>
                  <a:cubicBezTo>
                    <a:pt x="7239" y="322"/>
                    <a:pt x="8704" y="989"/>
                    <a:pt x="9716" y="2179"/>
                  </a:cubicBezTo>
                  <a:lnTo>
                    <a:pt x="9061" y="1953"/>
                  </a:lnTo>
                  <a:cubicBezTo>
                    <a:pt x="9044" y="1948"/>
                    <a:pt x="9027" y="1946"/>
                    <a:pt x="9010" y="1946"/>
                  </a:cubicBezTo>
                  <a:cubicBezTo>
                    <a:pt x="8942" y="1946"/>
                    <a:pt x="8878" y="1984"/>
                    <a:pt x="8859" y="2060"/>
                  </a:cubicBezTo>
                  <a:cubicBezTo>
                    <a:pt x="8823" y="2143"/>
                    <a:pt x="8870" y="2239"/>
                    <a:pt x="8966" y="2263"/>
                  </a:cubicBezTo>
                  <a:lnTo>
                    <a:pt x="10133" y="2655"/>
                  </a:lnTo>
                  <a:cubicBezTo>
                    <a:pt x="10156" y="2655"/>
                    <a:pt x="10168" y="2667"/>
                    <a:pt x="10192" y="2667"/>
                  </a:cubicBezTo>
                  <a:cubicBezTo>
                    <a:pt x="10240" y="2667"/>
                    <a:pt x="10275" y="2655"/>
                    <a:pt x="10299" y="2620"/>
                  </a:cubicBezTo>
                  <a:cubicBezTo>
                    <a:pt x="10347" y="2596"/>
                    <a:pt x="10359" y="2536"/>
                    <a:pt x="10359" y="2477"/>
                  </a:cubicBezTo>
                  <a:lnTo>
                    <a:pt x="10168" y="1108"/>
                  </a:lnTo>
                  <a:cubicBezTo>
                    <a:pt x="10158" y="1027"/>
                    <a:pt x="10088" y="971"/>
                    <a:pt x="10016" y="971"/>
                  </a:cubicBezTo>
                  <a:cubicBezTo>
                    <a:pt x="10003" y="971"/>
                    <a:pt x="9990" y="973"/>
                    <a:pt x="9978" y="977"/>
                  </a:cubicBezTo>
                  <a:cubicBezTo>
                    <a:pt x="9882" y="989"/>
                    <a:pt x="9823" y="1072"/>
                    <a:pt x="9835" y="1167"/>
                  </a:cubicBezTo>
                  <a:lnTo>
                    <a:pt x="9942" y="1941"/>
                  </a:lnTo>
                  <a:cubicBezTo>
                    <a:pt x="8870" y="703"/>
                    <a:pt x="7323" y="0"/>
                    <a:pt x="56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Google Shape;11234;p67">
              <a:extLst>
                <a:ext uri="{FF2B5EF4-FFF2-40B4-BE49-F238E27FC236}">
                  <a16:creationId xmlns:a16="http://schemas.microsoft.com/office/drawing/2014/main" id="{9CB47886-AEE2-6FAD-A3FD-D7C1345FA082}"/>
                </a:ext>
              </a:extLst>
            </p:cNvPr>
            <p:cNvSpPr/>
            <p:nvPr/>
          </p:nvSpPr>
          <p:spPr>
            <a:xfrm>
              <a:off x="6351252" y="2064875"/>
              <a:ext cx="17855" cy="28072"/>
            </a:xfrm>
            <a:custGeom>
              <a:avLst/>
              <a:gdLst/>
              <a:ahLst/>
              <a:cxnLst/>
              <a:rect l="l" t="t" r="r" b="b"/>
              <a:pathLst>
                <a:path w="561" h="882" extrusionOk="0">
                  <a:moveTo>
                    <a:pt x="358" y="1"/>
                  </a:moveTo>
                  <a:cubicBezTo>
                    <a:pt x="275" y="1"/>
                    <a:pt x="203" y="84"/>
                    <a:pt x="203" y="168"/>
                  </a:cubicBezTo>
                  <a:lnTo>
                    <a:pt x="203" y="477"/>
                  </a:lnTo>
                  <a:lnTo>
                    <a:pt x="84" y="596"/>
                  </a:lnTo>
                  <a:cubicBezTo>
                    <a:pt x="25" y="656"/>
                    <a:pt x="1" y="763"/>
                    <a:pt x="84" y="834"/>
                  </a:cubicBezTo>
                  <a:cubicBezTo>
                    <a:pt x="108" y="870"/>
                    <a:pt x="156" y="882"/>
                    <a:pt x="203" y="882"/>
                  </a:cubicBezTo>
                  <a:cubicBezTo>
                    <a:pt x="239" y="882"/>
                    <a:pt x="287" y="870"/>
                    <a:pt x="322" y="834"/>
                  </a:cubicBezTo>
                  <a:lnTo>
                    <a:pt x="501" y="680"/>
                  </a:lnTo>
                  <a:cubicBezTo>
                    <a:pt x="525" y="644"/>
                    <a:pt x="561" y="596"/>
                    <a:pt x="537" y="560"/>
                  </a:cubicBezTo>
                  <a:lnTo>
                    <a:pt x="525" y="168"/>
                  </a:lnTo>
                  <a:cubicBezTo>
                    <a:pt x="525" y="84"/>
                    <a:pt x="453" y="1"/>
                    <a:pt x="3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Google Shape;11235;p67">
              <a:extLst>
                <a:ext uri="{FF2B5EF4-FFF2-40B4-BE49-F238E27FC236}">
                  <a16:creationId xmlns:a16="http://schemas.microsoft.com/office/drawing/2014/main" id="{8A78F905-0FD9-F781-AE06-AB7DEB04574F}"/>
                </a:ext>
              </a:extLst>
            </p:cNvPr>
            <p:cNvSpPr/>
            <p:nvPr/>
          </p:nvSpPr>
          <p:spPr>
            <a:xfrm>
              <a:off x="6260321" y="2016688"/>
              <a:ext cx="272857" cy="269929"/>
            </a:xfrm>
            <a:custGeom>
              <a:avLst/>
              <a:gdLst/>
              <a:ahLst/>
              <a:cxnLst/>
              <a:rect l="l" t="t" r="r" b="b"/>
              <a:pathLst>
                <a:path w="8573" h="8481" extrusionOk="0">
                  <a:moveTo>
                    <a:pt x="2822" y="3182"/>
                  </a:moveTo>
                  <a:lnTo>
                    <a:pt x="3037" y="3217"/>
                  </a:lnTo>
                  <a:lnTo>
                    <a:pt x="3144" y="3217"/>
                  </a:lnTo>
                  <a:lnTo>
                    <a:pt x="2965" y="3598"/>
                  </a:lnTo>
                  <a:lnTo>
                    <a:pt x="2679" y="3527"/>
                  </a:lnTo>
                  <a:lnTo>
                    <a:pt x="2822" y="3182"/>
                  </a:lnTo>
                  <a:close/>
                  <a:moveTo>
                    <a:pt x="3918" y="3110"/>
                  </a:moveTo>
                  <a:lnTo>
                    <a:pt x="4251" y="3515"/>
                  </a:lnTo>
                  <a:lnTo>
                    <a:pt x="4203" y="3634"/>
                  </a:lnTo>
                  <a:cubicBezTo>
                    <a:pt x="4168" y="3718"/>
                    <a:pt x="4215" y="3813"/>
                    <a:pt x="4310" y="3837"/>
                  </a:cubicBezTo>
                  <a:cubicBezTo>
                    <a:pt x="4322" y="3837"/>
                    <a:pt x="4334" y="3860"/>
                    <a:pt x="4370" y="3860"/>
                  </a:cubicBezTo>
                  <a:cubicBezTo>
                    <a:pt x="4441" y="3860"/>
                    <a:pt x="4501" y="3813"/>
                    <a:pt x="4525" y="3741"/>
                  </a:cubicBezTo>
                  <a:lnTo>
                    <a:pt x="4572" y="3622"/>
                  </a:lnTo>
                  <a:cubicBezTo>
                    <a:pt x="4608" y="3515"/>
                    <a:pt x="4584" y="3408"/>
                    <a:pt x="4513" y="3325"/>
                  </a:cubicBezTo>
                  <a:lnTo>
                    <a:pt x="4430" y="3217"/>
                  </a:lnTo>
                  <a:lnTo>
                    <a:pt x="4727" y="3444"/>
                  </a:lnTo>
                  <a:cubicBezTo>
                    <a:pt x="4749" y="3458"/>
                    <a:pt x="4780" y="3469"/>
                    <a:pt x="4815" y="3469"/>
                  </a:cubicBezTo>
                  <a:cubicBezTo>
                    <a:pt x="4836" y="3469"/>
                    <a:pt x="4859" y="3465"/>
                    <a:pt x="4882" y="3456"/>
                  </a:cubicBezTo>
                  <a:lnTo>
                    <a:pt x="5096" y="3360"/>
                  </a:lnTo>
                  <a:lnTo>
                    <a:pt x="5227" y="3515"/>
                  </a:lnTo>
                  <a:cubicBezTo>
                    <a:pt x="5263" y="3563"/>
                    <a:pt x="5323" y="3575"/>
                    <a:pt x="5358" y="3575"/>
                  </a:cubicBezTo>
                  <a:lnTo>
                    <a:pt x="5775" y="3539"/>
                  </a:lnTo>
                  <a:lnTo>
                    <a:pt x="5799" y="3622"/>
                  </a:lnTo>
                  <a:cubicBezTo>
                    <a:pt x="5811" y="3658"/>
                    <a:pt x="5775" y="3694"/>
                    <a:pt x="5775" y="3706"/>
                  </a:cubicBezTo>
                  <a:cubicBezTo>
                    <a:pt x="5763" y="3718"/>
                    <a:pt x="5739" y="3753"/>
                    <a:pt x="5692" y="3753"/>
                  </a:cubicBezTo>
                  <a:lnTo>
                    <a:pt x="4977" y="3813"/>
                  </a:lnTo>
                  <a:cubicBezTo>
                    <a:pt x="4882" y="3813"/>
                    <a:pt x="4811" y="3872"/>
                    <a:pt x="4751" y="3944"/>
                  </a:cubicBezTo>
                  <a:cubicBezTo>
                    <a:pt x="4727" y="4003"/>
                    <a:pt x="4691" y="4063"/>
                    <a:pt x="4703" y="4122"/>
                  </a:cubicBezTo>
                  <a:lnTo>
                    <a:pt x="4227" y="3956"/>
                  </a:lnTo>
                  <a:cubicBezTo>
                    <a:pt x="4215" y="3956"/>
                    <a:pt x="4215" y="3944"/>
                    <a:pt x="4203" y="3932"/>
                  </a:cubicBezTo>
                  <a:cubicBezTo>
                    <a:pt x="4168" y="3753"/>
                    <a:pt x="4025" y="3610"/>
                    <a:pt x="3846" y="3610"/>
                  </a:cubicBezTo>
                  <a:lnTo>
                    <a:pt x="3834" y="3610"/>
                  </a:lnTo>
                  <a:lnTo>
                    <a:pt x="3322" y="3634"/>
                  </a:lnTo>
                  <a:lnTo>
                    <a:pt x="3477" y="3289"/>
                  </a:lnTo>
                  <a:cubicBezTo>
                    <a:pt x="3489" y="3265"/>
                    <a:pt x="3513" y="3229"/>
                    <a:pt x="3548" y="3229"/>
                  </a:cubicBezTo>
                  <a:lnTo>
                    <a:pt x="3918" y="3110"/>
                  </a:lnTo>
                  <a:close/>
                  <a:moveTo>
                    <a:pt x="7775" y="3646"/>
                  </a:moveTo>
                  <a:cubicBezTo>
                    <a:pt x="7787" y="3646"/>
                    <a:pt x="7835" y="3646"/>
                    <a:pt x="7859" y="3682"/>
                  </a:cubicBezTo>
                  <a:lnTo>
                    <a:pt x="8204" y="4003"/>
                  </a:lnTo>
                  <a:lnTo>
                    <a:pt x="8204" y="4349"/>
                  </a:lnTo>
                  <a:cubicBezTo>
                    <a:pt x="8156" y="5325"/>
                    <a:pt x="7763" y="6254"/>
                    <a:pt x="7061" y="6956"/>
                  </a:cubicBezTo>
                  <a:cubicBezTo>
                    <a:pt x="6954" y="7051"/>
                    <a:pt x="6835" y="7158"/>
                    <a:pt x="6716" y="7254"/>
                  </a:cubicBezTo>
                  <a:cubicBezTo>
                    <a:pt x="6775" y="7158"/>
                    <a:pt x="6835" y="7075"/>
                    <a:pt x="6870" y="6968"/>
                  </a:cubicBezTo>
                  <a:lnTo>
                    <a:pt x="7620" y="5194"/>
                  </a:lnTo>
                  <a:cubicBezTo>
                    <a:pt x="7656" y="5134"/>
                    <a:pt x="7644" y="5075"/>
                    <a:pt x="7609" y="5027"/>
                  </a:cubicBezTo>
                  <a:cubicBezTo>
                    <a:pt x="7585" y="4992"/>
                    <a:pt x="7525" y="4956"/>
                    <a:pt x="7466" y="4956"/>
                  </a:cubicBezTo>
                  <a:lnTo>
                    <a:pt x="7382" y="4956"/>
                  </a:lnTo>
                  <a:lnTo>
                    <a:pt x="7799" y="4134"/>
                  </a:lnTo>
                  <a:cubicBezTo>
                    <a:pt x="7882" y="4003"/>
                    <a:pt x="7835" y="3837"/>
                    <a:pt x="7704" y="3753"/>
                  </a:cubicBezTo>
                  <a:lnTo>
                    <a:pt x="7668" y="3718"/>
                  </a:lnTo>
                  <a:lnTo>
                    <a:pt x="7680" y="3706"/>
                  </a:lnTo>
                  <a:cubicBezTo>
                    <a:pt x="7716" y="3658"/>
                    <a:pt x="7739" y="3658"/>
                    <a:pt x="7775" y="3646"/>
                  </a:cubicBezTo>
                  <a:close/>
                  <a:moveTo>
                    <a:pt x="4257" y="0"/>
                  </a:moveTo>
                  <a:cubicBezTo>
                    <a:pt x="4208" y="0"/>
                    <a:pt x="4158" y="1"/>
                    <a:pt x="4108" y="3"/>
                  </a:cubicBezTo>
                  <a:cubicBezTo>
                    <a:pt x="3037" y="50"/>
                    <a:pt x="2048" y="491"/>
                    <a:pt x="1286" y="1241"/>
                  </a:cubicBezTo>
                  <a:cubicBezTo>
                    <a:pt x="524" y="1991"/>
                    <a:pt x="96" y="2991"/>
                    <a:pt x="48" y="4063"/>
                  </a:cubicBezTo>
                  <a:cubicBezTo>
                    <a:pt x="0" y="5122"/>
                    <a:pt x="358" y="6158"/>
                    <a:pt x="1048" y="6968"/>
                  </a:cubicBezTo>
                  <a:cubicBezTo>
                    <a:pt x="1072" y="7016"/>
                    <a:pt x="1120" y="7027"/>
                    <a:pt x="1179" y="7027"/>
                  </a:cubicBezTo>
                  <a:cubicBezTo>
                    <a:pt x="1227" y="7027"/>
                    <a:pt x="1251" y="7016"/>
                    <a:pt x="1286" y="6980"/>
                  </a:cubicBezTo>
                  <a:cubicBezTo>
                    <a:pt x="1358" y="6920"/>
                    <a:pt x="1358" y="6813"/>
                    <a:pt x="1298" y="6742"/>
                  </a:cubicBezTo>
                  <a:cubicBezTo>
                    <a:pt x="679" y="6004"/>
                    <a:pt x="346" y="5051"/>
                    <a:pt x="393" y="4063"/>
                  </a:cubicBezTo>
                  <a:cubicBezTo>
                    <a:pt x="441" y="3087"/>
                    <a:pt x="834" y="2158"/>
                    <a:pt x="1536" y="1455"/>
                  </a:cubicBezTo>
                  <a:cubicBezTo>
                    <a:pt x="2239" y="765"/>
                    <a:pt x="3156" y="360"/>
                    <a:pt x="4144" y="312"/>
                  </a:cubicBezTo>
                  <a:cubicBezTo>
                    <a:pt x="4200" y="309"/>
                    <a:pt x="4256" y="308"/>
                    <a:pt x="4312" y="308"/>
                  </a:cubicBezTo>
                  <a:cubicBezTo>
                    <a:pt x="4478" y="308"/>
                    <a:pt x="4641" y="321"/>
                    <a:pt x="4811" y="348"/>
                  </a:cubicBezTo>
                  <a:lnTo>
                    <a:pt x="5037" y="622"/>
                  </a:lnTo>
                  <a:lnTo>
                    <a:pt x="4942" y="848"/>
                  </a:lnTo>
                  <a:lnTo>
                    <a:pt x="4811" y="610"/>
                  </a:lnTo>
                  <a:cubicBezTo>
                    <a:pt x="4787" y="550"/>
                    <a:pt x="4727" y="527"/>
                    <a:pt x="4668" y="527"/>
                  </a:cubicBezTo>
                  <a:lnTo>
                    <a:pt x="4132" y="527"/>
                  </a:lnTo>
                  <a:cubicBezTo>
                    <a:pt x="4072" y="527"/>
                    <a:pt x="4013" y="550"/>
                    <a:pt x="3977" y="610"/>
                  </a:cubicBezTo>
                  <a:lnTo>
                    <a:pt x="3608" y="1324"/>
                  </a:lnTo>
                  <a:cubicBezTo>
                    <a:pt x="3560" y="1432"/>
                    <a:pt x="3560" y="1539"/>
                    <a:pt x="3608" y="1634"/>
                  </a:cubicBezTo>
                  <a:cubicBezTo>
                    <a:pt x="3668" y="1729"/>
                    <a:pt x="3751" y="1801"/>
                    <a:pt x="3858" y="1801"/>
                  </a:cubicBezTo>
                  <a:lnTo>
                    <a:pt x="4156" y="1836"/>
                  </a:lnTo>
                  <a:cubicBezTo>
                    <a:pt x="4215" y="1836"/>
                    <a:pt x="4275" y="1813"/>
                    <a:pt x="4310" y="1753"/>
                  </a:cubicBezTo>
                  <a:lnTo>
                    <a:pt x="4430" y="1598"/>
                  </a:lnTo>
                  <a:lnTo>
                    <a:pt x="4489" y="1670"/>
                  </a:lnTo>
                  <a:lnTo>
                    <a:pt x="4441" y="1955"/>
                  </a:lnTo>
                  <a:lnTo>
                    <a:pt x="3929" y="2027"/>
                  </a:lnTo>
                  <a:cubicBezTo>
                    <a:pt x="3906" y="2027"/>
                    <a:pt x="3894" y="2039"/>
                    <a:pt x="3858" y="2051"/>
                  </a:cubicBezTo>
                  <a:lnTo>
                    <a:pt x="3203" y="2527"/>
                  </a:lnTo>
                  <a:cubicBezTo>
                    <a:pt x="3179" y="2563"/>
                    <a:pt x="3144" y="2586"/>
                    <a:pt x="3144" y="2622"/>
                  </a:cubicBezTo>
                  <a:lnTo>
                    <a:pt x="3072" y="2920"/>
                  </a:lnTo>
                  <a:lnTo>
                    <a:pt x="2846" y="2884"/>
                  </a:lnTo>
                  <a:cubicBezTo>
                    <a:pt x="2836" y="2883"/>
                    <a:pt x="2826" y="2883"/>
                    <a:pt x="2816" y="2883"/>
                  </a:cubicBezTo>
                  <a:cubicBezTo>
                    <a:pt x="2686" y="2883"/>
                    <a:pt x="2580" y="2954"/>
                    <a:pt x="2525" y="3087"/>
                  </a:cubicBezTo>
                  <a:lnTo>
                    <a:pt x="2382" y="3456"/>
                  </a:lnTo>
                  <a:cubicBezTo>
                    <a:pt x="2358" y="3527"/>
                    <a:pt x="2358" y="3622"/>
                    <a:pt x="2405" y="3694"/>
                  </a:cubicBezTo>
                  <a:cubicBezTo>
                    <a:pt x="2441" y="3765"/>
                    <a:pt x="2501" y="3825"/>
                    <a:pt x="2596" y="3860"/>
                  </a:cubicBezTo>
                  <a:cubicBezTo>
                    <a:pt x="2441" y="3932"/>
                    <a:pt x="2322" y="4075"/>
                    <a:pt x="2322" y="4241"/>
                  </a:cubicBezTo>
                  <a:lnTo>
                    <a:pt x="2322" y="4313"/>
                  </a:lnTo>
                  <a:lnTo>
                    <a:pt x="1870" y="4849"/>
                  </a:lnTo>
                  <a:cubicBezTo>
                    <a:pt x="1786" y="4932"/>
                    <a:pt x="1763" y="5051"/>
                    <a:pt x="1763" y="5146"/>
                  </a:cubicBezTo>
                  <a:lnTo>
                    <a:pt x="1763" y="5777"/>
                  </a:lnTo>
                  <a:cubicBezTo>
                    <a:pt x="1763" y="5944"/>
                    <a:pt x="1822" y="6087"/>
                    <a:pt x="1941" y="6194"/>
                  </a:cubicBezTo>
                  <a:lnTo>
                    <a:pt x="2382" y="6623"/>
                  </a:lnTo>
                  <a:cubicBezTo>
                    <a:pt x="2489" y="6718"/>
                    <a:pt x="2608" y="6777"/>
                    <a:pt x="2739" y="6789"/>
                  </a:cubicBezTo>
                  <a:lnTo>
                    <a:pt x="4049" y="6908"/>
                  </a:lnTo>
                  <a:lnTo>
                    <a:pt x="4049" y="6956"/>
                  </a:lnTo>
                  <a:cubicBezTo>
                    <a:pt x="4037" y="7111"/>
                    <a:pt x="4096" y="7266"/>
                    <a:pt x="4227" y="7373"/>
                  </a:cubicBezTo>
                  <a:lnTo>
                    <a:pt x="4465" y="7551"/>
                  </a:lnTo>
                  <a:lnTo>
                    <a:pt x="4453" y="7587"/>
                  </a:lnTo>
                  <a:cubicBezTo>
                    <a:pt x="4394" y="7766"/>
                    <a:pt x="4453" y="7944"/>
                    <a:pt x="4584" y="8063"/>
                  </a:cubicBezTo>
                  <a:lnTo>
                    <a:pt x="4668" y="8123"/>
                  </a:lnTo>
                  <a:cubicBezTo>
                    <a:pt x="4608" y="8123"/>
                    <a:pt x="4561" y="8147"/>
                    <a:pt x="4501" y="8147"/>
                  </a:cubicBezTo>
                  <a:cubicBezTo>
                    <a:pt x="4451" y="8148"/>
                    <a:pt x="4402" y="8149"/>
                    <a:pt x="4353" y="8149"/>
                  </a:cubicBezTo>
                  <a:cubicBezTo>
                    <a:pt x="3418" y="8149"/>
                    <a:pt x="2523" y="7829"/>
                    <a:pt x="1822" y="7230"/>
                  </a:cubicBezTo>
                  <a:cubicBezTo>
                    <a:pt x="1793" y="7206"/>
                    <a:pt x="1759" y="7195"/>
                    <a:pt x="1724" y="7195"/>
                  </a:cubicBezTo>
                  <a:cubicBezTo>
                    <a:pt x="1672" y="7195"/>
                    <a:pt x="1619" y="7218"/>
                    <a:pt x="1584" y="7254"/>
                  </a:cubicBezTo>
                  <a:cubicBezTo>
                    <a:pt x="1524" y="7325"/>
                    <a:pt x="1536" y="7432"/>
                    <a:pt x="1596" y="7492"/>
                  </a:cubicBezTo>
                  <a:cubicBezTo>
                    <a:pt x="2358" y="8123"/>
                    <a:pt x="3322" y="8480"/>
                    <a:pt x="4322" y="8480"/>
                  </a:cubicBezTo>
                  <a:lnTo>
                    <a:pt x="4501" y="8480"/>
                  </a:lnTo>
                  <a:cubicBezTo>
                    <a:pt x="5573" y="8444"/>
                    <a:pt x="6573" y="7992"/>
                    <a:pt x="7323" y="7254"/>
                  </a:cubicBezTo>
                  <a:cubicBezTo>
                    <a:pt x="8085" y="6492"/>
                    <a:pt x="8513" y="5492"/>
                    <a:pt x="8561" y="4420"/>
                  </a:cubicBezTo>
                  <a:cubicBezTo>
                    <a:pt x="8573" y="3289"/>
                    <a:pt x="8216" y="2265"/>
                    <a:pt x="7537" y="1455"/>
                  </a:cubicBezTo>
                  <a:cubicBezTo>
                    <a:pt x="7506" y="1418"/>
                    <a:pt x="7462" y="1400"/>
                    <a:pt x="7417" y="1400"/>
                  </a:cubicBezTo>
                  <a:cubicBezTo>
                    <a:pt x="7375" y="1400"/>
                    <a:pt x="7333" y="1415"/>
                    <a:pt x="7299" y="1443"/>
                  </a:cubicBezTo>
                  <a:cubicBezTo>
                    <a:pt x="7228" y="1503"/>
                    <a:pt x="7228" y="1610"/>
                    <a:pt x="7287" y="1682"/>
                  </a:cubicBezTo>
                  <a:cubicBezTo>
                    <a:pt x="7728" y="2217"/>
                    <a:pt x="8025" y="2860"/>
                    <a:pt x="8144" y="3539"/>
                  </a:cubicBezTo>
                  <a:lnTo>
                    <a:pt x="8097" y="3503"/>
                  </a:lnTo>
                  <a:cubicBezTo>
                    <a:pt x="8018" y="3424"/>
                    <a:pt x="7923" y="3378"/>
                    <a:pt x="7804" y="3378"/>
                  </a:cubicBezTo>
                  <a:cubicBezTo>
                    <a:pt x="7780" y="3378"/>
                    <a:pt x="7754" y="3380"/>
                    <a:pt x="7728" y="3384"/>
                  </a:cubicBezTo>
                  <a:cubicBezTo>
                    <a:pt x="7597" y="3396"/>
                    <a:pt x="7478" y="3468"/>
                    <a:pt x="7406" y="3587"/>
                  </a:cubicBezTo>
                  <a:lnTo>
                    <a:pt x="7370" y="3634"/>
                  </a:lnTo>
                  <a:cubicBezTo>
                    <a:pt x="7299" y="3634"/>
                    <a:pt x="7228" y="3658"/>
                    <a:pt x="7168" y="3718"/>
                  </a:cubicBezTo>
                  <a:lnTo>
                    <a:pt x="6942" y="3468"/>
                  </a:lnTo>
                  <a:cubicBezTo>
                    <a:pt x="6911" y="3430"/>
                    <a:pt x="6866" y="3412"/>
                    <a:pt x="6821" y="3412"/>
                  </a:cubicBezTo>
                  <a:cubicBezTo>
                    <a:pt x="6780" y="3412"/>
                    <a:pt x="6738" y="3427"/>
                    <a:pt x="6704" y="3456"/>
                  </a:cubicBezTo>
                  <a:cubicBezTo>
                    <a:pt x="6632" y="3515"/>
                    <a:pt x="6632" y="3622"/>
                    <a:pt x="6692" y="3694"/>
                  </a:cubicBezTo>
                  <a:lnTo>
                    <a:pt x="7013" y="4099"/>
                  </a:lnTo>
                  <a:cubicBezTo>
                    <a:pt x="7049" y="4122"/>
                    <a:pt x="7085" y="4146"/>
                    <a:pt x="7132" y="4146"/>
                  </a:cubicBezTo>
                  <a:cubicBezTo>
                    <a:pt x="7180" y="4146"/>
                    <a:pt x="7228" y="4134"/>
                    <a:pt x="7251" y="4110"/>
                  </a:cubicBezTo>
                  <a:lnTo>
                    <a:pt x="7358" y="4003"/>
                  </a:lnTo>
                  <a:lnTo>
                    <a:pt x="7489" y="4099"/>
                  </a:lnTo>
                  <a:lnTo>
                    <a:pt x="7001" y="5075"/>
                  </a:lnTo>
                  <a:lnTo>
                    <a:pt x="6966" y="5075"/>
                  </a:lnTo>
                  <a:cubicBezTo>
                    <a:pt x="6930" y="5075"/>
                    <a:pt x="6894" y="5063"/>
                    <a:pt x="6870" y="5027"/>
                  </a:cubicBezTo>
                  <a:lnTo>
                    <a:pt x="6215" y="4230"/>
                  </a:lnTo>
                  <a:cubicBezTo>
                    <a:pt x="6181" y="4188"/>
                    <a:pt x="6129" y="4170"/>
                    <a:pt x="6079" y="4170"/>
                  </a:cubicBezTo>
                  <a:cubicBezTo>
                    <a:pt x="6043" y="4170"/>
                    <a:pt x="6007" y="4179"/>
                    <a:pt x="5977" y="4194"/>
                  </a:cubicBezTo>
                  <a:cubicBezTo>
                    <a:pt x="5894" y="4253"/>
                    <a:pt x="5894" y="4360"/>
                    <a:pt x="5942" y="4432"/>
                  </a:cubicBezTo>
                  <a:lnTo>
                    <a:pt x="6596" y="5242"/>
                  </a:lnTo>
                  <a:cubicBezTo>
                    <a:pt x="6684" y="5351"/>
                    <a:pt x="6811" y="5410"/>
                    <a:pt x="6932" y="5410"/>
                  </a:cubicBezTo>
                  <a:cubicBezTo>
                    <a:pt x="6944" y="5410"/>
                    <a:pt x="6955" y="5409"/>
                    <a:pt x="6966" y="5408"/>
                  </a:cubicBezTo>
                  <a:lnTo>
                    <a:pt x="7180" y="5384"/>
                  </a:lnTo>
                  <a:lnTo>
                    <a:pt x="6525" y="6908"/>
                  </a:lnTo>
                  <a:cubicBezTo>
                    <a:pt x="6477" y="7016"/>
                    <a:pt x="6418" y="7111"/>
                    <a:pt x="6335" y="7206"/>
                  </a:cubicBezTo>
                  <a:lnTo>
                    <a:pt x="5811" y="7825"/>
                  </a:lnTo>
                  <a:cubicBezTo>
                    <a:pt x="5537" y="7944"/>
                    <a:pt x="5275" y="8028"/>
                    <a:pt x="4989" y="8087"/>
                  </a:cubicBezTo>
                  <a:lnTo>
                    <a:pt x="4703" y="7825"/>
                  </a:lnTo>
                  <a:cubicBezTo>
                    <a:pt x="4680" y="7801"/>
                    <a:pt x="4668" y="7754"/>
                    <a:pt x="4680" y="7706"/>
                  </a:cubicBezTo>
                  <a:lnTo>
                    <a:pt x="4727" y="7551"/>
                  </a:lnTo>
                  <a:cubicBezTo>
                    <a:pt x="4739" y="7468"/>
                    <a:pt x="4727" y="7408"/>
                    <a:pt x="4668" y="7373"/>
                  </a:cubicBezTo>
                  <a:lnTo>
                    <a:pt x="4334" y="7123"/>
                  </a:lnTo>
                  <a:cubicBezTo>
                    <a:pt x="4310" y="7099"/>
                    <a:pt x="4287" y="7075"/>
                    <a:pt x="4287" y="7027"/>
                  </a:cubicBezTo>
                  <a:lnTo>
                    <a:pt x="4322" y="6813"/>
                  </a:lnTo>
                  <a:cubicBezTo>
                    <a:pt x="4322" y="6777"/>
                    <a:pt x="4322" y="6730"/>
                    <a:pt x="4287" y="6694"/>
                  </a:cubicBezTo>
                  <a:cubicBezTo>
                    <a:pt x="4263" y="6670"/>
                    <a:pt x="4215" y="6635"/>
                    <a:pt x="4168" y="6635"/>
                  </a:cubicBezTo>
                  <a:lnTo>
                    <a:pt x="2679" y="6504"/>
                  </a:lnTo>
                  <a:cubicBezTo>
                    <a:pt x="2620" y="6504"/>
                    <a:pt x="2560" y="6480"/>
                    <a:pt x="2536" y="6432"/>
                  </a:cubicBezTo>
                  <a:lnTo>
                    <a:pt x="2084" y="6004"/>
                  </a:lnTo>
                  <a:cubicBezTo>
                    <a:pt x="2048" y="5956"/>
                    <a:pt x="2013" y="5884"/>
                    <a:pt x="2013" y="5825"/>
                  </a:cubicBezTo>
                  <a:lnTo>
                    <a:pt x="2013" y="5194"/>
                  </a:lnTo>
                  <a:cubicBezTo>
                    <a:pt x="2013" y="5170"/>
                    <a:pt x="2024" y="5134"/>
                    <a:pt x="2048" y="5122"/>
                  </a:cubicBezTo>
                  <a:lnTo>
                    <a:pt x="2548" y="4539"/>
                  </a:lnTo>
                  <a:cubicBezTo>
                    <a:pt x="2584" y="4515"/>
                    <a:pt x="2596" y="4480"/>
                    <a:pt x="2596" y="4432"/>
                  </a:cubicBezTo>
                  <a:lnTo>
                    <a:pt x="2596" y="4301"/>
                  </a:lnTo>
                  <a:cubicBezTo>
                    <a:pt x="2596" y="4253"/>
                    <a:pt x="2620" y="4218"/>
                    <a:pt x="2667" y="4194"/>
                  </a:cubicBezTo>
                  <a:lnTo>
                    <a:pt x="3072" y="4015"/>
                  </a:lnTo>
                  <a:lnTo>
                    <a:pt x="3810" y="4003"/>
                  </a:lnTo>
                  <a:cubicBezTo>
                    <a:pt x="3834" y="4003"/>
                    <a:pt x="3846" y="4015"/>
                    <a:pt x="3846" y="4039"/>
                  </a:cubicBezTo>
                  <a:cubicBezTo>
                    <a:pt x="3858" y="4170"/>
                    <a:pt x="3965" y="4289"/>
                    <a:pt x="4096" y="4313"/>
                  </a:cubicBezTo>
                  <a:lnTo>
                    <a:pt x="4632" y="4491"/>
                  </a:lnTo>
                  <a:cubicBezTo>
                    <a:pt x="4668" y="4503"/>
                    <a:pt x="4705" y="4510"/>
                    <a:pt x="4741" y="4510"/>
                  </a:cubicBezTo>
                  <a:cubicBezTo>
                    <a:pt x="4813" y="4510"/>
                    <a:pt x="4882" y="4484"/>
                    <a:pt x="4930" y="4420"/>
                  </a:cubicBezTo>
                  <a:cubicBezTo>
                    <a:pt x="5001" y="4360"/>
                    <a:pt x="5037" y="4253"/>
                    <a:pt x="5025" y="4170"/>
                  </a:cubicBezTo>
                  <a:lnTo>
                    <a:pt x="5692" y="4110"/>
                  </a:lnTo>
                  <a:cubicBezTo>
                    <a:pt x="5823" y="4099"/>
                    <a:pt x="5930" y="4039"/>
                    <a:pt x="6013" y="3932"/>
                  </a:cubicBezTo>
                  <a:cubicBezTo>
                    <a:pt x="6096" y="3825"/>
                    <a:pt x="6120" y="3694"/>
                    <a:pt x="6096" y="3575"/>
                  </a:cubicBezTo>
                  <a:lnTo>
                    <a:pt x="6073" y="3479"/>
                  </a:lnTo>
                  <a:cubicBezTo>
                    <a:pt x="6050" y="3344"/>
                    <a:pt x="5931" y="3240"/>
                    <a:pt x="5776" y="3240"/>
                  </a:cubicBezTo>
                  <a:cubicBezTo>
                    <a:pt x="5768" y="3240"/>
                    <a:pt x="5760" y="3241"/>
                    <a:pt x="5751" y="3241"/>
                  </a:cubicBezTo>
                  <a:lnTo>
                    <a:pt x="5406" y="3277"/>
                  </a:lnTo>
                  <a:lnTo>
                    <a:pt x="5346" y="3217"/>
                  </a:lnTo>
                  <a:lnTo>
                    <a:pt x="5811" y="2753"/>
                  </a:lnTo>
                  <a:cubicBezTo>
                    <a:pt x="5870" y="2694"/>
                    <a:pt x="5870" y="2586"/>
                    <a:pt x="5811" y="2515"/>
                  </a:cubicBezTo>
                  <a:cubicBezTo>
                    <a:pt x="5781" y="2485"/>
                    <a:pt x="5739" y="2470"/>
                    <a:pt x="5696" y="2470"/>
                  </a:cubicBezTo>
                  <a:cubicBezTo>
                    <a:pt x="5653" y="2470"/>
                    <a:pt x="5608" y="2485"/>
                    <a:pt x="5573" y="2515"/>
                  </a:cubicBezTo>
                  <a:lnTo>
                    <a:pt x="5001" y="3063"/>
                  </a:lnTo>
                  <a:lnTo>
                    <a:pt x="4811" y="3146"/>
                  </a:lnTo>
                  <a:lnTo>
                    <a:pt x="4287" y="2741"/>
                  </a:lnTo>
                  <a:cubicBezTo>
                    <a:pt x="4260" y="2714"/>
                    <a:pt x="4220" y="2701"/>
                    <a:pt x="4181" y="2701"/>
                  </a:cubicBezTo>
                  <a:cubicBezTo>
                    <a:pt x="4168" y="2701"/>
                    <a:pt x="4156" y="2703"/>
                    <a:pt x="4144" y="2706"/>
                  </a:cubicBezTo>
                  <a:lnTo>
                    <a:pt x="3418" y="2944"/>
                  </a:lnTo>
                  <a:cubicBezTo>
                    <a:pt x="3394" y="2944"/>
                    <a:pt x="3370" y="2967"/>
                    <a:pt x="3358" y="2979"/>
                  </a:cubicBezTo>
                  <a:lnTo>
                    <a:pt x="3394" y="2753"/>
                  </a:lnTo>
                  <a:lnTo>
                    <a:pt x="3977" y="2336"/>
                  </a:lnTo>
                  <a:lnTo>
                    <a:pt x="4572" y="2253"/>
                  </a:lnTo>
                  <a:cubicBezTo>
                    <a:pt x="4644" y="2229"/>
                    <a:pt x="4703" y="2170"/>
                    <a:pt x="4703" y="2110"/>
                  </a:cubicBezTo>
                  <a:lnTo>
                    <a:pt x="4787" y="1634"/>
                  </a:lnTo>
                  <a:cubicBezTo>
                    <a:pt x="4787" y="1598"/>
                    <a:pt x="4787" y="1551"/>
                    <a:pt x="4751" y="1515"/>
                  </a:cubicBezTo>
                  <a:lnTo>
                    <a:pt x="4513" y="1205"/>
                  </a:lnTo>
                  <a:cubicBezTo>
                    <a:pt x="4489" y="1158"/>
                    <a:pt x="4430" y="1146"/>
                    <a:pt x="4382" y="1146"/>
                  </a:cubicBezTo>
                  <a:cubicBezTo>
                    <a:pt x="4322" y="1146"/>
                    <a:pt x="4275" y="1182"/>
                    <a:pt x="4251" y="1217"/>
                  </a:cubicBezTo>
                  <a:lnTo>
                    <a:pt x="4072" y="1491"/>
                  </a:lnTo>
                  <a:lnTo>
                    <a:pt x="3870" y="1479"/>
                  </a:lnTo>
                  <a:lnTo>
                    <a:pt x="4203" y="860"/>
                  </a:lnTo>
                  <a:lnTo>
                    <a:pt x="4525" y="860"/>
                  </a:lnTo>
                  <a:lnTo>
                    <a:pt x="4787" y="1324"/>
                  </a:lnTo>
                  <a:cubicBezTo>
                    <a:pt x="4811" y="1384"/>
                    <a:pt x="4870" y="1420"/>
                    <a:pt x="4930" y="1420"/>
                  </a:cubicBezTo>
                  <a:cubicBezTo>
                    <a:pt x="4989" y="1420"/>
                    <a:pt x="5049" y="1372"/>
                    <a:pt x="5084" y="1312"/>
                  </a:cubicBezTo>
                  <a:lnTo>
                    <a:pt x="5323" y="765"/>
                  </a:lnTo>
                  <a:cubicBezTo>
                    <a:pt x="5358" y="658"/>
                    <a:pt x="5346" y="550"/>
                    <a:pt x="5287" y="467"/>
                  </a:cubicBezTo>
                  <a:lnTo>
                    <a:pt x="5287" y="467"/>
                  </a:lnTo>
                  <a:cubicBezTo>
                    <a:pt x="5834" y="610"/>
                    <a:pt x="6346" y="884"/>
                    <a:pt x="6787" y="1253"/>
                  </a:cubicBezTo>
                  <a:cubicBezTo>
                    <a:pt x="6825" y="1280"/>
                    <a:pt x="6864" y="1292"/>
                    <a:pt x="6903" y="1292"/>
                  </a:cubicBezTo>
                  <a:cubicBezTo>
                    <a:pt x="6949" y="1292"/>
                    <a:pt x="6992" y="1274"/>
                    <a:pt x="7025" y="1241"/>
                  </a:cubicBezTo>
                  <a:cubicBezTo>
                    <a:pt x="7085" y="1158"/>
                    <a:pt x="7073" y="1062"/>
                    <a:pt x="7013" y="1003"/>
                  </a:cubicBezTo>
                  <a:cubicBezTo>
                    <a:pt x="6253" y="345"/>
                    <a:pt x="5266" y="0"/>
                    <a:pt x="42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2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8" name="TextBox 4">
            <a:extLst>
              <a:ext uri="{FF2B5EF4-FFF2-40B4-BE49-F238E27FC236}">
                <a16:creationId xmlns:a16="http://schemas.microsoft.com/office/drawing/2014/main" id="{BA46A0D1-B65F-E168-A4A9-2EC9035CDCBA}"/>
              </a:ext>
            </a:extLst>
          </p:cNvPr>
          <p:cNvSpPr txBox="1"/>
          <p:nvPr/>
        </p:nvSpPr>
        <p:spPr>
          <a:xfrm>
            <a:off x="3203006" y="3947157"/>
            <a:ext cx="3299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BR" sz="12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Implementar a melhoria contínua</a:t>
            </a:r>
          </a:p>
        </p:txBody>
      </p:sp>
      <p:sp>
        <p:nvSpPr>
          <p:cNvPr id="100" name="TextBox 5">
            <a:extLst>
              <a:ext uri="{FF2B5EF4-FFF2-40B4-BE49-F238E27FC236}">
                <a16:creationId xmlns:a16="http://schemas.microsoft.com/office/drawing/2014/main" id="{31E422F8-A5D8-76F3-8DDB-16D0BB8F7932}"/>
              </a:ext>
            </a:extLst>
          </p:cNvPr>
          <p:cNvSpPr txBox="1"/>
          <p:nvPr/>
        </p:nvSpPr>
        <p:spPr>
          <a:xfrm>
            <a:off x="471660" y="4215471"/>
            <a:ext cx="269334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914217"/>
            <a:r>
              <a:rPr lang="pt-BR" b="1">
                <a:solidFill>
                  <a:srgbClr val="000000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Ferramentas Utilizadas</a:t>
            </a:r>
          </a:p>
        </p:txBody>
      </p:sp>
      <p:sp>
        <p:nvSpPr>
          <p:cNvPr id="101" name="TextBox 4">
            <a:extLst>
              <a:ext uri="{FF2B5EF4-FFF2-40B4-BE49-F238E27FC236}">
                <a16:creationId xmlns:a16="http://schemas.microsoft.com/office/drawing/2014/main" id="{018F257D-DC8A-46EC-84B4-35AC0B6222B9}"/>
              </a:ext>
            </a:extLst>
          </p:cNvPr>
          <p:cNvSpPr txBox="1"/>
          <p:nvPr/>
        </p:nvSpPr>
        <p:spPr>
          <a:xfrm>
            <a:off x="6586619" y="934294"/>
            <a:ext cx="2705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17"/>
            <a:r>
              <a:rPr lang="pt-BR" b="1">
                <a:solidFill>
                  <a:srgbClr val="000000"/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Resultados Alcançados: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8B9BEE95-CE49-6F0A-98C7-96524332A9C7}"/>
              </a:ext>
            </a:extLst>
          </p:cNvPr>
          <p:cNvGrpSpPr/>
          <p:nvPr/>
        </p:nvGrpSpPr>
        <p:grpSpPr>
          <a:xfrm>
            <a:off x="6617908" y="1379332"/>
            <a:ext cx="5351601" cy="1409920"/>
            <a:chOff x="6617908" y="1379332"/>
            <a:chExt cx="5351601" cy="164133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84F23FF2-A451-C7A9-4E25-29993B802E0E}"/>
                </a:ext>
              </a:extLst>
            </p:cNvPr>
            <p:cNvSpPr/>
            <p:nvPr/>
          </p:nvSpPr>
          <p:spPr>
            <a:xfrm>
              <a:off x="6617908" y="1379332"/>
              <a:ext cx="5172436" cy="15883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2" name="Google Shape;11320;p67">
              <a:extLst>
                <a:ext uri="{FF2B5EF4-FFF2-40B4-BE49-F238E27FC236}">
                  <a16:creationId xmlns:a16="http://schemas.microsoft.com/office/drawing/2014/main" id="{206DA40A-0902-B268-DE75-EF1E855BC177}"/>
                </a:ext>
              </a:extLst>
            </p:cNvPr>
            <p:cNvGrpSpPr/>
            <p:nvPr/>
          </p:nvGrpSpPr>
          <p:grpSpPr>
            <a:xfrm>
              <a:off x="6875569" y="1599292"/>
              <a:ext cx="417382" cy="382128"/>
              <a:chOff x="1731523" y="2422616"/>
              <a:chExt cx="399435" cy="365698"/>
            </a:xfrm>
            <a:solidFill>
              <a:schemeClr val="tx1"/>
            </a:solidFill>
          </p:grpSpPr>
          <p:sp>
            <p:nvSpPr>
              <p:cNvPr id="103" name="Google Shape;11321;p67">
                <a:extLst>
                  <a:ext uri="{FF2B5EF4-FFF2-40B4-BE49-F238E27FC236}">
                    <a16:creationId xmlns:a16="http://schemas.microsoft.com/office/drawing/2014/main" id="{EF798D6F-2F5B-093F-A6E7-E585389127E1}"/>
                  </a:ext>
                </a:extLst>
              </p:cNvPr>
              <p:cNvSpPr/>
              <p:nvPr/>
            </p:nvSpPr>
            <p:spPr>
              <a:xfrm>
                <a:off x="1865294" y="2725009"/>
                <a:ext cx="43604" cy="43604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1370" extrusionOk="0">
                    <a:moveTo>
                      <a:pt x="679" y="370"/>
                    </a:moveTo>
                    <a:cubicBezTo>
                      <a:pt x="858" y="370"/>
                      <a:pt x="1013" y="512"/>
                      <a:pt x="1013" y="691"/>
                    </a:cubicBezTo>
                    <a:cubicBezTo>
                      <a:pt x="1013" y="870"/>
                      <a:pt x="858" y="1024"/>
                      <a:pt x="679" y="1024"/>
                    </a:cubicBezTo>
                    <a:cubicBezTo>
                      <a:pt x="501" y="1024"/>
                      <a:pt x="358" y="870"/>
                      <a:pt x="358" y="691"/>
                    </a:cubicBezTo>
                    <a:cubicBezTo>
                      <a:pt x="370" y="501"/>
                      <a:pt x="501" y="370"/>
                      <a:pt x="679" y="370"/>
                    </a:cubicBezTo>
                    <a:close/>
                    <a:moveTo>
                      <a:pt x="679" y="1"/>
                    </a:moveTo>
                    <a:cubicBezTo>
                      <a:pt x="310" y="1"/>
                      <a:pt x="1" y="310"/>
                      <a:pt x="1" y="679"/>
                    </a:cubicBezTo>
                    <a:cubicBezTo>
                      <a:pt x="1" y="1072"/>
                      <a:pt x="310" y="1370"/>
                      <a:pt x="679" y="1370"/>
                    </a:cubicBezTo>
                    <a:cubicBezTo>
                      <a:pt x="1048" y="1370"/>
                      <a:pt x="1370" y="1048"/>
                      <a:pt x="1370" y="679"/>
                    </a:cubicBezTo>
                    <a:cubicBezTo>
                      <a:pt x="1370" y="310"/>
                      <a:pt x="1048" y="1"/>
                      <a:pt x="67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4" name="Google Shape;11322;p67">
                <a:extLst>
                  <a:ext uri="{FF2B5EF4-FFF2-40B4-BE49-F238E27FC236}">
                    <a16:creationId xmlns:a16="http://schemas.microsoft.com/office/drawing/2014/main" id="{01DC334F-EA7B-5A09-9EC9-D40D3BA8350E}"/>
                  </a:ext>
                </a:extLst>
              </p:cNvPr>
              <p:cNvSpPr/>
              <p:nvPr/>
            </p:nvSpPr>
            <p:spPr>
              <a:xfrm>
                <a:off x="2005876" y="2725009"/>
                <a:ext cx="43636" cy="43604"/>
              </a:xfrm>
              <a:custGeom>
                <a:avLst/>
                <a:gdLst/>
                <a:ahLst/>
                <a:cxnLst/>
                <a:rect l="l" t="t" r="r" b="b"/>
                <a:pathLst>
                  <a:path w="1371" h="1370" extrusionOk="0">
                    <a:moveTo>
                      <a:pt x="680" y="370"/>
                    </a:moveTo>
                    <a:cubicBezTo>
                      <a:pt x="858" y="370"/>
                      <a:pt x="1013" y="512"/>
                      <a:pt x="1013" y="691"/>
                    </a:cubicBezTo>
                    <a:cubicBezTo>
                      <a:pt x="1013" y="870"/>
                      <a:pt x="858" y="1024"/>
                      <a:pt x="680" y="1024"/>
                    </a:cubicBezTo>
                    <a:cubicBezTo>
                      <a:pt x="501" y="1024"/>
                      <a:pt x="358" y="870"/>
                      <a:pt x="358" y="691"/>
                    </a:cubicBezTo>
                    <a:cubicBezTo>
                      <a:pt x="370" y="501"/>
                      <a:pt x="501" y="370"/>
                      <a:pt x="680" y="370"/>
                    </a:cubicBezTo>
                    <a:close/>
                    <a:moveTo>
                      <a:pt x="680" y="1"/>
                    </a:moveTo>
                    <a:cubicBezTo>
                      <a:pt x="311" y="1"/>
                      <a:pt x="1" y="310"/>
                      <a:pt x="1" y="679"/>
                    </a:cubicBezTo>
                    <a:cubicBezTo>
                      <a:pt x="1" y="1072"/>
                      <a:pt x="311" y="1370"/>
                      <a:pt x="680" y="1370"/>
                    </a:cubicBezTo>
                    <a:cubicBezTo>
                      <a:pt x="1061" y="1370"/>
                      <a:pt x="1370" y="1048"/>
                      <a:pt x="1370" y="679"/>
                    </a:cubicBezTo>
                    <a:cubicBezTo>
                      <a:pt x="1370" y="310"/>
                      <a:pt x="1061" y="1"/>
                      <a:pt x="68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6" name="Google Shape;11323;p67">
                <a:extLst>
                  <a:ext uri="{FF2B5EF4-FFF2-40B4-BE49-F238E27FC236}">
                    <a16:creationId xmlns:a16="http://schemas.microsoft.com/office/drawing/2014/main" id="{2E7A1971-A445-9EDE-D61C-369E097F7E3D}"/>
                  </a:ext>
                </a:extLst>
              </p:cNvPr>
              <p:cNvSpPr/>
              <p:nvPr/>
            </p:nvSpPr>
            <p:spPr>
              <a:xfrm>
                <a:off x="1731523" y="2422616"/>
                <a:ext cx="399435" cy="365698"/>
              </a:xfrm>
              <a:custGeom>
                <a:avLst/>
                <a:gdLst/>
                <a:ahLst/>
                <a:cxnLst/>
                <a:rect l="l" t="t" r="r" b="b"/>
                <a:pathLst>
                  <a:path w="12550" h="11490" extrusionOk="0">
                    <a:moveTo>
                      <a:pt x="4323" y="2143"/>
                    </a:moveTo>
                    <a:lnTo>
                      <a:pt x="4323" y="3215"/>
                    </a:lnTo>
                    <a:lnTo>
                      <a:pt x="3585" y="3215"/>
                    </a:lnTo>
                    <a:lnTo>
                      <a:pt x="3216" y="2143"/>
                    </a:lnTo>
                    <a:close/>
                    <a:moveTo>
                      <a:pt x="5787" y="2143"/>
                    </a:moveTo>
                    <a:lnTo>
                      <a:pt x="5787" y="3215"/>
                    </a:lnTo>
                    <a:lnTo>
                      <a:pt x="4692" y="3215"/>
                    </a:lnTo>
                    <a:lnTo>
                      <a:pt x="4692" y="2143"/>
                    </a:lnTo>
                    <a:close/>
                    <a:moveTo>
                      <a:pt x="7252" y="2143"/>
                    </a:moveTo>
                    <a:lnTo>
                      <a:pt x="7252" y="3215"/>
                    </a:lnTo>
                    <a:lnTo>
                      <a:pt x="6144" y="3215"/>
                    </a:lnTo>
                    <a:lnTo>
                      <a:pt x="6144" y="2143"/>
                    </a:lnTo>
                    <a:close/>
                    <a:moveTo>
                      <a:pt x="8704" y="2143"/>
                    </a:moveTo>
                    <a:lnTo>
                      <a:pt x="8704" y="3215"/>
                    </a:lnTo>
                    <a:lnTo>
                      <a:pt x="7609" y="3215"/>
                    </a:lnTo>
                    <a:lnTo>
                      <a:pt x="7609" y="2143"/>
                    </a:lnTo>
                    <a:close/>
                    <a:moveTo>
                      <a:pt x="10169" y="2143"/>
                    </a:moveTo>
                    <a:lnTo>
                      <a:pt x="10169" y="3215"/>
                    </a:lnTo>
                    <a:lnTo>
                      <a:pt x="9061" y="3215"/>
                    </a:lnTo>
                    <a:lnTo>
                      <a:pt x="9061" y="2143"/>
                    </a:lnTo>
                    <a:close/>
                    <a:moveTo>
                      <a:pt x="11050" y="2143"/>
                    </a:moveTo>
                    <a:lnTo>
                      <a:pt x="10788" y="3215"/>
                    </a:lnTo>
                    <a:lnTo>
                      <a:pt x="10538" y="3215"/>
                    </a:lnTo>
                    <a:lnTo>
                      <a:pt x="10538" y="2143"/>
                    </a:lnTo>
                    <a:close/>
                    <a:moveTo>
                      <a:pt x="10716" y="3572"/>
                    </a:moveTo>
                    <a:lnTo>
                      <a:pt x="10538" y="4334"/>
                    </a:lnTo>
                    <a:lnTo>
                      <a:pt x="10538" y="3572"/>
                    </a:lnTo>
                    <a:close/>
                    <a:moveTo>
                      <a:pt x="4323" y="3572"/>
                    </a:moveTo>
                    <a:lnTo>
                      <a:pt x="4323" y="4680"/>
                    </a:lnTo>
                    <a:lnTo>
                      <a:pt x="4108" y="4680"/>
                    </a:lnTo>
                    <a:lnTo>
                      <a:pt x="3727" y="3572"/>
                    </a:lnTo>
                    <a:close/>
                    <a:moveTo>
                      <a:pt x="5787" y="3572"/>
                    </a:moveTo>
                    <a:lnTo>
                      <a:pt x="5787" y="4680"/>
                    </a:lnTo>
                    <a:lnTo>
                      <a:pt x="4692" y="4680"/>
                    </a:lnTo>
                    <a:lnTo>
                      <a:pt x="4692" y="3572"/>
                    </a:lnTo>
                    <a:close/>
                    <a:moveTo>
                      <a:pt x="7252" y="3572"/>
                    </a:moveTo>
                    <a:lnTo>
                      <a:pt x="7252" y="4680"/>
                    </a:lnTo>
                    <a:lnTo>
                      <a:pt x="6144" y="4680"/>
                    </a:lnTo>
                    <a:lnTo>
                      <a:pt x="6144" y="3572"/>
                    </a:lnTo>
                    <a:close/>
                    <a:moveTo>
                      <a:pt x="8704" y="3572"/>
                    </a:moveTo>
                    <a:lnTo>
                      <a:pt x="8704" y="4680"/>
                    </a:lnTo>
                    <a:lnTo>
                      <a:pt x="7609" y="4680"/>
                    </a:lnTo>
                    <a:lnTo>
                      <a:pt x="7609" y="3572"/>
                    </a:lnTo>
                    <a:close/>
                    <a:moveTo>
                      <a:pt x="10169" y="3572"/>
                    </a:moveTo>
                    <a:lnTo>
                      <a:pt x="10169" y="4680"/>
                    </a:lnTo>
                    <a:lnTo>
                      <a:pt x="9061" y="4680"/>
                    </a:lnTo>
                    <a:lnTo>
                      <a:pt x="9061" y="3572"/>
                    </a:lnTo>
                    <a:close/>
                    <a:moveTo>
                      <a:pt x="4335" y="5037"/>
                    </a:moveTo>
                    <a:lnTo>
                      <a:pt x="4335" y="5275"/>
                    </a:lnTo>
                    <a:lnTo>
                      <a:pt x="4239" y="5037"/>
                    </a:lnTo>
                    <a:close/>
                    <a:moveTo>
                      <a:pt x="5787" y="5037"/>
                    </a:moveTo>
                    <a:lnTo>
                      <a:pt x="5787" y="5894"/>
                    </a:lnTo>
                    <a:cubicBezTo>
                      <a:pt x="5706" y="5890"/>
                      <a:pt x="5631" y="5889"/>
                      <a:pt x="5561" y="5889"/>
                    </a:cubicBezTo>
                    <a:cubicBezTo>
                      <a:pt x="5443" y="5889"/>
                      <a:pt x="5341" y="5892"/>
                      <a:pt x="5248" y="5892"/>
                    </a:cubicBezTo>
                    <a:cubicBezTo>
                      <a:pt x="5036" y="5892"/>
                      <a:pt x="4874" y="5875"/>
                      <a:pt x="4692" y="5763"/>
                    </a:cubicBezTo>
                    <a:lnTo>
                      <a:pt x="4692" y="5037"/>
                    </a:lnTo>
                    <a:close/>
                    <a:moveTo>
                      <a:pt x="7252" y="5037"/>
                    </a:moveTo>
                    <a:lnTo>
                      <a:pt x="7252" y="5894"/>
                    </a:lnTo>
                    <a:lnTo>
                      <a:pt x="6144" y="5894"/>
                    </a:lnTo>
                    <a:lnTo>
                      <a:pt x="6144" y="5037"/>
                    </a:lnTo>
                    <a:close/>
                    <a:moveTo>
                      <a:pt x="8704" y="5037"/>
                    </a:moveTo>
                    <a:lnTo>
                      <a:pt x="8704" y="5894"/>
                    </a:lnTo>
                    <a:lnTo>
                      <a:pt x="7609" y="5894"/>
                    </a:lnTo>
                    <a:lnTo>
                      <a:pt x="7609" y="5037"/>
                    </a:lnTo>
                    <a:close/>
                    <a:moveTo>
                      <a:pt x="10169" y="5037"/>
                    </a:moveTo>
                    <a:lnTo>
                      <a:pt x="10169" y="5894"/>
                    </a:lnTo>
                    <a:lnTo>
                      <a:pt x="9061" y="5894"/>
                    </a:lnTo>
                    <a:lnTo>
                      <a:pt x="9061" y="5037"/>
                    </a:lnTo>
                    <a:close/>
                    <a:moveTo>
                      <a:pt x="4882" y="9240"/>
                    </a:moveTo>
                    <a:cubicBezTo>
                      <a:pt x="5406" y="9240"/>
                      <a:pt x="5823" y="9680"/>
                      <a:pt x="5823" y="10180"/>
                    </a:cubicBezTo>
                    <a:cubicBezTo>
                      <a:pt x="5823" y="10704"/>
                      <a:pt x="5406" y="11121"/>
                      <a:pt x="4882" y="11121"/>
                    </a:cubicBezTo>
                    <a:cubicBezTo>
                      <a:pt x="4359" y="11121"/>
                      <a:pt x="3942" y="10704"/>
                      <a:pt x="3942" y="10180"/>
                    </a:cubicBezTo>
                    <a:cubicBezTo>
                      <a:pt x="3942" y="9656"/>
                      <a:pt x="4359" y="9240"/>
                      <a:pt x="4882" y="9240"/>
                    </a:cubicBezTo>
                    <a:close/>
                    <a:moveTo>
                      <a:pt x="9300" y="9240"/>
                    </a:moveTo>
                    <a:cubicBezTo>
                      <a:pt x="9823" y="9263"/>
                      <a:pt x="10240" y="9680"/>
                      <a:pt x="10240" y="10180"/>
                    </a:cubicBezTo>
                    <a:cubicBezTo>
                      <a:pt x="10240" y="10704"/>
                      <a:pt x="9823" y="11121"/>
                      <a:pt x="9300" y="11121"/>
                    </a:cubicBezTo>
                    <a:cubicBezTo>
                      <a:pt x="8788" y="11121"/>
                      <a:pt x="8371" y="10704"/>
                      <a:pt x="8371" y="10180"/>
                    </a:cubicBezTo>
                    <a:cubicBezTo>
                      <a:pt x="8371" y="9656"/>
                      <a:pt x="8788" y="9240"/>
                      <a:pt x="9300" y="9240"/>
                    </a:cubicBezTo>
                    <a:close/>
                    <a:moveTo>
                      <a:pt x="668" y="0"/>
                    </a:moveTo>
                    <a:cubicBezTo>
                      <a:pt x="298" y="0"/>
                      <a:pt x="1" y="298"/>
                      <a:pt x="1" y="667"/>
                    </a:cubicBezTo>
                    <a:cubicBezTo>
                      <a:pt x="1" y="1048"/>
                      <a:pt x="298" y="1346"/>
                      <a:pt x="668" y="1346"/>
                    </a:cubicBezTo>
                    <a:lnTo>
                      <a:pt x="1489" y="1346"/>
                    </a:lnTo>
                    <a:lnTo>
                      <a:pt x="2513" y="4227"/>
                    </a:lnTo>
                    <a:cubicBezTo>
                      <a:pt x="2540" y="4299"/>
                      <a:pt x="2608" y="4351"/>
                      <a:pt x="2681" y="4351"/>
                    </a:cubicBezTo>
                    <a:cubicBezTo>
                      <a:pt x="2704" y="4351"/>
                      <a:pt x="2728" y="4346"/>
                      <a:pt x="2751" y="4334"/>
                    </a:cubicBezTo>
                    <a:cubicBezTo>
                      <a:pt x="2846" y="4299"/>
                      <a:pt x="2906" y="4203"/>
                      <a:pt x="2858" y="4096"/>
                    </a:cubicBezTo>
                    <a:cubicBezTo>
                      <a:pt x="1858" y="1262"/>
                      <a:pt x="1822" y="1143"/>
                      <a:pt x="1822" y="1143"/>
                    </a:cubicBezTo>
                    <a:cubicBezTo>
                      <a:pt x="1775" y="1048"/>
                      <a:pt x="1668" y="965"/>
                      <a:pt x="1549" y="965"/>
                    </a:cubicBezTo>
                    <a:lnTo>
                      <a:pt x="668" y="965"/>
                    </a:lnTo>
                    <a:cubicBezTo>
                      <a:pt x="513" y="965"/>
                      <a:pt x="370" y="834"/>
                      <a:pt x="370" y="667"/>
                    </a:cubicBezTo>
                    <a:cubicBezTo>
                      <a:pt x="370" y="500"/>
                      <a:pt x="513" y="369"/>
                      <a:pt x="668" y="369"/>
                    </a:cubicBezTo>
                    <a:lnTo>
                      <a:pt x="1549" y="369"/>
                    </a:lnTo>
                    <a:cubicBezTo>
                      <a:pt x="1906" y="369"/>
                      <a:pt x="2215" y="584"/>
                      <a:pt x="2370" y="905"/>
                    </a:cubicBezTo>
                    <a:cubicBezTo>
                      <a:pt x="2596" y="1524"/>
                      <a:pt x="3811" y="5001"/>
                      <a:pt x="4001" y="5525"/>
                    </a:cubicBezTo>
                    <a:cubicBezTo>
                      <a:pt x="4144" y="5894"/>
                      <a:pt x="4573" y="6251"/>
                      <a:pt x="5109" y="6251"/>
                    </a:cubicBezTo>
                    <a:lnTo>
                      <a:pt x="11717" y="6251"/>
                    </a:lnTo>
                    <a:cubicBezTo>
                      <a:pt x="11883" y="6251"/>
                      <a:pt x="12014" y="6382"/>
                      <a:pt x="12014" y="6549"/>
                    </a:cubicBezTo>
                    <a:cubicBezTo>
                      <a:pt x="12014" y="6715"/>
                      <a:pt x="11883" y="6846"/>
                      <a:pt x="11717" y="6846"/>
                    </a:cubicBezTo>
                    <a:lnTo>
                      <a:pt x="5109" y="6846"/>
                    </a:lnTo>
                    <a:cubicBezTo>
                      <a:pt x="4394" y="6846"/>
                      <a:pt x="3739" y="6418"/>
                      <a:pt x="3466" y="5763"/>
                    </a:cubicBezTo>
                    <a:lnTo>
                      <a:pt x="3096" y="4715"/>
                    </a:lnTo>
                    <a:cubicBezTo>
                      <a:pt x="3078" y="4652"/>
                      <a:pt x="3013" y="4603"/>
                      <a:pt x="2936" y="4603"/>
                    </a:cubicBezTo>
                    <a:cubicBezTo>
                      <a:pt x="2911" y="4603"/>
                      <a:pt x="2885" y="4608"/>
                      <a:pt x="2858" y="4620"/>
                    </a:cubicBezTo>
                    <a:cubicBezTo>
                      <a:pt x="2751" y="4656"/>
                      <a:pt x="2715" y="4751"/>
                      <a:pt x="2751" y="4858"/>
                    </a:cubicBezTo>
                    <a:cubicBezTo>
                      <a:pt x="3049" y="5596"/>
                      <a:pt x="3073" y="5942"/>
                      <a:pt x="3406" y="6406"/>
                    </a:cubicBezTo>
                    <a:lnTo>
                      <a:pt x="3013" y="7001"/>
                    </a:lnTo>
                    <a:cubicBezTo>
                      <a:pt x="2394" y="7894"/>
                      <a:pt x="2930" y="9097"/>
                      <a:pt x="3989" y="9240"/>
                    </a:cubicBezTo>
                    <a:cubicBezTo>
                      <a:pt x="3144" y="10049"/>
                      <a:pt x="3692" y="11490"/>
                      <a:pt x="4870" y="11490"/>
                    </a:cubicBezTo>
                    <a:cubicBezTo>
                      <a:pt x="6025" y="11490"/>
                      <a:pt x="6597" y="10061"/>
                      <a:pt x="5763" y="9251"/>
                    </a:cubicBezTo>
                    <a:lnTo>
                      <a:pt x="8383" y="9251"/>
                    </a:lnTo>
                    <a:cubicBezTo>
                      <a:pt x="7549" y="10061"/>
                      <a:pt x="8109" y="11490"/>
                      <a:pt x="9276" y="11490"/>
                    </a:cubicBezTo>
                    <a:cubicBezTo>
                      <a:pt x="10431" y="11490"/>
                      <a:pt x="11002" y="10061"/>
                      <a:pt x="10169" y="9251"/>
                    </a:cubicBezTo>
                    <a:lnTo>
                      <a:pt x="10407" y="9251"/>
                    </a:lnTo>
                    <a:cubicBezTo>
                      <a:pt x="10776" y="9251"/>
                      <a:pt x="11074" y="8954"/>
                      <a:pt x="11074" y="8585"/>
                    </a:cubicBezTo>
                    <a:cubicBezTo>
                      <a:pt x="11074" y="8216"/>
                      <a:pt x="10776" y="7918"/>
                      <a:pt x="10407" y="7918"/>
                    </a:cubicBezTo>
                    <a:lnTo>
                      <a:pt x="8788" y="7918"/>
                    </a:lnTo>
                    <a:cubicBezTo>
                      <a:pt x="8680" y="7918"/>
                      <a:pt x="8609" y="7989"/>
                      <a:pt x="8609" y="8097"/>
                    </a:cubicBezTo>
                    <a:cubicBezTo>
                      <a:pt x="8609" y="8204"/>
                      <a:pt x="8680" y="8275"/>
                      <a:pt x="8788" y="8275"/>
                    </a:cubicBezTo>
                    <a:lnTo>
                      <a:pt x="10431" y="8275"/>
                    </a:lnTo>
                    <a:cubicBezTo>
                      <a:pt x="10597" y="8275"/>
                      <a:pt x="10728" y="8406"/>
                      <a:pt x="10728" y="8573"/>
                    </a:cubicBezTo>
                    <a:cubicBezTo>
                      <a:pt x="10728" y="8740"/>
                      <a:pt x="10597" y="8871"/>
                      <a:pt x="10431" y="8871"/>
                    </a:cubicBezTo>
                    <a:lnTo>
                      <a:pt x="4204" y="8871"/>
                    </a:lnTo>
                    <a:cubicBezTo>
                      <a:pt x="3323" y="8871"/>
                      <a:pt x="2811" y="7882"/>
                      <a:pt x="3311" y="7168"/>
                    </a:cubicBezTo>
                    <a:lnTo>
                      <a:pt x="3668" y="6656"/>
                    </a:lnTo>
                    <a:cubicBezTo>
                      <a:pt x="3811" y="6787"/>
                      <a:pt x="3978" y="6906"/>
                      <a:pt x="4168" y="7001"/>
                    </a:cubicBezTo>
                    <a:lnTo>
                      <a:pt x="3799" y="7537"/>
                    </a:lnTo>
                    <a:cubicBezTo>
                      <a:pt x="3573" y="7847"/>
                      <a:pt x="3799" y="8275"/>
                      <a:pt x="4180" y="8275"/>
                    </a:cubicBezTo>
                    <a:lnTo>
                      <a:pt x="8085" y="8275"/>
                    </a:lnTo>
                    <a:cubicBezTo>
                      <a:pt x="8192" y="8275"/>
                      <a:pt x="8264" y="8204"/>
                      <a:pt x="8264" y="8097"/>
                    </a:cubicBezTo>
                    <a:cubicBezTo>
                      <a:pt x="8264" y="7989"/>
                      <a:pt x="8192" y="7918"/>
                      <a:pt x="8085" y="7918"/>
                    </a:cubicBezTo>
                    <a:lnTo>
                      <a:pt x="4180" y="7918"/>
                    </a:lnTo>
                    <a:cubicBezTo>
                      <a:pt x="4097" y="7918"/>
                      <a:pt x="4037" y="7811"/>
                      <a:pt x="4097" y="7739"/>
                    </a:cubicBezTo>
                    <a:lnTo>
                      <a:pt x="4513" y="7132"/>
                    </a:lnTo>
                    <a:cubicBezTo>
                      <a:pt x="4753" y="7201"/>
                      <a:pt x="4820" y="7217"/>
                      <a:pt x="5587" y="7217"/>
                    </a:cubicBezTo>
                    <a:cubicBezTo>
                      <a:pt x="6309" y="7217"/>
                      <a:pt x="7651" y="7202"/>
                      <a:pt x="10341" y="7202"/>
                    </a:cubicBezTo>
                    <a:cubicBezTo>
                      <a:pt x="10765" y="7202"/>
                      <a:pt x="11223" y="7203"/>
                      <a:pt x="11717" y="7204"/>
                    </a:cubicBezTo>
                    <a:cubicBezTo>
                      <a:pt x="12086" y="7204"/>
                      <a:pt x="12383" y="6906"/>
                      <a:pt x="12383" y="6537"/>
                    </a:cubicBezTo>
                    <a:cubicBezTo>
                      <a:pt x="12383" y="6168"/>
                      <a:pt x="12098" y="5894"/>
                      <a:pt x="11728" y="5894"/>
                    </a:cubicBezTo>
                    <a:lnTo>
                      <a:pt x="11538" y="5894"/>
                    </a:lnTo>
                    <a:lnTo>
                      <a:pt x="12383" y="2191"/>
                    </a:lnTo>
                    <a:cubicBezTo>
                      <a:pt x="12550" y="1489"/>
                      <a:pt x="12014" y="822"/>
                      <a:pt x="11300" y="822"/>
                    </a:cubicBezTo>
                    <a:lnTo>
                      <a:pt x="7752" y="822"/>
                    </a:lnTo>
                    <a:cubicBezTo>
                      <a:pt x="7657" y="822"/>
                      <a:pt x="7573" y="893"/>
                      <a:pt x="7573" y="1000"/>
                    </a:cubicBezTo>
                    <a:cubicBezTo>
                      <a:pt x="7573" y="1108"/>
                      <a:pt x="7657" y="1179"/>
                      <a:pt x="7752" y="1179"/>
                    </a:cubicBezTo>
                    <a:lnTo>
                      <a:pt x="11300" y="1179"/>
                    </a:lnTo>
                    <a:cubicBezTo>
                      <a:pt x="11788" y="1179"/>
                      <a:pt x="12145" y="1620"/>
                      <a:pt x="12026" y="2096"/>
                    </a:cubicBezTo>
                    <a:lnTo>
                      <a:pt x="11145" y="5894"/>
                    </a:lnTo>
                    <a:lnTo>
                      <a:pt x="10526" y="5894"/>
                    </a:lnTo>
                    <a:cubicBezTo>
                      <a:pt x="10609" y="5489"/>
                      <a:pt x="11300" y="2548"/>
                      <a:pt x="11419" y="2001"/>
                    </a:cubicBezTo>
                    <a:cubicBezTo>
                      <a:pt x="11443" y="1882"/>
                      <a:pt x="11359" y="1774"/>
                      <a:pt x="11240" y="1774"/>
                    </a:cubicBezTo>
                    <a:lnTo>
                      <a:pt x="3073" y="1774"/>
                    </a:lnTo>
                    <a:lnTo>
                      <a:pt x="2858" y="1167"/>
                    </a:lnTo>
                    <a:lnTo>
                      <a:pt x="7073" y="1167"/>
                    </a:lnTo>
                    <a:cubicBezTo>
                      <a:pt x="7180" y="1167"/>
                      <a:pt x="7252" y="1084"/>
                      <a:pt x="7252" y="989"/>
                    </a:cubicBezTo>
                    <a:cubicBezTo>
                      <a:pt x="7252" y="881"/>
                      <a:pt x="7180" y="810"/>
                      <a:pt x="7073" y="810"/>
                    </a:cubicBezTo>
                    <a:lnTo>
                      <a:pt x="2727" y="810"/>
                    </a:lnTo>
                    <a:cubicBezTo>
                      <a:pt x="2561" y="346"/>
                      <a:pt x="2096" y="0"/>
                      <a:pt x="154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07" name="TextBox 4">
              <a:extLst>
                <a:ext uri="{FF2B5EF4-FFF2-40B4-BE49-F238E27FC236}">
                  <a16:creationId xmlns:a16="http://schemas.microsoft.com/office/drawing/2014/main" id="{D4770217-C098-658B-2D26-6E1910FD1243}"/>
                </a:ext>
              </a:extLst>
            </p:cNvPr>
            <p:cNvSpPr txBox="1"/>
            <p:nvPr/>
          </p:nvSpPr>
          <p:spPr>
            <a:xfrm>
              <a:off x="7442982" y="1565584"/>
              <a:ext cx="697179" cy="3224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/>
              <a:r>
                <a:rPr lang="pt-BR" sz="1200" b="1">
                  <a:latin typeface="Segoe UI" panose="020B0502040204020203" pitchFamily="34" charset="0"/>
                  <a:ea typeface="Lato" panose="020F0502020204030203" pitchFamily="34" charset="0"/>
                  <a:cs typeface="Segoe UI" panose="020B0502040204020203" pitchFamily="34" charset="0"/>
                </a:rPr>
                <a:t>Varejo:</a:t>
              </a:r>
            </a:p>
          </p:txBody>
        </p:sp>
        <p:sp>
          <p:nvSpPr>
            <p:cNvPr id="108" name="CaixaDeTexto 107">
              <a:extLst>
                <a:ext uri="{FF2B5EF4-FFF2-40B4-BE49-F238E27FC236}">
                  <a16:creationId xmlns:a16="http://schemas.microsoft.com/office/drawing/2014/main" id="{A643D731-32CB-0812-FC30-499FE501774C}"/>
                </a:ext>
              </a:extLst>
            </p:cNvPr>
            <p:cNvSpPr txBox="1"/>
            <p:nvPr/>
          </p:nvSpPr>
          <p:spPr>
            <a:xfrm>
              <a:off x="6758355" y="2053275"/>
              <a:ext cx="2520000" cy="7524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914217">
                <a:defRPr sz="1400" b="1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r>
                <a:rPr lang="pt-BR" sz="12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-10% dos gastos </a:t>
              </a:r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corporativos </a:t>
              </a:r>
            </a:p>
            <a:p>
              <a:endParaRPr lang="pt-BR" sz="12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Varejo eletroeletrônicos</a:t>
              </a: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id="{2D9D31E9-0E5F-7126-4A47-C4035E7044F2}"/>
                </a:ext>
              </a:extLst>
            </p:cNvPr>
            <p:cNvSpPr txBox="1"/>
            <p:nvPr/>
          </p:nvSpPr>
          <p:spPr>
            <a:xfrm>
              <a:off x="9449509" y="2053275"/>
              <a:ext cx="2520000" cy="9673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914217">
                <a:defRPr sz="1400" b="1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Elevação do EBITDA em </a:t>
              </a:r>
              <a:r>
                <a:rPr lang="pt-BR" sz="12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7,0%</a:t>
              </a:r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sobre R.L.</a:t>
              </a:r>
              <a:endParaRPr lang="pt-BR" sz="1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pt-BR" sz="12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Varejo de alimentos</a:t>
              </a: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9D6FE430-78F2-0B24-4E78-77A8ED5D7F7D}"/>
              </a:ext>
            </a:extLst>
          </p:cNvPr>
          <p:cNvGrpSpPr/>
          <p:nvPr/>
        </p:nvGrpSpPr>
        <p:grpSpPr>
          <a:xfrm>
            <a:off x="6626645" y="3104884"/>
            <a:ext cx="5353200" cy="1377322"/>
            <a:chOff x="6626645" y="3104884"/>
            <a:chExt cx="5342864" cy="16033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" name="Rectangle 12">
              <a:extLst>
                <a:ext uri="{FF2B5EF4-FFF2-40B4-BE49-F238E27FC236}">
                  <a16:creationId xmlns:a16="http://schemas.microsoft.com/office/drawing/2014/main" id="{E75AEDC1-858B-A7E3-16FE-C34AC6A31617}"/>
                </a:ext>
              </a:extLst>
            </p:cNvPr>
            <p:cNvSpPr/>
            <p:nvPr/>
          </p:nvSpPr>
          <p:spPr>
            <a:xfrm>
              <a:off x="6626645" y="3104884"/>
              <a:ext cx="5172436" cy="15883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0" name="TextBox 4">
              <a:extLst>
                <a:ext uri="{FF2B5EF4-FFF2-40B4-BE49-F238E27FC236}">
                  <a16:creationId xmlns:a16="http://schemas.microsoft.com/office/drawing/2014/main" id="{4FBD91EF-408E-8344-3A2F-14557F755A26}"/>
                </a:ext>
              </a:extLst>
            </p:cNvPr>
            <p:cNvSpPr txBox="1"/>
            <p:nvPr/>
          </p:nvSpPr>
          <p:spPr>
            <a:xfrm>
              <a:off x="7436662" y="3306133"/>
              <a:ext cx="885069" cy="3224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/>
              <a:r>
                <a:rPr lang="pt-BR" sz="1200" b="1">
                  <a:latin typeface="Segoe UI" panose="020B0502040204020203" pitchFamily="34" charset="0"/>
                  <a:ea typeface="Lato" panose="020F0502020204030203" pitchFamily="34" charset="0"/>
                  <a:cs typeface="Segoe UI" panose="020B0502040204020203" pitchFamily="34" charset="0"/>
                </a:rPr>
                <a:t>Indústria:</a:t>
              </a:r>
            </a:p>
          </p:txBody>
        </p:sp>
        <p:sp>
          <p:nvSpPr>
            <p:cNvPr id="111" name="CaixaDeTexto 110">
              <a:extLst>
                <a:ext uri="{FF2B5EF4-FFF2-40B4-BE49-F238E27FC236}">
                  <a16:creationId xmlns:a16="http://schemas.microsoft.com/office/drawing/2014/main" id="{76370D56-2147-7D87-F5B7-98E609FE3C35}"/>
                </a:ext>
              </a:extLst>
            </p:cNvPr>
            <p:cNvSpPr txBox="1"/>
            <p:nvPr/>
          </p:nvSpPr>
          <p:spPr>
            <a:xfrm>
              <a:off x="9449509" y="3740879"/>
              <a:ext cx="2520000" cy="9673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914217">
                <a:defRPr sz="1400" b="1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Redução de overhead de </a:t>
              </a:r>
              <a:r>
                <a:rPr lang="pt-BR" sz="12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R$ 3,4 MM</a:t>
              </a:r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/ano</a:t>
              </a:r>
            </a:p>
            <a:p>
              <a:endParaRPr lang="pt-BR" sz="12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Industria de calçados</a:t>
              </a:r>
            </a:p>
          </p:txBody>
        </p:sp>
        <p:sp>
          <p:nvSpPr>
            <p:cNvPr id="112" name="CaixaDeTexto 111">
              <a:extLst>
                <a:ext uri="{FF2B5EF4-FFF2-40B4-BE49-F238E27FC236}">
                  <a16:creationId xmlns:a16="http://schemas.microsoft.com/office/drawing/2014/main" id="{382C484F-DEEA-8B41-4B8D-10793E3DA3BF}"/>
                </a:ext>
              </a:extLst>
            </p:cNvPr>
            <p:cNvSpPr txBox="1"/>
            <p:nvPr/>
          </p:nvSpPr>
          <p:spPr>
            <a:xfrm>
              <a:off x="6758356" y="3740879"/>
              <a:ext cx="2520000" cy="9673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914217">
                <a:defRPr sz="1400" b="1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Redução de custos de produção em </a:t>
              </a:r>
              <a:r>
                <a:rPr lang="pt-BR" sz="12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-32%</a:t>
              </a:r>
            </a:p>
            <a:p>
              <a:endParaRPr lang="pt-BR" sz="12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Indústria de alimentos</a:t>
              </a:r>
            </a:p>
          </p:txBody>
        </p:sp>
        <p:grpSp>
          <p:nvGrpSpPr>
            <p:cNvPr id="113" name="Google Shape;11531;p67">
              <a:extLst>
                <a:ext uri="{FF2B5EF4-FFF2-40B4-BE49-F238E27FC236}">
                  <a16:creationId xmlns:a16="http://schemas.microsoft.com/office/drawing/2014/main" id="{6684E72D-D38D-5C63-1E05-2D8EC7D5C8DC}"/>
                </a:ext>
              </a:extLst>
            </p:cNvPr>
            <p:cNvGrpSpPr/>
            <p:nvPr/>
          </p:nvGrpSpPr>
          <p:grpSpPr>
            <a:xfrm>
              <a:off x="6874377" y="3287451"/>
              <a:ext cx="407126" cy="406698"/>
              <a:chOff x="2640993" y="3357835"/>
              <a:chExt cx="365348" cy="364966"/>
            </a:xfrm>
            <a:solidFill>
              <a:schemeClr val="tx1"/>
            </a:solidFill>
          </p:grpSpPr>
          <p:sp>
            <p:nvSpPr>
              <p:cNvPr id="114" name="Google Shape;11532;p67">
                <a:extLst>
                  <a:ext uri="{FF2B5EF4-FFF2-40B4-BE49-F238E27FC236}">
                    <a16:creationId xmlns:a16="http://schemas.microsoft.com/office/drawing/2014/main" id="{A9B67366-F50F-BF00-2C88-6FB2DF42201D}"/>
                  </a:ext>
                </a:extLst>
              </p:cNvPr>
              <p:cNvSpPr/>
              <p:nvPr/>
            </p:nvSpPr>
            <p:spPr>
              <a:xfrm>
                <a:off x="2640993" y="3455227"/>
                <a:ext cx="365348" cy="267574"/>
              </a:xfrm>
              <a:custGeom>
                <a:avLst/>
                <a:gdLst/>
                <a:ahLst/>
                <a:cxnLst/>
                <a:rect l="l" t="t" r="r" b="b"/>
                <a:pathLst>
                  <a:path w="11479" h="8407" extrusionOk="0">
                    <a:moveTo>
                      <a:pt x="5168" y="2311"/>
                    </a:moveTo>
                    <a:lnTo>
                      <a:pt x="5335" y="4859"/>
                    </a:lnTo>
                    <a:lnTo>
                      <a:pt x="4620" y="4859"/>
                    </a:lnTo>
                    <a:lnTo>
                      <a:pt x="4763" y="2311"/>
                    </a:lnTo>
                    <a:close/>
                    <a:moveTo>
                      <a:pt x="6966" y="2311"/>
                    </a:moveTo>
                    <a:lnTo>
                      <a:pt x="7133" y="4859"/>
                    </a:lnTo>
                    <a:lnTo>
                      <a:pt x="6418" y="4859"/>
                    </a:lnTo>
                    <a:lnTo>
                      <a:pt x="6561" y="2311"/>
                    </a:lnTo>
                    <a:close/>
                    <a:moveTo>
                      <a:pt x="8764" y="2311"/>
                    </a:moveTo>
                    <a:lnTo>
                      <a:pt x="8931" y="4859"/>
                    </a:lnTo>
                    <a:lnTo>
                      <a:pt x="8216" y="4859"/>
                    </a:lnTo>
                    <a:lnTo>
                      <a:pt x="8371" y="2311"/>
                    </a:lnTo>
                    <a:close/>
                    <a:moveTo>
                      <a:pt x="2156" y="5894"/>
                    </a:moveTo>
                    <a:lnTo>
                      <a:pt x="2144" y="6287"/>
                    </a:lnTo>
                    <a:lnTo>
                      <a:pt x="1549" y="6287"/>
                    </a:lnTo>
                    <a:cubicBezTo>
                      <a:pt x="1453" y="6287"/>
                      <a:pt x="1382" y="6359"/>
                      <a:pt x="1382" y="6442"/>
                    </a:cubicBezTo>
                    <a:cubicBezTo>
                      <a:pt x="1382" y="6537"/>
                      <a:pt x="1453" y="6609"/>
                      <a:pt x="1549" y="6609"/>
                    </a:cubicBezTo>
                    <a:lnTo>
                      <a:pt x="2132" y="6609"/>
                    </a:lnTo>
                    <a:lnTo>
                      <a:pt x="2096" y="8073"/>
                    </a:lnTo>
                    <a:lnTo>
                      <a:pt x="822" y="8073"/>
                    </a:lnTo>
                    <a:lnTo>
                      <a:pt x="822" y="6609"/>
                    </a:lnTo>
                    <a:lnTo>
                      <a:pt x="834" y="6609"/>
                    </a:lnTo>
                    <a:cubicBezTo>
                      <a:pt x="918" y="6609"/>
                      <a:pt x="1001" y="6537"/>
                      <a:pt x="1001" y="6442"/>
                    </a:cubicBezTo>
                    <a:cubicBezTo>
                      <a:pt x="1001" y="6359"/>
                      <a:pt x="918" y="6287"/>
                      <a:pt x="834" y="6287"/>
                    </a:cubicBezTo>
                    <a:cubicBezTo>
                      <a:pt x="727" y="6287"/>
                      <a:pt x="644" y="6192"/>
                      <a:pt x="644" y="6085"/>
                    </a:cubicBezTo>
                    <a:cubicBezTo>
                      <a:pt x="644" y="5990"/>
                      <a:pt x="727" y="5894"/>
                      <a:pt x="834" y="5894"/>
                    </a:cubicBezTo>
                    <a:close/>
                    <a:moveTo>
                      <a:pt x="3382" y="334"/>
                    </a:moveTo>
                    <a:lnTo>
                      <a:pt x="3489" y="4859"/>
                    </a:lnTo>
                    <a:lnTo>
                      <a:pt x="3192" y="4859"/>
                    </a:lnTo>
                    <a:cubicBezTo>
                      <a:pt x="2894" y="4859"/>
                      <a:pt x="2668" y="5097"/>
                      <a:pt x="2668" y="5371"/>
                    </a:cubicBezTo>
                    <a:cubicBezTo>
                      <a:pt x="2668" y="5537"/>
                      <a:pt x="2739" y="5668"/>
                      <a:pt x="2846" y="5775"/>
                    </a:cubicBezTo>
                    <a:lnTo>
                      <a:pt x="2846" y="8085"/>
                    </a:lnTo>
                    <a:lnTo>
                      <a:pt x="2454" y="8085"/>
                    </a:lnTo>
                    <a:lnTo>
                      <a:pt x="2632" y="334"/>
                    </a:lnTo>
                    <a:close/>
                    <a:moveTo>
                      <a:pt x="10359" y="5180"/>
                    </a:moveTo>
                    <a:cubicBezTo>
                      <a:pt x="10466" y="5180"/>
                      <a:pt x="10550" y="5275"/>
                      <a:pt x="10550" y="5371"/>
                    </a:cubicBezTo>
                    <a:cubicBezTo>
                      <a:pt x="10550" y="5478"/>
                      <a:pt x="10466" y="5573"/>
                      <a:pt x="10359" y="5573"/>
                    </a:cubicBezTo>
                    <a:lnTo>
                      <a:pt x="10002" y="5573"/>
                    </a:lnTo>
                    <a:cubicBezTo>
                      <a:pt x="9919" y="5573"/>
                      <a:pt x="9835" y="5644"/>
                      <a:pt x="9835" y="5728"/>
                    </a:cubicBezTo>
                    <a:cubicBezTo>
                      <a:pt x="9835" y="5823"/>
                      <a:pt x="9919" y="5894"/>
                      <a:pt x="10002" y="5894"/>
                    </a:cubicBezTo>
                    <a:lnTo>
                      <a:pt x="10371" y="5894"/>
                    </a:lnTo>
                    <a:lnTo>
                      <a:pt x="10371" y="8085"/>
                    </a:lnTo>
                    <a:lnTo>
                      <a:pt x="3156" y="8085"/>
                    </a:lnTo>
                    <a:lnTo>
                      <a:pt x="3156" y="5894"/>
                    </a:lnTo>
                    <a:lnTo>
                      <a:pt x="9288" y="5894"/>
                    </a:lnTo>
                    <a:cubicBezTo>
                      <a:pt x="9383" y="5894"/>
                      <a:pt x="9454" y="5823"/>
                      <a:pt x="9454" y="5728"/>
                    </a:cubicBezTo>
                    <a:cubicBezTo>
                      <a:pt x="9454" y="5644"/>
                      <a:pt x="9383" y="5573"/>
                      <a:pt x="9288" y="5573"/>
                    </a:cubicBezTo>
                    <a:lnTo>
                      <a:pt x="3168" y="5573"/>
                    </a:lnTo>
                    <a:cubicBezTo>
                      <a:pt x="3073" y="5573"/>
                      <a:pt x="2977" y="5478"/>
                      <a:pt x="2977" y="5371"/>
                    </a:cubicBezTo>
                    <a:cubicBezTo>
                      <a:pt x="2977" y="5275"/>
                      <a:pt x="3073" y="5180"/>
                      <a:pt x="3168" y="5180"/>
                    </a:cubicBezTo>
                    <a:close/>
                    <a:moveTo>
                      <a:pt x="2489" y="1"/>
                    </a:moveTo>
                    <a:cubicBezTo>
                      <a:pt x="2394" y="1"/>
                      <a:pt x="2323" y="72"/>
                      <a:pt x="2323" y="168"/>
                    </a:cubicBezTo>
                    <a:lnTo>
                      <a:pt x="2203" y="5561"/>
                    </a:lnTo>
                    <a:lnTo>
                      <a:pt x="882" y="5561"/>
                    </a:lnTo>
                    <a:cubicBezTo>
                      <a:pt x="584" y="5561"/>
                      <a:pt x="358" y="5799"/>
                      <a:pt x="358" y="6085"/>
                    </a:cubicBezTo>
                    <a:cubicBezTo>
                      <a:pt x="358" y="6252"/>
                      <a:pt x="429" y="6383"/>
                      <a:pt x="537" y="6490"/>
                    </a:cubicBezTo>
                    <a:lnTo>
                      <a:pt x="537" y="8085"/>
                    </a:lnTo>
                    <a:lnTo>
                      <a:pt x="168" y="8085"/>
                    </a:lnTo>
                    <a:cubicBezTo>
                      <a:pt x="72" y="8085"/>
                      <a:pt x="1" y="8157"/>
                      <a:pt x="1" y="8252"/>
                    </a:cubicBezTo>
                    <a:cubicBezTo>
                      <a:pt x="1" y="8335"/>
                      <a:pt x="72" y="8407"/>
                      <a:pt x="168" y="8407"/>
                    </a:cubicBezTo>
                    <a:lnTo>
                      <a:pt x="11312" y="8407"/>
                    </a:lnTo>
                    <a:cubicBezTo>
                      <a:pt x="11395" y="8407"/>
                      <a:pt x="11478" y="8335"/>
                      <a:pt x="11478" y="8252"/>
                    </a:cubicBezTo>
                    <a:cubicBezTo>
                      <a:pt x="11431" y="8157"/>
                      <a:pt x="11359" y="8085"/>
                      <a:pt x="11264" y="8085"/>
                    </a:cubicBezTo>
                    <a:lnTo>
                      <a:pt x="10716" y="8085"/>
                    </a:lnTo>
                    <a:lnTo>
                      <a:pt x="10716" y="5775"/>
                    </a:lnTo>
                    <a:cubicBezTo>
                      <a:pt x="10824" y="5668"/>
                      <a:pt x="10895" y="5537"/>
                      <a:pt x="10895" y="5371"/>
                    </a:cubicBezTo>
                    <a:cubicBezTo>
                      <a:pt x="10895" y="5073"/>
                      <a:pt x="10657" y="4859"/>
                      <a:pt x="10371" y="4859"/>
                    </a:cubicBezTo>
                    <a:lnTo>
                      <a:pt x="9276" y="4859"/>
                    </a:lnTo>
                    <a:lnTo>
                      <a:pt x="9109" y="2132"/>
                    </a:lnTo>
                    <a:cubicBezTo>
                      <a:pt x="9109" y="2037"/>
                      <a:pt x="9038" y="1965"/>
                      <a:pt x="8942" y="1965"/>
                    </a:cubicBezTo>
                    <a:lnTo>
                      <a:pt x="8228" y="1965"/>
                    </a:lnTo>
                    <a:cubicBezTo>
                      <a:pt x="8145" y="1965"/>
                      <a:pt x="8073" y="2037"/>
                      <a:pt x="8073" y="2132"/>
                    </a:cubicBezTo>
                    <a:lnTo>
                      <a:pt x="7907" y="4859"/>
                    </a:lnTo>
                    <a:lnTo>
                      <a:pt x="7502" y="4859"/>
                    </a:lnTo>
                    <a:lnTo>
                      <a:pt x="7335" y="2132"/>
                    </a:lnTo>
                    <a:cubicBezTo>
                      <a:pt x="7335" y="2037"/>
                      <a:pt x="7264" y="1965"/>
                      <a:pt x="7168" y="1965"/>
                    </a:cubicBezTo>
                    <a:lnTo>
                      <a:pt x="6466" y="1965"/>
                    </a:lnTo>
                    <a:cubicBezTo>
                      <a:pt x="6371" y="1965"/>
                      <a:pt x="6299" y="2037"/>
                      <a:pt x="6299" y="2132"/>
                    </a:cubicBezTo>
                    <a:lnTo>
                      <a:pt x="6133" y="4859"/>
                    </a:lnTo>
                    <a:lnTo>
                      <a:pt x="5728" y="4859"/>
                    </a:lnTo>
                    <a:lnTo>
                      <a:pt x="5561" y="2132"/>
                    </a:lnTo>
                    <a:cubicBezTo>
                      <a:pt x="5561" y="2037"/>
                      <a:pt x="5490" y="1965"/>
                      <a:pt x="5406" y="1965"/>
                    </a:cubicBezTo>
                    <a:lnTo>
                      <a:pt x="4620" y="1965"/>
                    </a:lnTo>
                    <a:cubicBezTo>
                      <a:pt x="4525" y="1965"/>
                      <a:pt x="4454" y="2037"/>
                      <a:pt x="4454" y="2132"/>
                    </a:cubicBezTo>
                    <a:lnTo>
                      <a:pt x="4287" y="4859"/>
                    </a:lnTo>
                    <a:lnTo>
                      <a:pt x="3823" y="4859"/>
                    </a:lnTo>
                    <a:lnTo>
                      <a:pt x="3716" y="168"/>
                    </a:lnTo>
                    <a:cubicBezTo>
                      <a:pt x="3716" y="72"/>
                      <a:pt x="3644" y="1"/>
                      <a:pt x="356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5" name="Google Shape;11533;p67">
                <a:extLst>
                  <a:ext uri="{FF2B5EF4-FFF2-40B4-BE49-F238E27FC236}">
                    <a16:creationId xmlns:a16="http://schemas.microsoft.com/office/drawing/2014/main" id="{D04B1256-F16B-7D70-4957-7FAB2E3579AD}"/>
                  </a:ext>
                </a:extLst>
              </p:cNvPr>
              <p:cNvSpPr/>
              <p:nvPr/>
            </p:nvSpPr>
            <p:spPr>
              <a:xfrm>
                <a:off x="2724763" y="3357835"/>
                <a:ext cx="280050" cy="136476"/>
              </a:xfrm>
              <a:custGeom>
                <a:avLst/>
                <a:gdLst/>
                <a:ahLst/>
                <a:cxnLst/>
                <a:rect l="l" t="t" r="r" b="b"/>
                <a:pathLst>
                  <a:path w="8799" h="4288" extrusionOk="0">
                    <a:moveTo>
                      <a:pt x="6656" y="1"/>
                    </a:moveTo>
                    <a:cubicBezTo>
                      <a:pt x="6156" y="1"/>
                      <a:pt x="5656" y="180"/>
                      <a:pt x="5286" y="501"/>
                    </a:cubicBezTo>
                    <a:cubicBezTo>
                      <a:pt x="5001" y="299"/>
                      <a:pt x="4679" y="168"/>
                      <a:pt x="4322" y="168"/>
                    </a:cubicBezTo>
                    <a:cubicBezTo>
                      <a:pt x="3905" y="168"/>
                      <a:pt x="3501" y="334"/>
                      <a:pt x="3191" y="632"/>
                    </a:cubicBezTo>
                    <a:cubicBezTo>
                      <a:pt x="3036" y="561"/>
                      <a:pt x="2858" y="525"/>
                      <a:pt x="2691" y="525"/>
                    </a:cubicBezTo>
                    <a:cubicBezTo>
                      <a:pt x="2191" y="525"/>
                      <a:pt x="1750" y="822"/>
                      <a:pt x="1548" y="1275"/>
                    </a:cubicBezTo>
                    <a:cubicBezTo>
                      <a:pt x="1476" y="1263"/>
                      <a:pt x="1417" y="1239"/>
                      <a:pt x="1346" y="1239"/>
                    </a:cubicBezTo>
                    <a:cubicBezTo>
                      <a:pt x="1000" y="1239"/>
                      <a:pt x="703" y="1465"/>
                      <a:pt x="584" y="1775"/>
                    </a:cubicBezTo>
                    <a:lnTo>
                      <a:pt x="524" y="1775"/>
                    </a:lnTo>
                    <a:cubicBezTo>
                      <a:pt x="226" y="1775"/>
                      <a:pt x="0" y="2013"/>
                      <a:pt x="0" y="2299"/>
                    </a:cubicBezTo>
                    <a:cubicBezTo>
                      <a:pt x="0" y="2394"/>
                      <a:pt x="72" y="2466"/>
                      <a:pt x="167" y="2466"/>
                    </a:cubicBezTo>
                    <a:cubicBezTo>
                      <a:pt x="262" y="2466"/>
                      <a:pt x="333" y="2394"/>
                      <a:pt x="333" y="2299"/>
                    </a:cubicBezTo>
                    <a:cubicBezTo>
                      <a:pt x="333" y="2192"/>
                      <a:pt x="417" y="2108"/>
                      <a:pt x="524" y="2108"/>
                    </a:cubicBezTo>
                    <a:cubicBezTo>
                      <a:pt x="560" y="2108"/>
                      <a:pt x="584" y="2120"/>
                      <a:pt x="631" y="2144"/>
                    </a:cubicBezTo>
                    <a:cubicBezTo>
                      <a:pt x="649" y="2156"/>
                      <a:pt x="679" y="2162"/>
                      <a:pt x="710" y="2162"/>
                    </a:cubicBezTo>
                    <a:cubicBezTo>
                      <a:pt x="741" y="2162"/>
                      <a:pt x="774" y="2156"/>
                      <a:pt x="798" y="2144"/>
                    </a:cubicBezTo>
                    <a:cubicBezTo>
                      <a:pt x="834" y="2108"/>
                      <a:pt x="881" y="2061"/>
                      <a:pt x="881" y="2001"/>
                    </a:cubicBezTo>
                    <a:cubicBezTo>
                      <a:pt x="893" y="1763"/>
                      <a:pt x="1095" y="1573"/>
                      <a:pt x="1346" y="1573"/>
                    </a:cubicBezTo>
                    <a:cubicBezTo>
                      <a:pt x="1417" y="1573"/>
                      <a:pt x="1488" y="1584"/>
                      <a:pt x="1572" y="1632"/>
                    </a:cubicBezTo>
                    <a:cubicBezTo>
                      <a:pt x="1591" y="1652"/>
                      <a:pt x="1618" y="1661"/>
                      <a:pt x="1646" y="1661"/>
                    </a:cubicBezTo>
                    <a:cubicBezTo>
                      <a:pt x="1669" y="1661"/>
                      <a:pt x="1693" y="1655"/>
                      <a:pt x="1715" y="1644"/>
                    </a:cubicBezTo>
                    <a:cubicBezTo>
                      <a:pt x="1762" y="1632"/>
                      <a:pt x="1810" y="1584"/>
                      <a:pt x="1822" y="1525"/>
                    </a:cubicBezTo>
                    <a:cubicBezTo>
                      <a:pt x="1929" y="1132"/>
                      <a:pt x="2286" y="858"/>
                      <a:pt x="2703" y="858"/>
                    </a:cubicBezTo>
                    <a:cubicBezTo>
                      <a:pt x="2846" y="858"/>
                      <a:pt x="3012" y="906"/>
                      <a:pt x="3143" y="977"/>
                    </a:cubicBezTo>
                    <a:cubicBezTo>
                      <a:pt x="3173" y="997"/>
                      <a:pt x="3207" y="1007"/>
                      <a:pt x="3240" y="1007"/>
                    </a:cubicBezTo>
                    <a:cubicBezTo>
                      <a:pt x="3286" y="1007"/>
                      <a:pt x="3330" y="988"/>
                      <a:pt x="3358" y="953"/>
                    </a:cubicBezTo>
                    <a:cubicBezTo>
                      <a:pt x="3596" y="668"/>
                      <a:pt x="3953" y="501"/>
                      <a:pt x="4322" y="501"/>
                    </a:cubicBezTo>
                    <a:cubicBezTo>
                      <a:pt x="4632" y="501"/>
                      <a:pt x="4941" y="620"/>
                      <a:pt x="5167" y="834"/>
                    </a:cubicBezTo>
                    <a:cubicBezTo>
                      <a:pt x="5197" y="864"/>
                      <a:pt x="5239" y="879"/>
                      <a:pt x="5281" y="879"/>
                    </a:cubicBezTo>
                    <a:cubicBezTo>
                      <a:pt x="5322" y="879"/>
                      <a:pt x="5364" y="864"/>
                      <a:pt x="5394" y="834"/>
                    </a:cubicBezTo>
                    <a:cubicBezTo>
                      <a:pt x="5739" y="501"/>
                      <a:pt x="6179" y="322"/>
                      <a:pt x="6644" y="322"/>
                    </a:cubicBezTo>
                    <a:cubicBezTo>
                      <a:pt x="7644" y="322"/>
                      <a:pt x="8454" y="1144"/>
                      <a:pt x="8454" y="2144"/>
                    </a:cubicBezTo>
                    <a:cubicBezTo>
                      <a:pt x="8454" y="3132"/>
                      <a:pt x="7644" y="3954"/>
                      <a:pt x="6644" y="3954"/>
                    </a:cubicBezTo>
                    <a:cubicBezTo>
                      <a:pt x="5977" y="3954"/>
                      <a:pt x="5382" y="3597"/>
                      <a:pt x="5048" y="3013"/>
                    </a:cubicBezTo>
                    <a:cubicBezTo>
                      <a:pt x="5013" y="2960"/>
                      <a:pt x="4957" y="2933"/>
                      <a:pt x="4891" y="2933"/>
                    </a:cubicBezTo>
                    <a:cubicBezTo>
                      <a:pt x="4869" y="2933"/>
                      <a:pt x="4846" y="2936"/>
                      <a:pt x="4822" y="2942"/>
                    </a:cubicBezTo>
                    <a:cubicBezTo>
                      <a:pt x="4667" y="3013"/>
                      <a:pt x="4489" y="3061"/>
                      <a:pt x="4286" y="3061"/>
                    </a:cubicBezTo>
                    <a:cubicBezTo>
                      <a:pt x="3917" y="3061"/>
                      <a:pt x="3572" y="2894"/>
                      <a:pt x="3322" y="2620"/>
                    </a:cubicBezTo>
                    <a:cubicBezTo>
                      <a:pt x="3284" y="2583"/>
                      <a:pt x="3242" y="2559"/>
                      <a:pt x="3198" y="2559"/>
                    </a:cubicBezTo>
                    <a:cubicBezTo>
                      <a:pt x="3172" y="2559"/>
                      <a:pt x="3146" y="2567"/>
                      <a:pt x="3120" y="2585"/>
                    </a:cubicBezTo>
                    <a:cubicBezTo>
                      <a:pt x="2977" y="2656"/>
                      <a:pt x="2822" y="2704"/>
                      <a:pt x="2667" y="2704"/>
                    </a:cubicBezTo>
                    <a:cubicBezTo>
                      <a:pt x="2381" y="2704"/>
                      <a:pt x="2119" y="2573"/>
                      <a:pt x="1953" y="2346"/>
                    </a:cubicBezTo>
                    <a:cubicBezTo>
                      <a:pt x="1929" y="2299"/>
                      <a:pt x="1881" y="2287"/>
                      <a:pt x="1822" y="2287"/>
                    </a:cubicBezTo>
                    <a:cubicBezTo>
                      <a:pt x="1774" y="2287"/>
                      <a:pt x="1715" y="2323"/>
                      <a:pt x="1691" y="2346"/>
                    </a:cubicBezTo>
                    <a:cubicBezTo>
                      <a:pt x="1596" y="2466"/>
                      <a:pt x="1465" y="2525"/>
                      <a:pt x="1334" y="2525"/>
                    </a:cubicBezTo>
                    <a:cubicBezTo>
                      <a:pt x="1238" y="2525"/>
                      <a:pt x="1167" y="2596"/>
                      <a:pt x="1167" y="2692"/>
                    </a:cubicBezTo>
                    <a:cubicBezTo>
                      <a:pt x="1167" y="2775"/>
                      <a:pt x="1238" y="2858"/>
                      <a:pt x="1334" y="2858"/>
                    </a:cubicBezTo>
                    <a:cubicBezTo>
                      <a:pt x="1512" y="2858"/>
                      <a:pt x="1667" y="2799"/>
                      <a:pt x="1822" y="2692"/>
                    </a:cubicBezTo>
                    <a:cubicBezTo>
                      <a:pt x="2060" y="2918"/>
                      <a:pt x="2358" y="3037"/>
                      <a:pt x="2679" y="3037"/>
                    </a:cubicBezTo>
                    <a:cubicBezTo>
                      <a:pt x="2846" y="3037"/>
                      <a:pt x="3024" y="3001"/>
                      <a:pt x="3179" y="2930"/>
                    </a:cubicBezTo>
                    <a:cubicBezTo>
                      <a:pt x="3477" y="3228"/>
                      <a:pt x="3870" y="3394"/>
                      <a:pt x="4310" y="3394"/>
                    </a:cubicBezTo>
                    <a:cubicBezTo>
                      <a:pt x="4489" y="3394"/>
                      <a:pt x="4667" y="3358"/>
                      <a:pt x="4846" y="3299"/>
                    </a:cubicBezTo>
                    <a:cubicBezTo>
                      <a:pt x="5227" y="3906"/>
                      <a:pt x="5918" y="4287"/>
                      <a:pt x="6644" y="4287"/>
                    </a:cubicBezTo>
                    <a:cubicBezTo>
                      <a:pt x="7834" y="4287"/>
                      <a:pt x="8787" y="3311"/>
                      <a:pt x="8787" y="2144"/>
                    </a:cubicBezTo>
                    <a:cubicBezTo>
                      <a:pt x="8799" y="965"/>
                      <a:pt x="7834" y="1"/>
                      <a:pt x="665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6" name="Google Shape;11534;p67">
                <a:extLst>
                  <a:ext uri="{FF2B5EF4-FFF2-40B4-BE49-F238E27FC236}">
                    <a16:creationId xmlns:a16="http://schemas.microsoft.com/office/drawing/2014/main" id="{F2A47024-54D6-719E-5CF6-10752627A02F}"/>
                  </a:ext>
                </a:extLst>
              </p:cNvPr>
              <p:cNvSpPr/>
              <p:nvPr/>
            </p:nvSpPr>
            <p:spPr>
              <a:xfrm>
                <a:off x="2771359" y="3655327"/>
                <a:ext cx="10280" cy="21611"/>
              </a:xfrm>
              <a:custGeom>
                <a:avLst/>
                <a:gdLst/>
                <a:ahLst/>
                <a:cxnLst/>
                <a:rect l="l" t="t" r="r" b="b"/>
                <a:pathLst>
                  <a:path w="323" h="679" extrusionOk="0">
                    <a:moveTo>
                      <a:pt x="167" y="0"/>
                    </a:moveTo>
                    <a:cubicBezTo>
                      <a:pt x="72" y="0"/>
                      <a:pt x="1" y="72"/>
                      <a:pt x="1" y="155"/>
                    </a:cubicBezTo>
                    <a:lnTo>
                      <a:pt x="1" y="512"/>
                    </a:lnTo>
                    <a:cubicBezTo>
                      <a:pt x="1" y="608"/>
                      <a:pt x="72" y="679"/>
                      <a:pt x="167" y="679"/>
                    </a:cubicBezTo>
                    <a:cubicBezTo>
                      <a:pt x="251" y="679"/>
                      <a:pt x="322" y="608"/>
                      <a:pt x="322" y="512"/>
                    </a:cubicBezTo>
                    <a:lnTo>
                      <a:pt x="322" y="179"/>
                    </a:lnTo>
                    <a:cubicBezTo>
                      <a:pt x="322" y="72"/>
                      <a:pt x="251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7" name="Google Shape;11535;p67">
                <a:extLst>
                  <a:ext uri="{FF2B5EF4-FFF2-40B4-BE49-F238E27FC236}">
                    <a16:creationId xmlns:a16="http://schemas.microsoft.com/office/drawing/2014/main" id="{10A5CEC8-01F8-EEFD-C5DC-4E0BD78AAA0C}"/>
                  </a:ext>
                </a:extLst>
              </p:cNvPr>
              <p:cNvSpPr/>
              <p:nvPr/>
            </p:nvSpPr>
            <p:spPr>
              <a:xfrm>
                <a:off x="2794084" y="3655327"/>
                <a:ext cx="10280" cy="21611"/>
              </a:xfrm>
              <a:custGeom>
                <a:avLst/>
                <a:gdLst/>
                <a:ahLst/>
                <a:cxnLst/>
                <a:rect l="l" t="t" r="r" b="b"/>
                <a:pathLst>
                  <a:path w="323" h="679" extrusionOk="0">
                    <a:moveTo>
                      <a:pt x="168" y="0"/>
                    </a:moveTo>
                    <a:cubicBezTo>
                      <a:pt x="72" y="0"/>
                      <a:pt x="1" y="72"/>
                      <a:pt x="1" y="155"/>
                    </a:cubicBezTo>
                    <a:lnTo>
                      <a:pt x="1" y="512"/>
                    </a:lnTo>
                    <a:cubicBezTo>
                      <a:pt x="1" y="608"/>
                      <a:pt x="72" y="679"/>
                      <a:pt x="168" y="679"/>
                    </a:cubicBezTo>
                    <a:cubicBezTo>
                      <a:pt x="251" y="679"/>
                      <a:pt x="322" y="608"/>
                      <a:pt x="322" y="512"/>
                    </a:cubicBezTo>
                    <a:lnTo>
                      <a:pt x="322" y="179"/>
                    </a:lnTo>
                    <a:cubicBezTo>
                      <a:pt x="322" y="72"/>
                      <a:pt x="251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Google Shape;11536;p67">
                <a:extLst>
                  <a:ext uri="{FF2B5EF4-FFF2-40B4-BE49-F238E27FC236}">
                    <a16:creationId xmlns:a16="http://schemas.microsoft.com/office/drawing/2014/main" id="{E9353410-F847-E2E8-DBFB-370150AEC85E}"/>
                  </a:ext>
                </a:extLst>
              </p:cNvPr>
              <p:cNvSpPr/>
              <p:nvPr/>
            </p:nvSpPr>
            <p:spPr>
              <a:xfrm>
                <a:off x="2816840" y="3655327"/>
                <a:ext cx="11012" cy="21611"/>
              </a:xfrm>
              <a:custGeom>
                <a:avLst/>
                <a:gdLst/>
                <a:ahLst/>
                <a:cxnLst/>
                <a:rect l="l" t="t" r="r" b="b"/>
                <a:pathLst>
                  <a:path w="346" h="679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55"/>
                    </a:cubicBezTo>
                    <a:lnTo>
                      <a:pt x="0" y="512"/>
                    </a:lnTo>
                    <a:cubicBezTo>
                      <a:pt x="0" y="608"/>
                      <a:pt x="72" y="679"/>
                      <a:pt x="167" y="679"/>
                    </a:cubicBezTo>
                    <a:cubicBezTo>
                      <a:pt x="250" y="679"/>
                      <a:pt x="322" y="608"/>
                      <a:pt x="322" y="512"/>
                    </a:cubicBezTo>
                    <a:lnTo>
                      <a:pt x="322" y="179"/>
                    </a:lnTo>
                    <a:cubicBezTo>
                      <a:pt x="346" y="72"/>
                      <a:pt x="262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9" name="Google Shape;11537;p67">
                <a:extLst>
                  <a:ext uri="{FF2B5EF4-FFF2-40B4-BE49-F238E27FC236}">
                    <a16:creationId xmlns:a16="http://schemas.microsoft.com/office/drawing/2014/main" id="{E6DAAECC-0332-52D8-6C28-6F22BB6431F3}"/>
                  </a:ext>
                </a:extLst>
              </p:cNvPr>
              <p:cNvSpPr/>
              <p:nvPr/>
            </p:nvSpPr>
            <p:spPr>
              <a:xfrm>
                <a:off x="2839947" y="3655327"/>
                <a:ext cx="10630" cy="21611"/>
              </a:xfrm>
              <a:custGeom>
                <a:avLst/>
                <a:gdLst/>
                <a:ahLst/>
                <a:cxnLst/>
                <a:rect l="l" t="t" r="r" b="b"/>
                <a:pathLst>
                  <a:path w="334" h="679" extrusionOk="0">
                    <a:moveTo>
                      <a:pt x="167" y="0"/>
                    </a:moveTo>
                    <a:cubicBezTo>
                      <a:pt x="72" y="0"/>
                      <a:pt x="1" y="72"/>
                      <a:pt x="1" y="155"/>
                    </a:cubicBezTo>
                    <a:lnTo>
                      <a:pt x="1" y="512"/>
                    </a:lnTo>
                    <a:cubicBezTo>
                      <a:pt x="1" y="608"/>
                      <a:pt x="72" y="679"/>
                      <a:pt x="167" y="679"/>
                    </a:cubicBezTo>
                    <a:cubicBezTo>
                      <a:pt x="251" y="679"/>
                      <a:pt x="334" y="608"/>
                      <a:pt x="334" y="512"/>
                    </a:cubicBezTo>
                    <a:lnTo>
                      <a:pt x="334" y="179"/>
                    </a:lnTo>
                    <a:cubicBezTo>
                      <a:pt x="334" y="72"/>
                      <a:pt x="251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0" name="Google Shape;11538;p67">
                <a:extLst>
                  <a:ext uri="{FF2B5EF4-FFF2-40B4-BE49-F238E27FC236}">
                    <a16:creationId xmlns:a16="http://schemas.microsoft.com/office/drawing/2014/main" id="{50AC4E73-D568-7835-04DA-432AFDFB5CB9}"/>
                  </a:ext>
                </a:extLst>
              </p:cNvPr>
              <p:cNvSpPr/>
              <p:nvPr/>
            </p:nvSpPr>
            <p:spPr>
              <a:xfrm>
                <a:off x="2862672" y="3655327"/>
                <a:ext cx="10662" cy="21611"/>
              </a:xfrm>
              <a:custGeom>
                <a:avLst/>
                <a:gdLst/>
                <a:ahLst/>
                <a:cxnLst/>
                <a:rect l="l" t="t" r="r" b="b"/>
                <a:pathLst>
                  <a:path w="335" h="679" extrusionOk="0">
                    <a:moveTo>
                      <a:pt x="168" y="0"/>
                    </a:moveTo>
                    <a:cubicBezTo>
                      <a:pt x="72" y="0"/>
                      <a:pt x="1" y="72"/>
                      <a:pt x="1" y="155"/>
                    </a:cubicBezTo>
                    <a:lnTo>
                      <a:pt x="1" y="512"/>
                    </a:lnTo>
                    <a:cubicBezTo>
                      <a:pt x="1" y="608"/>
                      <a:pt x="72" y="679"/>
                      <a:pt x="168" y="679"/>
                    </a:cubicBezTo>
                    <a:cubicBezTo>
                      <a:pt x="251" y="679"/>
                      <a:pt x="334" y="608"/>
                      <a:pt x="334" y="512"/>
                    </a:cubicBezTo>
                    <a:lnTo>
                      <a:pt x="334" y="179"/>
                    </a:lnTo>
                    <a:cubicBezTo>
                      <a:pt x="334" y="72"/>
                      <a:pt x="251" y="0"/>
                      <a:pt x="16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1" name="Google Shape;11539;p67">
                <a:extLst>
                  <a:ext uri="{FF2B5EF4-FFF2-40B4-BE49-F238E27FC236}">
                    <a16:creationId xmlns:a16="http://schemas.microsoft.com/office/drawing/2014/main" id="{0D0BEB47-69D7-AD64-2CD8-BD9C16F8DBEA}"/>
                  </a:ext>
                </a:extLst>
              </p:cNvPr>
              <p:cNvSpPr/>
              <p:nvPr/>
            </p:nvSpPr>
            <p:spPr>
              <a:xfrm>
                <a:off x="2885429" y="3655327"/>
                <a:ext cx="11012" cy="21611"/>
              </a:xfrm>
              <a:custGeom>
                <a:avLst/>
                <a:gdLst/>
                <a:ahLst/>
                <a:cxnLst/>
                <a:rect l="l" t="t" r="r" b="b"/>
                <a:pathLst>
                  <a:path w="346" h="679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55"/>
                    </a:cubicBezTo>
                    <a:lnTo>
                      <a:pt x="0" y="512"/>
                    </a:lnTo>
                    <a:cubicBezTo>
                      <a:pt x="0" y="608"/>
                      <a:pt x="72" y="679"/>
                      <a:pt x="167" y="679"/>
                    </a:cubicBezTo>
                    <a:cubicBezTo>
                      <a:pt x="250" y="679"/>
                      <a:pt x="334" y="608"/>
                      <a:pt x="334" y="512"/>
                    </a:cubicBezTo>
                    <a:lnTo>
                      <a:pt x="334" y="179"/>
                    </a:lnTo>
                    <a:cubicBezTo>
                      <a:pt x="346" y="72"/>
                      <a:pt x="274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2" name="Google Shape;11540;p67">
                <a:extLst>
                  <a:ext uri="{FF2B5EF4-FFF2-40B4-BE49-F238E27FC236}">
                    <a16:creationId xmlns:a16="http://schemas.microsoft.com/office/drawing/2014/main" id="{21CAF569-2CB8-9C1B-2816-D605A641E3CF}"/>
                  </a:ext>
                </a:extLst>
              </p:cNvPr>
              <p:cNvSpPr/>
              <p:nvPr/>
            </p:nvSpPr>
            <p:spPr>
              <a:xfrm>
                <a:off x="2908535" y="3655327"/>
                <a:ext cx="10630" cy="21611"/>
              </a:xfrm>
              <a:custGeom>
                <a:avLst/>
                <a:gdLst/>
                <a:ahLst/>
                <a:cxnLst/>
                <a:rect l="l" t="t" r="r" b="b"/>
                <a:pathLst>
                  <a:path w="334" h="679" extrusionOk="0">
                    <a:moveTo>
                      <a:pt x="167" y="0"/>
                    </a:moveTo>
                    <a:cubicBezTo>
                      <a:pt x="84" y="0"/>
                      <a:pt x="1" y="72"/>
                      <a:pt x="1" y="155"/>
                    </a:cubicBezTo>
                    <a:lnTo>
                      <a:pt x="1" y="512"/>
                    </a:lnTo>
                    <a:cubicBezTo>
                      <a:pt x="1" y="608"/>
                      <a:pt x="84" y="679"/>
                      <a:pt x="167" y="679"/>
                    </a:cubicBezTo>
                    <a:cubicBezTo>
                      <a:pt x="263" y="679"/>
                      <a:pt x="334" y="608"/>
                      <a:pt x="334" y="512"/>
                    </a:cubicBezTo>
                    <a:lnTo>
                      <a:pt x="334" y="179"/>
                    </a:lnTo>
                    <a:cubicBezTo>
                      <a:pt x="334" y="72"/>
                      <a:pt x="263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3" name="Google Shape;11541;p67">
                <a:extLst>
                  <a:ext uri="{FF2B5EF4-FFF2-40B4-BE49-F238E27FC236}">
                    <a16:creationId xmlns:a16="http://schemas.microsoft.com/office/drawing/2014/main" id="{457AD543-C0D8-8093-CFA9-C932DE4F237B}"/>
                  </a:ext>
                </a:extLst>
              </p:cNvPr>
              <p:cNvSpPr/>
              <p:nvPr/>
            </p:nvSpPr>
            <p:spPr>
              <a:xfrm>
                <a:off x="2931292" y="3655327"/>
                <a:ext cx="10630" cy="21611"/>
              </a:xfrm>
              <a:custGeom>
                <a:avLst/>
                <a:gdLst/>
                <a:ahLst/>
                <a:cxnLst/>
                <a:rect l="l" t="t" r="r" b="b"/>
                <a:pathLst>
                  <a:path w="334" h="679" extrusionOk="0">
                    <a:moveTo>
                      <a:pt x="167" y="0"/>
                    </a:moveTo>
                    <a:cubicBezTo>
                      <a:pt x="71" y="0"/>
                      <a:pt x="0" y="72"/>
                      <a:pt x="0" y="155"/>
                    </a:cubicBezTo>
                    <a:lnTo>
                      <a:pt x="0" y="512"/>
                    </a:lnTo>
                    <a:cubicBezTo>
                      <a:pt x="0" y="608"/>
                      <a:pt x="71" y="679"/>
                      <a:pt x="167" y="679"/>
                    </a:cubicBezTo>
                    <a:cubicBezTo>
                      <a:pt x="262" y="679"/>
                      <a:pt x="333" y="608"/>
                      <a:pt x="333" y="512"/>
                    </a:cubicBezTo>
                    <a:lnTo>
                      <a:pt x="333" y="179"/>
                    </a:lnTo>
                    <a:cubicBezTo>
                      <a:pt x="333" y="72"/>
                      <a:pt x="262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133" name="Conector reto 132">
            <a:extLst>
              <a:ext uri="{FF2B5EF4-FFF2-40B4-BE49-F238E27FC236}">
                <a16:creationId xmlns:a16="http://schemas.microsoft.com/office/drawing/2014/main" id="{E61DA418-2248-BE92-0F8C-B144BAFE03D6}"/>
              </a:ext>
            </a:extLst>
          </p:cNvPr>
          <p:cNvCxnSpPr>
            <a:cxnSpLocks/>
          </p:cNvCxnSpPr>
          <p:nvPr/>
        </p:nvCxnSpPr>
        <p:spPr>
          <a:xfrm>
            <a:off x="6433088" y="1139252"/>
            <a:ext cx="39192" cy="5225096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4">
            <a:extLst>
              <a:ext uri="{FF2B5EF4-FFF2-40B4-BE49-F238E27FC236}">
                <a16:creationId xmlns:a16="http://schemas.microsoft.com/office/drawing/2014/main" id="{79BD1739-4267-311F-A478-56F744258C1F}"/>
              </a:ext>
            </a:extLst>
          </p:cNvPr>
          <p:cNvSpPr txBox="1"/>
          <p:nvPr/>
        </p:nvSpPr>
        <p:spPr>
          <a:xfrm>
            <a:off x="401656" y="2171317"/>
            <a:ext cx="19517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BR" sz="1200" b="1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Fases do Projeto</a:t>
            </a:r>
          </a:p>
        </p:txBody>
      </p:sp>
      <p:pic>
        <p:nvPicPr>
          <p:cNvPr id="138" name="Gráfico 137" descr="Fluxograma estrutura de tópicos">
            <a:extLst>
              <a:ext uri="{FF2B5EF4-FFF2-40B4-BE49-F238E27FC236}">
                <a16:creationId xmlns:a16="http://schemas.microsoft.com/office/drawing/2014/main" id="{D983A0AC-A05F-600E-3D95-9C72967DB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5615" y="2357496"/>
            <a:ext cx="427320" cy="427318"/>
          </a:xfrm>
          <a:prstGeom prst="rect">
            <a:avLst/>
          </a:prstGeom>
        </p:spPr>
      </p:pic>
      <p:sp>
        <p:nvSpPr>
          <p:cNvPr id="139" name="TextBox 4">
            <a:extLst>
              <a:ext uri="{FF2B5EF4-FFF2-40B4-BE49-F238E27FC236}">
                <a16:creationId xmlns:a16="http://schemas.microsoft.com/office/drawing/2014/main" id="{DAB10A80-A111-99BC-0298-512859817436}"/>
              </a:ext>
            </a:extLst>
          </p:cNvPr>
          <p:cNvSpPr txBox="1"/>
          <p:nvPr/>
        </p:nvSpPr>
        <p:spPr>
          <a:xfrm>
            <a:off x="3198969" y="2320516"/>
            <a:ext cx="3226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BR" sz="1200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Revisão da estrutura alinhada à estratégia das operações</a:t>
            </a:r>
          </a:p>
        </p:txBody>
      </p:sp>
      <p:sp>
        <p:nvSpPr>
          <p:cNvPr id="142" name="TextBox 4">
            <a:extLst>
              <a:ext uri="{FF2B5EF4-FFF2-40B4-BE49-F238E27FC236}">
                <a16:creationId xmlns:a16="http://schemas.microsoft.com/office/drawing/2014/main" id="{E7647AD3-554F-92E2-9D96-361DF0BD6CA7}"/>
              </a:ext>
            </a:extLst>
          </p:cNvPr>
          <p:cNvSpPr txBox="1"/>
          <p:nvPr/>
        </p:nvSpPr>
        <p:spPr>
          <a:xfrm>
            <a:off x="547615" y="4606541"/>
            <a:ext cx="5785599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217"/>
            <a:r>
              <a:rPr lang="pt-BR" sz="11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OBZ (Orçamento Base Zero)</a:t>
            </a:r>
          </a:p>
          <a:p>
            <a:pPr defTabSz="914217"/>
            <a:r>
              <a:rPr lang="pt-BR" sz="11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Implementação de um processo orçamentário que exige que as organizações justifiquem os gastos a partir dos retornos projetados.</a:t>
            </a:r>
          </a:p>
          <a:p>
            <a:pPr defTabSz="914217"/>
            <a:r>
              <a:rPr lang="pt-BR" sz="11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MVA (Mapeamento de Valor da Atividade)</a:t>
            </a:r>
          </a:p>
          <a:p>
            <a:pPr defTabSz="914217"/>
            <a:r>
              <a:rPr lang="pt-BR" sz="11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Mapeamento do esforço, valor e criticidade das atividades.</a:t>
            </a:r>
          </a:p>
          <a:p>
            <a:pPr defTabSz="914217"/>
            <a:r>
              <a:rPr lang="pt-BR" sz="11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GMD (Gestão Matricial de Despesas)</a:t>
            </a:r>
          </a:p>
          <a:p>
            <a:pPr defTabSz="914217"/>
            <a:r>
              <a:rPr lang="pt-BR" sz="11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Planejamento financeiro, orçamentário das despesas buscando otimização os processos.</a:t>
            </a:r>
          </a:p>
          <a:p>
            <a:pPr defTabSz="914217"/>
            <a:r>
              <a:rPr lang="pt-BR" sz="11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Melhoria e Simplificação de Processos</a:t>
            </a:r>
          </a:p>
          <a:p>
            <a:pPr defTabSz="914217"/>
            <a:r>
              <a:rPr lang="pt-BR" sz="11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Lato" panose="020F0502020204030203" pitchFamily="34" charset="0"/>
                <a:cs typeface="Segoe UI" panose="020B0502040204020203" pitchFamily="34" charset="0"/>
              </a:rPr>
              <a:t>Análise e melhoria dos modelos, processos e fluxos organizacionais para e eficiência.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8D18195-58E2-3F5C-E5E2-F64B8BFBBB76}"/>
              </a:ext>
            </a:extLst>
          </p:cNvPr>
          <p:cNvGrpSpPr/>
          <p:nvPr/>
        </p:nvGrpSpPr>
        <p:grpSpPr>
          <a:xfrm>
            <a:off x="6617908" y="4827711"/>
            <a:ext cx="5351601" cy="1363228"/>
            <a:chOff x="6617908" y="4827710"/>
            <a:chExt cx="5351601" cy="158834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D50D6830-CCC6-9CDB-C201-2C697A3D4EA8}"/>
                </a:ext>
              </a:extLst>
            </p:cNvPr>
            <p:cNvSpPr/>
            <p:nvPr/>
          </p:nvSpPr>
          <p:spPr>
            <a:xfrm>
              <a:off x="6617908" y="4827710"/>
              <a:ext cx="5172436" cy="15883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TextBox 4">
              <a:extLst>
                <a:ext uri="{FF2B5EF4-FFF2-40B4-BE49-F238E27FC236}">
                  <a16:creationId xmlns:a16="http://schemas.microsoft.com/office/drawing/2014/main" id="{A664A21E-2720-8C4E-4927-6A50B5599712}"/>
                </a:ext>
              </a:extLst>
            </p:cNvPr>
            <p:cNvSpPr txBox="1"/>
            <p:nvPr/>
          </p:nvSpPr>
          <p:spPr>
            <a:xfrm>
              <a:off x="7429314" y="4946629"/>
              <a:ext cx="825611" cy="3227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/>
              <a:r>
                <a:rPr lang="pt-BR" sz="1200" b="1">
                  <a:latin typeface="Segoe UI" panose="020B0502040204020203" pitchFamily="34" charset="0"/>
                  <a:ea typeface="Lato" panose="020F0502020204030203" pitchFamily="34" charset="0"/>
                  <a:cs typeface="Segoe UI" panose="020B0502040204020203" pitchFamily="34" charset="0"/>
                </a:rPr>
                <a:t>Serviços:</a:t>
              </a:r>
            </a:p>
          </p:txBody>
        </p:sp>
        <p:sp>
          <p:nvSpPr>
            <p:cNvPr id="125" name="CaixaDeTexto 124">
              <a:extLst>
                <a:ext uri="{FF2B5EF4-FFF2-40B4-BE49-F238E27FC236}">
                  <a16:creationId xmlns:a16="http://schemas.microsoft.com/office/drawing/2014/main" id="{7C1215C1-4130-8305-6EC5-DD63706B1C62}"/>
                </a:ext>
              </a:extLst>
            </p:cNvPr>
            <p:cNvSpPr txBox="1"/>
            <p:nvPr/>
          </p:nvSpPr>
          <p:spPr>
            <a:xfrm>
              <a:off x="6758356" y="5426571"/>
              <a:ext cx="2520000" cy="9682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914217">
                <a:defRPr sz="1400" b="1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Renegociações de contratos redução </a:t>
              </a:r>
              <a:r>
                <a:rPr lang="pt-BR" sz="12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R$ 20 MM</a:t>
              </a:r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/ano</a:t>
              </a:r>
            </a:p>
            <a:p>
              <a:endParaRPr lang="pt-BR" sz="12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Segmento de </a:t>
              </a:r>
              <a:r>
                <a:rPr lang="pt-BR" sz="1200" b="0" err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Call</a:t>
              </a:r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Center</a:t>
              </a:r>
            </a:p>
          </p:txBody>
        </p:sp>
        <p:grpSp>
          <p:nvGrpSpPr>
            <p:cNvPr id="126" name="Google Shape;11031;p67">
              <a:extLst>
                <a:ext uri="{FF2B5EF4-FFF2-40B4-BE49-F238E27FC236}">
                  <a16:creationId xmlns:a16="http://schemas.microsoft.com/office/drawing/2014/main" id="{65AE22DE-6331-074A-2D7B-1AAB24E474D5}"/>
                </a:ext>
              </a:extLst>
            </p:cNvPr>
            <p:cNvGrpSpPr/>
            <p:nvPr/>
          </p:nvGrpSpPr>
          <p:grpSpPr>
            <a:xfrm>
              <a:off x="6935101" y="4946629"/>
              <a:ext cx="328566" cy="389392"/>
              <a:chOff x="3122257" y="1508594"/>
              <a:chExt cx="294850" cy="349434"/>
            </a:xfrm>
            <a:solidFill>
              <a:schemeClr val="tx1"/>
            </a:solidFill>
          </p:grpSpPr>
          <p:sp>
            <p:nvSpPr>
              <p:cNvPr id="127" name="Google Shape;11032;p67">
                <a:extLst>
                  <a:ext uri="{FF2B5EF4-FFF2-40B4-BE49-F238E27FC236}">
                    <a16:creationId xmlns:a16="http://schemas.microsoft.com/office/drawing/2014/main" id="{387CB599-FA46-88AF-65AF-30D594A3FC13}"/>
                  </a:ext>
                </a:extLst>
              </p:cNvPr>
              <p:cNvSpPr/>
              <p:nvPr/>
            </p:nvSpPr>
            <p:spPr>
              <a:xfrm>
                <a:off x="3226110" y="1659042"/>
                <a:ext cx="87557" cy="29568"/>
              </a:xfrm>
              <a:custGeom>
                <a:avLst/>
                <a:gdLst/>
                <a:ahLst/>
                <a:cxnLst/>
                <a:rect l="l" t="t" r="r" b="b"/>
                <a:pathLst>
                  <a:path w="2751" h="929" extrusionOk="0">
                    <a:moveTo>
                      <a:pt x="1099" y="0"/>
                    </a:moveTo>
                    <a:cubicBezTo>
                      <a:pt x="771" y="0"/>
                      <a:pt x="476" y="33"/>
                      <a:pt x="286" y="60"/>
                    </a:cubicBezTo>
                    <a:cubicBezTo>
                      <a:pt x="119" y="96"/>
                      <a:pt x="0" y="227"/>
                      <a:pt x="0" y="393"/>
                    </a:cubicBezTo>
                    <a:lnTo>
                      <a:pt x="0" y="762"/>
                    </a:lnTo>
                    <a:cubicBezTo>
                      <a:pt x="0" y="846"/>
                      <a:pt x="72" y="929"/>
                      <a:pt x="167" y="929"/>
                    </a:cubicBezTo>
                    <a:cubicBezTo>
                      <a:pt x="250" y="929"/>
                      <a:pt x="322" y="846"/>
                      <a:pt x="322" y="762"/>
                    </a:cubicBezTo>
                    <a:lnTo>
                      <a:pt x="322" y="393"/>
                    </a:lnTo>
                    <a:cubicBezTo>
                      <a:pt x="322" y="393"/>
                      <a:pt x="322" y="369"/>
                      <a:pt x="345" y="369"/>
                    </a:cubicBezTo>
                    <a:cubicBezTo>
                      <a:pt x="509" y="350"/>
                      <a:pt x="813" y="315"/>
                      <a:pt x="1144" y="315"/>
                    </a:cubicBezTo>
                    <a:cubicBezTo>
                      <a:pt x="1222" y="315"/>
                      <a:pt x="1302" y="317"/>
                      <a:pt x="1381" y="322"/>
                    </a:cubicBezTo>
                    <a:cubicBezTo>
                      <a:pt x="1893" y="358"/>
                      <a:pt x="2250" y="488"/>
                      <a:pt x="2465" y="703"/>
                    </a:cubicBezTo>
                    <a:cubicBezTo>
                      <a:pt x="2494" y="733"/>
                      <a:pt x="2536" y="747"/>
                      <a:pt x="2578" y="747"/>
                    </a:cubicBezTo>
                    <a:cubicBezTo>
                      <a:pt x="2619" y="747"/>
                      <a:pt x="2661" y="733"/>
                      <a:pt x="2691" y="703"/>
                    </a:cubicBezTo>
                    <a:cubicBezTo>
                      <a:pt x="2750" y="643"/>
                      <a:pt x="2750" y="536"/>
                      <a:pt x="2679" y="477"/>
                    </a:cubicBezTo>
                    <a:cubicBezTo>
                      <a:pt x="2297" y="95"/>
                      <a:pt x="1652" y="0"/>
                      <a:pt x="10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8" name="Google Shape;11033;p67">
                <a:extLst>
                  <a:ext uri="{FF2B5EF4-FFF2-40B4-BE49-F238E27FC236}">
                    <a16:creationId xmlns:a16="http://schemas.microsoft.com/office/drawing/2014/main" id="{B9F95B27-AEFD-AFEC-909C-11A3C9815CD4}"/>
                  </a:ext>
                </a:extLst>
              </p:cNvPr>
              <p:cNvSpPr/>
              <p:nvPr/>
            </p:nvSpPr>
            <p:spPr>
              <a:xfrm>
                <a:off x="3171144" y="1612033"/>
                <a:ext cx="196694" cy="245613"/>
              </a:xfrm>
              <a:custGeom>
                <a:avLst/>
                <a:gdLst/>
                <a:ahLst/>
                <a:cxnLst/>
                <a:rect l="l" t="t" r="r" b="b"/>
                <a:pathLst>
                  <a:path w="6180" h="7717" extrusionOk="0">
                    <a:moveTo>
                      <a:pt x="4835" y="334"/>
                    </a:moveTo>
                    <a:lnTo>
                      <a:pt x="4835" y="1894"/>
                    </a:lnTo>
                    <a:cubicBezTo>
                      <a:pt x="4835" y="2132"/>
                      <a:pt x="4775" y="2358"/>
                      <a:pt x="4692" y="2561"/>
                    </a:cubicBezTo>
                    <a:cubicBezTo>
                      <a:pt x="4668" y="2585"/>
                      <a:pt x="4668" y="2608"/>
                      <a:pt x="4668" y="2644"/>
                    </a:cubicBezTo>
                    <a:lnTo>
                      <a:pt x="4668" y="3097"/>
                    </a:lnTo>
                    <a:cubicBezTo>
                      <a:pt x="4668" y="3537"/>
                      <a:pt x="4489" y="3930"/>
                      <a:pt x="4180" y="4228"/>
                    </a:cubicBezTo>
                    <a:cubicBezTo>
                      <a:pt x="3900" y="4497"/>
                      <a:pt x="3532" y="4649"/>
                      <a:pt x="3129" y="4649"/>
                    </a:cubicBezTo>
                    <a:cubicBezTo>
                      <a:pt x="3087" y="4649"/>
                      <a:pt x="3044" y="4648"/>
                      <a:pt x="3001" y="4644"/>
                    </a:cubicBezTo>
                    <a:cubicBezTo>
                      <a:pt x="2168" y="4597"/>
                      <a:pt x="1537" y="3894"/>
                      <a:pt x="1537" y="3037"/>
                    </a:cubicBezTo>
                    <a:lnTo>
                      <a:pt x="1537" y="2644"/>
                    </a:lnTo>
                    <a:cubicBezTo>
                      <a:pt x="1537" y="2608"/>
                      <a:pt x="1537" y="2597"/>
                      <a:pt x="1513" y="2561"/>
                    </a:cubicBezTo>
                    <a:cubicBezTo>
                      <a:pt x="1418" y="2358"/>
                      <a:pt x="1370" y="2120"/>
                      <a:pt x="1370" y="1894"/>
                    </a:cubicBezTo>
                    <a:lnTo>
                      <a:pt x="1370" y="1549"/>
                    </a:lnTo>
                    <a:cubicBezTo>
                      <a:pt x="1370" y="882"/>
                      <a:pt x="1918" y="334"/>
                      <a:pt x="2584" y="334"/>
                    </a:cubicBezTo>
                    <a:close/>
                    <a:moveTo>
                      <a:pt x="3954" y="4763"/>
                    </a:moveTo>
                    <a:lnTo>
                      <a:pt x="3954" y="5061"/>
                    </a:lnTo>
                    <a:lnTo>
                      <a:pt x="3096" y="5656"/>
                    </a:lnTo>
                    <a:lnTo>
                      <a:pt x="2215" y="5061"/>
                    </a:lnTo>
                    <a:lnTo>
                      <a:pt x="2215" y="4763"/>
                    </a:lnTo>
                    <a:cubicBezTo>
                      <a:pt x="2441" y="4883"/>
                      <a:pt x="2691" y="4966"/>
                      <a:pt x="2965" y="4978"/>
                    </a:cubicBezTo>
                    <a:lnTo>
                      <a:pt x="3096" y="4978"/>
                    </a:lnTo>
                    <a:cubicBezTo>
                      <a:pt x="3406" y="4978"/>
                      <a:pt x="3704" y="4894"/>
                      <a:pt x="3954" y="4763"/>
                    </a:cubicBezTo>
                    <a:close/>
                    <a:moveTo>
                      <a:pt x="2084" y="5359"/>
                    </a:moveTo>
                    <a:lnTo>
                      <a:pt x="2846" y="5883"/>
                    </a:lnTo>
                    <a:lnTo>
                      <a:pt x="2441" y="6276"/>
                    </a:lnTo>
                    <a:lnTo>
                      <a:pt x="2430" y="6276"/>
                    </a:lnTo>
                    <a:lnTo>
                      <a:pt x="1918" y="5525"/>
                    </a:lnTo>
                    <a:lnTo>
                      <a:pt x="2084" y="5359"/>
                    </a:lnTo>
                    <a:close/>
                    <a:moveTo>
                      <a:pt x="4108" y="5347"/>
                    </a:moveTo>
                    <a:lnTo>
                      <a:pt x="4275" y="5514"/>
                    </a:lnTo>
                    <a:lnTo>
                      <a:pt x="3763" y="6276"/>
                    </a:lnTo>
                    <a:lnTo>
                      <a:pt x="3751" y="6276"/>
                    </a:lnTo>
                    <a:lnTo>
                      <a:pt x="3346" y="5871"/>
                    </a:lnTo>
                    <a:lnTo>
                      <a:pt x="4108" y="5347"/>
                    </a:lnTo>
                    <a:close/>
                    <a:moveTo>
                      <a:pt x="2572" y="1"/>
                    </a:moveTo>
                    <a:cubicBezTo>
                      <a:pt x="1727" y="1"/>
                      <a:pt x="1037" y="692"/>
                      <a:pt x="1037" y="1537"/>
                    </a:cubicBezTo>
                    <a:lnTo>
                      <a:pt x="1037" y="1882"/>
                    </a:lnTo>
                    <a:cubicBezTo>
                      <a:pt x="1037" y="2144"/>
                      <a:pt x="1096" y="2418"/>
                      <a:pt x="1215" y="2668"/>
                    </a:cubicBezTo>
                    <a:lnTo>
                      <a:pt x="1215" y="3025"/>
                    </a:lnTo>
                    <a:cubicBezTo>
                      <a:pt x="1215" y="3620"/>
                      <a:pt x="1489" y="4168"/>
                      <a:pt x="1906" y="4525"/>
                    </a:cubicBezTo>
                    <a:lnTo>
                      <a:pt x="1906" y="5061"/>
                    </a:lnTo>
                    <a:lnTo>
                      <a:pt x="1608" y="5383"/>
                    </a:lnTo>
                    <a:cubicBezTo>
                      <a:pt x="1572" y="5406"/>
                      <a:pt x="1560" y="5454"/>
                      <a:pt x="1560" y="5502"/>
                    </a:cubicBezTo>
                    <a:lnTo>
                      <a:pt x="560" y="5859"/>
                    </a:lnTo>
                    <a:cubicBezTo>
                      <a:pt x="239" y="5978"/>
                      <a:pt x="1" y="6299"/>
                      <a:pt x="1" y="6657"/>
                    </a:cubicBezTo>
                    <a:lnTo>
                      <a:pt x="1" y="7549"/>
                    </a:lnTo>
                    <a:cubicBezTo>
                      <a:pt x="1" y="7645"/>
                      <a:pt x="72" y="7716"/>
                      <a:pt x="167" y="7716"/>
                    </a:cubicBezTo>
                    <a:cubicBezTo>
                      <a:pt x="251" y="7716"/>
                      <a:pt x="322" y="7645"/>
                      <a:pt x="322" y="7549"/>
                    </a:cubicBezTo>
                    <a:lnTo>
                      <a:pt x="322" y="6657"/>
                    </a:lnTo>
                    <a:cubicBezTo>
                      <a:pt x="322" y="6430"/>
                      <a:pt x="465" y="6240"/>
                      <a:pt x="667" y="6168"/>
                    </a:cubicBezTo>
                    <a:lnTo>
                      <a:pt x="1715" y="5775"/>
                    </a:lnTo>
                    <a:lnTo>
                      <a:pt x="2144" y="6430"/>
                    </a:lnTo>
                    <a:cubicBezTo>
                      <a:pt x="2203" y="6526"/>
                      <a:pt x="2287" y="6561"/>
                      <a:pt x="2382" y="6585"/>
                    </a:cubicBezTo>
                    <a:lnTo>
                      <a:pt x="2406" y="6585"/>
                    </a:lnTo>
                    <a:cubicBezTo>
                      <a:pt x="2501" y="6585"/>
                      <a:pt x="2584" y="6549"/>
                      <a:pt x="2644" y="6478"/>
                    </a:cubicBezTo>
                    <a:lnTo>
                      <a:pt x="2918" y="6204"/>
                    </a:lnTo>
                    <a:lnTo>
                      <a:pt x="2918" y="7549"/>
                    </a:lnTo>
                    <a:cubicBezTo>
                      <a:pt x="2918" y="7633"/>
                      <a:pt x="2989" y="7716"/>
                      <a:pt x="3084" y="7716"/>
                    </a:cubicBezTo>
                    <a:cubicBezTo>
                      <a:pt x="3168" y="7716"/>
                      <a:pt x="3239" y="7633"/>
                      <a:pt x="3239" y="7549"/>
                    </a:cubicBezTo>
                    <a:lnTo>
                      <a:pt x="3239" y="6204"/>
                    </a:lnTo>
                    <a:lnTo>
                      <a:pt x="3513" y="6478"/>
                    </a:lnTo>
                    <a:cubicBezTo>
                      <a:pt x="3573" y="6537"/>
                      <a:pt x="3656" y="6585"/>
                      <a:pt x="3751" y="6585"/>
                    </a:cubicBezTo>
                    <a:lnTo>
                      <a:pt x="3775" y="6585"/>
                    </a:lnTo>
                    <a:cubicBezTo>
                      <a:pt x="3882" y="6561"/>
                      <a:pt x="3977" y="6526"/>
                      <a:pt x="4013" y="6430"/>
                    </a:cubicBezTo>
                    <a:lnTo>
                      <a:pt x="4454" y="5775"/>
                    </a:lnTo>
                    <a:lnTo>
                      <a:pt x="5489" y="6168"/>
                    </a:lnTo>
                    <a:cubicBezTo>
                      <a:pt x="5704" y="6240"/>
                      <a:pt x="5835" y="6430"/>
                      <a:pt x="5835" y="6657"/>
                    </a:cubicBezTo>
                    <a:lnTo>
                      <a:pt x="5835" y="7549"/>
                    </a:lnTo>
                    <a:cubicBezTo>
                      <a:pt x="5835" y="7645"/>
                      <a:pt x="5906" y="7716"/>
                      <a:pt x="6001" y="7716"/>
                    </a:cubicBezTo>
                    <a:cubicBezTo>
                      <a:pt x="6085" y="7716"/>
                      <a:pt x="6156" y="7645"/>
                      <a:pt x="6156" y="7549"/>
                    </a:cubicBezTo>
                    <a:lnTo>
                      <a:pt x="6156" y="6657"/>
                    </a:lnTo>
                    <a:cubicBezTo>
                      <a:pt x="6180" y="6311"/>
                      <a:pt x="5954" y="6002"/>
                      <a:pt x="5620" y="5883"/>
                    </a:cubicBezTo>
                    <a:lnTo>
                      <a:pt x="4632" y="5525"/>
                    </a:lnTo>
                    <a:cubicBezTo>
                      <a:pt x="4632" y="5478"/>
                      <a:pt x="4608" y="5442"/>
                      <a:pt x="4585" y="5406"/>
                    </a:cubicBezTo>
                    <a:lnTo>
                      <a:pt x="4287" y="5097"/>
                    </a:lnTo>
                    <a:lnTo>
                      <a:pt x="4287" y="4549"/>
                    </a:lnTo>
                    <a:cubicBezTo>
                      <a:pt x="4311" y="4513"/>
                      <a:pt x="4346" y="4490"/>
                      <a:pt x="4370" y="4466"/>
                    </a:cubicBezTo>
                    <a:cubicBezTo>
                      <a:pt x="4751" y="4109"/>
                      <a:pt x="4966" y="3620"/>
                      <a:pt x="4966" y="3097"/>
                    </a:cubicBezTo>
                    <a:lnTo>
                      <a:pt x="4966" y="2680"/>
                    </a:lnTo>
                    <a:cubicBezTo>
                      <a:pt x="5085" y="2430"/>
                      <a:pt x="5144" y="2180"/>
                      <a:pt x="5144" y="1894"/>
                    </a:cubicBezTo>
                    <a:lnTo>
                      <a:pt x="5144" y="168"/>
                    </a:lnTo>
                    <a:cubicBezTo>
                      <a:pt x="5144" y="72"/>
                      <a:pt x="5073" y="1"/>
                      <a:pt x="49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9" name="Google Shape;11034;p67">
                <a:extLst>
                  <a:ext uri="{FF2B5EF4-FFF2-40B4-BE49-F238E27FC236}">
                    <a16:creationId xmlns:a16="http://schemas.microsoft.com/office/drawing/2014/main" id="{E6792483-54DD-5AE6-53C9-C194D66ED0C9}"/>
                  </a:ext>
                </a:extLst>
              </p:cNvPr>
              <p:cNvSpPr/>
              <p:nvPr/>
            </p:nvSpPr>
            <p:spPr>
              <a:xfrm>
                <a:off x="3204117" y="1836767"/>
                <a:ext cx="10630" cy="21261"/>
              </a:xfrm>
              <a:custGeom>
                <a:avLst/>
                <a:gdLst/>
                <a:ahLst/>
                <a:cxnLst/>
                <a:rect l="l" t="t" r="r" b="b"/>
                <a:pathLst>
                  <a:path w="334" h="668" extrusionOk="0">
                    <a:moveTo>
                      <a:pt x="167" y="0"/>
                    </a:moveTo>
                    <a:cubicBezTo>
                      <a:pt x="84" y="0"/>
                      <a:pt x="1" y="72"/>
                      <a:pt x="1" y="167"/>
                    </a:cubicBezTo>
                    <a:lnTo>
                      <a:pt x="1" y="500"/>
                    </a:lnTo>
                    <a:cubicBezTo>
                      <a:pt x="1" y="596"/>
                      <a:pt x="84" y="667"/>
                      <a:pt x="167" y="667"/>
                    </a:cubicBezTo>
                    <a:cubicBezTo>
                      <a:pt x="262" y="667"/>
                      <a:pt x="334" y="596"/>
                      <a:pt x="334" y="500"/>
                    </a:cubicBezTo>
                    <a:lnTo>
                      <a:pt x="334" y="167"/>
                    </a:lnTo>
                    <a:cubicBezTo>
                      <a:pt x="334" y="72"/>
                      <a:pt x="262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0" name="Google Shape;11035;p67">
                <a:extLst>
                  <a:ext uri="{FF2B5EF4-FFF2-40B4-BE49-F238E27FC236}">
                    <a16:creationId xmlns:a16="http://schemas.microsoft.com/office/drawing/2014/main" id="{F4FA47F4-A9B6-2803-250D-18767BA50D82}"/>
                  </a:ext>
                </a:extLst>
              </p:cNvPr>
              <p:cNvSpPr/>
              <p:nvPr/>
            </p:nvSpPr>
            <p:spPr>
              <a:xfrm>
                <a:off x="3324616" y="1836767"/>
                <a:ext cx="10280" cy="21261"/>
              </a:xfrm>
              <a:custGeom>
                <a:avLst/>
                <a:gdLst/>
                <a:ahLst/>
                <a:cxnLst/>
                <a:rect l="l" t="t" r="r" b="b"/>
                <a:pathLst>
                  <a:path w="323" h="668" extrusionOk="0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lnTo>
                      <a:pt x="1" y="500"/>
                    </a:lnTo>
                    <a:cubicBezTo>
                      <a:pt x="1" y="596"/>
                      <a:pt x="72" y="667"/>
                      <a:pt x="167" y="667"/>
                    </a:cubicBezTo>
                    <a:cubicBezTo>
                      <a:pt x="251" y="667"/>
                      <a:pt x="322" y="596"/>
                      <a:pt x="322" y="500"/>
                    </a:cubicBezTo>
                    <a:lnTo>
                      <a:pt x="322" y="167"/>
                    </a:lnTo>
                    <a:cubicBezTo>
                      <a:pt x="322" y="72"/>
                      <a:pt x="251" y="0"/>
                      <a:pt x="1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1" name="Google Shape;11036;p67">
                <a:extLst>
                  <a:ext uri="{FF2B5EF4-FFF2-40B4-BE49-F238E27FC236}">
                    <a16:creationId xmlns:a16="http://schemas.microsoft.com/office/drawing/2014/main" id="{53F5D8CA-401A-39CC-6B05-AE7FB91D1D6D}"/>
                  </a:ext>
                </a:extLst>
              </p:cNvPr>
              <p:cNvSpPr/>
              <p:nvPr/>
            </p:nvSpPr>
            <p:spPr>
              <a:xfrm>
                <a:off x="3122257" y="1508594"/>
                <a:ext cx="294850" cy="278554"/>
              </a:xfrm>
              <a:custGeom>
                <a:avLst/>
                <a:gdLst/>
                <a:ahLst/>
                <a:cxnLst/>
                <a:rect l="l" t="t" r="r" b="b"/>
                <a:pathLst>
                  <a:path w="9264" h="8752" extrusionOk="0">
                    <a:moveTo>
                      <a:pt x="3096" y="584"/>
                    </a:moveTo>
                    <a:lnTo>
                      <a:pt x="3096" y="584"/>
                    </a:lnTo>
                    <a:cubicBezTo>
                      <a:pt x="2858" y="798"/>
                      <a:pt x="2620" y="1060"/>
                      <a:pt x="2430" y="1382"/>
                    </a:cubicBezTo>
                    <a:cubicBezTo>
                      <a:pt x="2299" y="1584"/>
                      <a:pt x="2156" y="1810"/>
                      <a:pt x="2061" y="2048"/>
                    </a:cubicBezTo>
                    <a:lnTo>
                      <a:pt x="1168" y="2048"/>
                    </a:lnTo>
                    <a:cubicBezTo>
                      <a:pt x="1656" y="1394"/>
                      <a:pt x="2322" y="882"/>
                      <a:pt x="3096" y="584"/>
                    </a:cubicBezTo>
                    <a:close/>
                    <a:moveTo>
                      <a:pt x="4466" y="310"/>
                    </a:moveTo>
                    <a:lnTo>
                      <a:pt x="4466" y="2048"/>
                    </a:lnTo>
                    <a:lnTo>
                      <a:pt x="2418" y="2048"/>
                    </a:lnTo>
                    <a:cubicBezTo>
                      <a:pt x="2894" y="1048"/>
                      <a:pt x="3632" y="382"/>
                      <a:pt x="4466" y="310"/>
                    </a:cubicBezTo>
                    <a:close/>
                    <a:moveTo>
                      <a:pt x="4799" y="310"/>
                    </a:moveTo>
                    <a:cubicBezTo>
                      <a:pt x="5644" y="382"/>
                      <a:pt x="6371" y="1048"/>
                      <a:pt x="6847" y="2048"/>
                    </a:cubicBezTo>
                    <a:lnTo>
                      <a:pt x="4799" y="2048"/>
                    </a:lnTo>
                    <a:lnTo>
                      <a:pt x="4799" y="310"/>
                    </a:lnTo>
                    <a:close/>
                    <a:moveTo>
                      <a:pt x="6168" y="608"/>
                    </a:moveTo>
                    <a:cubicBezTo>
                      <a:pt x="6942" y="905"/>
                      <a:pt x="7609" y="1405"/>
                      <a:pt x="8097" y="2060"/>
                    </a:cubicBezTo>
                    <a:lnTo>
                      <a:pt x="7204" y="2060"/>
                    </a:lnTo>
                    <a:cubicBezTo>
                      <a:pt x="7097" y="1810"/>
                      <a:pt x="6966" y="1584"/>
                      <a:pt x="6835" y="1382"/>
                    </a:cubicBezTo>
                    <a:cubicBezTo>
                      <a:pt x="6621" y="1072"/>
                      <a:pt x="6406" y="810"/>
                      <a:pt x="6168" y="608"/>
                    </a:cubicBezTo>
                    <a:close/>
                    <a:moveTo>
                      <a:pt x="1941" y="2382"/>
                    </a:moveTo>
                    <a:cubicBezTo>
                      <a:pt x="1703" y="3013"/>
                      <a:pt x="1560" y="3715"/>
                      <a:pt x="1549" y="4465"/>
                    </a:cubicBezTo>
                    <a:lnTo>
                      <a:pt x="322" y="4465"/>
                    </a:lnTo>
                    <a:cubicBezTo>
                      <a:pt x="358" y="3703"/>
                      <a:pt x="584" y="2989"/>
                      <a:pt x="953" y="2382"/>
                    </a:cubicBezTo>
                    <a:close/>
                    <a:moveTo>
                      <a:pt x="8323" y="2382"/>
                    </a:moveTo>
                    <a:cubicBezTo>
                      <a:pt x="8692" y="2989"/>
                      <a:pt x="8919" y="3703"/>
                      <a:pt x="8942" y="4465"/>
                    </a:cubicBezTo>
                    <a:lnTo>
                      <a:pt x="7728" y="4465"/>
                    </a:lnTo>
                    <a:cubicBezTo>
                      <a:pt x="7692" y="3715"/>
                      <a:pt x="7561" y="3013"/>
                      <a:pt x="7335" y="2382"/>
                    </a:cubicBezTo>
                    <a:close/>
                    <a:moveTo>
                      <a:pt x="1537" y="4787"/>
                    </a:moveTo>
                    <a:cubicBezTo>
                      <a:pt x="1560" y="5466"/>
                      <a:pt x="1668" y="6132"/>
                      <a:pt x="1882" y="6739"/>
                    </a:cubicBezTo>
                    <a:lnTo>
                      <a:pt x="1918" y="6870"/>
                    </a:lnTo>
                    <a:lnTo>
                      <a:pt x="941" y="6870"/>
                    </a:lnTo>
                    <a:cubicBezTo>
                      <a:pt x="572" y="6239"/>
                      <a:pt x="346" y="5525"/>
                      <a:pt x="310" y="4787"/>
                    </a:cubicBezTo>
                    <a:close/>
                    <a:moveTo>
                      <a:pt x="8919" y="4787"/>
                    </a:moveTo>
                    <a:cubicBezTo>
                      <a:pt x="8919" y="5501"/>
                      <a:pt x="8704" y="6204"/>
                      <a:pt x="8347" y="6811"/>
                    </a:cubicBezTo>
                    <a:cubicBezTo>
                      <a:pt x="8335" y="6823"/>
                      <a:pt x="8323" y="6859"/>
                      <a:pt x="8311" y="6870"/>
                    </a:cubicBezTo>
                    <a:lnTo>
                      <a:pt x="7323" y="6870"/>
                    </a:lnTo>
                    <a:lnTo>
                      <a:pt x="7371" y="6739"/>
                    </a:lnTo>
                    <a:cubicBezTo>
                      <a:pt x="7573" y="6120"/>
                      <a:pt x="7680" y="5466"/>
                      <a:pt x="7692" y="4787"/>
                    </a:cubicBezTo>
                    <a:close/>
                    <a:moveTo>
                      <a:pt x="4632" y="1"/>
                    </a:moveTo>
                    <a:cubicBezTo>
                      <a:pt x="3394" y="1"/>
                      <a:pt x="2239" y="477"/>
                      <a:pt x="1358" y="1346"/>
                    </a:cubicBezTo>
                    <a:cubicBezTo>
                      <a:pt x="477" y="2227"/>
                      <a:pt x="1" y="3382"/>
                      <a:pt x="1" y="4620"/>
                    </a:cubicBezTo>
                    <a:cubicBezTo>
                      <a:pt x="1" y="6358"/>
                      <a:pt x="953" y="7930"/>
                      <a:pt x="2501" y="8728"/>
                    </a:cubicBezTo>
                    <a:cubicBezTo>
                      <a:pt x="2537" y="8752"/>
                      <a:pt x="2549" y="8752"/>
                      <a:pt x="2573" y="8752"/>
                    </a:cubicBezTo>
                    <a:cubicBezTo>
                      <a:pt x="2632" y="8752"/>
                      <a:pt x="2692" y="8716"/>
                      <a:pt x="2727" y="8656"/>
                    </a:cubicBezTo>
                    <a:cubicBezTo>
                      <a:pt x="2775" y="8585"/>
                      <a:pt x="2739" y="8478"/>
                      <a:pt x="2656" y="8430"/>
                    </a:cubicBezTo>
                    <a:cubicBezTo>
                      <a:pt x="2061" y="8121"/>
                      <a:pt x="1560" y="7692"/>
                      <a:pt x="1179" y="7180"/>
                    </a:cubicBezTo>
                    <a:lnTo>
                      <a:pt x="2072" y="7180"/>
                    </a:lnTo>
                    <a:cubicBezTo>
                      <a:pt x="2263" y="7632"/>
                      <a:pt x="2513" y="8013"/>
                      <a:pt x="2799" y="8335"/>
                    </a:cubicBezTo>
                    <a:cubicBezTo>
                      <a:pt x="2831" y="8368"/>
                      <a:pt x="2879" y="8386"/>
                      <a:pt x="2924" y="8386"/>
                    </a:cubicBezTo>
                    <a:cubicBezTo>
                      <a:pt x="2962" y="8386"/>
                      <a:pt x="2998" y="8374"/>
                      <a:pt x="3025" y="8347"/>
                    </a:cubicBezTo>
                    <a:cubicBezTo>
                      <a:pt x="3084" y="8287"/>
                      <a:pt x="3096" y="8180"/>
                      <a:pt x="3037" y="8121"/>
                    </a:cubicBezTo>
                    <a:cubicBezTo>
                      <a:pt x="2799" y="7859"/>
                      <a:pt x="2596" y="7537"/>
                      <a:pt x="2430" y="7180"/>
                    </a:cubicBezTo>
                    <a:cubicBezTo>
                      <a:pt x="2501" y="7168"/>
                      <a:pt x="2561" y="7109"/>
                      <a:pt x="2561" y="7025"/>
                    </a:cubicBezTo>
                    <a:cubicBezTo>
                      <a:pt x="2561" y="6930"/>
                      <a:pt x="2489" y="6859"/>
                      <a:pt x="2394" y="6859"/>
                    </a:cubicBezTo>
                    <a:lnTo>
                      <a:pt x="2275" y="6859"/>
                    </a:lnTo>
                    <a:cubicBezTo>
                      <a:pt x="2025" y="6228"/>
                      <a:pt x="1894" y="5513"/>
                      <a:pt x="1882" y="4775"/>
                    </a:cubicBezTo>
                    <a:lnTo>
                      <a:pt x="2061" y="4775"/>
                    </a:lnTo>
                    <a:cubicBezTo>
                      <a:pt x="2144" y="4775"/>
                      <a:pt x="2215" y="4704"/>
                      <a:pt x="2215" y="4608"/>
                    </a:cubicBezTo>
                    <a:cubicBezTo>
                      <a:pt x="2215" y="4513"/>
                      <a:pt x="2144" y="4442"/>
                      <a:pt x="2061" y="4442"/>
                    </a:cubicBezTo>
                    <a:lnTo>
                      <a:pt x="1882" y="4442"/>
                    </a:lnTo>
                    <a:cubicBezTo>
                      <a:pt x="1894" y="3680"/>
                      <a:pt x="2037" y="2965"/>
                      <a:pt x="2275" y="2358"/>
                    </a:cubicBezTo>
                    <a:lnTo>
                      <a:pt x="4478" y="2358"/>
                    </a:lnTo>
                    <a:lnTo>
                      <a:pt x="4478" y="2715"/>
                    </a:lnTo>
                    <a:cubicBezTo>
                      <a:pt x="4478" y="2810"/>
                      <a:pt x="4561" y="2882"/>
                      <a:pt x="4644" y="2882"/>
                    </a:cubicBezTo>
                    <a:cubicBezTo>
                      <a:pt x="4739" y="2882"/>
                      <a:pt x="4811" y="2810"/>
                      <a:pt x="4811" y="2715"/>
                    </a:cubicBezTo>
                    <a:lnTo>
                      <a:pt x="4811" y="2358"/>
                    </a:lnTo>
                    <a:lnTo>
                      <a:pt x="7014" y="2358"/>
                    </a:lnTo>
                    <a:cubicBezTo>
                      <a:pt x="7252" y="2965"/>
                      <a:pt x="7395" y="3680"/>
                      <a:pt x="7418" y="4442"/>
                    </a:cubicBezTo>
                    <a:lnTo>
                      <a:pt x="7204" y="4442"/>
                    </a:lnTo>
                    <a:cubicBezTo>
                      <a:pt x="7121" y="4442"/>
                      <a:pt x="7037" y="4513"/>
                      <a:pt x="7037" y="4608"/>
                    </a:cubicBezTo>
                    <a:cubicBezTo>
                      <a:pt x="7037" y="4704"/>
                      <a:pt x="7121" y="4775"/>
                      <a:pt x="7204" y="4775"/>
                    </a:cubicBezTo>
                    <a:lnTo>
                      <a:pt x="7383" y="4775"/>
                    </a:lnTo>
                    <a:cubicBezTo>
                      <a:pt x="7371" y="5513"/>
                      <a:pt x="7216" y="6228"/>
                      <a:pt x="6978" y="6859"/>
                    </a:cubicBezTo>
                    <a:lnTo>
                      <a:pt x="6859" y="6859"/>
                    </a:lnTo>
                    <a:cubicBezTo>
                      <a:pt x="6775" y="6859"/>
                      <a:pt x="6704" y="6930"/>
                      <a:pt x="6704" y="7025"/>
                    </a:cubicBezTo>
                    <a:cubicBezTo>
                      <a:pt x="6704" y="7109"/>
                      <a:pt x="6764" y="7168"/>
                      <a:pt x="6835" y="7180"/>
                    </a:cubicBezTo>
                    <a:cubicBezTo>
                      <a:pt x="6668" y="7537"/>
                      <a:pt x="6466" y="7859"/>
                      <a:pt x="6228" y="8121"/>
                    </a:cubicBezTo>
                    <a:cubicBezTo>
                      <a:pt x="6168" y="8180"/>
                      <a:pt x="6168" y="8287"/>
                      <a:pt x="6240" y="8347"/>
                    </a:cubicBezTo>
                    <a:cubicBezTo>
                      <a:pt x="6263" y="8371"/>
                      <a:pt x="6311" y="8394"/>
                      <a:pt x="6347" y="8394"/>
                    </a:cubicBezTo>
                    <a:cubicBezTo>
                      <a:pt x="6383" y="8394"/>
                      <a:pt x="6430" y="8371"/>
                      <a:pt x="6466" y="8335"/>
                    </a:cubicBezTo>
                    <a:cubicBezTo>
                      <a:pt x="6740" y="8013"/>
                      <a:pt x="7002" y="7621"/>
                      <a:pt x="7192" y="7180"/>
                    </a:cubicBezTo>
                    <a:lnTo>
                      <a:pt x="8085" y="7180"/>
                    </a:lnTo>
                    <a:cubicBezTo>
                      <a:pt x="7728" y="7656"/>
                      <a:pt x="7299" y="8061"/>
                      <a:pt x="6775" y="8347"/>
                    </a:cubicBezTo>
                    <a:cubicBezTo>
                      <a:pt x="6704" y="8394"/>
                      <a:pt x="6668" y="8490"/>
                      <a:pt x="6716" y="8573"/>
                    </a:cubicBezTo>
                    <a:cubicBezTo>
                      <a:pt x="6749" y="8622"/>
                      <a:pt x="6804" y="8649"/>
                      <a:pt x="6863" y="8649"/>
                    </a:cubicBezTo>
                    <a:cubicBezTo>
                      <a:pt x="6889" y="8649"/>
                      <a:pt x="6916" y="8644"/>
                      <a:pt x="6942" y="8633"/>
                    </a:cubicBezTo>
                    <a:cubicBezTo>
                      <a:pt x="7621" y="8228"/>
                      <a:pt x="8204" y="7644"/>
                      <a:pt x="8621" y="6966"/>
                    </a:cubicBezTo>
                    <a:cubicBezTo>
                      <a:pt x="9038" y="6251"/>
                      <a:pt x="9264" y="5442"/>
                      <a:pt x="9264" y="4608"/>
                    </a:cubicBezTo>
                    <a:cubicBezTo>
                      <a:pt x="9264" y="3382"/>
                      <a:pt x="8788" y="2227"/>
                      <a:pt x="7907" y="1346"/>
                    </a:cubicBezTo>
                    <a:cubicBezTo>
                      <a:pt x="7025" y="477"/>
                      <a:pt x="5871" y="1"/>
                      <a:pt x="46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61BE4DE3-2A32-32E3-CEF6-BC09BF219921}"/>
                </a:ext>
              </a:extLst>
            </p:cNvPr>
            <p:cNvSpPr txBox="1"/>
            <p:nvPr/>
          </p:nvSpPr>
          <p:spPr>
            <a:xfrm>
              <a:off x="9449509" y="5426571"/>
              <a:ext cx="2520000" cy="9682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914217">
                <a:defRPr sz="1400" b="1">
                  <a:solidFill>
                    <a:schemeClr val="tx2">
                      <a:lumMod val="50000"/>
                    </a:schemeClr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defRPr>
              </a:lvl1pPr>
            </a:lstStyle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Geração </a:t>
              </a:r>
              <a:r>
                <a:rPr lang="pt-BR" sz="120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R$ 50 MM</a:t>
              </a:r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/ano de caixa operacional</a:t>
              </a:r>
            </a:p>
            <a:p>
              <a:endParaRPr lang="pt-BR" sz="1200" b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pt-BR" sz="1200" b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Segmento de educação</a:t>
              </a:r>
            </a:p>
          </p:txBody>
        </p:sp>
      </p:grpSp>
      <p:sp>
        <p:nvSpPr>
          <p:cNvPr id="6" name="Chave Direita 5">
            <a:extLst>
              <a:ext uri="{FF2B5EF4-FFF2-40B4-BE49-F238E27FC236}">
                <a16:creationId xmlns:a16="http://schemas.microsoft.com/office/drawing/2014/main" id="{B4F3D5D2-DE06-2AAE-7373-E373F9262B1A}"/>
              </a:ext>
            </a:extLst>
          </p:cNvPr>
          <p:cNvSpPr/>
          <p:nvPr/>
        </p:nvSpPr>
        <p:spPr>
          <a:xfrm>
            <a:off x="2192815" y="2378689"/>
            <a:ext cx="494461" cy="1774101"/>
          </a:xfrm>
          <a:prstGeom prst="rightBrace">
            <a:avLst>
              <a:gd name="adj1" fmla="val 53219"/>
              <a:gd name="adj2" fmla="val 50000"/>
            </a:avLst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E166AC68-43DD-2E3C-2AD5-4EB1F96DF143}"/>
              </a:ext>
            </a:extLst>
          </p:cNvPr>
          <p:cNvCxnSpPr>
            <a:cxnSpLocks/>
          </p:cNvCxnSpPr>
          <p:nvPr/>
        </p:nvCxnSpPr>
        <p:spPr>
          <a:xfrm flipV="1">
            <a:off x="423172" y="1243877"/>
            <a:ext cx="5838917" cy="2845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0A147BF-6E34-3AF3-E38F-9E73D599E201}"/>
              </a:ext>
            </a:extLst>
          </p:cNvPr>
          <p:cNvCxnSpPr>
            <a:cxnSpLocks/>
          </p:cNvCxnSpPr>
          <p:nvPr/>
        </p:nvCxnSpPr>
        <p:spPr>
          <a:xfrm flipV="1">
            <a:off x="423172" y="2139231"/>
            <a:ext cx="5807033" cy="1989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3D0D67BE-81CA-868F-BFC8-48909DBED615}"/>
              </a:ext>
            </a:extLst>
          </p:cNvPr>
          <p:cNvCxnSpPr>
            <a:cxnSpLocks/>
          </p:cNvCxnSpPr>
          <p:nvPr/>
        </p:nvCxnSpPr>
        <p:spPr>
          <a:xfrm flipV="1">
            <a:off x="471660" y="4526467"/>
            <a:ext cx="5785599" cy="3344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08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AC938BB2-9777-4303-566E-3EBCB4997C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600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AC938BB2-9777-4303-566E-3EBCB4997C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4A406CE0-EB5D-4306-674C-B0511078B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Melhoria de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0AFF88-CF2F-099B-7188-041E26ADDC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Para quem, entregáveis e ferramentas utilizadas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B8429D-9394-2164-1C1C-D2FD676DD5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095480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1AF3C2EA-9EAE-F55B-0DEC-304D678D3E57}"/>
              </a:ext>
            </a:extLst>
          </p:cNvPr>
          <p:cNvSpPr/>
          <p:nvPr/>
        </p:nvSpPr>
        <p:spPr>
          <a:xfrm>
            <a:off x="523530" y="1036952"/>
            <a:ext cx="2212873" cy="598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3A1805B-6911-C4E0-74B8-A73F4A9051BF}"/>
              </a:ext>
            </a:extLst>
          </p:cNvPr>
          <p:cNvSpPr/>
          <p:nvPr/>
        </p:nvSpPr>
        <p:spPr>
          <a:xfrm>
            <a:off x="2878681" y="1036952"/>
            <a:ext cx="8632800" cy="598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6054CE96-956F-BF69-CF83-3AFC7EEF2C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4573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9" imgW="425" imgH="424" progId="TCLayout.ActiveDocument.1">
                  <p:embed/>
                </p:oleObj>
              </mc:Choice>
              <mc:Fallback>
                <p:oleObj name="Slide do think-cell" r:id="rId9" imgW="425" imgH="424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6054CE96-956F-BF69-CF83-3AFC7EEF2C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DD19CB6-A18E-1A42-EA7E-AA44D9BEF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21</a:t>
            </a:fld>
            <a:endParaRPr lang="pt-BR"/>
          </a:p>
        </p:txBody>
      </p:sp>
      <p:sp>
        <p:nvSpPr>
          <p:cNvPr id="30" name="Título 29">
            <a:extLst>
              <a:ext uri="{FF2B5EF4-FFF2-40B4-BE49-F238E27FC236}">
                <a16:creationId xmlns:a16="http://schemas.microsoft.com/office/drawing/2014/main" id="{022BA4D4-E685-68B5-64EC-D2072871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Cases G&amp;A </a:t>
            </a:r>
            <a:endParaRPr lang="en-US"/>
          </a:p>
        </p:txBody>
      </p:sp>
      <p:sp>
        <p:nvSpPr>
          <p:cNvPr id="34" name="Espaço Reservado para Texto 33">
            <a:extLst>
              <a:ext uri="{FF2B5EF4-FFF2-40B4-BE49-F238E27FC236}">
                <a16:creationId xmlns:a16="http://schemas.microsoft.com/office/drawing/2014/main" id="{FA5F0385-6061-BBDC-DD55-2C61D49EE2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err="1"/>
              <a:t>Varejo</a:t>
            </a:r>
            <a:endParaRPr lang="en-US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FD0D978-DC9A-7FC5-BA32-03A993A1B033}"/>
              </a:ext>
            </a:extLst>
          </p:cNvPr>
          <p:cNvSpPr txBox="1"/>
          <p:nvPr/>
        </p:nvSpPr>
        <p:spPr>
          <a:xfrm>
            <a:off x="4632401" y="2050840"/>
            <a:ext cx="69596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Necessidade de revisão completa das estruturas de apoio</a:t>
            </a: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Estruturas Duplicadas e ausência de donos de processos;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Estrutura desalinhada com a estratégia da companhia;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Dimensionamento das equipes não adequado à nova realidade da companhia.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5B083C2-E110-AE31-48CB-1EE217D4E3F3}"/>
              </a:ext>
            </a:extLst>
          </p:cNvPr>
          <p:cNvSpPr txBox="1"/>
          <p:nvPr/>
        </p:nvSpPr>
        <p:spPr>
          <a:xfrm>
            <a:off x="4632401" y="3614180"/>
            <a:ext cx="6959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Diagnóstico e proposta de revisão de macroprocessos e estruturas de apoio: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Span of control;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Revisão estrutura liderança;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2FE0CD3-D581-09B0-ED40-73C1051701BF}"/>
              </a:ext>
            </a:extLst>
          </p:cNvPr>
          <p:cNvSpPr txBox="1"/>
          <p:nvPr/>
        </p:nvSpPr>
        <p:spPr>
          <a:xfrm>
            <a:off x="8142747" y="3880698"/>
            <a:ext cx="3511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Mapeamento das atividades – MVA;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Custo unitário / drivers de custo.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B42800F4-D257-FD5B-1CB1-E18F057C35B7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5311251" y="5266778"/>
            <a:ext cx="3794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E823CB60-9A7B-D884-C31B-FC69CEAE3D6B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6166914" y="5493791"/>
            <a:ext cx="3794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" name="Chart 3">
            <a:extLst>
              <a:ext uri="{FF2B5EF4-FFF2-40B4-BE49-F238E27FC236}">
                <a16:creationId xmlns:a16="http://schemas.microsoft.com/office/drawing/2014/main" id="{FE5512B6-B6AB-CDB1-1BD7-6843B83B887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419180668"/>
              </p:ext>
            </p:extLst>
          </p:nvPr>
        </p:nvGraphicFramePr>
        <p:xfrm>
          <a:off x="4565126" y="5184228"/>
          <a:ext cx="2728913" cy="833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9A5A09C5-77E5-A3C5-97E2-D34AAD340C89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4903264" y="5993853"/>
            <a:ext cx="3397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99F04CF-095C-4231-AAED-71BEEEB77636}" type="datetime'''''A''''''''s'''' ''I''''''''s'''''''''''''''''''''''''''''''">
              <a:rPr lang="pt-BR" altLang="en-US" sz="1200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As Is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04F48BA-C697-7F54-388D-C19356E63730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5692251" y="5269953"/>
            <a:ext cx="473075" cy="2190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none" lIns="28575" tIns="0" rIns="28575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95E8BF2-A057-4AC9-949F-49B5C87FB621}" type="datetime'''''''-''''''''''''''''''''''''''''''17''''''''%'''''">
              <a:rPr lang="pt-BR" altLang="en-US" sz="1200" b="1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-17%</a:t>
            </a:fld>
            <a:endParaRPr lang="pt-BR" sz="12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34452685-005E-1651-5EAB-CD9398BB0323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6581251" y="5993853"/>
            <a:ext cx="4032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1EBF3F9-2096-428A-A3ED-B918795425E7}" type="datetime'''''''''To'''''''''''''' ''''''''''''B''e'''''''">
              <a:rPr lang="pt-BR" altLang="en-US" sz="1200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To Be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E8CA6702-CD44-3746-8DC8-8C89118289A5}"/>
              </a:ext>
            </a:extLst>
          </p:cNvPr>
          <p:cNvSpPr txBox="1"/>
          <p:nvPr/>
        </p:nvSpPr>
        <p:spPr>
          <a:xfrm>
            <a:off x="7810405" y="5318234"/>
            <a:ext cx="3881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-17% </a:t>
            </a: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redimensionamento da estrutura de apoio</a:t>
            </a:r>
          </a:p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R$ 107 MM </a:t>
            </a: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melhoria de resultado - EBITDA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A3A43CE-7F57-AEFB-8E33-E9C75E36EA12}"/>
              </a:ext>
            </a:extLst>
          </p:cNvPr>
          <p:cNvSpPr txBox="1"/>
          <p:nvPr/>
        </p:nvSpPr>
        <p:spPr>
          <a:xfrm>
            <a:off x="4632401" y="4914066"/>
            <a:ext cx="26327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b="1">
                <a:latin typeface="Segoe UI" panose="020B0502040204020203" pitchFamily="34" charset="0"/>
                <a:cs typeface="Segoe UI" panose="020B0502040204020203" pitchFamily="34" charset="0"/>
              </a:rPr>
              <a:t>Estrutura de apoio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041CB6B-D421-8AB4-8641-389B8BF670D3}"/>
              </a:ext>
            </a:extLst>
          </p:cNvPr>
          <p:cNvSpPr/>
          <p:nvPr/>
        </p:nvSpPr>
        <p:spPr>
          <a:xfrm>
            <a:off x="2654050" y="1023187"/>
            <a:ext cx="8999709" cy="5986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Quarto maior varejo de alimentos do Brasil – Antiga operação do Walmart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5112FE8-6415-C3C0-5528-3D116DF8703C}"/>
              </a:ext>
            </a:extLst>
          </p:cNvPr>
          <p:cNvSpPr txBox="1"/>
          <p:nvPr/>
        </p:nvSpPr>
        <p:spPr>
          <a:xfrm>
            <a:off x="1629966" y="2390605"/>
            <a:ext cx="116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>
                <a:latin typeface="Segoe UI" panose="020B0502040204020203" pitchFamily="34" charset="0"/>
                <a:cs typeface="Segoe UI" panose="020B0502040204020203" pitchFamily="34" charset="0"/>
              </a:rPr>
              <a:t>Desafios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6DE7C8C1-4C59-84E8-B47D-5EC2817E29AA}"/>
              </a:ext>
            </a:extLst>
          </p:cNvPr>
          <p:cNvSpPr txBox="1"/>
          <p:nvPr/>
        </p:nvSpPr>
        <p:spPr>
          <a:xfrm>
            <a:off x="1479512" y="5436976"/>
            <a:ext cx="146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Resultados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85D4894D-6001-D72E-46FD-C6F5ED42064C}"/>
              </a:ext>
            </a:extLst>
          </p:cNvPr>
          <p:cNvSpPr txBox="1"/>
          <p:nvPr/>
        </p:nvSpPr>
        <p:spPr>
          <a:xfrm>
            <a:off x="1268099" y="3880698"/>
            <a:ext cx="1887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sz="1800">
                <a:latin typeface="Segoe UI" panose="020B0502040204020203" pitchFamily="34" charset="0"/>
                <a:cs typeface="Segoe UI" panose="020B0502040204020203" pitchFamily="34" charset="0"/>
              </a:rPr>
              <a:t>O que fizemos?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BB4ED5B-89B6-2916-A613-8FF7A7987A0E}"/>
              </a:ext>
            </a:extLst>
          </p:cNvPr>
          <p:cNvSpPr/>
          <p:nvPr/>
        </p:nvSpPr>
        <p:spPr>
          <a:xfrm>
            <a:off x="523530" y="1023187"/>
            <a:ext cx="2166965" cy="59864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CLIENTE: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3B2BE6C5-B80A-9C2F-B364-F4E13F7B29E5}"/>
              </a:ext>
            </a:extLst>
          </p:cNvPr>
          <p:cNvCxnSpPr>
            <a:cxnSpLocks/>
          </p:cNvCxnSpPr>
          <p:nvPr/>
        </p:nvCxnSpPr>
        <p:spPr>
          <a:xfrm flipV="1">
            <a:off x="4098933" y="5114628"/>
            <a:ext cx="0" cy="87844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tângulo 57">
            <a:extLst>
              <a:ext uri="{FF2B5EF4-FFF2-40B4-BE49-F238E27FC236}">
                <a16:creationId xmlns:a16="http://schemas.microsoft.com/office/drawing/2014/main" id="{246C50B0-D90E-F94E-F1F1-7A9902294CAE}"/>
              </a:ext>
            </a:extLst>
          </p:cNvPr>
          <p:cNvSpPr/>
          <p:nvPr/>
        </p:nvSpPr>
        <p:spPr>
          <a:xfrm>
            <a:off x="459412" y="4949432"/>
            <a:ext cx="11194347" cy="126264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0A012D70-7E48-1ECE-050C-B7BFC674E61A}"/>
              </a:ext>
            </a:extLst>
          </p:cNvPr>
          <p:cNvCxnSpPr>
            <a:cxnSpLocks/>
          </p:cNvCxnSpPr>
          <p:nvPr/>
        </p:nvCxnSpPr>
        <p:spPr>
          <a:xfrm flipV="1">
            <a:off x="4093059" y="3625339"/>
            <a:ext cx="0" cy="87844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B52D5FF4-5748-EC31-1737-FC0D5EA286F4}"/>
              </a:ext>
            </a:extLst>
          </p:cNvPr>
          <p:cNvCxnSpPr>
            <a:cxnSpLocks/>
          </p:cNvCxnSpPr>
          <p:nvPr/>
        </p:nvCxnSpPr>
        <p:spPr>
          <a:xfrm flipV="1">
            <a:off x="4093059" y="2136050"/>
            <a:ext cx="0" cy="87844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tângulo 65">
            <a:extLst>
              <a:ext uri="{FF2B5EF4-FFF2-40B4-BE49-F238E27FC236}">
                <a16:creationId xmlns:a16="http://schemas.microsoft.com/office/drawing/2014/main" id="{520C97B6-10D9-80DF-37A2-A2A60303E914}"/>
              </a:ext>
            </a:extLst>
          </p:cNvPr>
          <p:cNvSpPr/>
          <p:nvPr/>
        </p:nvSpPr>
        <p:spPr>
          <a:xfrm>
            <a:off x="459412" y="3439244"/>
            <a:ext cx="11194347" cy="126264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88F0A62C-9AFE-4F61-CC8E-515151DDDC33}"/>
              </a:ext>
            </a:extLst>
          </p:cNvPr>
          <p:cNvSpPr/>
          <p:nvPr/>
        </p:nvSpPr>
        <p:spPr>
          <a:xfrm>
            <a:off x="459412" y="1929055"/>
            <a:ext cx="11194347" cy="126264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025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to 10" hidden="1">
            <a:extLst>
              <a:ext uri="{FF2B5EF4-FFF2-40B4-BE49-F238E27FC236}">
                <a16:creationId xmlns:a16="http://schemas.microsoft.com/office/drawing/2014/main" id="{E5A1163C-E1C9-3E58-1186-99F127C6AE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72825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11" name="Objeto 10" hidden="1">
                        <a:extLst>
                          <a:ext uri="{FF2B5EF4-FFF2-40B4-BE49-F238E27FC236}">
                            <a16:creationId xmlns:a16="http://schemas.microsoft.com/office/drawing/2014/main" id="{E5A1163C-E1C9-3E58-1186-99F127C6AE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agem 12">
            <a:extLst>
              <a:ext uri="{FF2B5EF4-FFF2-40B4-BE49-F238E27FC236}">
                <a16:creationId xmlns:a16="http://schemas.microsoft.com/office/drawing/2014/main" id="{92C74747-E8BD-98B2-F628-894763ACC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783" y="2135805"/>
            <a:ext cx="3838575" cy="828675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A66285C9-5C55-435F-D4B9-AB226903A2F1}"/>
              </a:ext>
            </a:extLst>
          </p:cNvPr>
          <p:cNvSpPr/>
          <p:nvPr/>
        </p:nvSpPr>
        <p:spPr>
          <a:xfrm>
            <a:off x="7829887" y="4691375"/>
            <a:ext cx="23734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0"/>
            <a:r>
              <a:rPr lang="pt-BR" sz="1400" spc="225">
                <a:latin typeface="Segoe UI" panose="020B0502040204020203" pitchFamily="34" charset="0"/>
                <a:cs typeface="Segoe UI" panose="020B0502040204020203" pitchFamily="34" charset="0"/>
              </a:rPr>
              <a:t>www.galeazzi.com.br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EE37AF5-02AD-26B9-C76A-D3D94757B481}"/>
              </a:ext>
            </a:extLst>
          </p:cNvPr>
          <p:cNvSpPr/>
          <p:nvPr/>
        </p:nvSpPr>
        <p:spPr>
          <a:xfrm>
            <a:off x="7820362" y="5193361"/>
            <a:ext cx="2903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0"/>
            <a:r>
              <a:rPr lang="pt-BR" sz="1400" spc="225">
                <a:latin typeface="Segoe UI" panose="020B0502040204020203" pitchFamily="34" charset="0"/>
                <a:cs typeface="Segoe UI" panose="020B0502040204020203" pitchFamily="34" charset="0"/>
              </a:rPr>
              <a:t>galeazzi@galeazzi.com.br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AACEA4A-1A4E-C5FA-FD56-FD2710356E7E}"/>
              </a:ext>
            </a:extLst>
          </p:cNvPr>
          <p:cNvSpPr/>
          <p:nvPr/>
        </p:nvSpPr>
        <p:spPr>
          <a:xfrm>
            <a:off x="7826410" y="5646944"/>
            <a:ext cx="20954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0"/>
            <a:r>
              <a:rPr lang="pt-BR" sz="1400" spc="225">
                <a:latin typeface="Segoe UI" panose="020B0502040204020203" pitchFamily="34" charset="0"/>
                <a:cs typeface="Segoe UI" panose="020B0502040204020203" pitchFamily="34" charset="0"/>
              </a:rPr>
              <a:t>+55 11 3383-9600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Freeform 50">
            <a:extLst>
              <a:ext uri="{FF2B5EF4-FFF2-40B4-BE49-F238E27FC236}">
                <a16:creationId xmlns:a16="http://schemas.microsoft.com/office/drawing/2014/main" id="{B7151F84-02E7-0FE1-0EC7-EFE1C4040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519" y="5577711"/>
            <a:ext cx="469191" cy="384307"/>
          </a:xfrm>
          <a:custGeom>
            <a:avLst/>
            <a:gdLst>
              <a:gd name="T0" fmla="*/ 115666 w 444"/>
              <a:gd name="T1" fmla="*/ 114750 h 443"/>
              <a:gd name="T2" fmla="*/ 115666 w 444"/>
              <a:gd name="T3" fmla="*/ 114750 h 443"/>
              <a:gd name="T4" fmla="*/ 72010 w 444"/>
              <a:gd name="T5" fmla="*/ 138414 h 443"/>
              <a:gd name="T6" fmla="*/ 27904 w 444"/>
              <a:gd name="T7" fmla="*/ 138414 h 443"/>
              <a:gd name="T8" fmla="*/ 31954 w 444"/>
              <a:gd name="T9" fmla="*/ 181724 h 443"/>
              <a:gd name="T10" fmla="*/ 139520 w 444"/>
              <a:gd name="T11" fmla="*/ 138414 h 443"/>
              <a:gd name="T12" fmla="*/ 187226 w 444"/>
              <a:gd name="T13" fmla="*/ 27236 h 443"/>
              <a:gd name="T14" fmla="*/ 143570 w 444"/>
              <a:gd name="T15" fmla="*/ 23664 h 443"/>
              <a:gd name="T16" fmla="*/ 143570 w 444"/>
              <a:gd name="T17" fmla="*/ 67421 h 443"/>
              <a:gd name="T18" fmla="*/ 115666 w 444"/>
              <a:gd name="T19" fmla="*/ 114750 h 44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44" h="443">
                <a:moveTo>
                  <a:pt x="257" y="257"/>
                </a:moveTo>
                <a:lnTo>
                  <a:pt x="257" y="257"/>
                </a:lnTo>
                <a:cubicBezTo>
                  <a:pt x="222" y="292"/>
                  <a:pt x="177" y="327"/>
                  <a:pt x="160" y="310"/>
                </a:cubicBezTo>
                <a:cubicBezTo>
                  <a:pt x="133" y="283"/>
                  <a:pt x="115" y="265"/>
                  <a:pt x="62" y="310"/>
                </a:cubicBezTo>
                <a:cubicBezTo>
                  <a:pt x="0" y="354"/>
                  <a:pt x="44" y="389"/>
                  <a:pt x="71" y="407"/>
                </a:cubicBezTo>
                <a:cubicBezTo>
                  <a:pt x="97" y="442"/>
                  <a:pt x="204" y="416"/>
                  <a:pt x="310" y="310"/>
                </a:cubicBezTo>
                <a:cubicBezTo>
                  <a:pt x="416" y="204"/>
                  <a:pt x="443" y="97"/>
                  <a:pt x="416" y="61"/>
                </a:cubicBezTo>
                <a:cubicBezTo>
                  <a:pt x="390" y="35"/>
                  <a:pt x="363" y="0"/>
                  <a:pt x="319" y="53"/>
                </a:cubicBezTo>
                <a:cubicBezTo>
                  <a:pt x="275" y="106"/>
                  <a:pt x="293" y="123"/>
                  <a:pt x="319" y="151"/>
                </a:cubicBezTo>
                <a:cubicBezTo>
                  <a:pt x="337" y="167"/>
                  <a:pt x="302" y="212"/>
                  <a:pt x="257" y="257"/>
                </a:cubicBezTo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pPr rtl="0"/>
            <a:endParaRPr lang="pt-BR" sz="1800"/>
          </a:p>
        </p:txBody>
      </p:sp>
      <p:sp>
        <p:nvSpPr>
          <p:cNvPr id="18" name="Freeform 51">
            <a:extLst>
              <a:ext uri="{FF2B5EF4-FFF2-40B4-BE49-F238E27FC236}">
                <a16:creationId xmlns:a16="http://schemas.microsoft.com/office/drawing/2014/main" id="{77640BE1-8FEF-F65F-C2E7-108FF49EA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519" y="5239515"/>
            <a:ext cx="469191" cy="253916"/>
          </a:xfrm>
          <a:custGeom>
            <a:avLst/>
            <a:gdLst>
              <a:gd name="T0" fmla="*/ 8111 w 461"/>
              <a:gd name="T1" fmla="*/ 12180 h 285"/>
              <a:gd name="T2" fmla="*/ 8111 w 461"/>
              <a:gd name="T3" fmla="*/ 12180 h 285"/>
              <a:gd name="T4" fmla="*/ 91479 w 461"/>
              <a:gd name="T5" fmla="*/ 56390 h 285"/>
              <a:gd name="T6" fmla="*/ 104096 w 461"/>
              <a:gd name="T7" fmla="*/ 59999 h 285"/>
              <a:gd name="T8" fmla="*/ 111757 w 461"/>
              <a:gd name="T9" fmla="*/ 56390 h 285"/>
              <a:gd name="T10" fmla="*/ 195575 w 461"/>
              <a:gd name="T11" fmla="*/ 12180 h 285"/>
              <a:gd name="T12" fmla="*/ 199631 w 461"/>
              <a:gd name="T13" fmla="*/ 0 h 285"/>
              <a:gd name="T14" fmla="*/ 8111 w 461"/>
              <a:gd name="T15" fmla="*/ 0 h 285"/>
              <a:gd name="T16" fmla="*/ 8111 w 461"/>
              <a:gd name="T17" fmla="*/ 12180 h 285"/>
              <a:gd name="T18" fmla="*/ 199631 w 461"/>
              <a:gd name="T19" fmla="*/ 36090 h 285"/>
              <a:gd name="T20" fmla="*/ 199631 w 461"/>
              <a:gd name="T21" fmla="*/ 36090 h 285"/>
              <a:gd name="T22" fmla="*/ 111757 w 461"/>
              <a:gd name="T23" fmla="*/ 80299 h 285"/>
              <a:gd name="T24" fmla="*/ 104096 w 461"/>
              <a:gd name="T25" fmla="*/ 80299 h 285"/>
              <a:gd name="T26" fmla="*/ 91479 w 461"/>
              <a:gd name="T27" fmla="*/ 80299 h 285"/>
              <a:gd name="T28" fmla="*/ 8111 w 461"/>
              <a:gd name="T29" fmla="*/ 36090 h 285"/>
              <a:gd name="T30" fmla="*/ 4056 w 461"/>
              <a:gd name="T31" fmla="*/ 36090 h 285"/>
              <a:gd name="T32" fmla="*/ 4056 w 461"/>
              <a:gd name="T33" fmla="*/ 119998 h 285"/>
              <a:gd name="T34" fmla="*/ 15772 w 461"/>
              <a:gd name="T35" fmla="*/ 128118 h 285"/>
              <a:gd name="T36" fmla="*/ 191519 w 461"/>
              <a:gd name="T37" fmla="*/ 128118 h 285"/>
              <a:gd name="T38" fmla="*/ 203686 w 461"/>
              <a:gd name="T39" fmla="*/ 119998 h 285"/>
              <a:gd name="T40" fmla="*/ 203686 w 461"/>
              <a:gd name="T41" fmla="*/ 36090 h 285"/>
              <a:gd name="T42" fmla="*/ 199631 w 461"/>
              <a:gd name="T43" fmla="*/ 36090 h 285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461" h="285">
                <a:moveTo>
                  <a:pt x="18" y="27"/>
                </a:moveTo>
                <a:lnTo>
                  <a:pt x="18" y="27"/>
                </a:lnTo>
                <a:cubicBezTo>
                  <a:pt x="35" y="35"/>
                  <a:pt x="203" y="125"/>
                  <a:pt x="203" y="125"/>
                </a:cubicBezTo>
                <a:cubicBezTo>
                  <a:pt x="212" y="133"/>
                  <a:pt x="221" y="133"/>
                  <a:pt x="231" y="133"/>
                </a:cubicBezTo>
                <a:cubicBezTo>
                  <a:pt x="239" y="133"/>
                  <a:pt x="248" y="133"/>
                  <a:pt x="248" y="125"/>
                </a:cubicBezTo>
                <a:cubicBezTo>
                  <a:pt x="256" y="125"/>
                  <a:pt x="425" y="35"/>
                  <a:pt x="434" y="27"/>
                </a:cubicBezTo>
                <a:cubicBezTo>
                  <a:pt x="452" y="18"/>
                  <a:pt x="460" y="0"/>
                  <a:pt x="443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0" y="0"/>
                  <a:pt x="9" y="18"/>
                  <a:pt x="18" y="27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434" y="80"/>
                  <a:pt x="256" y="169"/>
                  <a:pt x="248" y="178"/>
                </a:cubicBezTo>
                <a:cubicBezTo>
                  <a:pt x="248" y="178"/>
                  <a:pt x="239" y="178"/>
                  <a:pt x="231" y="178"/>
                </a:cubicBezTo>
                <a:cubicBezTo>
                  <a:pt x="221" y="178"/>
                  <a:pt x="212" y="178"/>
                  <a:pt x="203" y="178"/>
                </a:cubicBezTo>
                <a:cubicBezTo>
                  <a:pt x="194" y="169"/>
                  <a:pt x="27" y="80"/>
                  <a:pt x="18" y="80"/>
                </a:cubicBezTo>
                <a:cubicBezTo>
                  <a:pt x="9" y="72"/>
                  <a:pt x="9" y="80"/>
                  <a:pt x="9" y="80"/>
                </a:cubicBezTo>
                <a:cubicBezTo>
                  <a:pt x="9" y="88"/>
                  <a:pt x="9" y="266"/>
                  <a:pt x="9" y="266"/>
                </a:cubicBezTo>
                <a:cubicBezTo>
                  <a:pt x="9" y="275"/>
                  <a:pt x="18" y="284"/>
                  <a:pt x="35" y="284"/>
                </a:cubicBezTo>
                <a:cubicBezTo>
                  <a:pt x="425" y="284"/>
                  <a:pt x="425" y="284"/>
                  <a:pt x="425" y="284"/>
                </a:cubicBezTo>
                <a:cubicBezTo>
                  <a:pt x="443" y="284"/>
                  <a:pt x="452" y="275"/>
                  <a:pt x="452" y="266"/>
                </a:cubicBezTo>
                <a:cubicBezTo>
                  <a:pt x="452" y="266"/>
                  <a:pt x="452" y="88"/>
                  <a:pt x="452" y="80"/>
                </a:cubicBezTo>
                <a:cubicBezTo>
                  <a:pt x="452" y="80"/>
                  <a:pt x="452" y="72"/>
                  <a:pt x="443" y="8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pPr rtl="0"/>
            <a:endParaRPr lang="pt-BR" sz="180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5EAD2BC-9F5D-17B6-11D4-876D85984B0F}"/>
              </a:ext>
            </a:extLst>
          </p:cNvPr>
          <p:cNvSpPr/>
          <p:nvPr/>
        </p:nvSpPr>
        <p:spPr>
          <a:xfrm>
            <a:off x="2109110" y="4907481"/>
            <a:ext cx="24707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3600" b="1" spc="225">
                <a:latin typeface="Segoe UI" panose="020B0502040204020203" pitchFamily="34" charset="0"/>
                <a:cs typeface="Segoe UI" panose="020B0502040204020203" pitchFamily="34" charset="0"/>
              </a:rPr>
              <a:t>Obrigado</a:t>
            </a:r>
            <a:endParaRPr lang="pt-BR" altLang="pt-BR" sz="3600" spc="22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" name="Gráfico 19" descr="Internet com preenchimento sólido">
            <a:extLst>
              <a:ext uri="{FF2B5EF4-FFF2-40B4-BE49-F238E27FC236}">
                <a16:creationId xmlns:a16="http://schemas.microsoft.com/office/drawing/2014/main" id="{4115CD7D-0987-77FC-0E62-3CF2C772E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6858" y="4574721"/>
            <a:ext cx="580513" cy="58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56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344" imgH="345" progId="TCLayout.ActiveDocument.1">
                  <p:embed/>
                </p:oleObj>
              </mc:Choice>
              <mc:Fallback>
                <p:oleObj name="Slide do think-cell" r:id="rId5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E0869D6-FA3F-A1C5-14BB-BF10ECD7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dirty="0"/>
              <a:t>Slide para Otimização de Busca de Arquivos na Rede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3BE06F61-1458-9A0F-F260-36CBEE03FE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Palavras-chaves que otimizam a busca de arquivos na rede 
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0FD87D0B-23F3-B602-9244-75D290CD7EA6}"/>
              </a:ext>
            </a:extLst>
          </p:cNvPr>
          <p:cNvGrpSpPr/>
          <p:nvPr/>
        </p:nvGrpSpPr>
        <p:grpSpPr>
          <a:xfrm>
            <a:off x="498826" y="1599587"/>
            <a:ext cx="11194347" cy="432000"/>
            <a:chOff x="498826" y="1599587"/>
            <a:chExt cx="11194347" cy="432000"/>
          </a:xfrm>
        </p:grpSpPr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9EB0ABB6-B8A5-297A-FD10-B66B036E79E6}"/>
                </a:ext>
              </a:extLst>
            </p:cNvPr>
            <p:cNvSpPr txBox="1"/>
            <p:nvPr/>
          </p:nvSpPr>
          <p:spPr>
            <a:xfrm>
              <a:off x="508301" y="1661699"/>
              <a:ext cx="2108451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Nome do cliente</a:t>
              </a:r>
            </a:p>
          </p:txBody>
        </p: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643C9A50-B485-C236-04D7-85638C7774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1689587"/>
              <a:ext cx="0" cy="25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CFDB2D68-B938-56C8-95C6-48E10776061D}"/>
                </a:ext>
              </a:extLst>
            </p:cNvPr>
            <p:cNvSpPr/>
            <p:nvPr/>
          </p:nvSpPr>
          <p:spPr>
            <a:xfrm>
              <a:off x="498826" y="1599587"/>
              <a:ext cx="11194347" cy="432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ítulo 1">
              <a:extLst>
                <a:ext uri="{FF2B5EF4-FFF2-40B4-BE49-F238E27FC236}">
                  <a16:creationId xmlns:a16="http://schemas.microsoft.com/office/drawing/2014/main" id="{C82B8BDD-AB30-09C3-C717-6ECA6EABB333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1646310"/>
              <a:ext cx="6543589" cy="3385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r>
                <a:rPr lang="pt-BR" sz="1400" err="1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Sequóia</a:t>
              </a: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 Logística e Transporte</a:t>
              </a:r>
            </a:p>
          </p:txBody>
        </p:sp>
      </p:grpSp>
      <p:sp>
        <p:nvSpPr>
          <p:cNvPr id="32" name="Retângulo 31">
            <a:extLst>
              <a:ext uri="{FF2B5EF4-FFF2-40B4-BE49-F238E27FC236}">
                <a16:creationId xmlns:a16="http://schemas.microsoft.com/office/drawing/2014/main" id="{10DC9ACD-B43B-F1C3-4028-BCD728F5B84C}"/>
              </a:ext>
            </a:extLst>
          </p:cNvPr>
          <p:cNvSpPr/>
          <p:nvPr/>
        </p:nvSpPr>
        <p:spPr>
          <a:xfrm>
            <a:off x="507181" y="1006941"/>
            <a:ext cx="3318930" cy="468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b="1">
                <a:solidFill>
                  <a:srgbClr val="000000"/>
                </a:solidFill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rPr>
              <a:t>Tópicos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FAFAE157-73F7-E63A-0088-CB8311A0AB07}"/>
              </a:ext>
            </a:extLst>
          </p:cNvPr>
          <p:cNvSpPr/>
          <p:nvPr/>
        </p:nvSpPr>
        <p:spPr>
          <a:xfrm>
            <a:off x="3933239" y="1004869"/>
            <a:ext cx="7759934" cy="468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b="1">
                <a:solidFill>
                  <a:srgbClr val="000000"/>
                </a:solidFill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rPr>
              <a:t>Descrição</a:t>
            </a:r>
          </a:p>
        </p:txBody>
      </p: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C6B037EC-BA98-FD50-D8DA-0276D5C38062}"/>
              </a:ext>
            </a:extLst>
          </p:cNvPr>
          <p:cNvGrpSpPr/>
          <p:nvPr/>
        </p:nvGrpSpPr>
        <p:grpSpPr>
          <a:xfrm>
            <a:off x="498826" y="2107100"/>
            <a:ext cx="11194347" cy="432000"/>
            <a:chOff x="498826" y="2208670"/>
            <a:chExt cx="11194347" cy="432000"/>
          </a:xfrm>
        </p:grpSpPr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D3FA176F-8070-0326-166D-817A2B8C1B28}"/>
                </a:ext>
              </a:extLst>
            </p:cNvPr>
            <p:cNvSpPr txBox="1"/>
            <p:nvPr/>
          </p:nvSpPr>
          <p:spPr>
            <a:xfrm>
              <a:off x="508301" y="2270782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Setor de Atuação</a:t>
              </a:r>
            </a:p>
          </p:txBody>
        </p:sp>
        <p:cxnSp>
          <p:nvCxnSpPr>
            <p:cNvPr id="39" name="Conector reto 38">
              <a:extLst>
                <a:ext uri="{FF2B5EF4-FFF2-40B4-BE49-F238E27FC236}">
                  <a16:creationId xmlns:a16="http://schemas.microsoft.com/office/drawing/2014/main" id="{049630CA-AD25-C12C-2AC4-395C61F0CC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2298670"/>
              <a:ext cx="0" cy="25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D24BF88A-65BF-1DB7-CE9D-9D0D8E097CC2}"/>
                </a:ext>
              </a:extLst>
            </p:cNvPr>
            <p:cNvSpPr/>
            <p:nvPr/>
          </p:nvSpPr>
          <p:spPr>
            <a:xfrm>
              <a:off x="498826" y="2208670"/>
              <a:ext cx="11194347" cy="432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ítulo 1">
              <a:extLst>
                <a:ext uri="{FF2B5EF4-FFF2-40B4-BE49-F238E27FC236}">
                  <a16:creationId xmlns:a16="http://schemas.microsoft.com/office/drawing/2014/main" id="{CC5467D4-A1AC-FC0E-4C05-BD3596109678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2255393"/>
              <a:ext cx="6543589" cy="3385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Transporte Rodoviário</a:t>
              </a:r>
            </a:p>
          </p:txBody>
        </p:sp>
      </p:grpSp>
      <p:grpSp>
        <p:nvGrpSpPr>
          <p:cNvPr id="148" name="Agrupar 147">
            <a:extLst>
              <a:ext uri="{FF2B5EF4-FFF2-40B4-BE49-F238E27FC236}">
                <a16:creationId xmlns:a16="http://schemas.microsoft.com/office/drawing/2014/main" id="{43E7E649-6A80-347A-FEC9-53DB2A19ED71}"/>
              </a:ext>
            </a:extLst>
          </p:cNvPr>
          <p:cNvGrpSpPr/>
          <p:nvPr/>
        </p:nvGrpSpPr>
        <p:grpSpPr>
          <a:xfrm>
            <a:off x="498826" y="2614613"/>
            <a:ext cx="11194347" cy="432000"/>
            <a:chOff x="498826" y="2675937"/>
            <a:chExt cx="11194347" cy="432000"/>
          </a:xfrm>
        </p:grpSpPr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789350EE-43D4-7F2C-DCE9-BD96ABC8D38A}"/>
                </a:ext>
              </a:extLst>
            </p:cNvPr>
            <p:cNvSpPr txBox="1"/>
            <p:nvPr/>
          </p:nvSpPr>
          <p:spPr>
            <a:xfrm>
              <a:off x="508301" y="2738049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Assunto da Apresentação</a:t>
              </a:r>
            </a:p>
          </p:txBody>
        </p:sp>
        <p:cxnSp>
          <p:nvCxnSpPr>
            <p:cNvPr id="45" name="Conector reto 44">
              <a:extLst>
                <a:ext uri="{FF2B5EF4-FFF2-40B4-BE49-F238E27FC236}">
                  <a16:creationId xmlns:a16="http://schemas.microsoft.com/office/drawing/2014/main" id="{5AADF663-9636-F8CC-FA05-7072DCFB95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2765937"/>
              <a:ext cx="0" cy="25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D1970D85-74BB-FA2A-7E0F-897B976CA9DB}"/>
                </a:ext>
              </a:extLst>
            </p:cNvPr>
            <p:cNvSpPr/>
            <p:nvPr/>
          </p:nvSpPr>
          <p:spPr>
            <a:xfrm>
              <a:off x="498826" y="2675937"/>
              <a:ext cx="11194347" cy="432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Título 1">
              <a:extLst>
                <a:ext uri="{FF2B5EF4-FFF2-40B4-BE49-F238E27FC236}">
                  <a16:creationId xmlns:a16="http://schemas.microsoft.com/office/drawing/2014/main" id="{EF16D985-1C1F-1AF5-A3B0-E8EE40F2AEDB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2722660"/>
              <a:ext cx="6543589" cy="3385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Rede Credenciada</a:t>
              </a:r>
            </a:p>
          </p:txBody>
        </p:sp>
      </p:grpSp>
      <p:grpSp>
        <p:nvGrpSpPr>
          <p:cNvPr id="149" name="Agrupar 148">
            <a:extLst>
              <a:ext uri="{FF2B5EF4-FFF2-40B4-BE49-F238E27FC236}">
                <a16:creationId xmlns:a16="http://schemas.microsoft.com/office/drawing/2014/main" id="{D4BDACA4-B2F0-7CBD-C583-836308A13363}"/>
              </a:ext>
            </a:extLst>
          </p:cNvPr>
          <p:cNvGrpSpPr/>
          <p:nvPr/>
        </p:nvGrpSpPr>
        <p:grpSpPr>
          <a:xfrm>
            <a:off x="498826" y="3122126"/>
            <a:ext cx="11194347" cy="612000"/>
            <a:chOff x="498826" y="3143204"/>
            <a:chExt cx="11194347" cy="612000"/>
          </a:xfrm>
        </p:grpSpPr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E7CEAB6C-9613-2B53-7D49-0305BCA1138B}"/>
                </a:ext>
              </a:extLst>
            </p:cNvPr>
            <p:cNvSpPr txBox="1"/>
            <p:nvPr/>
          </p:nvSpPr>
          <p:spPr>
            <a:xfrm>
              <a:off x="508301" y="3295316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Metodologia</a:t>
              </a: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0E09A034-BC34-8795-0865-3CCFBE3F326E}"/>
                </a:ext>
              </a:extLst>
            </p:cNvPr>
            <p:cNvSpPr/>
            <p:nvPr/>
          </p:nvSpPr>
          <p:spPr>
            <a:xfrm>
              <a:off x="498826" y="3143204"/>
              <a:ext cx="11194347" cy="612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ítulo 1">
              <a:extLst>
                <a:ext uri="{FF2B5EF4-FFF2-40B4-BE49-F238E27FC236}">
                  <a16:creationId xmlns:a16="http://schemas.microsoft.com/office/drawing/2014/main" id="{94A35C38-6FE2-CE36-B488-210C797388F8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3217802"/>
              <a:ext cx="6543589" cy="46280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Receita incremental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Growth</a:t>
              </a:r>
            </a:p>
          </p:txBody>
        </p: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411F4D26-5845-05EA-C4F3-34525E5592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3251204"/>
              <a:ext cx="0" cy="396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A8479272-0D0E-B021-7CA0-BB0AF09CD998}"/>
              </a:ext>
            </a:extLst>
          </p:cNvPr>
          <p:cNvGrpSpPr/>
          <p:nvPr/>
        </p:nvGrpSpPr>
        <p:grpSpPr>
          <a:xfrm>
            <a:off x="499946" y="3809639"/>
            <a:ext cx="11193227" cy="432000"/>
            <a:chOff x="499946" y="3790471"/>
            <a:chExt cx="11193227" cy="432000"/>
          </a:xfrm>
        </p:grpSpPr>
        <p:sp>
          <p:nvSpPr>
            <p:cNvPr id="56" name="CaixaDeTexto 55">
              <a:extLst>
                <a:ext uri="{FF2B5EF4-FFF2-40B4-BE49-F238E27FC236}">
                  <a16:creationId xmlns:a16="http://schemas.microsoft.com/office/drawing/2014/main" id="{C209402C-7933-8E1A-40C2-8ECB80E7B860}"/>
                </a:ext>
              </a:extLst>
            </p:cNvPr>
            <p:cNvSpPr txBox="1"/>
            <p:nvPr/>
          </p:nvSpPr>
          <p:spPr>
            <a:xfrm>
              <a:off x="508301" y="3852583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 dirty="0">
                  <a:latin typeface="Segoe UI"/>
                  <a:cs typeface="Segoe UI"/>
                </a:rPr>
                <a:t>Tipo de Apresentação</a:t>
              </a: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86EB1749-0F28-2AD3-1211-38CB57250926}"/>
                </a:ext>
              </a:extLst>
            </p:cNvPr>
            <p:cNvSpPr/>
            <p:nvPr/>
          </p:nvSpPr>
          <p:spPr>
            <a:xfrm>
              <a:off x="499946" y="3790471"/>
              <a:ext cx="11193227" cy="432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8" name="Título 1">
              <a:extLst>
                <a:ext uri="{FF2B5EF4-FFF2-40B4-BE49-F238E27FC236}">
                  <a16:creationId xmlns:a16="http://schemas.microsoft.com/office/drawing/2014/main" id="{7D915E47-A967-25F3-0D42-0CBF89D03EA3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3837194"/>
              <a:ext cx="6543589" cy="3385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r>
                <a:rPr lang="pt-BR" sz="1400" dirty="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Para o comitê executivo</a:t>
              </a:r>
            </a:p>
          </p:txBody>
        </p:sp>
        <p:cxnSp>
          <p:nvCxnSpPr>
            <p:cNvPr id="59" name="Conector reto 58">
              <a:extLst>
                <a:ext uri="{FF2B5EF4-FFF2-40B4-BE49-F238E27FC236}">
                  <a16:creationId xmlns:a16="http://schemas.microsoft.com/office/drawing/2014/main" id="{9D84DB51-5603-7F1B-FE44-F9B890A662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3880471"/>
              <a:ext cx="0" cy="25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1" name="Agrupar 150">
            <a:extLst>
              <a:ext uri="{FF2B5EF4-FFF2-40B4-BE49-F238E27FC236}">
                <a16:creationId xmlns:a16="http://schemas.microsoft.com/office/drawing/2014/main" id="{AAE4BCC2-ADA0-0CB5-0D48-706465515D9D}"/>
              </a:ext>
            </a:extLst>
          </p:cNvPr>
          <p:cNvGrpSpPr/>
          <p:nvPr/>
        </p:nvGrpSpPr>
        <p:grpSpPr>
          <a:xfrm>
            <a:off x="498826" y="4317152"/>
            <a:ext cx="11194347" cy="936000"/>
            <a:chOff x="498826" y="4257738"/>
            <a:chExt cx="11194347" cy="936000"/>
          </a:xfrm>
        </p:grpSpPr>
        <p:sp>
          <p:nvSpPr>
            <p:cNvPr id="128" name="CaixaDeTexto 127">
              <a:extLst>
                <a:ext uri="{FF2B5EF4-FFF2-40B4-BE49-F238E27FC236}">
                  <a16:creationId xmlns:a16="http://schemas.microsoft.com/office/drawing/2014/main" id="{F1B4264E-3C44-E408-7C10-FD570657FCC3}"/>
                </a:ext>
              </a:extLst>
            </p:cNvPr>
            <p:cNvSpPr txBox="1"/>
            <p:nvPr/>
          </p:nvSpPr>
          <p:spPr>
            <a:xfrm>
              <a:off x="507181" y="4571850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Tipos de Análise</a:t>
              </a:r>
            </a:p>
          </p:txBody>
        </p:sp>
        <p:sp>
          <p:nvSpPr>
            <p:cNvPr id="129" name="Retângulo 128">
              <a:extLst>
                <a:ext uri="{FF2B5EF4-FFF2-40B4-BE49-F238E27FC236}">
                  <a16:creationId xmlns:a16="http://schemas.microsoft.com/office/drawing/2014/main" id="{FCE0C62F-4AB5-D651-615E-F9942C72BBF8}"/>
                </a:ext>
              </a:extLst>
            </p:cNvPr>
            <p:cNvSpPr/>
            <p:nvPr/>
          </p:nvSpPr>
          <p:spPr>
            <a:xfrm>
              <a:off x="498826" y="4257738"/>
              <a:ext cx="11194347" cy="936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0" name="Título 1">
              <a:extLst>
                <a:ext uri="{FF2B5EF4-FFF2-40B4-BE49-F238E27FC236}">
                  <a16:creationId xmlns:a16="http://schemas.microsoft.com/office/drawing/2014/main" id="{938CBA6C-6CA9-F1FF-5C88-0FA2BBED1BB2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4383477"/>
              <a:ext cx="2655617" cy="68452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Benchmark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Mercado embarcador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Market </a:t>
              </a:r>
              <a:r>
                <a:rPr lang="pt-BR" sz="1400" err="1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share</a:t>
              </a:r>
              <a:endParaRPr lang="pt-BR" sz="1400">
                <a:solidFill>
                  <a:schemeClr val="tx1"/>
                </a:solidFill>
                <a:highlight>
                  <a:srgbClr val="FFFF00"/>
                </a:highlight>
                <a:latin typeface="Segoe UI"/>
                <a:cs typeface="Segoe UI"/>
              </a:endParaRPr>
            </a:p>
          </p:txBody>
        </p:sp>
        <p:cxnSp>
          <p:nvCxnSpPr>
            <p:cNvPr id="131" name="Conector reto 130">
              <a:extLst>
                <a:ext uri="{FF2B5EF4-FFF2-40B4-BE49-F238E27FC236}">
                  <a16:creationId xmlns:a16="http://schemas.microsoft.com/office/drawing/2014/main" id="{9738A6A6-164A-0F28-44BE-7AE96ADEF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4401738"/>
              <a:ext cx="0" cy="648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578D2376-B9CE-43DD-46E8-CE4E82899E5D}"/>
                </a:ext>
              </a:extLst>
            </p:cNvPr>
            <p:cNvSpPr txBox="1">
              <a:spLocks/>
            </p:cNvSpPr>
            <p:nvPr/>
          </p:nvSpPr>
          <p:spPr>
            <a:xfrm>
              <a:off x="6943615" y="4371026"/>
              <a:ext cx="2655617" cy="70942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Receita incremental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Análise de custo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Estratégia de Cenários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D840F306-2F77-5E9D-5C4C-BA30FDC595EC}"/>
              </a:ext>
            </a:extLst>
          </p:cNvPr>
          <p:cNvGrpSpPr/>
          <p:nvPr/>
        </p:nvGrpSpPr>
        <p:grpSpPr>
          <a:xfrm>
            <a:off x="498826" y="5328664"/>
            <a:ext cx="11194347" cy="936000"/>
            <a:chOff x="498826" y="5229003"/>
            <a:chExt cx="11194347" cy="936000"/>
          </a:xfrm>
        </p:grpSpPr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id="{5ED02A20-04EA-74BE-F91C-40B99D52B2EB}"/>
                </a:ext>
              </a:extLst>
            </p:cNvPr>
            <p:cNvSpPr txBox="1"/>
            <p:nvPr/>
          </p:nvSpPr>
          <p:spPr>
            <a:xfrm>
              <a:off x="507181" y="5543115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Equipe</a:t>
              </a:r>
            </a:p>
          </p:txBody>
        </p:sp>
        <p:sp>
          <p:nvSpPr>
            <p:cNvPr id="134" name="Retângulo 133">
              <a:extLst>
                <a:ext uri="{FF2B5EF4-FFF2-40B4-BE49-F238E27FC236}">
                  <a16:creationId xmlns:a16="http://schemas.microsoft.com/office/drawing/2014/main" id="{3AF8C607-F7B6-9169-A7B4-DAA8E08CD76B}"/>
                </a:ext>
              </a:extLst>
            </p:cNvPr>
            <p:cNvSpPr/>
            <p:nvPr/>
          </p:nvSpPr>
          <p:spPr>
            <a:xfrm>
              <a:off x="498826" y="5229003"/>
              <a:ext cx="11194347" cy="936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6" name="Título 1">
              <a:extLst>
                <a:ext uri="{FF2B5EF4-FFF2-40B4-BE49-F238E27FC236}">
                  <a16:creationId xmlns:a16="http://schemas.microsoft.com/office/drawing/2014/main" id="{C74A7296-9577-41AA-2A52-D09E2697109A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5354742"/>
              <a:ext cx="2655617" cy="68452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Claudio Santos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José Eduardo Lima Mollo 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Adriano Bezerra de Siqueira</a:t>
              </a:r>
            </a:p>
          </p:txBody>
        </p:sp>
        <p:cxnSp>
          <p:nvCxnSpPr>
            <p:cNvPr id="137" name="Conector reto 136">
              <a:extLst>
                <a:ext uri="{FF2B5EF4-FFF2-40B4-BE49-F238E27FC236}">
                  <a16:creationId xmlns:a16="http://schemas.microsoft.com/office/drawing/2014/main" id="{7BF604B1-6490-A2C4-A0FF-9B861148C8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5373003"/>
              <a:ext cx="0" cy="648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ítulo 1">
              <a:extLst>
                <a:ext uri="{FF2B5EF4-FFF2-40B4-BE49-F238E27FC236}">
                  <a16:creationId xmlns:a16="http://schemas.microsoft.com/office/drawing/2014/main" id="{6A2CC3BD-FFDB-B658-D007-6514B5DCB94E}"/>
                </a:ext>
              </a:extLst>
            </p:cNvPr>
            <p:cNvSpPr txBox="1">
              <a:spLocks/>
            </p:cNvSpPr>
            <p:nvPr/>
          </p:nvSpPr>
          <p:spPr>
            <a:xfrm>
              <a:off x="6943615" y="5342291"/>
              <a:ext cx="2655617" cy="70942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Alex </a:t>
              </a:r>
              <a:r>
                <a:rPr lang="pt-BR" sz="1400" err="1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Yuwan</a:t>
              </a: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 </a:t>
              </a:r>
              <a:r>
                <a:rPr lang="pt-BR" sz="1400" err="1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Tjong</a:t>
              </a:r>
              <a:endParaRPr lang="pt-BR" sz="1400">
                <a:solidFill>
                  <a:schemeClr val="tx1"/>
                </a:solidFill>
                <a:highlight>
                  <a:srgbClr val="FFFF00"/>
                </a:highlight>
                <a:latin typeface="Segoe UI"/>
                <a:cs typeface="Segoe UI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Thaís </a:t>
              </a:r>
              <a:r>
                <a:rPr lang="pt-BR" sz="1400" err="1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Lucchiari</a:t>
              </a: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 de Queiroz</a:t>
              </a:r>
            </a:p>
          </p:txBody>
        </p:sp>
      </p:grpSp>
      <p:sp>
        <p:nvSpPr>
          <p:cNvPr id="7" name="Quadro 6">
            <a:extLst>
              <a:ext uri="{FF2B5EF4-FFF2-40B4-BE49-F238E27FC236}">
                <a16:creationId xmlns:a16="http://schemas.microsoft.com/office/drawing/2014/main" id="{B0DA744E-28F8-BBE2-F57B-54056B99646B}"/>
              </a:ext>
            </a:extLst>
          </p:cNvPr>
          <p:cNvSpPr/>
          <p:nvPr/>
        </p:nvSpPr>
        <p:spPr>
          <a:xfrm>
            <a:off x="9952864" y="112133"/>
            <a:ext cx="2140884" cy="411236"/>
          </a:xfrm>
          <a:prstGeom prst="frame">
            <a:avLst>
              <a:gd name="adj1" fmla="val 1423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4466A2"/>
                </a:solidFill>
              </a:rPr>
              <a:t>SLIDE OCULTO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F3237F6-05A7-F007-3F02-D91BD58D0E4F}"/>
              </a:ext>
            </a:extLst>
          </p:cNvPr>
          <p:cNvSpPr/>
          <p:nvPr/>
        </p:nvSpPr>
        <p:spPr>
          <a:xfrm>
            <a:off x="7615345" y="2263173"/>
            <a:ext cx="4080026" cy="1575134"/>
          </a:xfrm>
          <a:prstGeom prst="roundRect">
            <a:avLst>
              <a:gd name="adj" fmla="val 0"/>
            </a:avLst>
          </a:prstGeom>
          <a:solidFill>
            <a:srgbClr val="4466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solidFill>
                  <a:schemeClr val="bg1"/>
                </a:solidFill>
              </a:rPr>
              <a:t>Principais palavras-chaves que auxiliariam na busca por esse arquivo (de preferência as não presentes na apresentação). Sinta-se a vontade para inserir os tópicos que achar necessário. Esse slide deve ser incluído ao final de toda apresentação operacional, sempre oculto.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EBBECB3-47A1-4D10-AF61-D2A118D677B8}"/>
              </a:ext>
            </a:extLst>
          </p:cNvPr>
          <p:cNvSpPr/>
          <p:nvPr/>
        </p:nvSpPr>
        <p:spPr>
          <a:xfrm>
            <a:off x="7160261" y="749755"/>
            <a:ext cx="3614360" cy="1056551"/>
          </a:xfrm>
          <a:prstGeom prst="roundRect">
            <a:avLst>
              <a:gd name="adj" fmla="val 0"/>
            </a:avLst>
          </a:prstGeom>
          <a:solidFill>
            <a:srgbClr val="4466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solidFill>
                  <a:schemeClr val="bg1"/>
                </a:solidFill>
              </a:rPr>
              <a:t>Somente para apresentações mais importantes do projeto.</a:t>
            </a:r>
            <a:endParaRPr lang="pt-BR" sz="1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3894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61D9B548-B81B-479B-A89D-4E50E1DE910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1275603"/>
              </p:ext>
            </p:extLst>
          </p:nvPr>
        </p:nvGraphicFramePr>
        <p:xfrm>
          <a:off x="611505" y="1905"/>
          <a:ext cx="1906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4" progId="TCLayout.ActiveDocument.1">
                  <p:embed/>
                </p:oleObj>
              </mc:Choice>
              <mc:Fallback>
                <p:oleObj name="Slide do think-cell" r:id="rId4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61D9B548-B81B-479B-A89D-4E50E1DE91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1505" y="1905"/>
                        <a:ext cx="1906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C2261822-91B1-4BA4-9A72-0B53D53A2406}"/>
              </a:ext>
            </a:extLst>
          </p:cNvPr>
          <p:cNvSpPr/>
          <p:nvPr/>
        </p:nvSpPr>
        <p:spPr>
          <a:xfrm>
            <a:off x="3190565" y="1768724"/>
            <a:ext cx="5810869" cy="18005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Object 6"/>
          <p:cNvSpPr txBox="1"/>
          <p:nvPr/>
        </p:nvSpPr>
        <p:spPr>
          <a:xfrm>
            <a:off x="3190565" y="4189015"/>
            <a:ext cx="5810870" cy="14255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spcAft>
                <a:spcPts val="1200"/>
              </a:spcAft>
              <a:buNone/>
            </a:pPr>
            <a:r>
              <a:rPr lang="pt-BR" sz="3200" b="1">
                <a:latin typeface="Arial" panose="020B0604020202020204" pitchFamily="34" charset="0"/>
                <a:ea typeface="Poppins" pitchFamily="34" charset="-122"/>
                <a:cs typeface="Arial" panose="020B0604020202020204" pitchFamily="34" charset="0"/>
              </a:rPr>
              <a:t>Apresentação Operacional 2 </a:t>
            </a:r>
            <a:endParaRPr lang="pt-BR" sz="2400" b="1">
              <a:latin typeface="Arial" panose="020B0604020202020204" pitchFamily="34" charset="0"/>
              <a:ea typeface="Poppins" pitchFamily="34" charset="-122"/>
              <a:cs typeface="Arial" panose="020B0604020202020204" pitchFamily="34" charset="0"/>
            </a:endParaRPr>
          </a:p>
          <a:p>
            <a:pPr algn="ctr">
              <a:spcAft>
                <a:spcPts val="1200"/>
              </a:spcAft>
              <a:buNone/>
            </a:pPr>
            <a:r>
              <a:rPr lang="pt-BR" sz="2000">
                <a:latin typeface="Arial" panose="020B0604020202020204" pitchFamily="34" charset="0"/>
                <a:ea typeface="Poppins" pitchFamily="34" charset="-122"/>
                <a:cs typeface="Arial" panose="020B0604020202020204" pitchFamily="34" charset="0"/>
              </a:rPr>
              <a:t>Fevereiro de 2023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D78B170-DECA-82D2-16BF-02F7907B59E9}"/>
              </a:ext>
            </a:extLst>
          </p:cNvPr>
          <p:cNvSpPr/>
          <p:nvPr/>
        </p:nvSpPr>
        <p:spPr>
          <a:xfrm>
            <a:off x="4641448" y="2071868"/>
            <a:ext cx="2772137" cy="100699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Aplicar</a:t>
            </a:r>
            <a:br>
              <a:rPr lang="pt-BR"/>
            </a:br>
            <a:r>
              <a:rPr lang="pt-BR"/>
              <a:t>Logo Cliente</a:t>
            </a:r>
          </a:p>
        </p:txBody>
      </p:sp>
    </p:spTree>
    <p:extLst>
      <p:ext uri="{BB962C8B-B14F-4D97-AF65-F5344CB8AC3E}">
        <p14:creationId xmlns:p14="http://schemas.microsoft.com/office/powerpoint/2010/main" val="976993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25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>
                <a:solidFill>
                  <a:schemeClr val="accent1"/>
                </a:solidFill>
              </a:rPr>
              <a:t>Temas abordados nessa apresentação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678CC38-23B8-B78F-F0C2-39DD7654DF84}"/>
              </a:ext>
            </a:extLst>
          </p:cNvPr>
          <p:cNvSpPr txBox="1"/>
          <p:nvPr/>
        </p:nvSpPr>
        <p:spPr>
          <a:xfrm>
            <a:off x="604975" y="1075038"/>
            <a:ext cx="10225418" cy="5273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00050" indent="-400050">
              <a:buFont typeface="+mj-lt"/>
              <a:buAutoNum type="romanUcPeriod"/>
            </a:pPr>
            <a:r>
              <a:rPr lang="pt-BR" b="1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Modelo de slides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Folha em branco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Gráfico</a:t>
            </a:r>
          </a:p>
          <a:p>
            <a:pPr lvl="1"/>
            <a:endParaRPr lang="pt-BR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pt-BR" b="1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Formatação da apresentação </a:t>
            </a:r>
            <a:endParaRPr lang="pt-BR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Padrão da apresentação</a:t>
            </a:r>
          </a:p>
          <a:p>
            <a:pPr marL="857250" lvl="1" indent="-400050">
              <a:buFont typeface="+mj-lt"/>
              <a:buAutoNum type="romanUcPeriod"/>
            </a:pPr>
            <a:endParaRPr lang="pt-BR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51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26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>
                <a:solidFill>
                  <a:schemeClr val="accent1"/>
                </a:solidFill>
              </a:rPr>
              <a:t>Temas abordados nessa apresentação</a:t>
            </a:r>
          </a:p>
          <a:p>
            <a:endParaRPr lang="pt-BR">
              <a:solidFill>
                <a:schemeClr val="accent1"/>
              </a:solidFill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678CC38-23B8-B78F-F0C2-39DD7654DF84}"/>
              </a:ext>
            </a:extLst>
          </p:cNvPr>
          <p:cNvSpPr txBox="1"/>
          <p:nvPr/>
        </p:nvSpPr>
        <p:spPr>
          <a:xfrm>
            <a:off x="604975" y="1075038"/>
            <a:ext cx="10225418" cy="5273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00050" indent="-400050">
              <a:buFont typeface="+mj-lt"/>
              <a:buAutoNum type="romanUcPeriod"/>
            </a:pPr>
            <a:r>
              <a:rPr lang="pt-BR" b="1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Modelo de slides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Folha em branco</a:t>
            </a: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Gráfico</a:t>
            </a:r>
          </a:p>
          <a:p>
            <a:pPr lvl="1"/>
            <a:endParaRPr lang="pt-BR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400050" indent="-400050">
              <a:buFont typeface="+mj-lt"/>
              <a:buAutoNum type="romanUcPeriod"/>
            </a:pPr>
            <a:r>
              <a:rPr lang="pt-BR" b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Formatação da apresentação </a:t>
            </a:r>
            <a:endParaRPr lang="pt-BR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  <a:p>
            <a:pPr marL="857250" lvl="1" indent="-400050">
              <a:buFont typeface="+mj-lt"/>
              <a:buAutoNum type="arabicPeriod"/>
            </a:pPr>
            <a:r>
              <a:rPr lang="pt-BR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ea typeface="Raleway" pitchFamily="34" charset="-122"/>
                <a:cs typeface="Segoe UI" panose="020B0502040204020203" pitchFamily="34" charset="0"/>
              </a:rPr>
              <a:t>Padrão da apresentação</a:t>
            </a:r>
          </a:p>
          <a:p>
            <a:pPr marL="857250" lvl="1" indent="-400050">
              <a:buFont typeface="+mj-lt"/>
              <a:buAutoNum type="romanUcPeriod"/>
            </a:pPr>
            <a:endParaRPr lang="pt-BR">
              <a:latin typeface="Segoe UI" panose="020B0502040204020203" pitchFamily="34" charset="0"/>
              <a:ea typeface="Raleway" pitchFamily="34" charset="-122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704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7137E683-2169-9B9C-9E89-E61DCB3A2AD0}"/>
              </a:ext>
            </a:extLst>
          </p:cNvPr>
          <p:cNvSpPr/>
          <p:nvPr/>
        </p:nvSpPr>
        <p:spPr>
          <a:xfrm>
            <a:off x="4639564" y="4374082"/>
            <a:ext cx="2912400" cy="57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4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b="1" dirty="0">
                <a:solidFill>
                  <a:schemeClr val="tx1"/>
                </a:solidFill>
                <a:latin typeface="Segoe UI"/>
                <a:cs typeface="Segoe UI"/>
              </a:rPr>
              <a:t>SLIDE QUANTITATIVO</a:t>
            </a:r>
            <a:r>
              <a:rPr lang="pt-BR" sz="1600" b="1" dirty="0">
                <a:solidFill>
                  <a:schemeClr val="tx1"/>
                </a:solidFill>
                <a:latin typeface="Segoe UI"/>
                <a:cs typeface="Segoe UI"/>
              </a:rPr>
              <a:t>
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C244280-3905-363E-1DD4-FBB87F5DEBBB}"/>
              </a:ext>
            </a:extLst>
          </p:cNvPr>
          <p:cNvSpPr/>
          <p:nvPr/>
        </p:nvSpPr>
        <p:spPr>
          <a:xfrm>
            <a:off x="8420266" y="4374083"/>
            <a:ext cx="2912400" cy="57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b="1" dirty="0">
                <a:solidFill>
                  <a:schemeClr val="tx1"/>
                </a:solidFill>
                <a:latin typeface="Segoe UI"/>
                <a:cs typeface="Segoe UI"/>
              </a:rPr>
              <a:t>SLIDE INTEGRAD</a:t>
            </a:r>
            <a:r>
              <a:rPr lang="pt-BR" sz="1600" b="1" dirty="0">
                <a:solidFill>
                  <a:schemeClr val="tx1"/>
                </a:solidFill>
                <a:latin typeface="Segoe UI"/>
                <a:cs typeface="Segoe UI"/>
              </a:rPr>
              <a:t>O
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9DC13EA-0D0D-97DB-5CFF-20A7997B9662}"/>
              </a:ext>
            </a:extLst>
          </p:cNvPr>
          <p:cNvSpPr/>
          <p:nvPr/>
        </p:nvSpPr>
        <p:spPr>
          <a:xfrm>
            <a:off x="859801" y="4374603"/>
            <a:ext cx="2911461" cy="571882"/>
          </a:xfrm>
          <a:prstGeom prst="rect">
            <a:avLst/>
          </a:prstGeom>
          <a:solidFill>
            <a:schemeClr val="bg1"/>
          </a:solidFill>
          <a:ln>
            <a:solidFill>
              <a:srgbClr val="0F6FC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400" b="1" dirty="0">
              <a:solidFill>
                <a:srgbClr val="0F6FC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b="1" dirty="0">
                <a:solidFill>
                  <a:srgbClr val="0F6FC6"/>
                </a:solidFill>
                <a:latin typeface="Segoe UI"/>
                <a:cs typeface="Segoe UI"/>
              </a:rPr>
              <a:t>SLIDE QUALITATIVO</a:t>
            </a:r>
            <a:r>
              <a:rPr lang="pt-BR" sz="1600" b="1" dirty="0">
                <a:solidFill>
                  <a:srgbClr val="0F6FC6"/>
                </a:solidFill>
                <a:latin typeface="Segoe UI"/>
                <a:cs typeface="Segoe UI"/>
              </a:rPr>
              <a:t>
</a:t>
            </a:r>
          </a:p>
        </p:txBody>
      </p:sp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27</a:t>
            </a:fld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ECB709AC-41CB-8671-3613-AA0B2D966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Layouts de Slides Quantitativos, Qualitativos e Integrados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85756"/>
            <a:ext cx="11460050" cy="29883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dirty="0">
                <a:latin typeface="Segoe UI"/>
                <a:cs typeface="Segoe UI"/>
              </a:rPr>
              <a:t>Para slides qualitativos, quantitativos e integrados</a:t>
            </a: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845E6637-5AEA-24CF-A2B4-73888F4DE76B}"/>
              </a:ext>
            </a:extLst>
          </p:cNvPr>
          <p:cNvCxnSpPr>
            <a:cxnSpLocks/>
          </p:cNvCxnSpPr>
          <p:nvPr/>
        </p:nvCxnSpPr>
        <p:spPr>
          <a:xfrm>
            <a:off x="609600" y="4087840"/>
            <a:ext cx="3278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30">
            <a:extLst>
              <a:ext uri="{FF2B5EF4-FFF2-40B4-BE49-F238E27FC236}">
                <a16:creationId xmlns:a16="http://schemas.microsoft.com/office/drawing/2014/main" id="{038FE626-43AB-F5DE-DDDC-DD4CB740F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93" y="1784952"/>
            <a:ext cx="3583876" cy="2016126"/>
          </a:xfrm>
          <a:prstGeom prst="rect">
            <a:avLst/>
          </a:prstGeom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3" name="Picture 131">
            <a:extLst>
              <a:ext uri="{FF2B5EF4-FFF2-40B4-BE49-F238E27FC236}">
                <a16:creationId xmlns:a16="http://schemas.microsoft.com/office/drawing/2014/main" id="{E9D67E84-4D5F-9E00-7370-24D40508B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3967" y="1784951"/>
            <a:ext cx="3583873" cy="2016125"/>
          </a:xfrm>
          <a:prstGeom prst="rect">
            <a:avLst/>
          </a:prstGeom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132">
            <a:extLst>
              <a:ext uri="{FF2B5EF4-FFF2-40B4-BE49-F238E27FC236}">
                <a16:creationId xmlns:a16="http://schemas.microsoft.com/office/drawing/2014/main" id="{7F816B2E-868A-569D-BD46-944BF4390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4529" y="1784951"/>
            <a:ext cx="3583875" cy="2016126"/>
          </a:xfrm>
          <a:prstGeom prst="rect">
            <a:avLst/>
          </a:prstGeom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6EE8E13A-C436-2556-69F5-ADFB7B80FD46}"/>
              </a:ext>
            </a:extLst>
          </p:cNvPr>
          <p:cNvCxnSpPr>
            <a:cxnSpLocks/>
          </p:cNvCxnSpPr>
          <p:nvPr/>
        </p:nvCxnSpPr>
        <p:spPr>
          <a:xfrm>
            <a:off x="4456432" y="4088588"/>
            <a:ext cx="3278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4E98E2B-A8B3-A327-9E63-BB97F9D857D2}"/>
              </a:ext>
            </a:extLst>
          </p:cNvPr>
          <p:cNvCxnSpPr>
            <a:cxnSpLocks/>
          </p:cNvCxnSpPr>
          <p:nvPr/>
        </p:nvCxnSpPr>
        <p:spPr>
          <a:xfrm>
            <a:off x="8236995" y="4087840"/>
            <a:ext cx="3278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902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6054CE96-956F-BF69-CF83-3AFC7EEF2CB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5" imgH="424" progId="TCLayout.ActiveDocument.1">
                  <p:embed/>
                </p:oleObj>
              </mc:Choice>
              <mc:Fallback>
                <p:oleObj name="Slide do think-cell" r:id="rId3" imgW="425" imgH="424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6054CE96-956F-BF69-CF83-3AFC7EEF2C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DD19CB6-A18E-1A42-EA7E-AA44D9BEF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28</a:t>
            </a:fld>
            <a:endParaRPr lang="pt-BR"/>
          </a:p>
        </p:txBody>
      </p:sp>
      <p:sp>
        <p:nvSpPr>
          <p:cNvPr id="30" name="Título 29">
            <a:extLst>
              <a:ext uri="{FF2B5EF4-FFF2-40B4-BE49-F238E27FC236}">
                <a16:creationId xmlns:a16="http://schemas.microsoft.com/office/drawing/2014/main" id="{022BA4D4-E685-68B5-64EC-D2072871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Qualitativo</a:t>
            </a:r>
            <a:endParaRPr lang="en-US"/>
          </a:p>
        </p:txBody>
      </p:sp>
      <p:sp>
        <p:nvSpPr>
          <p:cNvPr id="34" name="Espaço Reservado para Texto 33">
            <a:extLst>
              <a:ext uri="{FF2B5EF4-FFF2-40B4-BE49-F238E27FC236}">
                <a16:creationId xmlns:a16="http://schemas.microsoft.com/office/drawing/2014/main" id="{FA5F0385-6061-BBDC-DD55-2C61D49EE2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 
</a:t>
            </a: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A92A57AB-46A5-204B-B09E-476FC241C813}"/>
              </a:ext>
            </a:extLst>
          </p:cNvPr>
          <p:cNvGrpSpPr/>
          <p:nvPr/>
        </p:nvGrpSpPr>
        <p:grpSpPr>
          <a:xfrm>
            <a:off x="2878680" y="1134635"/>
            <a:ext cx="4356000" cy="612405"/>
            <a:chOff x="2878680" y="1023187"/>
            <a:chExt cx="4366800" cy="612405"/>
          </a:xfrm>
          <a:effectLst/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D3A1805B-6911-C4E0-74B8-A73F4A9051BF}"/>
                </a:ext>
              </a:extLst>
            </p:cNvPr>
            <p:cNvSpPr/>
            <p:nvPr/>
          </p:nvSpPr>
          <p:spPr>
            <a:xfrm>
              <a:off x="2878680" y="1036952"/>
              <a:ext cx="4366800" cy="59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>
                  <a:latin typeface="Segoe UI" panose="020B0502040204020203" pitchFamily="34" charset="0"/>
                  <a:cs typeface="Segoe UI" panose="020B0502040204020203" pitchFamily="34" charset="0"/>
                </a:rPr>
                <a:t>Medir
</a:t>
              </a: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5041CB6B-D421-8AB4-8641-389B8BF670D3}"/>
                </a:ext>
              </a:extLst>
            </p:cNvPr>
            <p:cNvSpPr/>
            <p:nvPr/>
          </p:nvSpPr>
          <p:spPr>
            <a:xfrm>
              <a:off x="2958289" y="1023187"/>
              <a:ext cx="2361856" cy="5986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pt-BR" sz="1400" b="1" dirty="0">
                  <a:solidFill>
                    <a:schemeClr val="tx1"/>
                  </a:solidFill>
                  <a:latin typeface="Segoe UI"/>
                  <a:cs typeface="Segoe UI"/>
                </a:rPr>
                <a:t>Medir</a:t>
              </a:r>
            </a:p>
          </p:txBody>
        </p:sp>
      </p:grp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5112FE8-6415-C3C0-5528-3D116DF8703C}"/>
              </a:ext>
            </a:extLst>
          </p:cNvPr>
          <p:cNvSpPr txBox="1"/>
          <p:nvPr/>
        </p:nvSpPr>
        <p:spPr>
          <a:xfrm>
            <a:off x="571924" y="2309875"/>
            <a:ext cx="1382946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400" b="1" dirty="0">
                <a:latin typeface="Segoe UI"/>
                <a:cs typeface="Segoe UI"/>
              </a:rPr>
              <a:t>Unidade de Negócio A</a:t>
            </a:r>
            <a:r>
              <a:rPr lang="pt-BR" b="1" dirty="0">
                <a:latin typeface="Segoe UI"/>
                <a:cs typeface="Segoe UI"/>
              </a:rPr>
              <a:t>
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3B2BE6C5-B80A-9C2F-B364-F4E13F7B29E5}"/>
              </a:ext>
            </a:extLst>
          </p:cNvPr>
          <p:cNvCxnSpPr>
            <a:cxnSpLocks/>
          </p:cNvCxnSpPr>
          <p:nvPr/>
        </p:nvCxnSpPr>
        <p:spPr>
          <a:xfrm flipV="1">
            <a:off x="2736403" y="5115411"/>
            <a:ext cx="0" cy="878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Retângulo 57">
            <a:extLst>
              <a:ext uri="{FF2B5EF4-FFF2-40B4-BE49-F238E27FC236}">
                <a16:creationId xmlns:a16="http://schemas.microsoft.com/office/drawing/2014/main" id="{246C50B0-D90E-F94E-F1F1-7A9902294CAE}"/>
              </a:ext>
            </a:extLst>
          </p:cNvPr>
          <p:cNvSpPr/>
          <p:nvPr/>
        </p:nvSpPr>
        <p:spPr>
          <a:xfrm>
            <a:off x="459412" y="4949432"/>
            <a:ext cx="11194347" cy="126264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0A012D70-7E48-1ECE-050C-B7BFC674E61A}"/>
              </a:ext>
            </a:extLst>
          </p:cNvPr>
          <p:cNvCxnSpPr>
            <a:cxnSpLocks/>
          </p:cNvCxnSpPr>
          <p:nvPr/>
        </p:nvCxnSpPr>
        <p:spPr>
          <a:xfrm flipV="1">
            <a:off x="2730529" y="3626122"/>
            <a:ext cx="0" cy="878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B52D5FF4-5748-EC31-1737-FC0D5EA286F4}"/>
              </a:ext>
            </a:extLst>
          </p:cNvPr>
          <p:cNvCxnSpPr>
            <a:cxnSpLocks/>
          </p:cNvCxnSpPr>
          <p:nvPr/>
        </p:nvCxnSpPr>
        <p:spPr>
          <a:xfrm flipV="1">
            <a:off x="2730529" y="2136833"/>
            <a:ext cx="0" cy="878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Retângulo 65">
            <a:extLst>
              <a:ext uri="{FF2B5EF4-FFF2-40B4-BE49-F238E27FC236}">
                <a16:creationId xmlns:a16="http://schemas.microsoft.com/office/drawing/2014/main" id="{520C97B6-10D9-80DF-37A2-A2A60303E914}"/>
              </a:ext>
            </a:extLst>
          </p:cNvPr>
          <p:cNvSpPr/>
          <p:nvPr/>
        </p:nvSpPr>
        <p:spPr>
          <a:xfrm>
            <a:off x="459412" y="3439244"/>
            <a:ext cx="11194347" cy="126264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88F0A62C-9AFE-4F61-CC8E-515151DDDC33}"/>
              </a:ext>
            </a:extLst>
          </p:cNvPr>
          <p:cNvSpPr/>
          <p:nvPr/>
        </p:nvSpPr>
        <p:spPr>
          <a:xfrm>
            <a:off x="459412" y="1929055"/>
            <a:ext cx="11194347" cy="1262644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1A58C0F-78D5-6636-B965-BD81556FE22A}"/>
              </a:ext>
            </a:extLst>
          </p:cNvPr>
          <p:cNvSpPr txBox="1"/>
          <p:nvPr/>
        </p:nvSpPr>
        <p:spPr>
          <a:xfrm>
            <a:off x="571924" y="3758704"/>
            <a:ext cx="1382946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400" b="1" dirty="0">
                <a:latin typeface="Segoe UI"/>
                <a:cs typeface="Segoe UI"/>
              </a:rPr>
              <a:t>Unidade de Negócio B</a:t>
            </a:r>
            <a:r>
              <a:rPr lang="pt-BR" b="1" dirty="0">
                <a:latin typeface="Segoe UI"/>
                <a:cs typeface="Segoe UI"/>
              </a:rPr>
              <a:t>
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6A75BFE-B9FA-E2B6-3B4D-FF7CD3719536}"/>
              </a:ext>
            </a:extLst>
          </p:cNvPr>
          <p:cNvSpPr txBox="1"/>
          <p:nvPr/>
        </p:nvSpPr>
        <p:spPr>
          <a:xfrm>
            <a:off x="572094" y="5288746"/>
            <a:ext cx="1380547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400" b="1" dirty="0">
                <a:latin typeface="Segoe UI"/>
                <a:cs typeface="Segoe UI"/>
              </a:rPr>
              <a:t>Unidade de Negócio C</a:t>
            </a:r>
            <a:r>
              <a:rPr lang="pt-BR" b="1" dirty="0">
                <a:latin typeface="Segoe UI"/>
                <a:cs typeface="Segoe UI"/>
              </a:rPr>
              <a:t>
</a:t>
            </a:r>
          </a:p>
        </p:txBody>
      </p: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89131F1E-140C-65DF-9E4F-C4C8252F2175}"/>
              </a:ext>
            </a:extLst>
          </p:cNvPr>
          <p:cNvGrpSpPr/>
          <p:nvPr/>
        </p:nvGrpSpPr>
        <p:grpSpPr>
          <a:xfrm>
            <a:off x="7286959" y="1134358"/>
            <a:ext cx="4356000" cy="612405"/>
            <a:chOff x="7287369" y="1023187"/>
            <a:chExt cx="4366800" cy="612405"/>
          </a:xfrm>
          <a:effectLst/>
        </p:grpSpPr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74A09412-E663-EEE1-1AD9-53F03AFAAF44}"/>
                </a:ext>
              </a:extLst>
            </p:cNvPr>
            <p:cNvSpPr/>
            <p:nvPr/>
          </p:nvSpPr>
          <p:spPr>
            <a:xfrm>
              <a:off x="7287369" y="1036952"/>
              <a:ext cx="4366800" cy="598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BC3CCCA8-2FDB-36D8-FD05-354C91A6A22F}"/>
                </a:ext>
              </a:extLst>
            </p:cNvPr>
            <p:cNvSpPr/>
            <p:nvPr/>
          </p:nvSpPr>
          <p:spPr>
            <a:xfrm>
              <a:off x="7366978" y="1023187"/>
              <a:ext cx="2361856" cy="5986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pt-BR" sz="1400" b="1" dirty="0">
                  <a:solidFill>
                    <a:schemeClr val="tx1"/>
                  </a:solidFill>
                  <a:latin typeface="Segoe UI"/>
                  <a:cs typeface="Segoe UI"/>
                </a:rPr>
                <a:t>Exemplo</a:t>
              </a:r>
            </a:p>
          </p:txBody>
        </p:sp>
      </p:grp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17E0A99F-6735-BE09-3EEC-0152AB20BBA4}"/>
              </a:ext>
            </a:extLst>
          </p:cNvPr>
          <p:cNvCxnSpPr>
            <a:cxnSpLocks/>
          </p:cNvCxnSpPr>
          <p:nvPr/>
        </p:nvCxnSpPr>
        <p:spPr>
          <a:xfrm flipV="1">
            <a:off x="7251448" y="2136833"/>
            <a:ext cx="0" cy="87844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9AC928AB-07A7-7CBE-A7EB-33CDA8891ACF}"/>
              </a:ext>
            </a:extLst>
          </p:cNvPr>
          <p:cNvCxnSpPr>
            <a:cxnSpLocks/>
          </p:cNvCxnSpPr>
          <p:nvPr/>
        </p:nvCxnSpPr>
        <p:spPr>
          <a:xfrm flipV="1">
            <a:off x="7251001" y="3626122"/>
            <a:ext cx="0" cy="87844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9EBC99A3-1406-DE5C-38B0-26A2DA0ECF26}"/>
              </a:ext>
            </a:extLst>
          </p:cNvPr>
          <p:cNvCxnSpPr>
            <a:cxnSpLocks/>
          </p:cNvCxnSpPr>
          <p:nvPr/>
        </p:nvCxnSpPr>
        <p:spPr>
          <a:xfrm flipV="1">
            <a:off x="7245480" y="5115411"/>
            <a:ext cx="0" cy="87844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CaixaDeTexto 35">
            <a:extLst>
              <a:ext uri="{FF2B5EF4-FFF2-40B4-BE49-F238E27FC236}">
                <a16:creationId xmlns:a16="http://schemas.microsoft.com/office/drawing/2014/main" id="{DCA22243-CC66-F8D9-28A4-C9E69F2158BD}"/>
              </a:ext>
            </a:extLst>
          </p:cNvPr>
          <p:cNvSpPr txBox="1"/>
          <p:nvPr/>
        </p:nvSpPr>
        <p:spPr>
          <a:xfrm>
            <a:off x="2915909" y="2136833"/>
            <a:ext cx="1559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56" name="CaixaDeTexto 35">
            <a:extLst>
              <a:ext uri="{FF2B5EF4-FFF2-40B4-BE49-F238E27FC236}">
                <a16:creationId xmlns:a16="http://schemas.microsoft.com/office/drawing/2014/main" id="{814779BA-E177-A387-7BFD-FA05B9707A68}"/>
              </a:ext>
            </a:extLst>
          </p:cNvPr>
          <p:cNvSpPr txBox="1"/>
          <p:nvPr/>
        </p:nvSpPr>
        <p:spPr>
          <a:xfrm>
            <a:off x="2915908" y="3627447"/>
            <a:ext cx="1559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57" name="CaixaDeTexto 35">
            <a:extLst>
              <a:ext uri="{FF2B5EF4-FFF2-40B4-BE49-F238E27FC236}">
                <a16:creationId xmlns:a16="http://schemas.microsoft.com/office/drawing/2014/main" id="{F392D6AE-4FA0-02C9-1CF8-A572A550C86C}"/>
              </a:ext>
            </a:extLst>
          </p:cNvPr>
          <p:cNvSpPr txBox="1"/>
          <p:nvPr/>
        </p:nvSpPr>
        <p:spPr>
          <a:xfrm>
            <a:off x="2915908" y="5115411"/>
            <a:ext cx="1559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59" name="CaixaDeTexto 35">
            <a:extLst>
              <a:ext uri="{FF2B5EF4-FFF2-40B4-BE49-F238E27FC236}">
                <a16:creationId xmlns:a16="http://schemas.microsoft.com/office/drawing/2014/main" id="{7B9FC093-BDDF-0AC5-F1FE-2B63E7194116}"/>
              </a:ext>
            </a:extLst>
          </p:cNvPr>
          <p:cNvSpPr txBox="1"/>
          <p:nvPr/>
        </p:nvSpPr>
        <p:spPr>
          <a:xfrm>
            <a:off x="7417355" y="2136833"/>
            <a:ext cx="1559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60" name="CaixaDeTexto 35">
            <a:extLst>
              <a:ext uri="{FF2B5EF4-FFF2-40B4-BE49-F238E27FC236}">
                <a16:creationId xmlns:a16="http://schemas.microsoft.com/office/drawing/2014/main" id="{2804F985-138F-E439-5EB1-EB739989926A}"/>
              </a:ext>
            </a:extLst>
          </p:cNvPr>
          <p:cNvSpPr txBox="1"/>
          <p:nvPr/>
        </p:nvSpPr>
        <p:spPr>
          <a:xfrm>
            <a:off x="7436379" y="3627447"/>
            <a:ext cx="1559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62" name="CaixaDeTexto 35">
            <a:extLst>
              <a:ext uri="{FF2B5EF4-FFF2-40B4-BE49-F238E27FC236}">
                <a16:creationId xmlns:a16="http://schemas.microsoft.com/office/drawing/2014/main" id="{D84E9927-47A7-6A96-E082-31D6CF8EF4E6}"/>
              </a:ext>
            </a:extLst>
          </p:cNvPr>
          <p:cNvSpPr txBox="1"/>
          <p:nvPr/>
        </p:nvSpPr>
        <p:spPr>
          <a:xfrm>
            <a:off x="7458798" y="5115411"/>
            <a:ext cx="1559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280881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7137E683-2169-9B9C-9E89-E61DCB3A2AD0}"/>
              </a:ext>
            </a:extLst>
          </p:cNvPr>
          <p:cNvSpPr/>
          <p:nvPr/>
        </p:nvSpPr>
        <p:spPr>
          <a:xfrm>
            <a:off x="314793" y="2360581"/>
            <a:ext cx="2455384" cy="63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400" b="1" kern="0" dirty="0">
              <a:solidFill>
                <a:schemeClr val="tx1"/>
              </a:solidFill>
              <a:latin typeface="Segoe UI" panose="020B0502040204020203" pitchFamily="34" charset="0"/>
              <a:ea typeface="ＭＳ Ｐゴシック"/>
              <a:cs typeface="Segoe UI" panose="020B0502040204020203" pitchFamily="34" charset="0"/>
            </a:endParaRPr>
          </a:p>
          <a:p>
            <a:pPr algn="ctr"/>
            <a:r>
              <a:rPr lang="pt-BR" sz="1400" b="1" kern="0" dirty="0">
                <a:solidFill>
                  <a:schemeClr val="tx1"/>
                </a:solidFill>
                <a:latin typeface="Segoe UI"/>
                <a:ea typeface="ＭＳ Ｐゴシック"/>
                <a:cs typeface="Segoe UI"/>
              </a:rPr>
              <a:t>Serviços de expresso e correio</a:t>
            </a:r>
            <a:r>
              <a:rPr lang="pt-BR" sz="1600" b="1" kern="0" dirty="0">
                <a:solidFill>
                  <a:schemeClr val="tx1"/>
                </a:solidFill>
                <a:latin typeface="Segoe UI"/>
                <a:ea typeface="ＭＳ Ｐゴシック"/>
                <a:cs typeface="Segoe UI"/>
              </a:rPr>
              <a:t>
</a:t>
            </a:r>
            <a:endParaRPr lang="en-US" sz="1600" b="1" kern="0" dirty="0">
              <a:solidFill>
                <a:schemeClr val="tx1"/>
              </a:solidFill>
              <a:latin typeface="Segoe UI"/>
              <a:ea typeface="ＭＳ Ｐゴシック"/>
              <a:cs typeface="Segoe UI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C244280-3905-363E-1DD4-FBB87F5DEBBB}"/>
              </a:ext>
            </a:extLst>
          </p:cNvPr>
          <p:cNvSpPr/>
          <p:nvPr/>
        </p:nvSpPr>
        <p:spPr>
          <a:xfrm>
            <a:off x="314793" y="3397378"/>
            <a:ext cx="2455384" cy="63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b="1" kern="0">
              <a:solidFill>
                <a:schemeClr val="tx1"/>
              </a:solidFill>
              <a:latin typeface="Segoe UI" panose="020B0502040204020203" pitchFamily="34" charset="0"/>
              <a:ea typeface="ＭＳ Ｐゴシック"/>
              <a:cs typeface="Segoe UI" panose="020B0502040204020203" pitchFamily="34" charset="0"/>
            </a:endParaRPr>
          </a:p>
          <a:p>
            <a:pPr algn="ctr"/>
            <a:r>
              <a:rPr lang="pt-BR" sz="1400" b="1" kern="0" dirty="0">
                <a:solidFill>
                  <a:schemeClr val="tx1"/>
                </a:solidFill>
                <a:latin typeface="Segoe UI"/>
                <a:ea typeface="ＭＳ Ｐゴシック"/>
                <a:cs typeface="Segoe UI"/>
              </a:rPr>
              <a:t>PNL e outras análises não estruturadas</a:t>
            </a:r>
            <a:r>
              <a:rPr lang="pt-BR" sz="1600" b="1" kern="0" dirty="0">
                <a:solidFill>
                  <a:schemeClr val="tx1"/>
                </a:solidFill>
                <a:latin typeface="Segoe UI"/>
                <a:ea typeface="ＭＳ Ｐゴシック"/>
                <a:cs typeface="Segoe UI"/>
              </a:rPr>
              <a:t>
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ＭＳ Ｐゴシック"/>
              <a:cs typeface="Segoe UI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5042618-EC75-015F-B7D0-234D666FCD5E}"/>
              </a:ext>
            </a:extLst>
          </p:cNvPr>
          <p:cNvSpPr/>
          <p:nvPr/>
        </p:nvSpPr>
        <p:spPr>
          <a:xfrm>
            <a:off x="314793" y="4435834"/>
            <a:ext cx="2455384" cy="63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400" b="1" kern="0" dirty="0">
              <a:solidFill>
                <a:schemeClr val="tx1"/>
              </a:solidFill>
              <a:latin typeface="Segoe UI" panose="020B0502040204020203" pitchFamily="34" charset="0"/>
              <a:ea typeface="ＭＳ Ｐゴシック"/>
              <a:cs typeface="Segoe UI" panose="020B0502040204020203" pitchFamily="34" charset="0"/>
            </a:endParaRPr>
          </a:p>
          <a:p>
            <a:pPr algn="ctr"/>
            <a:r>
              <a:rPr lang="pt-BR" sz="1400" b="1" kern="0" dirty="0">
                <a:solidFill>
                  <a:schemeClr val="tx1"/>
                </a:solidFill>
                <a:latin typeface="Segoe UI"/>
                <a:ea typeface="ＭＳ Ｐゴシック"/>
                <a:cs typeface="Segoe UI"/>
              </a:rPr>
              <a:t>Ásia-Pacífico</a:t>
            </a:r>
            <a:r>
              <a:rPr lang="pt-BR" sz="1600" b="1" kern="0" dirty="0">
                <a:solidFill>
                  <a:schemeClr val="tx1"/>
                </a:solidFill>
                <a:latin typeface="Segoe UI"/>
                <a:ea typeface="ＭＳ Ｐゴシック"/>
                <a:cs typeface="Segoe UI"/>
              </a:rPr>
              <a:t>
</a:t>
            </a:r>
            <a:endParaRPr lang="pt-BR" sz="1600" b="1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ＭＳ Ｐゴシック"/>
              <a:cs typeface="Segoe UI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9DC13EA-0D0D-97DB-5CFF-20A7997B9662}"/>
              </a:ext>
            </a:extLst>
          </p:cNvPr>
          <p:cNvSpPr/>
          <p:nvPr/>
        </p:nvSpPr>
        <p:spPr>
          <a:xfrm>
            <a:off x="314793" y="1244724"/>
            <a:ext cx="2455384" cy="63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b="1" kern="0">
              <a:solidFill>
                <a:schemeClr val="tx1"/>
              </a:solidFill>
              <a:latin typeface="Segoe UI" panose="020B0502040204020203" pitchFamily="34" charset="0"/>
              <a:ea typeface="ＭＳ Ｐゴシック"/>
              <a:cs typeface="Segoe UI" panose="020B0502040204020203" pitchFamily="34" charset="0"/>
            </a:endParaRPr>
          </a:p>
          <a:p>
            <a:pPr algn="ctr"/>
            <a:r>
              <a:rPr lang="pt-BR" sz="1400" b="1" kern="0" dirty="0">
                <a:solidFill>
                  <a:schemeClr val="tx1"/>
                </a:solidFill>
                <a:latin typeface="Segoe UI"/>
                <a:ea typeface="ＭＳ Ｐゴシック"/>
                <a:cs typeface="Segoe UI"/>
              </a:rPr>
              <a:t>América do Norte</a:t>
            </a:r>
            <a:r>
              <a:rPr lang="pt-BR" sz="1600" b="1" kern="0" dirty="0">
                <a:solidFill>
                  <a:schemeClr val="tx1"/>
                </a:solidFill>
                <a:latin typeface="Segoe UI"/>
                <a:ea typeface="ＭＳ Ｐゴシック"/>
                <a:cs typeface="Segoe UI"/>
              </a:rPr>
              <a:t>
</a:t>
            </a:r>
            <a:endParaRPr lang="pt-BR" sz="1600" b="1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ＭＳ Ｐゴシック"/>
              <a:cs typeface="Segoe UI"/>
            </a:endParaRPr>
          </a:p>
        </p:txBody>
      </p:sp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29</a:t>
            </a:fld>
            <a:endParaRPr lang="pt-BR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5A9193F-FA8C-4B2E-8A1D-E24C7749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Qualitativo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
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3AB3BE7-0B14-961C-D717-DB371203DD52}"/>
              </a:ext>
            </a:extLst>
          </p:cNvPr>
          <p:cNvSpPr txBox="1">
            <a:spLocks/>
          </p:cNvSpPr>
          <p:nvPr/>
        </p:nvSpPr>
        <p:spPr>
          <a:xfrm>
            <a:off x="3129672" y="1157946"/>
            <a:ext cx="7918228" cy="1125565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543818">
              <a:lnSpc>
                <a:spcPts val="2000"/>
              </a:lnSpc>
              <a:spcBef>
                <a:spcPts val="600"/>
              </a:spcBef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A empresa já tem uma presença na América do Norte com as quotas de mercado existentes e aquisições concluídas. Explorar essa trilha ainda mais é amplamente viável, mesmo que a magnitude exata do sucesso não possa ser projetada com certeza.
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4852D7B-A1DB-E74A-D21D-C008E13CEDCE}"/>
              </a:ext>
            </a:extLst>
          </p:cNvPr>
          <p:cNvSpPr txBox="1">
            <a:spLocks/>
          </p:cNvSpPr>
          <p:nvPr/>
        </p:nvSpPr>
        <p:spPr>
          <a:xfrm>
            <a:off x="3129672" y="2282297"/>
            <a:ext cx="7918228" cy="79214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543818">
              <a:lnSpc>
                <a:spcPts val="2000"/>
              </a:lnSpc>
              <a:spcBef>
                <a:spcPts val="600"/>
              </a:spcBef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Os serviços de expresso e correio serão bastante viáveis. A melhoria dos serviços de TI nesta área está próxima de algumas outras atividades em que a empresa já está ativa, portanto, deve ser fácil penetrar nessas indústrias.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002F318-B147-AFBE-B5AA-7949622639F2}"/>
              </a:ext>
            </a:extLst>
          </p:cNvPr>
          <p:cNvSpPr txBox="1">
            <a:spLocks/>
          </p:cNvSpPr>
          <p:nvPr/>
        </p:nvSpPr>
        <p:spPr>
          <a:xfrm>
            <a:off x="3129672" y="3319094"/>
            <a:ext cx="7918228" cy="1125565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543818">
              <a:lnSpc>
                <a:spcPts val="2000"/>
              </a:lnSpc>
              <a:spcBef>
                <a:spcPts val="600"/>
              </a:spcBef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Embora a mudança para a PNL seja viável em si, isso exigiria novos jogadores ou novas capacidades. Alternativamente, pode-se pensar em uma operação de M &amp; A / crescimento anorgânico com os benefícios e complicações associados.
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BD0D31-5B06-9A6C-9410-6E185C33E709}"/>
              </a:ext>
            </a:extLst>
          </p:cNvPr>
          <p:cNvSpPr txBox="1">
            <a:spLocks/>
          </p:cNvSpPr>
          <p:nvPr/>
        </p:nvSpPr>
        <p:spPr>
          <a:xfrm>
            <a:off x="3129672" y="4515093"/>
            <a:ext cx="7918228" cy="984885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543818">
              <a:spcBef>
                <a:spcPts val="600"/>
              </a:spcBef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A Ásia-Pacífico é um mercado grande o suficiente para permitir a implementação com CAGR alto. A empresa já tem uma presença na Ásia-Pacífico com uma boa oportunidade para confirmar essa presença daqui para frente
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1C2B0405-1FE7-89F4-644B-EAA2B828CFDF}"/>
              </a:ext>
            </a:extLst>
          </p:cNvPr>
          <p:cNvCxnSpPr>
            <a:cxnSpLocks/>
          </p:cNvCxnSpPr>
          <p:nvPr/>
        </p:nvCxnSpPr>
        <p:spPr>
          <a:xfrm>
            <a:off x="2986990" y="1245538"/>
            <a:ext cx="0" cy="6355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164F5147-EA74-0EF5-4458-566B8A73ED1D}"/>
              </a:ext>
            </a:extLst>
          </p:cNvPr>
          <p:cNvCxnSpPr>
            <a:cxnSpLocks/>
          </p:cNvCxnSpPr>
          <p:nvPr/>
        </p:nvCxnSpPr>
        <p:spPr>
          <a:xfrm>
            <a:off x="2986990" y="2360581"/>
            <a:ext cx="0" cy="63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845E6637-5AEA-24CF-A2B4-73888F4DE76B}"/>
              </a:ext>
            </a:extLst>
          </p:cNvPr>
          <p:cNvCxnSpPr>
            <a:cxnSpLocks/>
          </p:cNvCxnSpPr>
          <p:nvPr/>
        </p:nvCxnSpPr>
        <p:spPr>
          <a:xfrm>
            <a:off x="2986990" y="3397378"/>
            <a:ext cx="0" cy="63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3F436E04-7ECC-5F36-20CE-E8A91D1335A5}"/>
              </a:ext>
            </a:extLst>
          </p:cNvPr>
          <p:cNvCxnSpPr>
            <a:cxnSpLocks/>
          </p:cNvCxnSpPr>
          <p:nvPr/>
        </p:nvCxnSpPr>
        <p:spPr>
          <a:xfrm>
            <a:off x="2986990" y="4435834"/>
            <a:ext cx="0" cy="63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3C4FDC5C-818B-EE72-B493-C5D07176B394}"/>
              </a:ext>
            </a:extLst>
          </p:cNvPr>
          <p:cNvSpPr/>
          <p:nvPr/>
        </p:nvSpPr>
        <p:spPr>
          <a:xfrm>
            <a:off x="314793" y="5462418"/>
            <a:ext cx="2455384" cy="63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400" b="1" kern="0" dirty="0">
              <a:solidFill>
                <a:schemeClr val="tx1"/>
              </a:solidFill>
              <a:latin typeface="Segoe UI" panose="020B0502040204020203" pitchFamily="34" charset="0"/>
              <a:ea typeface="ＭＳ Ｐゴシック"/>
              <a:cs typeface="Segoe UI" panose="020B0502040204020203" pitchFamily="34" charset="0"/>
            </a:endParaRPr>
          </a:p>
          <a:p>
            <a:pPr algn="ctr"/>
            <a:r>
              <a:rPr lang="pt-BR" sz="1400" b="1" kern="0" dirty="0">
                <a:solidFill>
                  <a:schemeClr val="tx1"/>
                </a:solidFill>
                <a:latin typeface="Segoe UI"/>
                <a:ea typeface="ＭＳ Ｐゴシック"/>
                <a:cs typeface="Segoe UI"/>
              </a:rPr>
              <a:t>Mineração de carvão</a:t>
            </a:r>
            <a:r>
              <a:rPr lang="pt-BR" sz="1600" b="1" kern="0" dirty="0">
                <a:solidFill>
                  <a:schemeClr val="tx1"/>
                </a:solidFill>
                <a:latin typeface="Segoe UI"/>
                <a:ea typeface="ＭＳ Ｐゴシック"/>
                <a:cs typeface="Segoe UI"/>
              </a:rPr>
              <a:t>
</a:t>
            </a:r>
            <a:endParaRPr lang="pt-BR" sz="1600" b="1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ＭＳ Ｐゴシック"/>
              <a:cs typeface="Segoe UI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150B160-4536-CEC3-0EE9-E07E1195ED17}"/>
              </a:ext>
            </a:extLst>
          </p:cNvPr>
          <p:cNvSpPr txBox="1">
            <a:spLocks/>
          </p:cNvSpPr>
          <p:nvPr/>
        </p:nvSpPr>
        <p:spPr>
          <a:xfrm>
            <a:off x="3129672" y="5540043"/>
            <a:ext cx="7918228" cy="769441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543818">
              <a:spcBef>
                <a:spcPts val="600"/>
              </a:spcBef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O processo de descoberta de carvão é bastante difícil, portanto, das cinco opções apresentadas, esta parece ser a menos viável. 
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3169847-7457-1EC6-C122-7809A1E390B5}"/>
              </a:ext>
            </a:extLst>
          </p:cNvPr>
          <p:cNvCxnSpPr>
            <a:cxnSpLocks/>
          </p:cNvCxnSpPr>
          <p:nvPr/>
        </p:nvCxnSpPr>
        <p:spPr>
          <a:xfrm>
            <a:off x="2986990" y="5462418"/>
            <a:ext cx="0" cy="637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869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344" imgH="345" progId="TCLayout.ActiveDocument.1">
                  <p:embed/>
                </p:oleObj>
              </mc:Choice>
              <mc:Fallback>
                <p:oleObj name="Slide do think-cell" r:id="rId5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62584F0-51C1-ABB2-6B55-A60A41DA3DDE}"/>
              </a:ext>
            </a:extLst>
          </p:cNvPr>
          <p:cNvSpPr txBox="1"/>
          <p:nvPr/>
        </p:nvSpPr>
        <p:spPr>
          <a:xfrm>
            <a:off x="3353120" y="1715343"/>
            <a:ext cx="4829665" cy="112030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Segoe UI"/>
                <a:cs typeface="Segoe UI"/>
              </a:rPr>
              <a:t>Empresa já entrou na América do Norte,</a:t>
            </a:r>
            <a:r>
              <a:rPr lang="pt-BR" sz="1400">
                <a:solidFill>
                  <a:schemeClr val="tx1"/>
                </a:solidFill>
                <a:latin typeface="Segoe UI"/>
                <a:cs typeface="Segoe UI"/>
              </a:rPr>
              <a:t> </a:t>
            </a:r>
            <a:r>
              <a:rPr lang="pt-BR" sz="1400" dirty="0">
                <a:solidFill>
                  <a:schemeClr val="tx1"/>
                </a:solidFill>
                <a:latin typeface="Segoe UI"/>
                <a:cs typeface="Segoe UI"/>
              </a:rPr>
              <a:t>detendo </a:t>
            </a:r>
            <a:r>
              <a:rPr lang="pt-BR" sz="1400">
                <a:solidFill>
                  <a:schemeClr val="tx1"/>
                </a:solidFill>
                <a:latin typeface="Segoe UI"/>
                <a:cs typeface="Segoe UI"/>
              </a:rPr>
              <a:t>atualmente 0,2% de participação de mercado.</a:t>
            </a:r>
            <a:endParaRPr lang="pt-BR">
              <a:solidFill>
                <a:schemeClr val="tx1"/>
              </a:solidFill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1"/>
                </a:solidFill>
                <a:latin typeface="Segoe UI"/>
                <a:cs typeface="Segoe UI"/>
              </a:rPr>
              <a:t>Prosseguir</a:t>
            </a:r>
            <a:r>
              <a:rPr lang="pt-BR" sz="1400" dirty="0">
                <a:solidFill>
                  <a:schemeClr val="tx1"/>
                </a:solidFill>
                <a:latin typeface="Segoe UI"/>
                <a:cs typeface="Segoe UI"/>
              </a:rPr>
              <a:t> uma estratégia de crescimento orgânico (por exemplo, aquisição anterior da </a:t>
            </a:r>
            <a:r>
              <a:rPr lang="pt-BR" sz="1400" err="1">
                <a:solidFill>
                  <a:schemeClr val="tx1"/>
                </a:solidFill>
                <a:latin typeface="Segoe UI"/>
                <a:cs typeface="Segoe UI"/>
              </a:rPr>
              <a:t>Parobas</a:t>
            </a:r>
            <a:r>
              <a:rPr lang="pt-BR" sz="1400" dirty="0">
                <a:solidFill>
                  <a:schemeClr val="tx1"/>
                </a:solidFill>
                <a:latin typeface="Segoe UI"/>
                <a:cs typeface="Segoe UI"/>
              </a:rPr>
              <a:t> IT) e concentrar-se no crescimento dos segmentos de serviços de TI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6794C3-2560-D124-9DDF-DEF0E7D260A6}"/>
              </a:ext>
            </a:extLst>
          </p:cNvPr>
          <p:cNvSpPr txBox="1"/>
          <p:nvPr/>
        </p:nvSpPr>
        <p:spPr>
          <a:xfrm>
            <a:off x="10109273" y="2102651"/>
            <a:ext cx="1224000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pt-BR" sz="1400">
                <a:solidFill>
                  <a:schemeClr val="tx1"/>
                </a:solidFill>
                <a:latin typeface="Segoe UI"/>
                <a:cs typeface="Segoe UI"/>
              </a:rPr>
              <a:t>Junho 2023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1A1311D5-D2C2-04AA-487E-33EB87A28ADD}"/>
              </a:ext>
            </a:extLst>
          </p:cNvPr>
          <p:cNvGrpSpPr/>
          <p:nvPr/>
        </p:nvGrpSpPr>
        <p:grpSpPr>
          <a:xfrm>
            <a:off x="462865" y="1715344"/>
            <a:ext cx="2291650" cy="1100391"/>
            <a:chOff x="523594" y="1458444"/>
            <a:chExt cx="2291650" cy="124244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8FA060C-ED85-517C-21DE-4A9E54EDC045}"/>
                </a:ext>
              </a:extLst>
            </p:cNvPr>
            <p:cNvSpPr>
              <a:spLocks/>
            </p:cNvSpPr>
            <p:nvPr/>
          </p:nvSpPr>
          <p:spPr>
            <a:xfrm>
              <a:off x="523594" y="1458444"/>
              <a:ext cx="2291650" cy="121941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C03DAAB-7633-1422-0AAA-DC7D6C29FAFF}"/>
                </a:ext>
              </a:extLst>
            </p:cNvPr>
            <p:cNvSpPr txBox="1"/>
            <p:nvPr/>
          </p:nvSpPr>
          <p:spPr>
            <a:xfrm>
              <a:off x="697308" y="1602761"/>
              <a:ext cx="1970809" cy="109812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pt-BR" sz="1400" b="1" dirty="0">
                  <a:solidFill>
                    <a:schemeClr val="tx1"/>
                  </a:solidFill>
                  <a:latin typeface="Segoe UI"/>
                  <a:cs typeface="Segoe UI"/>
                </a:rPr>
                <a:t>Crescimento do combustível na América do Norte</a:t>
              </a:r>
              <a:r>
                <a:rPr lang="pt-BR" b="1" dirty="0">
                  <a:solidFill>
                    <a:schemeClr val="tx1"/>
                  </a:solidFill>
                  <a:latin typeface="Segoe UI"/>
                  <a:cs typeface="Segoe UI"/>
                </a:rPr>
                <a:t>
</a:t>
              </a:r>
              <a:endParaRPr lang="en-US" b="1" dirty="0">
                <a:solidFill>
                  <a:schemeClr val="tx1"/>
                </a:solidFill>
                <a:latin typeface="Segoe UI"/>
                <a:cs typeface="Segoe UI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41B24D63-DC10-C1B5-91AD-426B670DDABF}"/>
              </a:ext>
            </a:extLst>
          </p:cNvPr>
          <p:cNvSpPr txBox="1"/>
          <p:nvPr/>
        </p:nvSpPr>
        <p:spPr>
          <a:xfrm>
            <a:off x="3353120" y="3427409"/>
            <a:ext cx="4829664" cy="112030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Segoe UI"/>
                <a:cs typeface="Segoe UI"/>
              </a:rPr>
              <a:t>Atualmente, a empresa quase não atende clientes na </a:t>
            </a:r>
            <a:r>
              <a:rPr lang="pt-BR" sz="1400">
                <a:solidFill>
                  <a:schemeClr val="tx1"/>
                </a:solidFill>
                <a:latin typeface="Segoe UI"/>
                <a:cs typeface="Segoe UI"/>
              </a:rPr>
              <a:t>indústria de expresso / correio.</a:t>
            </a:r>
            <a:endParaRPr lang="pt-BR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1"/>
                </a:solidFill>
                <a:latin typeface="Segoe UI"/>
                <a:cs typeface="Segoe UI"/>
              </a:rPr>
              <a:t>A</a:t>
            </a:r>
            <a:r>
              <a:rPr lang="pt-BR" sz="1400" dirty="0">
                <a:solidFill>
                  <a:schemeClr val="tx1"/>
                </a:solidFill>
                <a:latin typeface="Segoe UI"/>
                <a:cs typeface="Segoe UI"/>
              </a:rPr>
              <a:t> proliferação do varejo eletrônico e o aumento do volume de encomendas criam oportunidades para serviços de consultoria/TI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525017-781A-4B69-F829-FC9ADD235CFD}"/>
              </a:ext>
            </a:extLst>
          </p:cNvPr>
          <p:cNvSpPr txBox="1"/>
          <p:nvPr/>
        </p:nvSpPr>
        <p:spPr>
          <a:xfrm>
            <a:off x="10021211" y="3797783"/>
            <a:ext cx="1312062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pt-BR" sz="1400">
                <a:solidFill>
                  <a:schemeClr val="tx1"/>
                </a:solidFill>
                <a:latin typeface="Segoe UI"/>
                <a:cs typeface="Segoe UI"/>
              </a:rPr>
              <a:t>Fevereiro 2023</a:t>
            </a:r>
          </a:p>
        </p:txBody>
      </p: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EACBAB2C-5F9C-7C18-56E2-346AA0C6BEBD}"/>
              </a:ext>
            </a:extLst>
          </p:cNvPr>
          <p:cNvGrpSpPr/>
          <p:nvPr/>
        </p:nvGrpSpPr>
        <p:grpSpPr>
          <a:xfrm>
            <a:off x="462865" y="3401390"/>
            <a:ext cx="2291650" cy="1133951"/>
            <a:chOff x="523594" y="3162452"/>
            <a:chExt cx="2291650" cy="1133951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9A6294-E2DC-6F31-00BF-065DD82C35C4}"/>
                </a:ext>
              </a:extLst>
            </p:cNvPr>
            <p:cNvSpPr>
              <a:spLocks/>
            </p:cNvSpPr>
            <p:nvPr/>
          </p:nvSpPr>
          <p:spPr>
            <a:xfrm>
              <a:off x="523594" y="3162452"/>
              <a:ext cx="2291650" cy="1080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4C52CF1-A3D2-ED31-A422-6A55D8EE4B98}"/>
                </a:ext>
              </a:extLst>
            </p:cNvPr>
            <p:cNvSpPr txBox="1"/>
            <p:nvPr/>
          </p:nvSpPr>
          <p:spPr>
            <a:xfrm>
              <a:off x="638177" y="3323829"/>
              <a:ext cx="2062485" cy="97257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pt-BR" sz="1400" b="1" dirty="0">
                  <a:solidFill>
                    <a:schemeClr val="tx1"/>
                  </a:solidFill>
                  <a:latin typeface="Segoe UI"/>
                  <a:cs typeface="Segoe UI"/>
                </a:rPr>
                <a:t>Desenvolver clientes de serviços expressos e de correio</a:t>
              </a:r>
              <a:r>
                <a:rPr lang="pt-BR" b="1" dirty="0">
                  <a:solidFill>
                    <a:schemeClr val="tx1"/>
                  </a:solidFill>
                  <a:latin typeface="Segoe UI"/>
                  <a:cs typeface="Segoe UI"/>
                </a:rPr>
                <a:t>
</a:t>
              </a:r>
              <a:endParaRPr lang="en-US" b="1" dirty="0">
                <a:solidFill>
                  <a:schemeClr val="tx1"/>
                </a:solidFill>
                <a:latin typeface="Segoe UI"/>
                <a:cs typeface="Segoe UI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021C519-5F29-00F2-E231-3C2C94E1AF5B}"/>
              </a:ext>
            </a:extLst>
          </p:cNvPr>
          <p:cNvSpPr txBox="1"/>
          <p:nvPr/>
        </p:nvSpPr>
        <p:spPr>
          <a:xfrm>
            <a:off x="3353121" y="5077023"/>
            <a:ext cx="4829664" cy="133575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chemeClr val="tx1"/>
                </a:solidFill>
                <a:latin typeface="Segoe UI"/>
                <a:cs typeface="Segoe UI"/>
              </a:rPr>
              <a:t>O portfólio de plataformas de análise da empresa não inclui processamento de linguagem natural (PNL) e serviços relacionados</a:t>
            </a:r>
            <a:r>
              <a:rPr lang="pt-BR" sz="1400">
                <a:solidFill>
                  <a:schemeClr val="tx1"/>
                </a:solidFill>
                <a:latin typeface="Segoe UI"/>
                <a:cs typeface="Segoe UI"/>
              </a:rPr>
              <a:t>.</a:t>
            </a:r>
            <a:endParaRPr lang="en-US" sz="1400">
              <a:solidFill>
                <a:schemeClr val="tx1"/>
              </a:solidFill>
              <a:latin typeface="Segoe UI"/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1"/>
                </a:solidFill>
                <a:latin typeface="Segoe UI"/>
                <a:cs typeface="Segoe UI"/>
              </a:rPr>
              <a:t>Novas ofertas de produtos </a:t>
            </a:r>
            <a:r>
              <a:rPr lang="pt-BR" sz="1400" dirty="0">
                <a:solidFill>
                  <a:schemeClr val="tx1"/>
                </a:solidFill>
                <a:latin typeface="Segoe UI"/>
                <a:cs typeface="Segoe UI"/>
              </a:rPr>
              <a:t>neste segmento seriam extensões relevantes do portfólio de produtos da empresa</a:t>
            </a:r>
            <a:endParaRPr lang="en-US" sz="140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2C3C24-47A8-2109-7343-BA41048E8BF9}"/>
              </a:ext>
            </a:extLst>
          </p:cNvPr>
          <p:cNvSpPr txBox="1"/>
          <p:nvPr/>
        </p:nvSpPr>
        <p:spPr>
          <a:xfrm>
            <a:off x="10109273" y="5495865"/>
            <a:ext cx="1224000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pt-BR" sz="1400">
                <a:solidFill>
                  <a:schemeClr val="tx1"/>
                </a:solidFill>
                <a:latin typeface="Segoe UI"/>
                <a:cs typeface="Segoe UI"/>
              </a:rPr>
              <a:t>Março 2023</a:t>
            </a:r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DBDB66FA-4621-CFA0-765F-B86DD044042E}"/>
              </a:ext>
            </a:extLst>
          </p:cNvPr>
          <p:cNvGrpSpPr/>
          <p:nvPr/>
        </p:nvGrpSpPr>
        <p:grpSpPr>
          <a:xfrm>
            <a:off x="462865" y="5071281"/>
            <a:ext cx="2291650" cy="1080000"/>
            <a:chOff x="523594" y="4939877"/>
            <a:chExt cx="2291650" cy="1080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F379867-2CCB-E850-F088-DB7605891A4A}"/>
                </a:ext>
              </a:extLst>
            </p:cNvPr>
            <p:cNvSpPr>
              <a:spLocks/>
            </p:cNvSpPr>
            <p:nvPr/>
          </p:nvSpPr>
          <p:spPr>
            <a:xfrm>
              <a:off x="523594" y="4939877"/>
              <a:ext cx="2291650" cy="1080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91FE99E-A223-99C8-5B11-B145AB07F28A}"/>
                </a:ext>
              </a:extLst>
            </p:cNvPr>
            <p:cNvSpPr txBox="1"/>
            <p:nvPr/>
          </p:nvSpPr>
          <p:spPr>
            <a:xfrm>
              <a:off x="638177" y="5110545"/>
              <a:ext cx="2062485" cy="75713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pt-BR" sz="1400" b="1">
                  <a:solidFill>
                    <a:schemeClr val="tx1"/>
                  </a:solidFill>
                  <a:latin typeface="Segoe UI"/>
                  <a:cs typeface="Segoe UI"/>
                </a:rPr>
                <a:t>Criar oferta para PNL e análise não estruturad</a:t>
              </a:r>
              <a:r>
                <a:rPr lang="pt-BR" b="1">
                  <a:solidFill>
                    <a:schemeClr val="tx1"/>
                  </a:solidFill>
                  <a:latin typeface="Segoe UI"/>
                  <a:cs typeface="Segoe UI"/>
                </a:rPr>
                <a:t>a
</a:t>
              </a:r>
              <a:endParaRPr lang="en-US" b="1">
                <a:solidFill>
                  <a:schemeClr val="tx1"/>
                </a:solidFill>
                <a:latin typeface="Segoe UI"/>
                <a:cs typeface="Segoe UI"/>
              </a:endParaRPr>
            </a:p>
          </p:txBody>
        </p:sp>
      </p:grpSp>
      <p:cxnSp>
        <p:nvCxnSpPr>
          <p:cNvPr id="46" name="AutoShape 249">
            <a:extLst>
              <a:ext uri="{FF2B5EF4-FFF2-40B4-BE49-F238E27FC236}">
                <a16:creationId xmlns:a16="http://schemas.microsoft.com/office/drawing/2014/main" id="{24F1B294-DD39-0D4F-5162-A81F2F78D6C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3594" y="3030448"/>
            <a:ext cx="11035478" cy="0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AutoShape 249">
            <a:extLst>
              <a:ext uri="{FF2B5EF4-FFF2-40B4-BE49-F238E27FC236}">
                <a16:creationId xmlns:a16="http://schemas.microsoft.com/office/drawing/2014/main" id="{552D9A7A-94CE-5D40-2955-3F2A4FB3EBD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3594" y="4734456"/>
            <a:ext cx="11035478" cy="0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/>
              <a:t>30</a:t>
            </a:fld>
            <a:endParaRPr lang="en-US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31" y="210852"/>
            <a:ext cx="10515600" cy="303580"/>
          </a:xfrm>
        </p:spPr>
        <p:txBody>
          <a:bodyPr vert="horz"/>
          <a:lstStyle/>
          <a:p>
            <a:r>
              <a:rPr lang="pt-BR"/>
              <a:t>Slide Qualitativo</a:t>
            </a:r>
          </a:p>
        </p:txBody>
      </p:sp>
      <p:sp>
        <p:nvSpPr>
          <p:cNvPr id="36" name="Espaço Reservado para Texto 35">
            <a:extLst>
              <a:ext uri="{FF2B5EF4-FFF2-40B4-BE49-F238E27FC236}">
                <a16:creationId xmlns:a16="http://schemas.microsoft.com/office/drawing/2014/main" id="{B96F9490-5586-FDF2-C096-F85257988E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5525" y="439419"/>
            <a:ext cx="10515600" cy="309562"/>
          </a:xfrm>
        </p:spPr>
        <p:txBody>
          <a:bodyPr/>
          <a:lstStyle/>
          <a:p>
            <a:r>
              <a:rPr lang="pt-BR"/>
              <a:t>Páginas de exemplo
</a:t>
            </a:r>
          </a:p>
        </p:txBody>
      </p:sp>
      <p:sp>
        <p:nvSpPr>
          <p:cNvPr id="13" name="AutoShape 250">
            <a:extLst>
              <a:ext uri="{FF2B5EF4-FFF2-40B4-BE49-F238E27FC236}">
                <a16:creationId xmlns:a16="http://schemas.microsoft.com/office/drawing/2014/main" id="{70A8B975-3FE6-C609-A9B8-04EB42922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7741" y="991079"/>
            <a:ext cx="1247806" cy="449354"/>
          </a:xfrm>
          <a:prstGeom prst="leftRightArrow">
            <a:avLst>
              <a:gd name="adj1" fmla="val 100000"/>
              <a:gd name="adj2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18288" anchor="b">
            <a:spAutoFit/>
          </a:bodyPr>
          <a:lstStyle/>
          <a:p>
            <a:r>
              <a:rPr lang="fr-FR" sz="1400" b="1" dirty="0">
                <a:solidFill>
                  <a:srgbClr val="0F6FC6"/>
                </a:solidFill>
                <a:latin typeface="Segoe UI"/>
                <a:cs typeface="Segoe UI"/>
              </a:rPr>
              <a:t>EBIT IMPACT EUR mn </a:t>
            </a:r>
            <a:r>
              <a:rPr lang="fr-FR" sz="1400" b="1" dirty="0" err="1">
                <a:solidFill>
                  <a:srgbClr val="0F6FC6"/>
                </a:solidFill>
                <a:latin typeface="Segoe UI"/>
                <a:cs typeface="Segoe UI"/>
              </a:rPr>
              <a:t>p.a</a:t>
            </a:r>
            <a:r>
              <a:rPr lang="en-US" sz="1400" b="1" dirty="0">
                <a:solidFill>
                  <a:srgbClr val="0F6FC6"/>
                </a:solidFill>
                <a:latin typeface="Segoe UI"/>
                <a:cs typeface="Segoe UI"/>
              </a:rPr>
              <a:t>.</a:t>
            </a:r>
            <a:endParaRPr lang="en-US" sz="1400" b="1" baseline="0" noProof="0" dirty="0">
              <a:solidFill>
                <a:srgbClr val="0F6FC6"/>
              </a:solidFill>
              <a:latin typeface="Segoe UI"/>
              <a:cs typeface="Segoe UI"/>
            </a:endParaRPr>
          </a:p>
        </p:txBody>
      </p:sp>
      <p:sp>
        <p:nvSpPr>
          <p:cNvPr id="28" name="AutoShape 250">
            <a:extLst>
              <a:ext uri="{FF2B5EF4-FFF2-40B4-BE49-F238E27FC236}">
                <a16:creationId xmlns:a16="http://schemas.microsoft.com/office/drawing/2014/main" id="{9B6C25CB-C588-2D5F-7BF1-DFC14BBC4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955" y="1234109"/>
            <a:ext cx="981608" cy="233910"/>
          </a:xfrm>
          <a:prstGeom prst="leftRightArrow">
            <a:avLst>
              <a:gd name="adj1" fmla="val 100000"/>
              <a:gd name="adj2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18288" anchor="b">
            <a:spAutoFit/>
          </a:bodyPr>
          <a:lstStyle/>
          <a:p>
            <a:r>
              <a:rPr lang="en-US" sz="1400" b="1" dirty="0">
                <a:solidFill>
                  <a:srgbClr val="0F6FC6"/>
                </a:solidFill>
                <a:latin typeface="Segoe UI"/>
                <a:cs typeface="Segoe UI"/>
              </a:rPr>
              <a:t>DETALHES</a:t>
            </a:r>
            <a:endParaRPr lang="en-US" sz="1400" b="1" baseline="0" noProof="0" dirty="0">
              <a:solidFill>
                <a:srgbClr val="0F6FC6"/>
              </a:solidFill>
              <a:latin typeface="Segoe UI"/>
              <a:cs typeface="Segoe UI"/>
            </a:endParaRPr>
          </a:p>
        </p:txBody>
      </p:sp>
      <p:sp>
        <p:nvSpPr>
          <p:cNvPr id="35" name="AutoShape 250">
            <a:extLst>
              <a:ext uri="{FF2B5EF4-FFF2-40B4-BE49-F238E27FC236}">
                <a16:creationId xmlns:a16="http://schemas.microsoft.com/office/drawing/2014/main" id="{BE6917F7-06DB-940A-7EDA-CF0608DD8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1211" y="1001378"/>
            <a:ext cx="1889759" cy="449354"/>
          </a:xfrm>
          <a:prstGeom prst="leftRightArrow">
            <a:avLst>
              <a:gd name="adj1" fmla="val 100000"/>
              <a:gd name="adj2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18288" anchor="b">
            <a:spAutoFit/>
          </a:bodyPr>
          <a:lstStyle/>
          <a:p>
            <a:r>
              <a:rPr lang="en-US" sz="1400" b="1" dirty="0">
                <a:solidFill>
                  <a:srgbClr val="0F6FC6"/>
                </a:solidFill>
                <a:latin typeface="Segoe UI"/>
                <a:cs typeface="Segoe UI"/>
              </a:rPr>
              <a:t>TOTALMENTE IMPLEMENTADO?</a:t>
            </a:r>
            <a:endParaRPr lang="en-US" sz="1400" b="1" baseline="0" noProof="0" dirty="0">
              <a:solidFill>
                <a:srgbClr val="0F6FC6"/>
              </a:solidFill>
              <a:latin typeface="Segoe UI"/>
              <a:cs typeface="Segoe UI"/>
            </a:endParaRPr>
          </a:p>
        </p:txBody>
      </p:sp>
      <p:sp>
        <p:nvSpPr>
          <p:cNvPr id="52" name="AutoShape 250">
            <a:extLst>
              <a:ext uri="{FF2B5EF4-FFF2-40B4-BE49-F238E27FC236}">
                <a16:creationId xmlns:a16="http://schemas.microsoft.com/office/drawing/2014/main" id="{F944B10C-EBCA-48DD-5FA5-3F0DEA348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096" y="1234230"/>
            <a:ext cx="1843222" cy="233910"/>
          </a:xfrm>
          <a:prstGeom prst="leftRightArrow">
            <a:avLst>
              <a:gd name="adj1" fmla="val 100000"/>
              <a:gd name="adj2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18288" anchor="b">
            <a:spAutoFit/>
          </a:bodyPr>
          <a:lstStyle/>
          <a:p>
            <a:r>
              <a:rPr lang="en-US" sz="1400" b="1" dirty="0">
                <a:solidFill>
                  <a:srgbClr val="0F6FC6"/>
                </a:solidFill>
                <a:latin typeface="Segoe UI"/>
                <a:cs typeface="Segoe UI"/>
              </a:rPr>
              <a:t>RECOMENDAÇÃO</a:t>
            </a:r>
            <a:endParaRPr lang="en-US" sz="1400" b="1" baseline="0" noProof="0" dirty="0">
              <a:solidFill>
                <a:srgbClr val="0F6FC6"/>
              </a:solidFill>
              <a:latin typeface="Segoe UI"/>
              <a:cs typeface="Segoe UI"/>
            </a:endParaRPr>
          </a:p>
        </p:txBody>
      </p:sp>
      <p:cxnSp>
        <p:nvCxnSpPr>
          <p:cNvPr id="3" name="AutoShape 249">
            <a:extLst>
              <a:ext uri="{FF2B5EF4-FFF2-40B4-BE49-F238E27FC236}">
                <a16:creationId xmlns:a16="http://schemas.microsoft.com/office/drawing/2014/main" id="{5B4006B8-24CA-D056-3F24-FCC76392395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2865" y="1468079"/>
            <a:ext cx="11035478" cy="0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ED603F5-6E3F-DE28-3105-6F8481BED97F}"/>
              </a:ext>
            </a:extLst>
          </p:cNvPr>
          <p:cNvCxnSpPr>
            <a:cxnSpLocks/>
          </p:cNvCxnSpPr>
          <p:nvPr/>
        </p:nvCxnSpPr>
        <p:spPr>
          <a:xfrm flipV="1">
            <a:off x="2959265" y="1742291"/>
            <a:ext cx="0" cy="10261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CF8628F7-F484-4C90-363F-C56F89CA55D6}"/>
              </a:ext>
            </a:extLst>
          </p:cNvPr>
          <p:cNvCxnSpPr>
            <a:cxnSpLocks/>
          </p:cNvCxnSpPr>
          <p:nvPr/>
        </p:nvCxnSpPr>
        <p:spPr>
          <a:xfrm flipV="1">
            <a:off x="2959265" y="3455285"/>
            <a:ext cx="0" cy="10261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DC93EC1-E0CB-229E-2E47-B27842959DF7}"/>
              </a:ext>
            </a:extLst>
          </p:cNvPr>
          <p:cNvCxnSpPr>
            <a:cxnSpLocks/>
          </p:cNvCxnSpPr>
          <p:nvPr/>
        </p:nvCxnSpPr>
        <p:spPr>
          <a:xfrm flipV="1">
            <a:off x="2959265" y="5125176"/>
            <a:ext cx="0" cy="10261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BEF7E53-F801-F511-7CC1-98842BE4BC5B}"/>
              </a:ext>
            </a:extLst>
          </p:cNvPr>
          <p:cNvCxnSpPr>
            <a:cxnSpLocks/>
          </p:cNvCxnSpPr>
          <p:nvPr/>
        </p:nvCxnSpPr>
        <p:spPr>
          <a:xfrm flipV="1">
            <a:off x="8359767" y="1742291"/>
            <a:ext cx="0" cy="10261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B02E58CB-3B8E-305D-745D-9C07D28420C9}"/>
              </a:ext>
            </a:extLst>
          </p:cNvPr>
          <p:cNvCxnSpPr>
            <a:cxnSpLocks/>
          </p:cNvCxnSpPr>
          <p:nvPr/>
        </p:nvCxnSpPr>
        <p:spPr>
          <a:xfrm flipV="1">
            <a:off x="8359767" y="3428338"/>
            <a:ext cx="0" cy="10261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70F8949-A8C9-CC67-65C3-2F72A85C2144}"/>
              </a:ext>
            </a:extLst>
          </p:cNvPr>
          <p:cNvCxnSpPr>
            <a:cxnSpLocks/>
          </p:cNvCxnSpPr>
          <p:nvPr/>
        </p:nvCxnSpPr>
        <p:spPr>
          <a:xfrm flipV="1">
            <a:off x="8359767" y="5098229"/>
            <a:ext cx="0" cy="10261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26A138F-373C-FBFB-8C98-0FF60515E908}"/>
              </a:ext>
            </a:extLst>
          </p:cNvPr>
          <p:cNvCxnSpPr>
            <a:cxnSpLocks/>
          </p:cNvCxnSpPr>
          <p:nvPr/>
        </p:nvCxnSpPr>
        <p:spPr>
          <a:xfrm flipV="1">
            <a:off x="9783521" y="1742291"/>
            <a:ext cx="0" cy="10261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9E73776B-C541-2D4B-1F56-6A259975D073}"/>
              </a:ext>
            </a:extLst>
          </p:cNvPr>
          <p:cNvCxnSpPr>
            <a:cxnSpLocks/>
          </p:cNvCxnSpPr>
          <p:nvPr/>
        </p:nvCxnSpPr>
        <p:spPr>
          <a:xfrm flipV="1">
            <a:off x="9783521" y="3428338"/>
            <a:ext cx="0" cy="10261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351FC94F-4C6B-8121-D59B-E6EB27174035}"/>
              </a:ext>
            </a:extLst>
          </p:cNvPr>
          <p:cNvCxnSpPr>
            <a:cxnSpLocks/>
          </p:cNvCxnSpPr>
          <p:nvPr/>
        </p:nvCxnSpPr>
        <p:spPr>
          <a:xfrm flipV="1">
            <a:off x="9783521" y="5098229"/>
            <a:ext cx="0" cy="10261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18">
            <a:extLst>
              <a:ext uri="{FF2B5EF4-FFF2-40B4-BE49-F238E27FC236}">
                <a16:creationId xmlns:a16="http://schemas.microsoft.com/office/drawing/2014/main" id="{FD4631C5-7C4E-D186-90A9-C066DA792697}"/>
              </a:ext>
            </a:extLst>
          </p:cNvPr>
          <p:cNvSpPr txBox="1"/>
          <p:nvPr/>
        </p:nvSpPr>
        <p:spPr>
          <a:xfrm>
            <a:off x="8711644" y="2102651"/>
            <a:ext cx="7200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Segoe UI"/>
                <a:cs typeface="Segoe UI"/>
              </a:rPr>
              <a:t>~12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4236BA81-440A-4C99-6EB2-06930AACF0E9}"/>
              </a:ext>
            </a:extLst>
          </p:cNvPr>
          <p:cNvSpPr txBox="1"/>
          <p:nvPr/>
        </p:nvSpPr>
        <p:spPr>
          <a:xfrm>
            <a:off x="8711644" y="3797783"/>
            <a:ext cx="720000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Segoe UI"/>
                <a:cs typeface="Segoe UI"/>
              </a:rPr>
              <a:t>~21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70DAF030-E3C6-AA5A-0BEC-B1E87E6ADA32}"/>
              </a:ext>
            </a:extLst>
          </p:cNvPr>
          <p:cNvSpPr txBox="1"/>
          <p:nvPr/>
        </p:nvSpPr>
        <p:spPr>
          <a:xfrm>
            <a:off x="8711644" y="5495865"/>
            <a:ext cx="720000" cy="2154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Segoe UI"/>
                <a:cs typeface="Segoe UI"/>
              </a:rPr>
              <a:t>~10</a:t>
            </a:r>
          </a:p>
        </p:txBody>
      </p:sp>
    </p:spTree>
    <p:extLst>
      <p:ext uri="{BB962C8B-B14F-4D97-AF65-F5344CB8AC3E}">
        <p14:creationId xmlns:p14="http://schemas.microsoft.com/office/powerpoint/2010/main" val="904101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44" imgH="345" progId="TCLayout.ActiveDocument.1">
                  <p:embed/>
                </p:oleObj>
              </mc:Choice>
              <mc:Fallback>
                <p:oleObj name="Slide do think-cell" r:id="rId4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31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Qualitativo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270D248-D4D1-60A4-2065-49DEA84CC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
</a:t>
            </a:r>
          </a:p>
        </p:txBody>
      </p:sp>
      <p:cxnSp>
        <p:nvCxnSpPr>
          <p:cNvPr id="50" name="Google Shape;169;p27">
            <a:extLst>
              <a:ext uri="{FF2B5EF4-FFF2-40B4-BE49-F238E27FC236}">
                <a16:creationId xmlns:a16="http://schemas.microsoft.com/office/drawing/2014/main" id="{28C5E72C-1883-0A12-B458-2A33C4352118}"/>
              </a:ext>
            </a:extLst>
          </p:cNvPr>
          <p:cNvCxnSpPr>
            <a:cxnSpLocks/>
          </p:cNvCxnSpPr>
          <p:nvPr/>
        </p:nvCxnSpPr>
        <p:spPr>
          <a:xfrm flipH="1">
            <a:off x="2143378" y="1358889"/>
            <a:ext cx="9525028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0" name="Google Shape;179;p27">
            <a:extLst>
              <a:ext uri="{FF2B5EF4-FFF2-40B4-BE49-F238E27FC236}">
                <a16:creationId xmlns:a16="http://schemas.microsoft.com/office/drawing/2014/main" id="{C706B512-6E5A-7F07-C44A-AE80817E1E24}"/>
              </a:ext>
            </a:extLst>
          </p:cNvPr>
          <p:cNvSpPr/>
          <p:nvPr/>
        </p:nvSpPr>
        <p:spPr>
          <a:xfrm>
            <a:off x="523593" y="2066936"/>
            <a:ext cx="1414985" cy="179464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161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 b="1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61" name="Google Shape;180;p27">
            <a:extLst>
              <a:ext uri="{FF2B5EF4-FFF2-40B4-BE49-F238E27FC236}">
                <a16:creationId xmlns:a16="http://schemas.microsoft.com/office/drawing/2014/main" id="{1F3AB8C8-5BCB-6394-6235-6C8A9002BA66}"/>
              </a:ext>
            </a:extLst>
          </p:cNvPr>
          <p:cNvSpPr/>
          <p:nvPr/>
        </p:nvSpPr>
        <p:spPr>
          <a:xfrm>
            <a:off x="523593" y="4129346"/>
            <a:ext cx="1414985" cy="96239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161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 b="1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62" name="Google Shape;181;p27">
            <a:extLst>
              <a:ext uri="{FF2B5EF4-FFF2-40B4-BE49-F238E27FC236}">
                <a16:creationId xmlns:a16="http://schemas.microsoft.com/office/drawing/2014/main" id="{AF572DCE-F255-1324-3AE0-6F321CC8D65F}"/>
              </a:ext>
            </a:extLst>
          </p:cNvPr>
          <p:cNvSpPr/>
          <p:nvPr/>
        </p:nvSpPr>
        <p:spPr>
          <a:xfrm>
            <a:off x="523593" y="5359505"/>
            <a:ext cx="1414985" cy="96239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6161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400" b="1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cxnSp>
        <p:nvCxnSpPr>
          <p:cNvPr id="63" name="Google Shape;182;p27">
            <a:extLst>
              <a:ext uri="{FF2B5EF4-FFF2-40B4-BE49-F238E27FC236}">
                <a16:creationId xmlns:a16="http://schemas.microsoft.com/office/drawing/2014/main" id="{3D4EDDD6-8AC9-A912-697B-4C851753665F}"/>
              </a:ext>
            </a:extLst>
          </p:cNvPr>
          <p:cNvCxnSpPr>
            <a:cxnSpLocks/>
          </p:cNvCxnSpPr>
          <p:nvPr/>
        </p:nvCxnSpPr>
        <p:spPr>
          <a:xfrm>
            <a:off x="531143" y="5225622"/>
            <a:ext cx="11137263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0386F8A-B833-2FDF-7DC1-EB42B4F08CF1}"/>
              </a:ext>
            </a:extLst>
          </p:cNvPr>
          <p:cNvGrpSpPr/>
          <p:nvPr/>
        </p:nvGrpSpPr>
        <p:grpSpPr>
          <a:xfrm>
            <a:off x="2143378" y="1101881"/>
            <a:ext cx="2045706" cy="4842399"/>
            <a:chOff x="2143373" y="1101881"/>
            <a:chExt cx="2045706" cy="4842399"/>
          </a:xfrm>
        </p:grpSpPr>
        <p:sp>
          <p:nvSpPr>
            <p:cNvPr id="51" name="Google Shape;170;p27">
              <a:extLst>
                <a:ext uri="{FF2B5EF4-FFF2-40B4-BE49-F238E27FC236}">
                  <a16:creationId xmlns:a16="http://schemas.microsoft.com/office/drawing/2014/main" id="{122059F2-9EC7-C16B-56D7-97340C6DA548}"/>
                </a:ext>
              </a:extLst>
            </p:cNvPr>
            <p:cNvSpPr/>
            <p:nvPr/>
          </p:nvSpPr>
          <p:spPr>
            <a:xfrm>
              <a:off x="2850296" y="1101881"/>
              <a:ext cx="510561" cy="510561"/>
            </a:xfrm>
            <a:prstGeom prst="ellipse">
              <a:avLst/>
            </a:prstGeom>
            <a:solidFill>
              <a:srgbClr val="0F6FC6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85750" lvl="0" indent="-285750" algn="ctr" rtl="0"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endParaRPr sz="1300" b="1">
                <a:solidFill>
                  <a:srgbClr val="FFFFFF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  <p:sp>
          <p:nvSpPr>
            <p:cNvPr id="54" name="Google Shape;173;p27">
              <a:extLst>
                <a:ext uri="{FF2B5EF4-FFF2-40B4-BE49-F238E27FC236}">
                  <a16:creationId xmlns:a16="http://schemas.microsoft.com/office/drawing/2014/main" id="{CA133645-0681-88CB-7308-D88B80570849}"/>
                </a:ext>
              </a:extLst>
            </p:cNvPr>
            <p:cNvSpPr txBox="1"/>
            <p:nvPr/>
          </p:nvSpPr>
          <p:spPr>
            <a:xfrm>
              <a:off x="2157447" y="1679239"/>
              <a:ext cx="1924394" cy="266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85750" lvl="0" indent="-285750" algn="ctr"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r>
                <a:rPr lang="pt-BR" sz="1400" b="1" dirty="0">
                  <a:latin typeface="Segoe UI"/>
                  <a:ea typeface="Roboto"/>
                  <a:cs typeface="Segoe UI"/>
                  <a:sym typeface="Roboto"/>
                </a:rPr>
                <a:t>Passo </a:t>
              </a:r>
              <a:r>
                <a:rPr lang="de" sz="1400" b="1" dirty="0">
                  <a:latin typeface="Segoe UI"/>
                  <a:ea typeface="Roboto"/>
                  <a:cs typeface="Segoe UI"/>
                  <a:sym typeface="Roboto"/>
                </a:rPr>
                <a:t>1</a:t>
              </a:r>
              <a:endParaRPr sz="1400" dirty="0">
                <a:latin typeface="Segoe UI"/>
                <a:ea typeface="Roboto"/>
                <a:cs typeface="Segoe UI"/>
                <a:sym typeface="Roboto"/>
              </a:endParaRPr>
            </a:p>
          </p:txBody>
        </p:sp>
        <p:sp>
          <p:nvSpPr>
            <p:cNvPr id="59" name="Google Shape;178;p27">
              <a:extLst>
                <a:ext uri="{FF2B5EF4-FFF2-40B4-BE49-F238E27FC236}">
                  <a16:creationId xmlns:a16="http://schemas.microsoft.com/office/drawing/2014/main" id="{60B3894C-7B1A-A00C-33A6-D24CC2BCECE3}"/>
                </a:ext>
              </a:extLst>
            </p:cNvPr>
            <p:cNvSpPr txBox="1">
              <a:spLocks/>
            </p:cNvSpPr>
            <p:nvPr/>
          </p:nvSpPr>
          <p:spPr>
            <a:xfrm>
              <a:off x="2143373" y="2066808"/>
              <a:ext cx="1970460" cy="877163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sp>
          <p:nvSpPr>
            <p:cNvPr id="65" name="Google Shape;184;p27">
              <a:extLst>
                <a:ext uri="{FF2B5EF4-FFF2-40B4-BE49-F238E27FC236}">
                  <a16:creationId xmlns:a16="http://schemas.microsoft.com/office/drawing/2014/main" id="{D937064F-23DC-5131-547C-D9545611E57B}"/>
                </a:ext>
              </a:extLst>
            </p:cNvPr>
            <p:cNvSpPr txBox="1">
              <a:spLocks/>
            </p:cNvSpPr>
            <p:nvPr/>
          </p:nvSpPr>
          <p:spPr>
            <a:xfrm>
              <a:off x="2143378" y="4116335"/>
              <a:ext cx="2045701" cy="584775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sp>
          <p:nvSpPr>
            <p:cNvPr id="72" name="Google Shape;191;p27">
              <a:extLst>
                <a:ext uri="{FF2B5EF4-FFF2-40B4-BE49-F238E27FC236}">
                  <a16:creationId xmlns:a16="http://schemas.microsoft.com/office/drawing/2014/main" id="{ED938010-EE75-0D12-14F2-18E31B8BE02A}"/>
                </a:ext>
              </a:extLst>
            </p:cNvPr>
            <p:cNvSpPr txBox="1">
              <a:spLocks/>
            </p:cNvSpPr>
            <p:nvPr/>
          </p:nvSpPr>
          <p:spPr>
            <a:xfrm>
              <a:off x="2143378" y="5359505"/>
              <a:ext cx="2045701" cy="584775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7286FAA-CBA3-DE56-5C92-E1FA89AA3D47}"/>
              </a:ext>
            </a:extLst>
          </p:cNvPr>
          <p:cNvGrpSpPr/>
          <p:nvPr/>
        </p:nvGrpSpPr>
        <p:grpSpPr>
          <a:xfrm>
            <a:off x="4467800" y="1101881"/>
            <a:ext cx="2045704" cy="4842399"/>
            <a:chOff x="4386929" y="1101881"/>
            <a:chExt cx="2045704" cy="4842399"/>
          </a:xfrm>
        </p:grpSpPr>
        <p:sp>
          <p:nvSpPr>
            <p:cNvPr id="52" name="Google Shape;171;p27">
              <a:extLst>
                <a:ext uri="{FF2B5EF4-FFF2-40B4-BE49-F238E27FC236}">
                  <a16:creationId xmlns:a16="http://schemas.microsoft.com/office/drawing/2014/main" id="{7DCED641-2B6A-FD8E-CF03-41D1847F5720}"/>
                </a:ext>
              </a:extLst>
            </p:cNvPr>
            <p:cNvSpPr/>
            <p:nvPr/>
          </p:nvSpPr>
          <p:spPr>
            <a:xfrm>
              <a:off x="5093845" y="1101881"/>
              <a:ext cx="510561" cy="510561"/>
            </a:xfrm>
            <a:prstGeom prst="ellipse">
              <a:avLst/>
            </a:prstGeom>
            <a:solidFill>
              <a:srgbClr val="0F6FC6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85750" lvl="0" indent="-285750" algn="ctr"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endParaRPr lang="pt-BR" sz="1300" b="1">
                <a:solidFill>
                  <a:srgbClr val="FFFFFF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  <p:sp>
          <p:nvSpPr>
            <p:cNvPr id="55" name="Google Shape;174;p27">
              <a:extLst>
                <a:ext uri="{FF2B5EF4-FFF2-40B4-BE49-F238E27FC236}">
                  <a16:creationId xmlns:a16="http://schemas.microsoft.com/office/drawing/2014/main" id="{DA10F9FA-2F20-E02B-32A2-97463AA0BABA}"/>
                </a:ext>
              </a:extLst>
            </p:cNvPr>
            <p:cNvSpPr txBox="1"/>
            <p:nvPr/>
          </p:nvSpPr>
          <p:spPr>
            <a:xfrm>
              <a:off x="4386929" y="1679239"/>
              <a:ext cx="1924394" cy="266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85750" lvl="0" indent="-285750" algn="ctr"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r>
                <a:rPr lang="pt-BR" sz="1400" b="1"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Passo 2</a:t>
              </a:r>
              <a:endParaRPr lang="pt-BR" sz="1400"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  <p:sp>
          <p:nvSpPr>
            <p:cNvPr id="66" name="Google Shape;185;p27">
              <a:extLst>
                <a:ext uri="{FF2B5EF4-FFF2-40B4-BE49-F238E27FC236}">
                  <a16:creationId xmlns:a16="http://schemas.microsoft.com/office/drawing/2014/main" id="{043A70AC-80DA-922C-53D6-3ACFF7368855}"/>
                </a:ext>
              </a:extLst>
            </p:cNvPr>
            <p:cNvSpPr txBox="1">
              <a:spLocks/>
            </p:cNvSpPr>
            <p:nvPr/>
          </p:nvSpPr>
          <p:spPr>
            <a:xfrm>
              <a:off x="4386929" y="4116335"/>
              <a:ext cx="2006545" cy="584775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sp>
          <p:nvSpPr>
            <p:cNvPr id="68" name="Google Shape;187;p27">
              <a:extLst>
                <a:ext uri="{FF2B5EF4-FFF2-40B4-BE49-F238E27FC236}">
                  <a16:creationId xmlns:a16="http://schemas.microsoft.com/office/drawing/2014/main" id="{8214811D-1472-D194-6570-FD7725499800}"/>
                </a:ext>
              </a:extLst>
            </p:cNvPr>
            <p:cNvSpPr txBox="1">
              <a:spLocks/>
            </p:cNvSpPr>
            <p:nvPr/>
          </p:nvSpPr>
          <p:spPr>
            <a:xfrm>
              <a:off x="4386929" y="2066808"/>
              <a:ext cx="1970460" cy="877163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sp>
          <p:nvSpPr>
            <p:cNvPr id="73" name="Google Shape;192;p27">
              <a:extLst>
                <a:ext uri="{FF2B5EF4-FFF2-40B4-BE49-F238E27FC236}">
                  <a16:creationId xmlns:a16="http://schemas.microsoft.com/office/drawing/2014/main" id="{556E1EC2-F16A-3B20-3256-72340F7897C9}"/>
                </a:ext>
              </a:extLst>
            </p:cNvPr>
            <p:cNvSpPr txBox="1">
              <a:spLocks/>
            </p:cNvSpPr>
            <p:nvPr/>
          </p:nvSpPr>
          <p:spPr>
            <a:xfrm>
              <a:off x="4386932" y="5359505"/>
              <a:ext cx="2045701" cy="584775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0984BBA-4AE8-81FA-3526-E098AF019FBE}"/>
              </a:ext>
            </a:extLst>
          </p:cNvPr>
          <p:cNvGrpSpPr/>
          <p:nvPr/>
        </p:nvGrpSpPr>
        <p:grpSpPr>
          <a:xfrm>
            <a:off x="6790688" y="1101881"/>
            <a:ext cx="2045706" cy="4842399"/>
            <a:chOff x="6751790" y="1101881"/>
            <a:chExt cx="2045706" cy="4842399"/>
          </a:xfrm>
        </p:grpSpPr>
        <p:sp>
          <p:nvSpPr>
            <p:cNvPr id="53" name="Google Shape;172;p27">
              <a:extLst>
                <a:ext uri="{FF2B5EF4-FFF2-40B4-BE49-F238E27FC236}">
                  <a16:creationId xmlns:a16="http://schemas.microsoft.com/office/drawing/2014/main" id="{904C4BC6-5F12-7533-F768-9F2A6E572158}"/>
                </a:ext>
              </a:extLst>
            </p:cNvPr>
            <p:cNvSpPr/>
            <p:nvPr/>
          </p:nvSpPr>
          <p:spPr>
            <a:xfrm>
              <a:off x="7458719" y="1101881"/>
              <a:ext cx="510561" cy="510561"/>
            </a:xfrm>
            <a:prstGeom prst="ellipse">
              <a:avLst/>
            </a:prstGeom>
            <a:solidFill>
              <a:srgbClr val="0F6FC6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85750" lvl="0" indent="-285750" algn="ctr">
                <a:spcBef>
                  <a:spcPts val="0"/>
                </a:spcBef>
                <a:spcAft>
                  <a:spcPts val="0"/>
                </a:spcAft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endParaRPr lang="pt-BR" sz="1300" b="1">
                <a:solidFill>
                  <a:srgbClr val="FFFFFF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  <p:sp>
          <p:nvSpPr>
            <p:cNvPr id="56" name="Google Shape;175;p27">
              <a:extLst>
                <a:ext uri="{FF2B5EF4-FFF2-40B4-BE49-F238E27FC236}">
                  <a16:creationId xmlns:a16="http://schemas.microsoft.com/office/drawing/2014/main" id="{341C24D5-8A62-4340-457B-839FFCACC396}"/>
                </a:ext>
              </a:extLst>
            </p:cNvPr>
            <p:cNvSpPr txBox="1"/>
            <p:nvPr/>
          </p:nvSpPr>
          <p:spPr>
            <a:xfrm>
              <a:off x="6751790" y="1679239"/>
              <a:ext cx="1924394" cy="266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85750" lvl="0" indent="-285750" algn="ctr">
                <a:buClr>
                  <a:schemeClr val="tx1"/>
                </a:buClr>
                <a:buFont typeface="Wingdings" panose="05000000000000000000" pitchFamily="2" charset="2"/>
                <a:buChar char="§"/>
              </a:pPr>
              <a:r>
                <a:rPr lang="pt-BR" sz="1400" b="1"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Passo  3</a:t>
              </a:r>
              <a:endParaRPr lang="pt-BR" sz="1400"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  <p:sp>
          <p:nvSpPr>
            <p:cNvPr id="67" name="Google Shape;186;p27">
              <a:extLst>
                <a:ext uri="{FF2B5EF4-FFF2-40B4-BE49-F238E27FC236}">
                  <a16:creationId xmlns:a16="http://schemas.microsoft.com/office/drawing/2014/main" id="{A5B83004-ACB6-AC5E-EB72-65622A15D351}"/>
                </a:ext>
              </a:extLst>
            </p:cNvPr>
            <p:cNvSpPr txBox="1">
              <a:spLocks/>
            </p:cNvSpPr>
            <p:nvPr/>
          </p:nvSpPr>
          <p:spPr>
            <a:xfrm>
              <a:off x="6751795" y="4116335"/>
              <a:ext cx="1924394" cy="584775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sp>
          <p:nvSpPr>
            <p:cNvPr id="69" name="Google Shape;188;p27">
              <a:extLst>
                <a:ext uri="{FF2B5EF4-FFF2-40B4-BE49-F238E27FC236}">
                  <a16:creationId xmlns:a16="http://schemas.microsoft.com/office/drawing/2014/main" id="{C01F7B9E-D470-7AB9-8B79-D633154E8D2C}"/>
                </a:ext>
              </a:extLst>
            </p:cNvPr>
            <p:cNvSpPr txBox="1">
              <a:spLocks/>
            </p:cNvSpPr>
            <p:nvPr/>
          </p:nvSpPr>
          <p:spPr>
            <a:xfrm>
              <a:off x="6751790" y="2066808"/>
              <a:ext cx="1970460" cy="877163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sp>
          <p:nvSpPr>
            <p:cNvPr id="74" name="Google Shape;193;p27">
              <a:extLst>
                <a:ext uri="{FF2B5EF4-FFF2-40B4-BE49-F238E27FC236}">
                  <a16:creationId xmlns:a16="http://schemas.microsoft.com/office/drawing/2014/main" id="{B05D6800-BB63-9368-7EDA-8EB8267140E7}"/>
                </a:ext>
              </a:extLst>
            </p:cNvPr>
            <p:cNvSpPr txBox="1">
              <a:spLocks/>
            </p:cNvSpPr>
            <p:nvPr/>
          </p:nvSpPr>
          <p:spPr>
            <a:xfrm>
              <a:off x="6751795" y="5359505"/>
              <a:ext cx="2045701" cy="584775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852BEAA-A48A-B324-2661-ED75AB724135}"/>
              </a:ext>
            </a:extLst>
          </p:cNvPr>
          <p:cNvGrpSpPr/>
          <p:nvPr/>
        </p:nvGrpSpPr>
        <p:grpSpPr>
          <a:xfrm>
            <a:off x="9116652" y="1101881"/>
            <a:ext cx="2045701" cy="4842399"/>
            <a:chOff x="9116652" y="1101881"/>
            <a:chExt cx="2045701" cy="4842399"/>
          </a:xfrm>
        </p:grpSpPr>
        <p:sp>
          <p:nvSpPr>
            <p:cNvPr id="57" name="Google Shape;176;p27">
              <a:extLst>
                <a:ext uri="{FF2B5EF4-FFF2-40B4-BE49-F238E27FC236}">
                  <a16:creationId xmlns:a16="http://schemas.microsoft.com/office/drawing/2014/main" id="{851E5C85-03E4-69E9-208A-F2DD910C59C6}"/>
                </a:ext>
              </a:extLst>
            </p:cNvPr>
            <p:cNvSpPr/>
            <p:nvPr/>
          </p:nvSpPr>
          <p:spPr>
            <a:xfrm>
              <a:off x="9823590" y="1101881"/>
              <a:ext cx="510561" cy="510561"/>
            </a:xfrm>
            <a:prstGeom prst="ellipse">
              <a:avLst/>
            </a:prstGeom>
            <a:solidFill>
              <a:srgbClr val="0F6FC6"/>
            </a:solidFill>
            <a:ln w="762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285750" lvl="0" indent="-285750" algn="ctr">
                <a:spcBef>
                  <a:spcPts val="0"/>
                </a:spcBef>
                <a:spcAft>
                  <a:spcPts val="0"/>
                </a:spcAft>
                <a:buFont typeface="Wingdings" panose="05000000000000000000" pitchFamily="2" charset="2"/>
                <a:buChar char="§"/>
              </a:pPr>
              <a:endParaRPr lang="pt-BR" sz="1300" b="1">
                <a:solidFill>
                  <a:srgbClr val="FFFFFF"/>
                </a:solidFill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  <p:sp>
          <p:nvSpPr>
            <p:cNvPr id="58" name="Google Shape;177;p27">
              <a:extLst>
                <a:ext uri="{FF2B5EF4-FFF2-40B4-BE49-F238E27FC236}">
                  <a16:creationId xmlns:a16="http://schemas.microsoft.com/office/drawing/2014/main" id="{673657A9-35B2-BD38-936A-15F4D2EFAE08}"/>
                </a:ext>
              </a:extLst>
            </p:cNvPr>
            <p:cNvSpPr txBox="1"/>
            <p:nvPr/>
          </p:nvSpPr>
          <p:spPr>
            <a:xfrm>
              <a:off x="9116652" y="1679239"/>
              <a:ext cx="1924394" cy="2666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85750" lvl="0" indent="-285750" algn="ctr">
                <a:buFont typeface="Wingdings" panose="05000000000000000000" pitchFamily="2" charset="2"/>
                <a:buChar char="§"/>
              </a:pPr>
              <a:r>
                <a:rPr lang="pt-BR" sz="1400" b="1">
                  <a:latin typeface="Segoe UI" panose="020B0502040204020203" pitchFamily="34" charset="0"/>
                  <a:ea typeface="Roboto"/>
                  <a:cs typeface="Segoe UI" panose="020B0502040204020203" pitchFamily="34" charset="0"/>
                  <a:sym typeface="Roboto"/>
                </a:rPr>
                <a:t>Passo  4</a:t>
              </a:r>
              <a:endParaRPr lang="pt-BR" sz="1400">
                <a:latin typeface="Segoe UI" panose="020B0502040204020203" pitchFamily="34" charset="0"/>
                <a:ea typeface="Roboto"/>
                <a:cs typeface="Segoe UI" panose="020B0502040204020203" pitchFamily="34" charset="0"/>
                <a:sym typeface="Roboto"/>
              </a:endParaRPr>
            </a:p>
          </p:txBody>
        </p:sp>
        <p:sp>
          <p:nvSpPr>
            <p:cNvPr id="70" name="Google Shape;189;p27">
              <a:extLst>
                <a:ext uri="{FF2B5EF4-FFF2-40B4-BE49-F238E27FC236}">
                  <a16:creationId xmlns:a16="http://schemas.microsoft.com/office/drawing/2014/main" id="{5B716B7E-05A4-9894-F051-D577FE1EC040}"/>
                </a:ext>
              </a:extLst>
            </p:cNvPr>
            <p:cNvSpPr txBox="1">
              <a:spLocks/>
            </p:cNvSpPr>
            <p:nvPr/>
          </p:nvSpPr>
          <p:spPr>
            <a:xfrm>
              <a:off x="9116652" y="2066808"/>
              <a:ext cx="1970460" cy="877163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6315A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6315A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6315A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sp>
          <p:nvSpPr>
            <p:cNvPr id="71" name="Google Shape;190;p27">
              <a:extLst>
                <a:ext uri="{FF2B5EF4-FFF2-40B4-BE49-F238E27FC236}">
                  <a16:creationId xmlns:a16="http://schemas.microsoft.com/office/drawing/2014/main" id="{0B125E66-64CA-D893-084C-73E9E67A5AD5}"/>
                </a:ext>
              </a:extLst>
            </p:cNvPr>
            <p:cNvSpPr txBox="1">
              <a:spLocks/>
            </p:cNvSpPr>
            <p:nvPr/>
          </p:nvSpPr>
          <p:spPr>
            <a:xfrm>
              <a:off x="9116652" y="4116335"/>
              <a:ext cx="2045701" cy="584775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6315A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6315A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sp>
          <p:nvSpPr>
            <p:cNvPr id="75" name="Google Shape;194;p27">
              <a:extLst>
                <a:ext uri="{FF2B5EF4-FFF2-40B4-BE49-F238E27FC236}">
                  <a16:creationId xmlns:a16="http://schemas.microsoft.com/office/drawing/2014/main" id="{06B05A33-173B-85D9-9087-1E6A0647A316}"/>
                </a:ext>
              </a:extLst>
            </p:cNvPr>
            <p:cNvSpPr txBox="1">
              <a:spLocks/>
            </p:cNvSpPr>
            <p:nvPr/>
          </p:nvSpPr>
          <p:spPr>
            <a:xfrm>
              <a:off x="9116652" y="5359505"/>
              <a:ext cx="2045701" cy="584775"/>
            </a:xfrm>
            <a:prstGeom prst="rect">
              <a:avLst/>
            </a:prstGeom>
          </p:spPr>
          <p:txBody>
            <a:bodyPr spcFirstLastPara="1" vert="horz" wrap="square" lIns="0" tIns="0" rIns="0" bIns="0" rtlCol="0" anchor="t" anchorCtr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00000"/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SzPct val="100000"/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6315A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313899" indent="-28575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6315A"/>
                </a:buClr>
                <a:buSzPts val="1000"/>
                <a:buFont typeface="Wingdings" panose="05000000000000000000" pitchFamily="2" charset="2"/>
                <a:buChar char="§"/>
              </a:pPr>
              <a:r>
                <a:rPr lang="pt-BR" sz="14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</p:grpSp>
      <p:cxnSp>
        <p:nvCxnSpPr>
          <p:cNvPr id="17" name="Google Shape;182;p27">
            <a:extLst>
              <a:ext uri="{FF2B5EF4-FFF2-40B4-BE49-F238E27FC236}">
                <a16:creationId xmlns:a16="http://schemas.microsoft.com/office/drawing/2014/main" id="{5AC69374-52F0-12E4-54C9-160509D4E990}"/>
              </a:ext>
            </a:extLst>
          </p:cNvPr>
          <p:cNvCxnSpPr>
            <a:cxnSpLocks/>
          </p:cNvCxnSpPr>
          <p:nvPr/>
        </p:nvCxnSpPr>
        <p:spPr>
          <a:xfrm>
            <a:off x="523593" y="3986853"/>
            <a:ext cx="11137263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prstDash val="lg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9157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89" imgW="344" imgH="345" progId="TCLayout.ActiveDocument.1">
                  <p:embed/>
                </p:oleObj>
              </mc:Choice>
              <mc:Fallback>
                <p:oleObj name="Slide do think-cell" r:id="rId89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Qualitativo</a:t>
            </a:r>
            <a:endParaRPr lang="en-US"/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214B84B9-A035-5F78-1B74-5BD2919FA8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</a:t>
            </a:r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A4E0EC6-5335-7FA1-1B81-24AD08F5613F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009901" y="1581983"/>
            <a:ext cx="1331913" cy="4257675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1679575" y="1102558"/>
            <a:ext cx="2852738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Mai</a:t>
            </a: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B6F2CDC8-FB5B-5892-8D7E-450B46FE4DE7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4532313" y="1102558"/>
            <a:ext cx="2851150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8AD27EE-BB2A-43A6-86E4-682F69FE452E}" type="datetime'''''''''''''''Ju''''''''''''''''''''''''''''''''''''n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Jun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29BCB1FA-5C40-E5F6-C6BF-198C10AE5D1C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7383463" y="1102558"/>
            <a:ext cx="2947988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Jul</a:t>
            </a:r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92CE865B-89DF-5AEC-0B1A-87A584A75C28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1679575" y="1342271"/>
            <a:ext cx="665163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965B1DA-57DB-4C6B-ADC9-2614BD4A6583}" type="datetime'''''''''''''''1''''''''''''''''''''''8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18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5E8D178C-BA4C-63E8-126D-9349702EDF57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2344739" y="1342271"/>
            <a:ext cx="665163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1E96417-36ED-4B6E-956F-ECA0F85DA111}" type="datetime'''''''''1''9''''''''''''''''''''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085185E1-E6AA-7881-E2B4-F500F010540C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3009900" y="1342271"/>
            <a:ext cx="666750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2705F87-D564-46BC-B342-1100018C9ADA}" type="datetime'''''''''2''''''''''''''''''''''''''0''''''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94001FF4-C00C-2D5E-5A38-5CF39AD9CA4B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3676650" y="1342271"/>
            <a:ext cx="665163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AF17A98-CB8D-4D7F-81CD-18F7411BDF2F}" type="datetime'''''''''''''''''''''''''''''''2''''''''''''''''1''''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21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68032FD1-93CF-1D16-4C08-7A91C19BE746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4341814" y="1342271"/>
            <a:ext cx="665163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B3E0339-1781-42A6-920E-14D7390A9E96}" type="datetime'''''''''''''''''''''''''''''''''''''''2''''''''''2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22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1" name="Text Placeholder 2">
            <a:extLst>
              <a:ext uri="{FF2B5EF4-FFF2-40B4-BE49-F238E27FC236}">
                <a16:creationId xmlns:a16="http://schemas.microsoft.com/office/drawing/2014/main" id="{27A247C9-CF3B-358E-74A1-C0C4DDF6CAAD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5006975" y="1342271"/>
            <a:ext cx="665163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4111E13-5076-472C-A96F-FDDF22AC765F}" type="datetime'''''''''''''''''''2''''''''''''''''''''''3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23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Text Placeholder 2">
            <a:extLst>
              <a:ext uri="{FF2B5EF4-FFF2-40B4-BE49-F238E27FC236}">
                <a16:creationId xmlns:a16="http://schemas.microsoft.com/office/drawing/2014/main" id="{D65FB669-3A39-52B7-8F8C-AD942FBB9337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5672138" y="1342271"/>
            <a:ext cx="666750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3A13E81-4EAA-400B-80A3-5FFAAFF7A5E6}" type="datetime'''''''''''2''''''4''''''''''''''''''''''''''''''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24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3" name="Text Placeholder 2">
            <a:extLst>
              <a:ext uri="{FF2B5EF4-FFF2-40B4-BE49-F238E27FC236}">
                <a16:creationId xmlns:a16="http://schemas.microsoft.com/office/drawing/2014/main" id="{53B18A5E-99E7-2228-DC1B-726A3C307A8F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338888" y="1342271"/>
            <a:ext cx="665163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86DA4C7-0DB9-4E94-91A8-99FCD6104AB7}" type="datetime'2''''''''''''''''''5''''''''''''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25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Text Placeholder 2">
            <a:extLst>
              <a:ext uri="{FF2B5EF4-FFF2-40B4-BE49-F238E27FC236}">
                <a16:creationId xmlns:a16="http://schemas.microsoft.com/office/drawing/2014/main" id="{116C4AF8-1027-37A9-6F81-5BBBC901C73A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7004051" y="1342271"/>
            <a:ext cx="665163" cy="239713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E50055A-B389-4DB0-BAFA-E043C1263EF3}" type="datetime'2''''''''''''''''''''''6''''''''''''''''''''''''''''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26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Text Placeholder 2">
            <a:extLst>
              <a:ext uri="{FF2B5EF4-FFF2-40B4-BE49-F238E27FC236}">
                <a16:creationId xmlns:a16="http://schemas.microsoft.com/office/drawing/2014/main" id="{9268370D-99D1-B26F-9281-B659C2870E4D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7669213" y="1342271"/>
            <a:ext cx="665163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3AECE02-98C6-4933-9C33-81DDC95B6ACC}" type="datetime'''''''''2''''''''''''7''''''''''''''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27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6" name="Text Placeholder 2">
            <a:extLst>
              <a:ext uri="{FF2B5EF4-FFF2-40B4-BE49-F238E27FC236}">
                <a16:creationId xmlns:a16="http://schemas.microsoft.com/office/drawing/2014/main" id="{8CAD6ADC-4D16-17DD-5499-FD1298A86A3D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8334375" y="1342271"/>
            <a:ext cx="666750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7068161-ECBA-4588-A210-88802152C8AF}" type="datetime'''''''''''''''''''''''''''''''''''''2''''8''''''''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28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7" name="Text Placeholder 2">
            <a:extLst>
              <a:ext uri="{FF2B5EF4-FFF2-40B4-BE49-F238E27FC236}">
                <a16:creationId xmlns:a16="http://schemas.microsoft.com/office/drawing/2014/main" id="{49412F18-5D05-0A4A-A0FC-E9F96F82C3AD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9001126" y="1342271"/>
            <a:ext cx="665163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37BA602-C706-4770-BE52-3A4D48F73696}" type="datetime'''''''''''''''''2''''''''''''9''''''''''''''''''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29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CFB20F81-357A-B147-8E09-FF2F8E6EE3F0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9666288" y="1342271"/>
            <a:ext cx="665163" cy="239713"/>
          </a:xfrm>
          <a:prstGeom prst="rect">
            <a:avLst/>
          </a:prstGeom>
          <a:noFill/>
          <a:ln w="9525" algn="ctr">
            <a:solidFill>
              <a:srgbClr val="7F7F7F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5E7D36C-E89F-4C5D-9DE9-42B429A7610B}" type="datetime'''''''''''''''''''''3''0'''''''''''''''''''''''''''''''''''''">
              <a:rPr lang="en-US" altLang="en-US" sz="1400" b="1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30</a:t>
            </a:fld>
            <a:endParaRPr lang="en-US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7F49CC-3485-20DB-B023-C63EE7BBFB26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10331451" y="1558171"/>
            <a:ext cx="0" cy="4257675"/>
          </a:xfrm>
          <a:prstGeom prst="line">
            <a:avLst/>
          </a:prstGeom>
          <a:ln w="9525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FE248F3-12EF-6A08-C436-9BF4AB35FCEF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1679575" y="1581983"/>
            <a:ext cx="0" cy="4257675"/>
          </a:xfrm>
          <a:prstGeom prst="line">
            <a:avLst/>
          </a:prstGeom>
          <a:ln w="9525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91328F0-216A-B29B-EE13-D77A59BFF0F1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11668125" y="1581983"/>
            <a:ext cx="0" cy="4257675"/>
          </a:xfrm>
          <a:prstGeom prst="line">
            <a:avLst/>
          </a:prstGeom>
          <a:ln w="9525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64C9A5-57EE-55D7-F39E-823541935637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523875" y="1581983"/>
            <a:ext cx="0" cy="4257675"/>
          </a:xfrm>
          <a:prstGeom prst="line">
            <a:avLst/>
          </a:prstGeom>
          <a:ln w="9525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3782755-5703-A720-D0F3-56C2DDD571D5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7383463" y="1581983"/>
            <a:ext cx="0" cy="4257675"/>
          </a:xfrm>
          <a:prstGeom prst="line">
            <a:avLst/>
          </a:prstGeom>
          <a:ln w="3175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743583-7A5F-56A3-8105-020072F550DF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4532313" y="1581983"/>
            <a:ext cx="0" cy="4257675"/>
          </a:xfrm>
          <a:prstGeom prst="line">
            <a:avLst/>
          </a:prstGeom>
          <a:ln w="3175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C2ADF7-9318-11DC-5ADA-FA207A629F40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6338888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6088C57-D534-DED2-3B07-ED045C176F93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7004050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3E9FF6-16A8-A8D4-BD05-07FA1756CEE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2344738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B3BB8D-61F5-F99A-5947-F31A35D764EC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>
            <a:off x="8334375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3D9575-1E3B-040D-DC39-7D7B684EF7CE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3009900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AAE328E-C61D-C8F1-500F-402EEF9433BB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9666288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36A0D7D-43F4-6DF3-5FDC-46403F3D7F8F}"/>
              </a:ext>
            </a:extLst>
          </p:cNvPr>
          <p:cNvCxnSpPr/>
          <p:nvPr>
            <p:custDataLst>
              <p:tags r:id="rId32"/>
            </p:custDataLst>
          </p:nvPr>
        </p:nvCxnSpPr>
        <p:spPr bwMode="auto">
          <a:xfrm>
            <a:off x="7669213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6F4B7E-3514-DE4A-EAE2-00B0D487D68A}"/>
              </a:ext>
            </a:extLst>
          </p:cNvPr>
          <p:cNvCxnSpPr/>
          <p:nvPr>
            <p:custDataLst>
              <p:tags r:id="rId33"/>
            </p:custDataLst>
          </p:nvPr>
        </p:nvCxnSpPr>
        <p:spPr bwMode="auto">
          <a:xfrm>
            <a:off x="3676650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7C4A6AF-2C36-1925-258D-F9AA14AC55C0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>
            <a:off x="4341813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2BA84E-2215-81CE-D493-6C24F6ED8604}"/>
              </a:ext>
            </a:extLst>
          </p:cNvPr>
          <p:cNvCxnSpPr/>
          <p:nvPr>
            <p:custDataLst>
              <p:tags r:id="rId35"/>
            </p:custDataLst>
          </p:nvPr>
        </p:nvCxnSpPr>
        <p:spPr bwMode="auto">
          <a:xfrm>
            <a:off x="5006975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9D33171-0A71-15EF-6F29-44F19FEE462B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5672138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5181D9-972F-5A0B-466F-3AEF424AE136}"/>
              </a:ext>
            </a:extLst>
          </p:cNvPr>
          <p:cNvCxnSpPr/>
          <p:nvPr>
            <p:custDataLst>
              <p:tags r:id="rId37"/>
            </p:custDataLst>
          </p:nvPr>
        </p:nvCxnSpPr>
        <p:spPr bwMode="auto">
          <a:xfrm>
            <a:off x="8995570" y="1581983"/>
            <a:ext cx="0" cy="42576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E56C72-6ECA-E9B3-CF07-60477EC1869A}"/>
              </a:ext>
            </a:extLst>
          </p:cNvPr>
          <p:cNvCxnSpPr/>
          <p:nvPr>
            <p:custDataLst>
              <p:tags r:id="rId38"/>
            </p:custDataLst>
          </p:nvPr>
        </p:nvCxnSpPr>
        <p:spPr bwMode="auto">
          <a:xfrm>
            <a:off x="523875" y="2969458"/>
            <a:ext cx="11144250" cy="0"/>
          </a:xfrm>
          <a:prstGeom prst="line">
            <a:avLst/>
          </a:prstGeom>
          <a:ln w="3175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EE3D63-E142-E681-5444-089D734DC271}"/>
              </a:ext>
            </a:extLst>
          </p:cNvPr>
          <p:cNvCxnSpPr/>
          <p:nvPr>
            <p:custDataLst>
              <p:tags r:id="rId39"/>
            </p:custDataLst>
          </p:nvPr>
        </p:nvCxnSpPr>
        <p:spPr bwMode="auto">
          <a:xfrm>
            <a:off x="523875" y="4388683"/>
            <a:ext cx="111442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0B269A2-950E-45DA-1ED4-85260262F7EF}"/>
              </a:ext>
            </a:extLst>
          </p:cNvPr>
          <p:cNvCxnSpPr/>
          <p:nvPr>
            <p:custDataLst>
              <p:tags r:id="rId40"/>
            </p:custDataLst>
          </p:nvPr>
        </p:nvCxnSpPr>
        <p:spPr bwMode="auto">
          <a:xfrm>
            <a:off x="523875" y="5839658"/>
            <a:ext cx="11144250" cy="0"/>
          </a:xfrm>
          <a:prstGeom prst="line">
            <a:avLst/>
          </a:prstGeom>
          <a:ln w="9525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7D27BC-E429-3081-327E-C00F81DF27FD}"/>
              </a:ext>
            </a:extLst>
          </p:cNvPr>
          <p:cNvCxnSpPr/>
          <p:nvPr>
            <p:custDataLst>
              <p:tags r:id="rId41"/>
            </p:custDataLst>
          </p:nvPr>
        </p:nvCxnSpPr>
        <p:spPr bwMode="gray">
          <a:xfrm>
            <a:off x="6718300" y="1581983"/>
            <a:ext cx="0" cy="4421188"/>
          </a:xfrm>
          <a:prstGeom prst="line">
            <a:avLst/>
          </a:prstGeom>
          <a:ln w="19050" cap="flat" cmpd="sng" algn="ctr">
            <a:solidFill>
              <a:srgbClr val="364D6E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0F1A33-8DC9-5FE4-CF1E-D4F7FC149438}"/>
              </a:ext>
            </a:extLst>
          </p:cNvPr>
          <p:cNvCxnSpPr/>
          <p:nvPr>
            <p:custDataLst>
              <p:tags r:id="rId42"/>
            </p:custDataLst>
          </p:nvPr>
        </p:nvCxnSpPr>
        <p:spPr bwMode="auto">
          <a:xfrm>
            <a:off x="523875" y="1581983"/>
            <a:ext cx="11144250" cy="0"/>
          </a:xfrm>
          <a:prstGeom prst="line">
            <a:avLst/>
          </a:prstGeom>
          <a:ln w="9525" cap="flat" cmpd="sng" algn="ctr">
            <a:solidFill>
              <a:srgbClr val="7F7F7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84A6C631-22ED-61F0-0255-4FE96503E98F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auto">
          <a:xfrm>
            <a:off x="7669214" y="4487108"/>
            <a:ext cx="2652713" cy="274638"/>
          </a:xfrm>
          <a:prstGeom prst="homePlate">
            <a:avLst>
              <a:gd name="adj" fmla="val 17919"/>
            </a:avLst>
          </a:prstGeom>
          <a:solidFill>
            <a:srgbClr val="364D6E"/>
          </a:solidFill>
          <a:ln w="9525" algn="ctr">
            <a:solidFill>
              <a:srgbClr val="FFFFFF"/>
            </a:solidFill>
          </a:ln>
          <a:effectLst/>
        </p:spPr>
        <p:txBody>
          <a:bodyPr vert="horz" wrap="none" lIns="90488" tIns="46038" rIns="0" bIns="46038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sz="14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CC18D91E-278C-9022-556A-25E51F6B7698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auto">
          <a:xfrm>
            <a:off x="4341813" y="3067883"/>
            <a:ext cx="3327400" cy="274638"/>
          </a:xfrm>
          <a:prstGeom prst="homePlate">
            <a:avLst>
              <a:gd name="adj" fmla="val 17919"/>
            </a:avLst>
          </a:prstGeom>
          <a:solidFill>
            <a:srgbClr val="364D6E"/>
          </a:solidFill>
          <a:ln w="9525" algn="ctr">
            <a:solidFill>
              <a:srgbClr val="FFFFFF"/>
            </a:solidFill>
          </a:ln>
          <a:effectLst/>
        </p:spPr>
        <p:txBody>
          <a:bodyPr vert="horz" wrap="none" lIns="90488" tIns="46038" rIns="0" bIns="46038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sz="14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1689099" y="1648658"/>
            <a:ext cx="3983038" cy="274638"/>
          </a:xfrm>
          <a:prstGeom prst="homePlate">
            <a:avLst>
              <a:gd name="adj" fmla="val 17919"/>
            </a:avLst>
          </a:prstGeom>
          <a:solidFill>
            <a:srgbClr val="364D6E"/>
          </a:solidFill>
          <a:ln w="9525" algn="ctr">
            <a:solidFill>
              <a:srgbClr val="FFFFFF"/>
            </a:solidFill>
          </a:ln>
          <a:effectLst/>
        </p:spPr>
        <p:txBody>
          <a:bodyPr vert="horz" wrap="none" lIns="90488" tIns="46038" rIns="0" bIns="46038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endParaRPr lang="en-US" sz="14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BA02998-DB7A-07C9-13F4-11210C24A09D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2344739" y="2069346"/>
            <a:ext cx="665163" cy="7937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BFBFBF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2BDA32D-C0D5-D0B7-D8D1-8B77DC69667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338888" y="3826708"/>
            <a:ext cx="665163" cy="7937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BFBFBF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0645F92-320A-7422-236C-9576EC204F2D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6338888" y="4163258"/>
            <a:ext cx="1330325" cy="793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D1ADF29-2D8E-D494-A5C8-A2B03899B25D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1684338" y="2069346"/>
            <a:ext cx="660400" cy="793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4DCE1AA4-30D3-367A-AE9B-CB3D957EF5B4}"/>
              </a:ext>
            </a:extLst>
          </p:cNvPr>
          <p:cNvSpPr/>
          <p:nvPr>
            <p:custDataLst>
              <p:tags r:id="rId50"/>
            </p:custDataLst>
          </p:nvPr>
        </p:nvSpPr>
        <p:spPr bwMode="gray">
          <a:xfrm>
            <a:off x="9666288" y="5542796"/>
            <a:ext cx="766763" cy="158750"/>
          </a:xfrm>
          <a:prstGeom prst="rightArrow">
            <a:avLst>
              <a:gd name="adj1" fmla="val 50000"/>
              <a:gd name="adj2" fmla="val 40660"/>
            </a:avLst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51A6F51-D2D3-5F34-E3DE-48FBCF7B3149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7669213" y="4907796"/>
            <a:ext cx="665163" cy="793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230E28E-018D-1174-4503-374AFA0CD131}"/>
              </a:ext>
            </a:extLst>
          </p:cNvPr>
          <p:cNvSpPr/>
          <p:nvPr>
            <p:custDataLst>
              <p:tags r:id="rId52"/>
            </p:custDataLst>
          </p:nvPr>
        </p:nvSpPr>
        <p:spPr bwMode="gray">
          <a:xfrm>
            <a:off x="3676650" y="2744033"/>
            <a:ext cx="665163" cy="793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382FDF8-2514-E89A-0804-1309FB128024}"/>
              </a:ext>
            </a:extLst>
          </p:cNvPr>
          <p:cNvSpPr/>
          <p:nvPr>
            <p:custDataLst>
              <p:tags r:id="rId53"/>
            </p:custDataLst>
          </p:nvPr>
        </p:nvSpPr>
        <p:spPr bwMode="gray">
          <a:xfrm>
            <a:off x="2344738" y="2407483"/>
            <a:ext cx="1331913" cy="79375"/>
          </a:xfrm>
          <a:prstGeom prst="rect">
            <a:avLst/>
          </a:prstGeom>
          <a:solidFill>
            <a:srgbClr val="BFBFBF"/>
          </a:solidFill>
          <a:ln w="19050" cap="flat" cmpd="sng" algn="ctr">
            <a:solidFill>
              <a:srgbClr val="BFBFB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2AB1E5D-4183-724F-FCDD-235C5CCE3E25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8334375" y="5245933"/>
            <a:ext cx="1331913" cy="79375"/>
          </a:xfrm>
          <a:prstGeom prst="rect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6A04325-8BF0-6DAE-5BD5-10C549D5C94D}"/>
              </a:ext>
            </a:extLst>
          </p:cNvPr>
          <p:cNvSpPr/>
          <p:nvPr>
            <p:custDataLst>
              <p:tags r:id="rId55"/>
            </p:custDataLst>
          </p:nvPr>
        </p:nvSpPr>
        <p:spPr bwMode="gray">
          <a:xfrm>
            <a:off x="5672138" y="3826708"/>
            <a:ext cx="666750" cy="79375"/>
          </a:xfrm>
          <a:prstGeom prst="rect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CE2C7AF1-8ACB-72F4-DF5D-9C4F67B326DB}"/>
              </a:ext>
            </a:extLst>
          </p:cNvPr>
          <p:cNvSpPr/>
          <p:nvPr>
            <p:custDataLst>
              <p:tags r:id="rId56"/>
            </p:custDataLst>
          </p:nvPr>
        </p:nvSpPr>
        <p:spPr bwMode="gray">
          <a:xfrm>
            <a:off x="4341813" y="3488571"/>
            <a:ext cx="1330325" cy="79375"/>
          </a:xfrm>
          <a:prstGeom prst="rect">
            <a:avLst/>
          </a:prstGeom>
          <a:solidFill>
            <a:srgbClr val="BFBFB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8" name="Isosceles Triangle 167">
            <a:extLst>
              <a:ext uri="{FF2B5EF4-FFF2-40B4-BE49-F238E27FC236}">
                <a16:creationId xmlns:a16="http://schemas.microsoft.com/office/drawing/2014/main" id="{054980F6-960A-2E4F-E6DD-B692972967EE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 rot="10800000">
            <a:off x="3568700" y="5984121"/>
            <a:ext cx="212725" cy="107950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7" name="Right Bracket 166">
            <a:extLst>
              <a:ext uri="{FF2B5EF4-FFF2-40B4-BE49-F238E27FC236}">
                <a16:creationId xmlns:a16="http://schemas.microsoft.com/office/drawing/2014/main" id="{D5709F19-BC3D-3C0D-BECA-430EC691691C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 rot="5400000">
            <a:off x="3621088" y="5264983"/>
            <a:ext cx="107950" cy="1331913"/>
          </a:xfrm>
          <a:prstGeom prst="rightBracket">
            <a:avLst>
              <a:gd name="adj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E51F1EC-A79F-8256-C337-D5497160E77E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6661150" y="5946021"/>
            <a:ext cx="114300" cy="114300"/>
          </a:xfrm>
          <a:prstGeom prst="triangle">
            <a:avLst/>
          </a:prstGeom>
          <a:solidFill>
            <a:srgbClr val="364D6E"/>
          </a:solidFill>
          <a:ln w="9525" cap="flat" cmpd="sng" algn="ctr">
            <a:solidFill>
              <a:srgbClr val="364D6E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5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60"/>
            </p:custDataLst>
          </p:nvPr>
        </p:nvSpPr>
        <p:spPr bwMode="auto">
          <a:xfrm>
            <a:off x="3375025" y="6109533"/>
            <a:ext cx="600075" cy="384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cs typeface="+mn-cs"/>
              </a:rPr>
              <a:t>Feriado
</a:t>
            </a:r>
            <a:endParaRPr lang="pt-BR" sz="1400">
              <a:cs typeface="+mn-cs"/>
            </a:endParaRPr>
          </a:p>
        </p:txBody>
      </p:sp>
      <p:sp>
        <p:nvSpPr>
          <p:cNvPr id="102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61"/>
            </p:custDataLst>
          </p:nvPr>
        </p:nvSpPr>
        <p:spPr bwMode="auto">
          <a:xfrm>
            <a:off x="6275388" y="6082546"/>
            <a:ext cx="885825" cy="1920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0FF9894-0D3F-441E-A4D6-BF00F19774B3}" type="datetime'''''2''4.''''''''0''''''''6''''''.''''''''2''''''0''''2''''2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24.06.2022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62"/>
            </p:custDataLst>
          </p:nvPr>
        </p:nvSpPr>
        <p:spPr bwMode="auto">
          <a:xfrm>
            <a:off x="595313" y="1689933"/>
            <a:ext cx="10128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Diagnóstico</a:t>
            </a:r>
          </a:p>
        </p:txBody>
      </p:sp>
      <p:sp>
        <p:nvSpPr>
          <p:cNvPr id="161" name="Text Placeholder 2">
            <a:extLst>
              <a:ext uri="{FF2B5EF4-FFF2-40B4-BE49-F238E27FC236}">
                <a16:creationId xmlns:a16="http://schemas.microsoft.com/office/drawing/2014/main" id="{5665C1CD-38DC-1A60-D0DB-904B98411FE9}"/>
              </a:ext>
            </a:extLst>
          </p:cNvPr>
          <p:cNvSpPr>
            <a:spLocks noGrp="1"/>
          </p:cNvSpPr>
          <p:nvPr>
            <p:custDataLst>
              <p:tags r:id="rId63"/>
            </p:custDataLst>
          </p:nvPr>
        </p:nvSpPr>
        <p:spPr bwMode="auto">
          <a:xfrm>
            <a:off x="10504488" y="5203071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64"/>
            </p:custDataLst>
          </p:nvPr>
        </p:nvSpPr>
        <p:spPr bwMode="auto">
          <a:xfrm>
            <a:off x="10504488" y="1689933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7" name="Text Placeholder 2">
            <a:extLst>
              <a:ext uri="{FF2B5EF4-FFF2-40B4-BE49-F238E27FC236}">
                <a16:creationId xmlns:a16="http://schemas.microsoft.com/office/drawing/2014/main" id="{9B9D16E4-C287-DCF1-EDBB-D1F30150C58F}"/>
              </a:ext>
            </a:extLst>
          </p:cNvPr>
          <p:cNvSpPr>
            <a:spLocks noGrp="1"/>
          </p:cNvSpPr>
          <p:nvPr>
            <p:custDataLst>
              <p:tags r:id="rId65"/>
            </p:custDataLst>
          </p:nvPr>
        </p:nvSpPr>
        <p:spPr bwMode="auto">
          <a:xfrm>
            <a:off x="10504488" y="4528383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44312B3-B642-0392-2F0D-70E740EA898B}"/>
              </a:ext>
            </a:extLst>
          </p:cNvPr>
          <p:cNvSpPr>
            <a:spLocks noGrp="1"/>
          </p:cNvSpPr>
          <p:nvPr>
            <p:custDataLst>
              <p:tags r:id="rId66"/>
            </p:custDataLst>
          </p:nvPr>
        </p:nvSpPr>
        <p:spPr bwMode="auto">
          <a:xfrm>
            <a:off x="595313" y="5203071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E7209ED8-8415-3033-980D-C44AB05BB10E}"/>
              </a:ext>
            </a:extLst>
          </p:cNvPr>
          <p:cNvSpPr>
            <a:spLocks noGrp="1"/>
          </p:cNvSpPr>
          <p:nvPr>
            <p:custDataLst>
              <p:tags r:id="rId67"/>
            </p:custDataLst>
          </p:nvPr>
        </p:nvSpPr>
        <p:spPr bwMode="auto">
          <a:xfrm>
            <a:off x="595313" y="2026483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8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68"/>
            </p:custDataLst>
          </p:nvPr>
        </p:nvSpPr>
        <p:spPr bwMode="auto">
          <a:xfrm>
            <a:off x="10504487" y="1173996"/>
            <a:ext cx="10922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Responsável</a:t>
            </a:r>
            <a:endParaRPr lang="pt-BR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69"/>
            </p:custDataLst>
          </p:nvPr>
        </p:nvSpPr>
        <p:spPr bwMode="auto">
          <a:xfrm>
            <a:off x="595313" y="4120396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3" name="Text Placeholder 2">
            <a:extLst>
              <a:ext uri="{FF2B5EF4-FFF2-40B4-BE49-F238E27FC236}">
                <a16:creationId xmlns:a16="http://schemas.microsoft.com/office/drawing/2014/main" id="{F96A0425-0AB3-2D0C-EE62-CA272D21FFA0}"/>
              </a:ext>
            </a:extLst>
          </p:cNvPr>
          <p:cNvSpPr>
            <a:spLocks noGrp="1"/>
          </p:cNvSpPr>
          <p:nvPr>
            <p:custDataLst>
              <p:tags r:id="rId70"/>
            </p:custDataLst>
          </p:nvPr>
        </p:nvSpPr>
        <p:spPr bwMode="auto">
          <a:xfrm>
            <a:off x="10504488" y="2026483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3" name="Text Placeholder 2">
            <a:extLst>
              <a:ext uri="{FF2B5EF4-FFF2-40B4-BE49-F238E27FC236}">
                <a16:creationId xmlns:a16="http://schemas.microsoft.com/office/drawing/2014/main" id="{33463382-A9D6-5344-EFCF-0B4BDA169381}"/>
              </a:ext>
            </a:extLst>
          </p:cNvPr>
          <p:cNvSpPr>
            <a:spLocks noGrp="1"/>
          </p:cNvSpPr>
          <p:nvPr>
            <p:custDataLst>
              <p:tags r:id="rId71"/>
            </p:custDataLst>
          </p:nvPr>
        </p:nvSpPr>
        <p:spPr bwMode="auto">
          <a:xfrm>
            <a:off x="10504488" y="3783846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87AC1EA6-0321-7A0F-68BD-8B99E1A3E01D}"/>
              </a:ext>
            </a:extLst>
          </p:cNvPr>
          <p:cNvSpPr>
            <a:spLocks noGrp="1"/>
          </p:cNvSpPr>
          <p:nvPr>
            <p:custDataLst>
              <p:tags r:id="rId72"/>
            </p:custDataLst>
          </p:nvPr>
        </p:nvSpPr>
        <p:spPr bwMode="auto">
          <a:xfrm>
            <a:off x="595313" y="2364621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5" name="Text Placeholder 2">
            <a:extLst>
              <a:ext uri="{FF2B5EF4-FFF2-40B4-BE49-F238E27FC236}">
                <a16:creationId xmlns:a16="http://schemas.microsoft.com/office/drawing/2014/main" id="{685962FC-BD6E-422B-87C3-AAFB20C9E5D6}"/>
              </a:ext>
            </a:extLst>
          </p:cNvPr>
          <p:cNvSpPr>
            <a:spLocks noGrp="1"/>
          </p:cNvSpPr>
          <p:nvPr>
            <p:custDataLst>
              <p:tags r:id="rId73"/>
            </p:custDataLst>
          </p:nvPr>
        </p:nvSpPr>
        <p:spPr bwMode="auto">
          <a:xfrm>
            <a:off x="10504488" y="2364621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3D7A84DD-51AB-D750-B873-3AD96FCB0A61}"/>
              </a:ext>
            </a:extLst>
          </p:cNvPr>
          <p:cNvSpPr>
            <a:spLocks noGrp="1"/>
          </p:cNvSpPr>
          <p:nvPr>
            <p:custDataLst>
              <p:tags r:id="rId74"/>
            </p:custDataLst>
          </p:nvPr>
        </p:nvSpPr>
        <p:spPr bwMode="auto">
          <a:xfrm>
            <a:off x="595313" y="4864933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75"/>
            </p:custDataLst>
          </p:nvPr>
        </p:nvSpPr>
        <p:spPr bwMode="auto">
          <a:xfrm>
            <a:off x="595313" y="1366083"/>
            <a:ext cx="7969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Atividade</a:t>
            </a:r>
            <a:endParaRPr lang="pt-BR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9" name="Text Placeholder 2">
            <a:extLst>
              <a:ext uri="{FF2B5EF4-FFF2-40B4-BE49-F238E27FC236}">
                <a16:creationId xmlns:a16="http://schemas.microsoft.com/office/drawing/2014/main" id="{C1FB97B3-07CE-47A5-31C9-661B26E0C0F8}"/>
              </a:ext>
            </a:extLst>
          </p:cNvPr>
          <p:cNvSpPr>
            <a:spLocks noGrp="1"/>
          </p:cNvSpPr>
          <p:nvPr>
            <p:custDataLst>
              <p:tags r:id="rId76"/>
            </p:custDataLst>
          </p:nvPr>
        </p:nvSpPr>
        <p:spPr bwMode="auto">
          <a:xfrm>
            <a:off x="10504488" y="4864933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77"/>
            </p:custDataLst>
          </p:nvPr>
        </p:nvSpPr>
        <p:spPr bwMode="auto">
          <a:xfrm>
            <a:off x="595313" y="2701171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3" name="Text Placeholder 2">
            <a:extLst>
              <a:ext uri="{FF2B5EF4-FFF2-40B4-BE49-F238E27FC236}">
                <a16:creationId xmlns:a16="http://schemas.microsoft.com/office/drawing/2014/main" id="{8F7D11B1-B832-BE5D-8C61-3F9D38C27D5F}"/>
              </a:ext>
            </a:extLst>
          </p:cNvPr>
          <p:cNvSpPr>
            <a:spLocks noGrp="1"/>
          </p:cNvSpPr>
          <p:nvPr>
            <p:custDataLst>
              <p:tags r:id="rId78"/>
            </p:custDataLst>
          </p:nvPr>
        </p:nvSpPr>
        <p:spPr bwMode="auto">
          <a:xfrm>
            <a:off x="10504488" y="5539621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5" name="Text Placeholder 2">
            <a:extLst>
              <a:ext uri="{FF2B5EF4-FFF2-40B4-BE49-F238E27FC236}">
                <a16:creationId xmlns:a16="http://schemas.microsoft.com/office/drawing/2014/main" id="{AECE9771-E1E2-9390-CEE1-8EE72653AD20}"/>
              </a:ext>
            </a:extLst>
          </p:cNvPr>
          <p:cNvSpPr>
            <a:spLocks noGrp="1"/>
          </p:cNvSpPr>
          <p:nvPr>
            <p:custDataLst>
              <p:tags r:id="rId79"/>
            </p:custDataLst>
          </p:nvPr>
        </p:nvSpPr>
        <p:spPr bwMode="auto">
          <a:xfrm>
            <a:off x="10504488" y="4120396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7" name="Text Placeholder 2">
            <a:extLst>
              <a:ext uri="{FF2B5EF4-FFF2-40B4-BE49-F238E27FC236}">
                <a16:creationId xmlns:a16="http://schemas.microsoft.com/office/drawing/2014/main" id="{91CC52DB-3962-E295-78D9-76100DFF774E}"/>
              </a:ext>
            </a:extLst>
          </p:cNvPr>
          <p:cNvSpPr>
            <a:spLocks noGrp="1"/>
          </p:cNvSpPr>
          <p:nvPr>
            <p:custDataLst>
              <p:tags r:id="rId80"/>
            </p:custDataLst>
          </p:nvPr>
        </p:nvSpPr>
        <p:spPr bwMode="auto">
          <a:xfrm>
            <a:off x="10504488" y="2701171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81"/>
            </p:custDataLst>
          </p:nvPr>
        </p:nvSpPr>
        <p:spPr bwMode="auto">
          <a:xfrm>
            <a:off x="595313" y="4528383"/>
            <a:ext cx="5699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 b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Fluxo 3</a:t>
            </a:r>
            <a:endParaRPr lang="pt-BR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82"/>
            </p:custDataLst>
          </p:nvPr>
        </p:nvSpPr>
        <p:spPr bwMode="auto">
          <a:xfrm>
            <a:off x="595313" y="3109158"/>
            <a:ext cx="6191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 b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Fluxo 2</a:t>
            </a:r>
            <a:endParaRPr lang="pt-BR" sz="1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9" name="Text Placeholder 2">
            <a:extLst>
              <a:ext uri="{FF2B5EF4-FFF2-40B4-BE49-F238E27FC236}">
                <a16:creationId xmlns:a16="http://schemas.microsoft.com/office/drawing/2014/main" id="{8B449F64-6901-6212-8EE9-1C1BF1B6BF56}"/>
              </a:ext>
            </a:extLst>
          </p:cNvPr>
          <p:cNvSpPr>
            <a:spLocks noGrp="1"/>
          </p:cNvSpPr>
          <p:nvPr>
            <p:custDataLst>
              <p:tags r:id="rId83"/>
            </p:custDataLst>
          </p:nvPr>
        </p:nvSpPr>
        <p:spPr bwMode="auto">
          <a:xfrm>
            <a:off x="10504488" y="3109158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Text Placeholder 2">
            <a:extLst>
              <a:ext uri="{FF2B5EF4-FFF2-40B4-BE49-F238E27FC236}">
                <a16:creationId xmlns:a16="http://schemas.microsoft.com/office/drawing/2014/main" id="{EC9DFE46-486E-4A66-F9C3-19D9AF12447E}"/>
              </a:ext>
            </a:extLst>
          </p:cNvPr>
          <p:cNvSpPr>
            <a:spLocks noGrp="1"/>
          </p:cNvSpPr>
          <p:nvPr>
            <p:custDataLst>
              <p:tags r:id="rId84"/>
            </p:custDataLst>
          </p:nvPr>
        </p:nvSpPr>
        <p:spPr bwMode="auto">
          <a:xfrm>
            <a:off x="595313" y="3783846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BE6B4DB0-5FEA-E845-3ABA-C05774703AFD}"/>
              </a:ext>
            </a:extLst>
          </p:cNvPr>
          <p:cNvSpPr>
            <a:spLocks noGrp="1"/>
          </p:cNvSpPr>
          <p:nvPr>
            <p:custDataLst>
              <p:tags r:id="rId85"/>
            </p:custDataLst>
          </p:nvPr>
        </p:nvSpPr>
        <p:spPr bwMode="auto">
          <a:xfrm>
            <a:off x="595313" y="3445708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1" name="Text Placeholder 2">
            <a:extLst>
              <a:ext uri="{FF2B5EF4-FFF2-40B4-BE49-F238E27FC236}">
                <a16:creationId xmlns:a16="http://schemas.microsoft.com/office/drawing/2014/main" id="{0B12857F-A804-32ED-6932-2DEA76F78018}"/>
              </a:ext>
            </a:extLst>
          </p:cNvPr>
          <p:cNvSpPr>
            <a:spLocks noGrp="1"/>
          </p:cNvSpPr>
          <p:nvPr>
            <p:custDataLst>
              <p:tags r:id="rId86"/>
            </p:custDataLst>
          </p:nvPr>
        </p:nvSpPr>
        <p:spPr bwMode="auto">
          <a:xfrm>
            <a:off x="10504488" y="3445708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87"/>
            </p:custDataLst>
          </p:nvPr>
        </p:nvSpPr>
        <p:spPr bwMode="auto">
          <a:xfrm>
            <a:off x="595313" y="5539621"/>
            <a:ext cx="1778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901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1" imgW="425" imgH="424" progId="TCLayout.ActiveDocument.1">
                  <p:embed/>
                </p:oleObj>
              </mc:Choice>
              <mc:Fallback>
                <p:oleObj name="Slide do think-cell" r:id="rId61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00FA7DB-FA08-FFCE-07BB-84C65122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Qualitativo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2A0F6E59-2E78-664E-1FC8-D460FE629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7" name="Seta: Pentágono 6">
            <a:extLst>
              <a:ext uri="{FF2B5EF4-FFF2-40B4-BE49-F238E27FC236}">
                <a16:creationId xmlns:a16="http://schemas.microsoft.com/office/drawing/2014/main" id="{BE989241-36C5-C347-C658-B8345E15991E}"/>
              </a:ext>
            </a:extLst>
          </p:cNvPr>
          <p:cNvSpPr/>
          <p:nvPr/>
        </p:nvSpPr>
        <p:spPr>
          <a:xfrm>
            <a:off x="334962" y="1051038"/>
            <a:ext cx="2592686" cy="438710"/>
          </a:xfrm>
          <a:prstGeom prst="homePlate">
            <a:avLst/>
          </a:prstGeom>
          <a:solidFill>
            <a:srgbClr val="F7F7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 dirty="0">
                <a:solidFill>
                  <a:schemeClr val="tx1"/>
                </a:solidFill>
                <a:latin typeface="Segoe UI"/>
                <a:cs typeface="Segoe UI"/>
              </a:rPr>
              <a:t>Requisitos e Decisões</a:t>
            </a:r>
          </a:p>
        </p:txBody>
      </p:sp>
      <p:sp>
        <p:nvSpPr>
          <p:cNvPr id="8" name="Seta: Divisa 7">
            <a:extLst>
              <a:ext uri="{FF2B5EF4-FFF2-40B4-BE49-F238E27FC236}">
                <a16:creationId xmlns:a16="http://schemas.microsoft.com/office/drawing/2014/main" id="{90C7FE7D-A94D-787A-CB22-8782F6FF0D2D}"/>
              </a:ext>
            </a:extLst>
          </p:cNvPr>
          <p:cNvSpPr/>
          <p:nvPr/>
        </p:nvSpPr>
        <p:spPr>
          <a:xfrm>
            <a:off x="2855642" y="1051038"/>
            <a:ext cx="8975993" cy="438710"/>
          </a:xfrm>
          <a:prstGeom prst="chevron">
            <a:avLst/>
          </a:prstGeom>
          <a:solidFill>
            <a:srgbClr val="0837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Segoe UI"/>
                <a:cs typeface="Segoe UI"/>
              </a:rPr>
              <a:t>Cronograma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5773083-A3CE-8653-C140-EDE5D44D2A1B}"/>
              </a:ext>
            </a:extLst>
          </p:cNvPr>
          <p:cNvSpPr/>
          <p:nvPr/>
        </p:nvSpPr>
        <p:spPr>
          <a:xfrm>
            <a:off x="334962" y="1575416"/>
            <a:ext cx="2405064" cy="4231546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Levantamento das informações e pendências por parte do Time de Operações;</a:t>
            </a:r>
          </a:p>
          <a:p>
            <a:endParaRPr lang="pt-BR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Cumprimento dos prazos acordados junto ao Jurídico;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36C1619F-D5C8-F93D-EC71-D51454AECF3E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8178800" y="1574800"/>
            <a:ext cx="438150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3F08854-AF8A-48B8-B71C-50EC5825AE94}" type="datetime'''''''''''''''''''''''''2''''''''0''''''''2''''''''''''''2'">
              <a:rPr lang="pt-BR" altLang="en-US" sz="1400" b="1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lang="pt-BR" sz="1400" b="1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7CB6F9EF-2973-9383-E7D9-7B525CB70AE1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8616950" y="1574800"/>
            <a:ext cx="1943100" cy="260350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93D0F97-D02E-435B-83A3-DAB5FE9E9D8B}" type="datetime'''''''''20''''''''''''''''''''''''''''''2''''''''''3'">
              <a:rPr lang="pt-BR" altLang="en-US" sz="1400" b="1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2023</a:t>
            </a:fld>
            <a:endParaRPr lang="pt-BR" sz="1400" b="1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F8285E27-E9D6-38FD-D95F-53048E828133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8178800" y="1835150"/>
            <a:ext cx="438150" cy="239713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C442197-754C-4837-B974-9DA59F5810B1}" type="datetime'''''''''''''''''''d''e''''''''''''''''''''''z'''''''''">
              <a:rPr lang="pt-BR" altLang="en-US" sz="1400" b="1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dez</a:t>
            </a:fld>
            <a:endParaRPr lang="pt-BR" sz="1400" b="1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FEE6BF53-274F-EB1D-4EE0-EFDBA12DFF41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8616950" y="1835150"/>
            <a:ext cx="501650" cy="239713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5935979-948F-44DF-B1BD-FBE71BD8D9FE}" type="datetime'''''''''''''''j''a''''''''''''''''''n'''''''''''">
              <a:rPr lang="pt-BR" altLang="en-US" sz="1400" b="1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jan</a:t>
            </a:fld>
            <a:endParaRPr lang="pt-BR" sz="1400" b="1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02F66DA3-18DD-F1A0-B934-07E8EEB8822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9118600" y="1835150"/>
            <a:ext cx="454025" cy="239713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E325461-42DE-430E-BCC3-710A57429F05}" type="datetime'''f''''''''''''''''''''e''''''''''''''v'''''''">
              <a:rPr lang="pt-BR" altLang="en-US" sz="1400" b="1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fev</a:t>
            </a:fld>
            <a:endParaRPr lang="pt-BR" sz="1400" b="1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94D99D0-4E03-919B-3A21-CDB72E72CE16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9572625" y="1835150"/>
            <a:ext cx="501650" cy="239713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944E618-B9B9-4391-ABDD-49CE556FF283}" type="datetime'''''''''''''''''''''''''''m''''''''''''''a''''''''''''r'''''">
              <a:rPr lang="pt-BR" altLang="en-US" sz="1400" b="1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mar</a:t>
            </a:fld>
            <a:endParaRPr lang="pt-BR" sz="1400" b="1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3" name="Espaço Reservado para Texto 2">
            <a:extLst>
              <a:ext uri="{FF2B5EF4-FFF2-40B4-BE49-F238E27FC236}">
                <a16:creationId xmlns:a16="http://schemas.microsoft.com/office/drawing/2014/main" id="{4546FA48-14B4-1DEE-C41F-DF77C9F9A762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10074275" y="1835150"/>
            <a:ext cx="485775" cy="239713"/>
          </a:xfrm>
          <a:prstGeom prst="rect">
            <a:avLst/>
          </a:prstGeom>
          <a:noFill/>
          <a:ln w="9525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23813" rIns="0" bIns="23813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1C5C30E-EBEF-4BC7-9303-0DC2CAC5A428}" type="datetime'''''''''''''''''a''''''b''''''''''''''r'''''''''''''''''''''">
              <a:rPr lang="pt-BR" altLang="en-US" sz="1400" b="1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abr</a:t>
            </a:fld>
            <a:endParaRPr lang="pt-BR" sz="1400" b="1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D73F9655-4C89-22F5-FE58-38CAC3CEFD7C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10560050" y="2074863"/>
            <a:ext cx="0" cy="371475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B9F70041-5CCA-25D4-7F72-49B05B189559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2903538" y="2074863"/>
            <a:ext cx="0" cy="371475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7D2A4963-0D9F-AAB4-DC79-1EC47BE3D887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10074275" y="2074863"/>
            <a:ext cx="0" cy="37147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75F8B252-1AF3-68A9-42FC-FB8A0AB39B9D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11831638" y="2074863"/>
            <a:ext cx="0" cy="371475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B523D49B-97A0-F39D-8BEA-2223DBA08EEE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8616950" y="2074863"/>
            <a:ext cx="0" cy="37147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FA61E66D-C520-DBFA-B35C-1C4FC6B709BC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9118600" y="2074863"/>
            <a:ext cx="0" cy="37147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7A25A774-2F70-F309-B375-F56090C1752B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9572625" y="2074863"/>
            <a:ext cx="0" cy="37147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06E9FA56-9829-DD67-0DED-DBD56DB27286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8178800" y="2074863"/>
            <a:ext cx="0" cy="371475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Conector reto 94">
            <a:extLst>
              <a:ext uri="{FF2B5EF4-FFF2-40B4-BE49-F238E27FC236}">
                <a16:creationId xmlns:a16="http://schemas.microsoft.com/office/drawing/2014/main" id="{7F725306-914A-54EA-8114-B7878F3DDC76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2903538" y="5307013"/>
            <a:ext cx="89281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AFED0504-4392-B51B-85F5-039484208094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2903538" y="5789613"/>
            <a:ext cx="89281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873A282C-739E-8E0B-2127-251DCB11CB0C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2903538" y="2074863"/>
            <a:ext cx="89281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Retângulo 97">
            <a:extLst>
              <a:ext uri="{FF2B5EF4-FFF2-40B4-BE49-F238E27FC236}">
                <a16:creationId xmlns:a16="http://schemas.microsoft.com/office/drawing/2014/main" id="{DE2269B0-B180-4167-FD56-A6F6C9B080CB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8518525" y="2660650"/>
            <a:ext cx="80963" cy="79375"/>
          </a:xfrm>
          <a:prstGeom prst="rect">
            <a:avLst/>
          </a:prstGeom>
          <a:solidFill>
            <a:srgbClr val="000000"/>
          </a:solidFill>
          <a:ln w="1905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Retângulo 98">
            <a:extLst>
              <a:ext uri="{FF2B5EF4-FFF2-40B4-BE49-F238E27FC236}">
                <a16:creationId xmlns:a16="http://schemas.microsoft.com/office/drawing/2014/main" id="{F60FB412-6CFC-2FDB-EACC-FA9B132DB883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8308975" y="2268538"/>
            <a:ext cx="209550" cy="79375"/>
          </a:xfrm>
          <a:prstGeom prst="rect">
            <a:avLst/>
          </a:prstGeom>
          <a:solidFill>
            <a:srgbClr val="000000"/>
          </a:solidFill>
          <a:ln w="1905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Retângulo 99">
            <a:extLst>
              <a:ext uri="{FF2B5EF4-FFF2-40B4-BE49-F238E27FC236}">
                <a16:creationId xmlns:a16="http://schemas.microsoft.com/office/drawing/2014/main" id="{71C7ED8C-01F1-29B1-32FA-0A45CDAFC11B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8745539" y="3446463"/>
            <a:ext cx="49213" cy="79375"/>
          </a:xfrm>
          <a:prstGeom prst="rect">
            <a:avLst/>
          </a:prstGeom>
          <a:solidFill>
            <a:srgbClr val="000000"/>
          </a:solidFill>
          <a:ln w="1905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Retângulo 100">
            <a:extLst>
              <a:ext uri="{FF2B5EF4-FFF2-40B4-BE49-F238E27FC236}">
                <a16:creationId xmlns:a16="http://schemas.microsoft.com/office/drawing/2014/main" id="{6601FB03-96FA-EC59-DEF2-C10C0DA44EFA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8632825" y="3054350"/>
            <a:ext cx="80963" cy="79375"/>
          </a:xfrm>
          <a:prstGeom prst="rect">
            <a:avLst/>
          </a:prstGeom>
          <a:solidFill>
            <a:srgbClr val="000000"/>
          </a:solidFill>
          <a:ln w="1905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Retângulo 103">
            <a:extLst>
              <a:ext uri="{FF2B5EF4-FFF2-40B4-BE49-F238E27FC236}">
                <a16:creationId xmlns:a16="http://schemas.microsoft.com/office/drawing/2014/main" id="{9B176923-E9D8-1FEB-205C-06A7AA3C6202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8794751" y="3840163"/>
            <a:ext cx="1279525" cy="79375"/>
          </a:xfrm>
          <a:prstGeom prst="rect">
            <a:avLst/>
          </a:prstGeom>
          <a:solidFill>
            <a:srgbClr val="9DC3E6"/>
          </a:solidFill>
          <a:ln w="19050" cap="flat" cmpd="sng" algn="ctr">
            <a:solidFill>
              <a:srgbClr val="9DC3E6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Retângulo 104">
            <a:extLst>
              <a:ext uri="{FF2B5EF4-FFF2-40B4-BE49-F238E27FC236}">
                <a16:creationId xmlns:a16="http://schemas.microsoft.com/office/drawing/2014/main" id="{4CB825AA-46E5-02EB-BDCF-0C2B1055ED13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8794751" y="4232275"/>
            <a:ext cx="1279525" cy="79375"/>
          </a:xfrm>
          <a:prstGeom prst="rect">
            <a:avLst/>
          </a:prstGeom>
          <a:solidFill>
            <a:srgbClr val="9DC3E6"/>
          </a:solidFill>
          <a:ln w="19050" cap="flat" cmpd="sng" algn="ctr">
            <a:solidFill>
              <a:srgbClr val="9DC3E6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Retângulo 105">
            <a:extLst>
              <a:ext uri="{FF2B5EF4-FFF2-40B4-BE49-F238E27FC236}">
                <a16:creationId xmlns:a16="http://schemas.microsoft.com/office/drawing/2014/main" id="{7F52EC39-4851-3C32-B531-73E36A27F772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8794751" y="4624388"/>
            <a:ext cx="1279525" cy="79375"/>
          </a:xfrm>
          <a:prstGeom prst="rect">
            <a:avLst/>
          </a:prstGeom>
          <a:solidFill>
            <a:srgbClr val="9DC3E6"/>
          </a:solidFill>
          <a:ln w="19050" cap="flat" cmpd="sng" algn="ctr">
            <a:solidFill>
              <a:srgbClr val="9DC3E6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D031F11C-ED31-85A6-4EB8-6BD01EE7A432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10106026" y="5018088"/>
            <a:ext cx="422275" cy="79375"/>
          </a:xfrm>
          <a:prstGeom prst="rect">
            <a:avLst/>
          </a:prstGeom>
          <a:solidFill>
            <a:srgbClr val="9DC3E6"/>
          </a:solidFill>
          <a:ln w="19050" cap="flat" cmpd="sng" algn="ctr">
            <a:solidFill>
              <a:srgbClr val="9DC3E6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8" name="Seta: para a Direita 107">
            <a:extLst>
              <a:ext uri="{FF2B5EF4-FFF2-40B4-BE49-F238E27FC236}">
                <a16:creationId xmlns:a16="http://schemas.microsoft.com/office/drawing/2014/main" id="{1BE310A0-C8C2-B093-3AC7-983D60C2FE72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10106025" y="5461000"/>
            <a:ext cx="555625" cy="158750"/>
          </a:xfrm>
          <a:prstGeom prst="rightArrow">
            <a:avLst>
              <a:gd name="adj1" fmla="val 50000"/>
              <a:gd name="adj2" fmla="val 40660"/>
            </a:avLst>
          </a:prstGeom>
          <a:solidFill>
            <a:srgbClr val="9DC3E6"/>
          </a:solidFill>
          <a:ln w="19050" cap="flat" cmpd="sng" algn="ctr">
            <a:solidFill>
              <a:srgbClr val="9DC3E6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 useBgFill="1">
        <p:nvSpPr>
          <p:cNvPr id="109" name="Espaço Reservado para Texto 2">
            <a:extLst>
              <a:ext uri="{FF2B5EF4-FFF2-40B4-BE49-F238E27FC236}">
                <a16:creationId xmlns:a16="http://schemas.microsoft.com/office/drawing/2014/main" id="{194DE04D-D9FA-392E-A160-2988072B8C90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9082087" y="3946525"/>
            <a:ext cx="704850" cy="165100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8AC362D2-1DF8-42C0-B847-4D529CFF0E07}" type="datetime'1''''2''''.''1''''''''''''''''''''''''''''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12.1</a:t>
            </a:fld>
            <a:r>
              <a:rPr lang="pt-BR" altLang="en-US" sz="120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 - </a:t>
            </a:r>
            <a:fld id="{EAA787F8-CB6E-44F3-84D0-2E7DD045A485}" type="datetime'''''''''''''3''''''1''''''''''''''.''''''''''''''''''''3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31.3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0" name="Espaço Reservado para Texto 2">
            <a:extLst>
              <a:ext uri="{FF2B5EF4-FFF2-40B4-BE49-F238E27FC236}">
                <a16:creationId xmlns:a16="http://schemas.microsoft.com/office/drawing/2014/main" id="{F5D9A018-FB0E-346F-E41E-06901E792629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auto">
          <a:xfrm>
            <a:off x="2974975" y="3387725"/>
            <a:ext cx="5132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Análise e direcionamento das pendência e </a:t>
            </a:r>
            <a:r>
              <a:rPr lang="pt-BR" altLang="en-US" sz="1400" err="1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infos</a:t>
            </a: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. complementares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1" name="Espaço Reservado para Texto 2">
            <a:extLst>
              <a:ext uri="{FF2B5EF4-FFF2-40B4-BE49-F238E27FC236}">
                <a16:creationId xmlns:a16="http://schemas.microsoft.com/office/drawing/2014/main" id="{988C9194-CDA7-D34E-6414-DFD2EA791E6F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auto">
          <a:xfrm>
            <a:off x="10733087" y="3387725"/>
            <a:ext cx="319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Igor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2" name="Espaço Reservado para Texto 2">
            <a:extLst>
              <a:ext uri="{FF2B5EF4-FFF2-40B4-BE49-F238E27FC236}">
                <a16:creationId xmlns:a16="http://schemas.microsoft.com/office/drawing/2014/main" id="{7D4C681C-D137-007E-4490-98FE323F4A71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auto">
          <a:xfrm>
            <a:off x="10733087" y="2601913"/>
            <a:ext cx="319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Igor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3" name="Espaço Reservado para Texto 2">
            <a:extLst>
              <a:ext uri="{FF2B5EF4-FFF2-40B4-BE49-F238E27FC236}">
                <a16:creationId xmlns:a16="http://schemas.microsoft.com/office/drawing/2014/main" id="{FF49B29E-7B06-5816-D703-78D474E065EE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auto">
          <a:xfrm>
            <a:off x="2974974" y="3781425"/>
            <a:ext cx="4821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Levantamento das informações pendentes e complementares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4" name="Espaço Reservado para Texto 2">
            <a:extLst>
              <a:ext uri="{FF2B5EF4-FFF2-40B4-BE49-F238E27FC236}">
                <a16:creationId xmlns:a16="http://schemas.microsoft.com/office/drawing/2014/main" id="{3B689FFE-06F3-2FEB-1E75-521509DC377B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auto">
          <a:xfrm>
            <a:off x="10733088" y="3781425"/>
            <a:ext cx="8413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Operações</a:t>
            </a:r>
          </a:p>
        </p:txBody>
      </p:sp>
      <p:sp useBgFill="1">
        <p:nvSpPr>
          <p:cNvPr id="115" name="Espaço Reservado para Texto 2">
            <a:extLst>
              <a:ext uri="{FF2B5EF4-FFF2-40B4-BE49-F238E27FC236}">
                <a16:creationId xmlns:a16="http://schemas.microsoft.com/office/drawing/2014/main" id="{F3B7E73C-5CBD-4520-E8CF-8CD0B36A0622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auto">
          <a:xfrm>
            <a:off x="7978775" y="2374900"/>
            <a:ext cx="869950" cy="165100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650AC714-66B9-40A0-A14E-50A03F271C83}" type="datetime'''''''''''1''''''''''''''''''3''''''''''''''''''''''.''12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13.12</a:t>
            </a:fld>
            <a:r>
              <a:rPr lang="pt-BR" altLang="en-US" sz="120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 - </a:t>
            </a:r>
            <a:fld id="{05D6FF95-CF76-45E5-85CC-06049B4647CA}" type="datetime'''''2''''5''''''''''''''.''''''''''''''''''''''''''''''12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25.12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6" name="Espaço Reservado para Texto 2">
            <a:extLst>
              <a:ext uri="{FF2B5EF4-FFF2-40B4-BE49-F238E27FC236}">
                <a16:creationId xmlns:a16="http://schemas.microsoft.com/office/drawing/2014/main" id="{24EFF126-A929-7722-451B-7C521EA1D099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auto">
          <a:xfrm>
            <a:off x="10733087" y="5441950"/>
            <a:ext cx="319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Igor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7" name="Espaço Reservado para Texto 2">
            <a:extLst>
              <a:ext uri="{FF2B5EF4-FFF2-40B4-BE49-F238E27FC236}">
                <a16:creationId xmlns:a16="http://schemas.microsoft.com/office/drawing/2014/main" id="{DD71F072-DDEB-A257-562D-E5DE3E2948B9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auto">
          <a:xfrm>
            <a:off x="10733087" y="4959350"/>
            <a:ext cx="319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Igor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118" name="Espaço Reservado para Texto 2">
            <a:extLst>
              <a:ext uri="{FF2B5EF4-FFF2-40B4-BE49-F238E27FC236}">
                <a16:creationId xmlns:a16="http://schemas.microsoft.com/office/drawing/2014/main" id="{A4C2B33E-1BBD-7F74-24A0-313231B86A55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9082087" y="4338638"/>
            <a:ext cx="704850" cy="165100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F721E7FA-B126-492C-9D83-F2E639100CBE}" type="datetime'''''''''1''''2''''''''''''''''.''''''''1''''''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12.1</a:t>
            </a:fld>
            <a:r>
              <a:rPr lang="pt-BR" altLang="en-US" sz="120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 - </a:t>
            </a:r>
            <a:fld id="{D38D8F50-EB3C-4187-9789-DC90F261EEC7}" type="datetime'3''''''''''''1''''''.''''''''''3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31.3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9" name="Espaço Reservado para Texto 2">
            <a:extLst>
              <a:ext uri="{FF2B5EF4-FFF2-40B4-BE49-F238E27FC236}">
                <a16:creationId xmlns:a16="http://schemas.microsoft.com/office/drawing/2014/main" id="{FF6489FF-D1CC-0BBA-5423-96445D8F2426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auto">
          <a:xfrm>
            <a:off x="2974975" y="1838325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b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081B993E-BF20-4224-97AE-A44F9AF49919}" type="datetime'''''''''''''''A''''''t''''i''''''v''''''''''i''da''''''d''e'''">
              <a:rPr lang="pt-BR" altLang="en-US" sz="1400" b="1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Atividade</a:t>
            </a:fld>
            <a:endParaRPr lang="pt-BR" sz="1400" b="1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20" name="Espaço Reservado para Texto 2">
            <a:extLst>
              <a:ext uri="{FF2B5EF4-FFF2-40B4-BE49-F238E27FC236}">
                <a16:creationId xmlns:a16="http://schemas.microsoft.com/office/drawing/2014/main" id="{D2130014-CE09-8069-530C-211AD7167A05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auto">
          <a:xfrm>
            <a:off x="10733087" y="4173538"/>
            <a:ext cx="319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Igor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21" name="Espaço Reservado para Texto 2">
            <a:extLst>
              <a:ext uri="{FF2B5EF4-FFF2-40B4-BE49-F238E27FC236}">
                <a16:creationId xmlns:a16="http://schemas.microsoft.com/office/drawing/2014/main" id="{106A4FD5-FE8F-678F-1CC9-D8F5C47DE66E}"/>
              </a:ext>
            </a:extLst>
          </p:cNvPr>
          <p:cNvSpPr>
            <a:spLocks noGrp="1"/>
          </p:cNvSpPr>
          <p:nvPr>
            <p:custDataLst>
              <p:tags r:id="rId42"/>
            </p:custDataLst>
          </p:nvPr>
        </p:nvSpPr>
        <p:spPr bwMode="auto">
          <a:xfrm>
            <a:off x="2974974" y="2209800"/>
            <a:ext cx="44338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Levantamento de informações já recebidas e pendências</a:t>
            </a:r>
          </a:p>
        </p:txBody>
      </p:sp>
      <p:sp useBgFill="1">
        <p:nvSpPr>
          <p:cNvPr id="122" name="Espaço Reservado para Texto 2">
            <a:extLst>
              <a:ext uri="{FF2B5EF4-FFF2-40B4-BE49-F238E27FC236}">
                <a16:creationId xmlns:a16="http://schemas.microsoft.com/office/drawing/2014/main" id="{EED77151-0F96-9F43-C18D-520B75D41C54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auto">
          <a:xfrm>
            <a:off x="9975849" y="5607050"/>
            <a:ext cx="704850" cy="165100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DFD7A3AD-3273-4ACB-8215-8BE79A37AA68}" type="datetime'''''''''''''''''''3''''''''''''''''''''''.''''''4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3.4</a:t>
            </a:fld>
            <a:r>
              <a:rPr lang="pt-BR" altLang="en-US" sz="120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 - </a:t>
            </a:r>
            <a:fld id="{4DE9F63F-902C-49A0-B61C-D51B19879404}" type="datetime'''3''''''''1.''''''1''''''''''''''2''''''''''''''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31.12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23" name="Espaço Reservado para Texto 2">
            <a:extLst>
              <a:ext uri="{FF2B5EF4-FFF2-40B4-BE49-F238E27FC236}">
                <a16:creationId xmlns:a16="http://schemas.microsoft.com/office/drawing/2014/main" id="{FF69DD51-6CFC-E4CD-7544-245117B6C3B7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auto">
          <a:xfrm>
            <a:off x="10733087" y="2209800"/>
            <a:ext cx="319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Igor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24" name="Espaço Reservado para Texto 2">
            <a:extLst>
              <a:ext uri="{FF2B5EF4-FFF2-40B4-BE49-F238E27FC236}">
                <a16:creationId xmlns:a16="http://schemas.microsoft.com/office/drawing/2014/main" id="{B874FFF9-C242-908F-F2F9-F7B970B0A636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2974974" y="5441950"/>
            <a:ext cx="14478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Acompanhamento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25" name="Espaço Reservado para Texto 2">
            <a:extLst>
              <a:ext uri="{FF2B5EF4-FFF2-40B4-BE49-F238E27FC236}">
                <a16:creationId xmlns:a16="http://schemas.microsoft.com/office/drawing/2014/main" id="{42DBC8E4-74B5-8432-6311-A6DF37D24C19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auto">
          <a:xfrm>
            <a:off x="10733087" y="4565650"/>
            <a:ext cx="319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Igor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26" name="Espaço Reservado para Texto 2">
            <a:extLst>
              <a:ext uri="{FF2B5EF4-FFF2-40B4-BE49-F238E27FC236}">
                <a16:creationId xmlns:a16="http://schemas.microsoft.com/office/drawing/2014/main" id="{D7FCBDBA-7A4F-9875-96EE-291A060EB665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auto">
          <a:xfrm>
            <a:off x="10733088" y="1838325"/>
            <a:ext cx="1027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b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704F7A08-2545-4B54-942E-CDC4F59C7578}" type="datetime'''''R''e''''''''''''s''p''''''''''onsá''''v''''''e''''''''''l'">
              <a:rPr lang="pt-BR" altLang="en-US" sz="1400" b="1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Responsável</a:t>
            </a:fld>
            <a:endParaRPr lang="pt-BR" sz="1400" b="1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127" name="Espaço Reservado para Texto 2">
            <a:extLst>
              <a:ext uri="{FF2B5EF4-FFF2-40B4-BE49-F238E27FC236}">
                <a16:creationId xmlns:a16="http://schemas.microsoft.com/office/drawing/2014/main" id="{C458609E-3D07-EF75-ABB8-E18B41B0732E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auto">
          <a:xfrm>
            <a:off x="10006012" y="5124450"/>
            <a:ext cx="622300" cy="165100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460AF584-03C1-4874-A35D-CFA050C9C25B}" type="datetime'''''''''''''3''''''''''''''''''''''.''4''''''''''''''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3.4</a:t>
            </a:fld>
            <a:r>
              <a:rPr lang="pt-BR" altLang="en-US" sz="120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 - </a:t>
            </a:r>
            <a:fld id="{6A3F0BAF-DD1F-4EB7-AFCF-EFF4CEE2135C}" type="datetime'''''2''''''''''''''''8''.''''''''''''''''''''''''4''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28.4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28" name="Espaço Reservado para Texto 2">
            <a:extLst>
              <a:ext uri="{FF2B5EF4-FFF2-40B4-BE49-F238E27FC236}">
                <a16:creationId xmlns:a16="http://schemas.microsoft.com/office/drawing/2014/main" id="{70FFA26A-92FF-2FB8-EC98-5D4F438FFD88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auto">
          <a:xfrm>
            <a:off x="2974975" y="4173538"/>
            <a:ext cx="39687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Levantamento do potencial e prognóstico do valor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29" name="Espaço Reservado para Texto 2">
            <a:extLst>
              <a:ext uri="{FF2B5EF4-FFF2-40B4-BE49-F238E27FC236}">
                <a16:creationId xmlns:a16="http://schemas.microsoft.com/office/drawing/2014/main" id="{AA3AF977-0780-3039-7DFF-901EA98855ED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10733088" y="2995613"/>
            <a:ext cx="8413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Operações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30" name="Espaço Reservado para Texto 2">
            <a:extLst>
              <a:ext uri="{FF2B5EF4-FFF2-40B4-BE49-F238E27FC236}">
                <a16:creationId xmlns:a16="http://schemas.microsoft.com/office/drawing/2014/main" id="{A80B8D91-5726-4B9F-FA2D-4B3EF72F1270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auto">
          <a:xfrm>
            <a:off x="2974975" y="4565650"/>
            <a:ext cx="31099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Análise jurídica do prognóstico de êxito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131" name="Espaço Reservado para Texto 2">
            <a:extLst>
              <a:ext uri="{FF2B5EF4-FFF2-40B4-BE49-F238E27FC236}">
                <a16:creationId xmlns:a16="http://schemas.microsoft.com/office/drawing/2014/main" id="{0B971C5F-6879-76EA-E607-D3849F8130FA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auto">
          <a:xfrm>
            <a:off x="8123238" y="2767013"/>
            <a:ext cx="869950" cy="165100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F5D72E5D-F1C1-475F-BADA-77CD9C5D3B2A}" type="datetime'''''''2''''''6.''''''''''1''''''''''''''2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26.12</a:t>
            </a:fld>
            <a:r>
              <a:rPr lang="pt-BR" altLang="en-US" sz="120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 - </a:t>
            </a:r>
            <a:fld id="{514B3669-203A-4C3B-8DA8-5FDE38EE3B9D}" type="datetime'''''''''''''''''''''''''''''3''''''''0''.1''''2''''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30.12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32" name="Espaço Reservado para Texto 2">
            <a:extLst>
              <a:ext uri="{FF2B5EF4-FFF2-40B4-BE49-F238E27FC236}">
                <a16:creationId xmlns:a16="http://schemas.microsoft.com/office/drawing/2014/main" id="{166BE983-1F41-B981-8B77-13FB5770C684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auto">
          <a:xfrm>
            <a:off x="2974975" y="2601913"/>
            <a:ext cx="4700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Direcionamento das pendências ao patrocinador para apoio</a:t>
            </a:r>
          </a:p>
        </p:txBody>
      </p:sp>
      <p:sp useBgFill="1">
        <p:nvSpPr>
          <p:cNvPr id="133" name="Espaço Reservado para Texto 2">
            <a:extLst>
              <a:ext uri="{FF2B5EF4-FFF2-40B4-BE49-F238E27FC236}">
                <a16:creationId xmlns:a16="http://schemas.microsoft.com/office/drawing/2014/main" id="{13810338-A0D6-1C07-FB54-4EF421F6982E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auto">
          <a:xfrm>
            <a:off x="8402638" y="3160713"/>
            <a:ext cx="539750" cy="165100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3CCF78FF-6F24-4E99-B963-D607A111B499}" type="datetime'''2''''.''''''''''''''''1''''''''''''''''''''''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2.1</a:t>
            </a:fld>
            <a:r>
              <a:rPr lang="pt-BR" altLang="en-US" sz="120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 - </a:t>
            </a:r>
            <a:fld id="{801C14A6-11CB-4CC9-BD51-862E63BC2818}" type="datetime'''''6''''''''''''''''''''''''.''''1''''''''''''''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6.1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34" name="Espaço Reservado para Texto 2">
            <a:extLst>
              <a:ext uri="{FF2B5EF4-FFF2-40B4-BE49-F238E27FC236}">
                <a16:creationId xmlns:a16="http://schemas.microsoft.com/office/drawing/2014/main" id="{E608116F-D7B9-05A5-1B7D-D11F5CEEE16A}"/>
              </a:ext>
            </a:extLst>
          </p:cNvPr>
          <p:cNvSpPr>
            <a:spLocks noGrp="1"/>
          </p:cNvSpPr>
          <p:nvPr>
            <p:custDataLst>
              <p:tags r:id="rId55"/>
            </p:custDataLst>
          </p:nvPr>
        </p:nvSpPr>
        <p:spPr bwMode="auto">
          <a:xfrm>
            <a:off x="2974975" y="2995613"/>
            <a:ext cx="41783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Levantamento e devolutiva das extensões contratuais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135" name="Espaço Reservado para Texto 2">
            <a:extLst>
              <a:ext uri="{FF2B5EF4-FFF2-40B4-BE49-F238E27FC236}">
                <a16:creationId xmlns:a16="http://schemas.microsoft.com/office/drawing/2014/main" id="{4BB40E3B-520C-90FE-1704-2BB8AA137088}"/>
              </a:ext>
            </a:extLst>
          </p:cNvPr>
          <p:cNvSpPr>
            <a:spLocks noGrp="1"/>
          </p:cNvSpPr>
          <p:nvPr>
            <p:custDataLst>
              <p:tags r:id="rId56"/>
            </p:custDataLst>
          </p:nvPr>
        </p:nvSpPr>
        <p:spPr bwMode="auto">
          <a:xfrm>
            <a:off x="9082087" y="4730750"/>
            <a:ext cx="704850" cy="165100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BFD7AB7F-DA30-4CC8-8C5A-3E95D56E2C82}" type="datetime'1''''''''''''''''''''''2''.''''''''1''''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12.1</a:t>
            </a:fld>
            <a:r>
              <a:rPr lang="pt-BR" altLang="en-US" sz="120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 - </a:t>
            </a:r>
            <a:fld id="{44929462-CB0D-4CD2-A5FC-1B5BE65FD7B2}" type="datetime'''''''''''''''''3''''1.''''''''''''''''''''''''''''3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31.3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136" name="Espaço Reservado para Texto 2">
            <a:extLst>
              <a:ext uri="{FF2B5EF4-FFF2-40B4-BE49-F238E27FC236}">
                <a16:creationId xmlns:a16="http://schemas.microsoft.com/office/drawing/2014/main" id="{28FA3557-A1D4-694E-2ED0-88B7C904A788}"/>
              </a:ext>
            </a:extLst>
          </p:cNvPr>
          <p:cNvSpPr>
            <a:spLocks noGrp="1"/>
          </p:cNvSpPr>
          <p:nvPr>
            <p:custDataLst>
              <p:tags r:id="rId57"/>
            </p:custDataLst>
          </p:nvPr>
        </p:nvSpPr>
        <p:spPr bwMode="auto">
          <a:xfrm>
            <a:off x="8458199" y="3552825"/>
            <a:ext cx="622300" cy="165100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D4484F7C-4BC9-4210-ABED-907A9EDAF758}" type="datetime'''''''''9''''''''''''''''''''''.''1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9.1</a:t>
            </a:fld>
            <a:r>
              <a:rPr lang="pt-BR" altLang="en-US" sz="120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 - </a:t>
            </a:r>
            <a:fld id="{A220BA34-CCF4-4E83-92BB-A2DB514C4FA0}" type="datetime'''''''''''''''''''''1''''''''1.1'''''''''">
              <a:rPr lang="pt-BR" altLang="en-US" sz="12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11.1</a:t>
            </a:fld>
            <a:endParaRPr lang="pt-BR" sz="12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37" name="Espaço Reservado para Texto 2">
            <a:extLst>
              <a:ext uri="{FF2B5EF4-FFF2-40B4-BE49-F238E27FC236}">
                <a16:creationId xmlns:a16="http://schemas.microsoft.com/office/drawing/2014/main" id="{DE3030D3-CC8F-FAE5-44C7-4395C957D40F}"/>
              </a:ext>
            </a:extLst>
          </p:cNvPr>
          <p:cNvSpPr>
            <a:spLocks noGrp="1"/>
          </p:cNvSpPr>
          <p:nvPr>
            <p:custDataLst>
              <p:tags r:id="rId58"/>
            </p:custDataLst>
          </p:nvPr>
        </p:nvSpPr>
        <p:spPr bwMode="auto">
          <a:xfrm>
            <a:off x="2974975" y="4959350"/>
            <a:ext cx="21240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Elaboração da ação judicial</a:t>
            </a:r>
          </a:p>
        </p:txBody>
      </p:sp>
      <p:grpSp>
        <p:nvGrpSpPr>
          <p:cNvPr id="138" name="Agrupar 137">
            <a:extLst>
              <a:ext uri="{FF2B5EF4-FFF2-40B4-BE49-F238E27FC236}">
                <a16:creationId xmlns:a16="http://schemas.microsoft.com/office/drawing/2014/main" id="{321BDE49-45F1-A2C3-BE3A-E4828A4F23C6}"/>
              </a:ext>
            </a:extLst>
          </p:cNvPr>
          <p:cNvGrpSpPr/>
          <p:nvPr/>
        </p:nvGrpSpPr>
        <p:grpSpPr>
          <a:xfrm>
            <a:off x="9513101" y="5941889"/>
            <a:ext cx="2335195" cy="419345"/>
            <a:chOff x="6510362" y="6517940"/>
            <a:chExt cx="2033910" cy="419345"/>
          </a:xfrm>
        </p:grpSpPr>
        <p:grpSp>
          <p:nvGrpSpPr>
            <p:cNvPr id="139" name="Agrupar 138">
              <a:extLst>
                <a:ext uri="{FF2B5EF4-FFF2-40B4-BE49-F238E27FC236}">
                  <a16:creationId xmlns:a16="http://schemas.microsoft.com/office/drawing/2014/main" id="{0A78F421-EFC7-90F0-7BEB-A7E9825D8905}"/>
                </a:ext>
              </a:extLst>
            </p:cNvPr>
            <p:cNvGrpSpPr/>
            <p:nvPr/>
          </p:nvGrpSpPr>
          <p:grpSpPr>
            <a:xfrm>
              <a:off x="6510362" y="6517940"/>
              <a:ext cx="953790" cy="415498"/>
              <a:chOff x="2639616" y="6517940"/>
              <a:chExt cx="953790" cy="415498"/>
            </a:xfrm>
          </p:grpSpPr>
          <p:sp>
            <p:nvSpPr>
              <p:cNvPr id="143" name="Retângulo 142">
                <a:extLst>
                  <a:ext uri="{FF2B5EF4-FFF2-40B4-BE49-F238E27FC236}">
                    <a16:creationId xmlns:a16="http://schemas.microsoft.com/office/drawing/2014/main" id="{D718F1D0-EEA4-9D42-9812-42CE0A0739D0}"/>
                  </a:ext>
                </a:extLst>
              </p:cNvPr>
              <p:cNvSpPr/>
              <p:nvPr/>
            </p:nvSpPr>
            <p:spPr>
              <a:xfrm>
                <a:off x="2639616" y="6578580"/>
                <a:ext cx="233710" cy="162788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4" name="CaixaDeTexto 143">
                <a:extLst>
                  <a:ext uri="{FF2B5EF4-FFF2-40B4-BE49-F238E27FC236}">
                    <a16:creationId xmlns:a16="http://schemas.microsoft.com/office/drawing/2014/main" id="{1DF8C15B-F9E1-4E8A-CF29-FF363BD5A2FE}"/>
                  </a:ext>
                </a:extLst>
              </p:cNvPr>
              <p:cNvSpPr txBox="1"/>
              <p:nvPr/>
            </p:nvSpPr>
            <p:spPr>
              <a:xfrm>
                <a:off x="2860670" y="6517940"/>
                <a:ext cx="73273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Realizado</a:t>
                </a:r>
              </a:p>
            </p:txBody>
          </p:sp>
        </p:grpSp>
        <p:grpSp>
          <p:nvGrpSpPr>
            <p:cNvPr id="140" name="Agrupar 139">
              <a:extLst>
                <a:ext uri="{FF2B5EF4-FFF2-40B4-BE49-F238E27FC236}">
                  <a16:creationId xmlns:a16="http://schemas.microsoft.com/office/drawing/2014/main" id="{EF6032F1-4561-86C1-A02C-0A6A62D0987C}"/>
                </a:ext>
              </a:extLst>
            </p:cNvPr>
            <p:cNvGrpSpPr/>
            <p:nvPr/>
          </p:nvGrpSpPr>
          <p:grpSpPr>
            <a:xfrm>
              <a:off x="7590482" y="6521787"/>
              <a:ext cx="953790" cy="415498"/>
              <a:chOff x="3719736" y="6521787"/>
              <a:chExt cx="953790" cy="415498"/>
            </a:xfrm>
          </p:grpSpPr>
          <p:sp>
            <p:nvSpPr>
              <p:cNvPr id="141" name="Retângulo 140">
                <a:extLst>
                  <a:ext uri="{FF2B5EF4-FFF2-40B4-BE49-F238E27FC236}">
                    <a16:creationId xmlns:a16="http://schemas.microsoft.com/office/drawing/2014/main" id="{0A6C02C0-2125-7800-1A69-A35F350B12E6}"/>
                  </a:ext>
                </a:extLst>
              </p:cNvPr>
              <p:cNvSpPr/>
              <p:nvPr/>
            </p:nvSpPr>
            <p:spPr>
              <a:xfrm>
                <a:off x="3719736" y="6578580"/>
                <a:ext cx="233710" cy="162788"/>
              </a:xfrm>
              <a:prstGeom prst="rect">
                <a:avLst/>
              </a:prstGeom>
              <a:solidFill>
                <a:srgbClr val="9DC3E6"/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2" name="CaixaDeTexto 141">
                <a:extLst>
                  <a:ext uri="{FF2B5EF4-FFF2-40B4-BE49-F238E27FC236}">
                    <a16:creationId xmlns:a16="http://schemas.microsoft.com/office/drawing/2014/main" id="{5EC99BDB-945C-5F2F-ECE7-B7BD3B47CBE7}"/>
                  </a:ext>
                </a:extLst>
              </p:cNvPr>
              <p:cNvSpPr txBox="1"/>
              <p:nvPr/>
            </p:nvSpPr>
            <p:spPr>
              <a:xfrm>
                <a:off x="3940790" y="6521787"/>
                <a:ext cx="73273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Planejado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789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425" imgH="424" progId="TCLayout.ActiveDocument.1">
                  <p:embed/>
                </p:oleObj>
              </mc:Choice>
              <mc:Fallback>
                <p:oleObj name="Slide do think-cell" r:id="rId5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00FA7DB-FA08-FFCE-07BB-84C65122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Qualitativo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2A0F6E59-2E78-664E-1FC8-D460FE629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584AB5B2-11F6-3217-586B-D69CDC0265B5}"/>
              </a:ext>
            </a:extLst>
          </p:cNvPr>
          <p:cNvSpPr/>
          <p:nvPr/>
        </p:nvSpPr>
        <p:spPr>
          <a:xfrm>
            <a:off x="682567" y="4174209"/>
            <a:ext cx="11225505" cy="94827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CEA0FFA-FC2B-9F6B-B00B-BA80FE4EABFC}"/>
              </a:ext>
            </a:extLst>
          </p:cNvPr>
          <p:cNvSpPr/>
          <p:nvPr/>
        </p:nvSpPr>
        <p:spPr>
          <a:xfrm>
            <a:off x="683928" y="2127384"/>
            <a:ext cx="11225505" cy="94827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FFB433A7-1BEA-0676-9844-47D5C996AD65}"/>
              </a:ext>
            </a:extLst>
          </p:cNvPr>
          <p:cNvSpPr/>
          <p:nvPr/>
        </p:nvSpPr>
        <p:spPr>
          <a:xfrm>
            <a:off x="682567" y="3155440"/>
            <a:ext cx="11225505" cy="94827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B2B205-22CE-E0DF-0D13-5C26E3EC7E4A}"/>
              </a:ext>
            </a:extLst>
          </p:cNvPr>
          <p:cNvSpPr/>
          <p:nvPr/>
        </p:nvSpPr>
        <p:spPr>
          <a:xfrm>
            <a:off x="682567" y="1117902"/>
            <a:ext cx="11225505" cy="94827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‘</a:t>
            </a: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D8D1991B-9C0E-3411-F8F5-073BBD58FDE7}"/>
              </a:ext>
            </a:extLst>
          </p:cNvPr>
          <p:cNvSpPr/>
          <p:nvPr/>
        </p:nvSpPr>
        <p:spPr>
          <a:xfrm>
            <a:off x="682567" y="5223727"/>
            <a:ext cx="11225505" cy="94827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04D32CA4-7E1B-3DD4-8BF2-7359337DFC96}"/>
              </a:ext>
            </a:extLst>
          </p:cNvPr>
          <p:cNvSpPr/>
          <p:nvPr/>
        </p:nvSpPr>
        <p:spPr>
          <a:xfrm>
            <a:off x="314794" y="4174209"/>
            <a:ext cx="367773" cy="948270"/>
          </a:xfrm>
          <a:prstGeom prst="rect">
            <a:avLst/>
          </a:prstGeom>
          <a:solidFill>
            <a:srgbClr val="59AA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Process 22">
            <a:extLst>
              <a:ext uri="{FF2B5EF4-FFF2-40B4-BE49-F238E27FC236}">
                <a16:creationId xmlns:a16="http://schemas.microsoft.com/office/drawing/2014/main" id="{C726F6A3-87D2-D049-7657-44DE9A81AFDF}"/>
              </a:ext>
            </a:extLst>
          </p:cNvPr>
          <p:cNvSpPr/>
          <p:nvPr/>
        </p:nvSpPr>
        <p:spPr>
          <a:xfrm>
            <a:off x="5762528" y="4344058"/>
            <a:ext cx="1307812" cy="626854"/>
          </a:xfrm>
          <a:prstGeom prst="flowChartProcess">
            <a:avLst/>
          </a:prstGeom>
          <a:solidFill>
            <a:srgbClr val="59AA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28355369-4FBB-D9E7-7794-59533B50CF9F}"/>
              </a:ext>
            </a:extLst>
          </p:cNvPr>
          <p:cNvSpPr txBox="1">
            <a:spLocks/>
          </p:cNvSpPr>
          <p:nvPr/>
        </p:nvSpPr>
        <p:spPr>
          <a:xfrm rot="16200000">
            <a:off x="114284" y="4548316"/>
            <a:ext cx="768801" cy="2000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Lato Light" panose="020F0502020204030203" pitchFamily="34" charset="0"/>
                <a:cs typeface="Segoe UI" panose="020B0502040204020203" pitchFamily="34" charset="0"/>
              </a:rPr>
              <a:t>DIRETORIA</a:t>
            </a:r>
          </a:p>
        </p:txBody>
      </p:sp>
      <p:sp>
        <p:nvSpPr>
          <p:cNvPr id="22" name="TextBox 70">
            <a:extLst>
              <a:ext uri="{FF2B5EF4-FFF2-40B4-BE49-F238E27FC236}">
                <a16:creationId xmlns:a16="http://schemas.microsoft.com/office/drawing/2014/main" id="{800B5907-DC05-89A9-351D-A25266168AB3}"/>
              </a:ext>
            </a:extLst>
          </p:cNvPr>
          <p:cNvSpPr txBox="1"/>
          <p:nvPr/>
        </p:nvSpPr>
        <p:spPr>
          <a:xfrm>
            <a:off x="5888968" y="4432901"/>
            <a:ext cx="1097852" cy="43088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>
                <a:solidFill>
                  <a:prstClr val="white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Avaliação da defesa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ABADBFC0-F510-9DA9-5B07-5408312D8201}"/>
              </a:ext>
            </a:extLst>
          </p:cNvPr>
          <p:cNvSpPr/>
          <p:nvPr/>
        </p:nvSpPr>
        <p:spPr>
          <a:xfrm>
            <a:off x="314794" y="2136672"/>
            <a:ext cx="367773" cy="94827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F7803085-B70D-7F3B-ED82-215926D94C0A}"/>
              </a:ext>
            </a:extLst>
          </p:cNvPr>
          <p:cNvSpPr txBox="1">
            <a:spLocks/>
          </p:cNvSpPr>
          <p:nvPr/>
        </p:nvSpPr>
        <p:spPr>
          <a:xfrm rot="16200000">
            <a:off x="119090" y="2510779"/>
            <a:ext cx="759182" cy="2000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Lato Light" panose="020F0502020204030203" pitchFamily="34" charset="0"/>
                <a:cs typeface="Segoe UI" panose="020B0502040204020203" pitchFamily="34" charset="0"/>
              </a:rPr>
              <a:t>FINANÇAS</a:t>
            </a: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FEB5B407-8C9B-5AD3-A48D-452204AD1E91}"/>
              </a:ext>
            </a:extLst>
          </p:cNvPr>
          <p:cNvSpPr/>
          <p:nvPr/>
        </p:nvSpPr>
        <p:spPr>
          <a:xfrm>
            <a:off x="314794" y="3155440"/>
            <a:ext cx="367773" cy="948270"/>
          </a:xfrm>
          <a:prstGeom prst="rect">
            <a:avLst/>
          </a:prstGeom>
          <a:solidFill>
            <a:srgbClr val="C8E3F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441C3B92-3DA4-F2B0-92BC-0C18FF230799}"/>
              </a:ext>
            </a:extLst>
          </p:cNvPr>
          <p:cNvSpPr txBox="1">
            <a:spLocks/>
          </p:cNvSpPr>
          <p:nvPr/>
        </p:nvSpPr>
        <p:spPr>
          <a:xfrm rot="16200000">
            <a:off x="-1130" y="3529547"/>
            <a:ext cx="999633" cy="2000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Lato Light" panose="020F0502020204030203" pitchFamily="34" charset="0"/>
                <a:cs typeface="Segoe UI" panose="020B0502040204020203" pitchFamily="34" charset="0"/>
              </a:rPr>
              <a:t>SUPRIMENTOS</a:t>
            </a:r>
          </a:p>
        </p:txBody>
      </p:sp>
      <p:sp>
        <p:nvSpPr>
          <p:cNvPr id="28" name="TextBox 74">
            <a:extLst>
              <a:ext uri="{FF2B5EF4-FFF2-40B4-BE49-F238E27FC236}">
                <a16:creationId xmlns:a16="http://schemas.microsoft.com/office/drawing/2014/main" id="{8181A05F-70B2-037B-22A0-756BDBF73A32}"/>
              </a:ext>
            </a:extLst>
          </p:cNvPr>
          <p:cNvSpPr txBox="1"/>
          <p:nvPr/>
        </p:nvSpPr>
        <p:spPr>
          <a:xfrm>
            <a:off x="2725066" y="3498771"/>
            <a:ext cx="736828" cy="2616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OK?</a:t>
            </a: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DA1BDD10-9CE7-03DF-2E20-E0597BCC4A28}"/>
              </a:ext>
            </a:extLst>
          </p:cNvPr>
          <p:cNvSpPr/>
          <p:nvPr/>
        </p:nvSpPr>
        <p:spPr>
          <a:xfrm>
            <a:off x="314794" y="1117902"/>
            <a:ext cx="367773" cy="948270"/>
          </a:xfrm>
          <a:prstGeom prst="rect">
            <a:avLst/>
          </a:prstGeom>
          <a:solidFill>
            <a:srgbClr val="0F6FC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rminator 17">
            <a:extLst>
              <a:ext uri="{FF2B5EF4-FFF2-40B4-BE49-F238E27FC236}">
                <a16:creationId xmlns:a16="http://schemas.microsoft.com/office/drawing/2014/main" id="{FAA47901-AC68-473A-CFD7-F0FBF9803C69}"/>
              </a:ext>
            </a:extLst>
          </p:cNvPr>
          <p:cNvSpPr/>
          <p:nvPr/>
        </p:nvSpPr>
        <p:spPr>
          <a:xfrm>
            <a:off x="846274" y="1278610"/>
            <a:ext cx="1307812" cy="626854"/>
          </a:xfrm>
          <a:prstGeom prst="flowChartTerminator">
            <a:avLst/>
          </a:prstGeom>
          <a:solidFill>
            <a:srgbClr val="0F6FC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A111BD0E-6DFC-E53B-32D1-0C23F4319EF6}"/>
              </a:ext>
            </a:extLst>
          </p:cNvPr>
          <p:cNvSpPr txBox="1">
            <a:spLocks/>
          </p:cNvSpPr>
          <p:nvPr/>
        </p:nvSpPr>
        <p:spPr>
          <a:xfrm rot="16200000">
            <a:off x="64590" y="1415065"/>
            <a:ext cx="868186" cy="3539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Lato Light" panose="020F0502020204030203" pitchFamily="34" charset="0"/>
                <a:cs typeface="Segoe UI" panose="020B0502040204020203" pitchFamily="34" charset="0"/>
              </a:rPr>
              <a:t>DOCAGEM</a:t>
            </a:r>
          </a:p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Lato Light" panose="020F0502020204030203" pitchFamily="34" charset="0"/>
                <a:cs typeface="Segoe UI" panose="020B0502040204020203" pitchFamily="34" charset="0"/>
              </a:rPr>
              <a:t>CONVERSÃO</a:t>
            </a:r>
          </a:p>
        </p:txBody>
      </p:sp>
      <p:sp>
        <p:nvSpPr>
          <p:cNvPr id="32" name="TextBox 63">
            <a:extLst>
              <a:ext uri="{FF2B5EF4-FFF2-40B4-BE49-F238E27FC236}">
                <a16:creationId xmlns:a16="http://schemas.microsoft.com/office/drawing/2014/main" id="{D55A57E2-E27E-467E-2EC0-FF45AFB1B18D}"/>
              </a:ext>
            </a:extLst>
          </p:cNvPr>
          <p:cNvSpPr txBox="1"/>
          <p:nvPr/>
        </p:nvSpPr>
        <p:spPr>
          <a:xfrm>
            <a:off x="951253" y="1291955"/>
            <a:ext cx="1097852" cy="6001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>
                <a:solidFill>
                  <a:prstClr val="white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Verificação de contrato existente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E7D0FDF4-11CC-C643-BDA3-B2A5FB03EEE4}"/>
              </a:ext>
            </a:extLst>
          </p:cNvPr>
          <p:cNvSpPr/>
          <p:nvPr/>
        </p:nvSpPr>
        <p:spPr>
          <a:xfrm>
            <a:off x="314793" y="5195218"/>
            <a:ext cx="367773" cy="948270"/>
          </a:xfrm>
          <a:prstGeom prst="rect">
            <a:avLst/>
          </a:prstGeom>
          <a:solidFill>
            <a:srgbClr val="0837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41EBBCB0-4550-46A6-B462-351330270CA1}"/>
              </a:ext>
            </a:extLst>
          </p:cNvPr>
          <p:cNvSpPr txBox="1">
            <a:spLocks/>
          </p:cNvSpPr>
          <p:nvPr/>
        </p:nvSpPr>
        <p:spPr>
          <a:xfrm rot="16200000">
            <a:off x="299828" y="5547137"/>
            <a:ext cx="392095" cy="2000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Lato Light" panose="020F050202020403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35" name="TextBox 65">
            <a:extLst>
              <a:ext uri="{FF2B5EF4-FFF2-40B4-BE49-F238E27FC236}">
                <a16:creationId xmlns:a16="http://schemas.microsoft.com/office/drawing/2014/main" id="{28F6199C-2A39-31DB-4F1C-8A057E2BB229}"/>
              </a:ext>
            </a:extLst>
          </p:cNvPr>
          <p:cNvSpPr txBox="1"/>
          <p:nvPr/>
        </p:nvSpPr>
        <p:spPr>
          <a:xfrm>
            <a:off x="4374092" y="1460079"/>
            <a:ext cx="1097852" cy="2616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36" name="Process 14">
            <a:extLst>
              <a:ext uri="{FF2B5EF4-FFF2-40B4-BE49-F238E27FC236}">
                <a16:creationId xmlns:a16="http://schemas.microsoft.com/office/drawing/2014/main" id="{1FFD9EC2-54FE-AC26-A93E-0941696FF0BF}"/>
              </a:ext>
            </a:extLst>
          </p:cNvPr>
          <p:cNvSpPr/>
          <p:nvPr/>
        </p:nvSpPr>
        <p:spPr>
          <a:xfrm>
            <a:off x="2449536" y="3303341"/>
            <a:ext cx="1307812" cy="626854"/>
          </a:xfrm>
          <a:prstGeom prst="flowChartProcess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TextBox 66">
            <a:extLst>
              <a:ext uri="{FF2B5EF4-FFF2-40B4-BE49-F238E27FC236}">
                <a16:creationId xmlns:a16="http://schemas.microsoft.com/office/drawing/2014/main" id="{8C03E8E4-2B3F-8BC3-C806-43A5538B6BD0}"/>
              </a:ext>
            </a:extLst>
          </p:cNvPr>
          <p:cNvSpPr txBox="1"/>
          <p:nvPr/>
        </p:nvSpPr>
        <p:spPr>
          <a:xfrm>
            <a:off x="2453624" y="3316686"/>
            <a:ext cx="1307811" cy="600164"/>
          </a:xfrm>
          <a:prstGeom prst="rect">
            <a:avLst/>
          </a:prstGeom>
          <a:solidFill>
            <a:srgbClr val="C8E3FB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>
                <a:solidFill>
                  <a:prstClr val="black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Inicia negociação com frete marítimo</a:t>
            </a:r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Box 70">
            <a:extLst>
              <a:ext uri="{FF2B5EF4-FFF2-40B4-BE49-F238E27FC236}">
                <a16:creationId xmlns:a16="http://schemas.microsoft.com/office/drawing/2014/main" id="{0F890C7F-0540-B7CC-E872-836E8395CF1C}"/>
              </a:ext>
            </a:extLst>
          </p:cNvPr>
          <p:cNvSpPr txBox="1"/>
          <p:nvPr/>
        </p:nvSpPr>
        <p:spPr>
          <a:xfrm>
            <a:off x="7563360" y="4439250"/>
            <a:ext cx="1097852" cy="43088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>
                <a:solidFill>
                  <a:prstClr val="white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Finalização do processo</a:t>
            </a:r>
          </a:p>
        </p:txBody>
      </p: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00E83DDC-3DC4-3F34-ABC3-BAB752B3F2BA}"/>
              </a:ext>
            </a:extLst>
          </p:cNvPr>
          <p:cNvCxnSpPr>
            <a:cxnSpLocks/>
            <a:stCxn id="52" idx="2"/>
            <a:endCxn id="47" idx="1"/>
          </p:cNvCxnSpPr>
          <p:nvPr/>
        </p:nvCxnSpPr>
        <p:spPr>
          <a:xfrm rot="5400000" flipH="1">
            <a:off x="4082047" y="999843"/>
            <a:ext cx="2335665" cy="5600892"/>
          </a:xfrm>
          <a:prstGeom prst="bentConnector4">
            <a:avLst>
              <a:gd name="adj1" fmla="val -9787"/>
              <a:gd name="adj2" fmla="val 104081"/>
            </a:avLst>
          </a:prstGeom>
          <a:ln w="381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Process 19">
            <a:extLst>
              <a:ext uri="{FF2B5EF4-FFF2-40B4-BE49-F238E27FC236}">
                <a16:creationId xmlns:a16="http://schemas.microsoft.com/office/drawing/2014/main" id="{12E0E7C1-EC1D-9A67-05E7-6B79436C5E80}"/>
              </a:ext>
            </a:extLst>
          </p:cNvPr>
          <p:cNvSpPr/>
          <p:nvPr/>
        </p:nvSpPr>
        <p:spPr>
          <a:xfrm>
            <a:off x="4164132" y="5440362"/>
            <a:ext cx="1307812" cy="626854"/>
          </a:xfrm>
          <a:prstGeom prst="flowChartProcess">
            <a:avLst/>
          </a:prstGeom>
          <a:solidFill>
            <a:srgbClr val="08376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0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TextBox 63">
            <a:extLst>
              <a:ext uri="{FF2B5EF4-FFF2-40B4-BE49-F238E27FC236}">
                <a16:creationId xmlns:a16="http://schemas.microsoft.com/office/drawing/2014/main" id="{B4D83C95-8EBF-D54D-2B36-E4ADED65E462}"/>
              </a:ext>
            </a:extLst>
          </p:cNvPr>
          <p:cNvSpPr txBox="1"/>
          <p:nvPr/>
        </p:nvSpPr>
        <p:spPr>
          <a:xfrm>
            <a:off x="4269112" y="5504148"/>
            <a:ext cx="1097852" cy="5078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Justificativa para abertura de compra</a:t>
            </a:r>
          </a:p>
        </p:txBody>
      </p:sp>
      <p:sp>
        <p:nvSpPr>
          <p:cNvPr id="43" name="Fluxograma: Decisão 42">
            <a:extLst>
              <a:ext uri="{FF2B5EF4-FFF2-40B4-BE49-F238E27FC236}">
                <a16:creationId xmlns:a16="http://schemas.microsoft.com/office/drawing/2014/main" id="{CE9DE043-E69D-D9E1-5E37-120056112CDF}"/>
              </a:ext>
            </a:extLst>
          </p:cNvPr>
          <p:cNvSpPr/>
          <p:nvPr/>
        </p:nvSpPr>
        <p:spPr>
          <a:xfrm>
            <a:off x="2505875" y="1285149"/>
            <a:ext cx="1200334" cy="626854"/>
          </a:xfrm>
          <a:prstGeom prst="flowChartDecision">
            <a:avLst/>
          </a:prstGeom>
          <a:solidFill>
            <a:srgbClr val="0F6FC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Existe?</a:t>
            </a:r>
          </a:p>
        </p:txBody>
      </p:sp>
      <p:cxnSp>
        <p:nvCxnSpPr>
          <p:cNvPr id="44" name="Straight Arrow Connector 44">
            <a:extLst>
              <a:ext uri="{FF2B5EF4-FFF2-40B4-BE49-F238E27FC236}">
                <a16:creationId xmlns:a16="http://schemas.microsoft.com/office/drawing/2014/main" id="{15F047F0-B528-4569-4B20-35A37191762C}"/>
              </a:ext>
            </a:extLst>
          </p:cNvPr>
          <p:cNvCxnSpPr>
            <a:cxnSpLocks/>
            <a:stCxn id="30" idx="3"/>
            <a:endCxn id="43" idx="1"/>
          </p:cNvCxnSpPr>
          <p:nvPr/>
        </p:nvCxnSpPr>
        <p:spPr>
          <a:xfrm>
            <a:off x="2154086" y="1592037"/>
            <a:ext cx="351789" cy="653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25">
            <a:extLst>
              <a:ext uri="{FF2B5EF4-FFF2-40B4-BE49-F238E27FC236}">
                <a16:creationId xmlns:a16="http://schemas.microsoft.com/office/drawing/2014/main" id="{F573BFD0-861E-BCC4-C17A-0D0AFD15F8FC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3706209" y="1598576"/>
            <a:ext cx="301383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73">
            <a:extLst>
              <a:ext uri="{FF2B5EF4-FFF2-40B4-BE49-F238E27FC236}">
                <a16:creationId xmlns:a16="http://schemas.microsoft.com/office/drawing/2014/main" id="{BB8FE3C4-322F-524C-979B-1A7BC75CBB75}"/>
              </a:ext>
            </a:extLst>
          </p:cNvPr>
          <p:cNvSpPr txBox="1"/>
          <p:nvPr/>
        </p:nvSpPr>
        <p:spPr>
          <a:xfrm>
            <a:off x="3479794" y="1221887"/>
            <a:ext cx="736828" cy="2616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N</a:t>
            </a:r>
            <a:r>
              <a:rPr lang="pt-BR" sz="1100" b="1">
                <a:solidFill>
                  <a:prstClr val="black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ÃO</a:t>
            </a:r>
            <a:endParaRPr kumimoji="0" lang="pt-BR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47" name="Process 18">
            <a:extLst>
              <a:ext uri="{FF2B5EF4-FFF2-40B4-BE49-F238E27FC236}">
                <a16:creationId xmlns:a16="http://schemas.microsoft.com/office/drawing/2014/main" id="{CC4C270C-6F21-4B05-9E9C-FD8C6189E6D9}"/>
              </a:ext>
            </a:extLst>
          </p:cNvPr>
          <p:cNvSpPr/>
          <p:nvPr/>
        </p:nvSpPr>
        <p:spPr>
          <a:xfrm>
            <a:off x="2449434" y="2319029"/>
            <a:ext cx="1307812" cy="626854"/>
          </a:xfrm>
          <a:prstGeom prst="flowChartProcess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TextBox 64">
            <a:extLst>
              <a:ext uri="{FF2B5EF4-FFF2-40B4-BE49-F238E27FC236}">
                <a16:creationId xmlns:a16="http://schemas.microsoft.com/office/drawing/2014/main" id="{E94201DA-BBB9-BE42-8053-6B3EB2E43319}"/>
              </a:ext>
            </a:extLst>
          </p:cNvPr>
          <p:cNvSpPr txBox="1"/>
          <p:nvPr/>
        </p:nvSpPr>
        <p:spPr>
          <a:xfrm>
            <a:off x="2542818" y="2407852"/>
            <a:ext cx="1097852" cy="43088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Abertura do PEP</a:t>
            </a:r>
          </a:p>
        </p:txBody>
      </p:sp>
      <p:cxnSp>
        <p:nvCxnSpPr>
          <p:cNvPr id="49" name="Straight Arrow Connector 25">
            <a:extLst>
              <a:ext uri="{FF2B5EF4-FFF2-40B4-BE49-F238E27FC236}">
                <a16:creationId xmlns:a16="http://schemas.microsoft.com/office/drawing/2014/main" id="{EDBDC338-FC39-E9EA-82B2-A5E550D0DCDF}"/>
              </a:ext>
            </a:extLst>
          </p:cNvPr>
          <p:cNvCxnSpPr>
            <a:cxnSpLocks/>
            <a:stCxn id="43" idx="2"/>
            <a:endCxn id="47" idx="0"/>
          </p:cNvCxnSpPr>
          <p:nvPr/>
        </p:nvCxnSpPr>
        <p:spPr>
          <a:xfrm flipH="1">
            <a:off x="3103340" y="1912003"/>
            <a:ext cx="2702" cy="40702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73">
            <a:extLst>
              <a:ext uri="{FF2B5EF4-FFF2-40B4-BE49-F238E27FC236}">
                <a16:creationId xmlns:a16="http://schemas.microsoft.com/office/drawing/2014/main" id="{171DD67C-6CC0-B678-7BDE-8FDF2FBC800C}"/>
              </a:ext>
            </a:extLst>
          </p:cNvPr>
          <p:cNvSpPr txBox="1"/>
          <p:nvPr/>
        </p:nvSpPr>
        <p:spPr>
          <a:xfrm>
            <a:off x="2439563" y="1937077"/>
            <a:ext cx="736828" cy="2616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b="1">
                <a:solidFill>
                  <a:prstClr val="black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SIM</a:t>
            </a:r>
            <a:endParaRPr kumimoji="0" lang="pt-BR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51" name="Straight Arrow Connector 25">
            <a:extLst>
              <a:ext uri="{FF2B5EF4-FFF2-40B4-BE49-F238E27FC236}">
                <a16:creationId xmlns:a16="http://schemas.microsoft.com/office/drawing/2014/main" id="{57C3803D-6769-CA2F-206A-9FB2B8DCD640}"/>
              </a:ext>
            </a:extLst>
          </p:cNvPr>
          <p:cNvCxnSpPr>
            <a:cxnSpLocks/>
            <a:stCxn id="47" idx="2"/>
            <a:endCxn id="36" idx="0"/>
          </p:cNvCxnSpPr>
          <p:nvPr/>
        </p:nvCxnSpPr>
        <p:spPr>
          <a:xfrm>
            <a:off x="3103340" y="2945883"/>
            <a:ext cx="102" cy="35745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luxograma: Decisão 51">
            <a:extLst>
              <a:ext uri="{FF2B5EF4-FFF2-40B4-BE49-F238E27FC236}">
                <a16:creationId xmlns:a16="http://schemas.microsoft.com/office/drawing/2014/main" id="{D31B3577-C0DC-08F2-61CD-37F30E5BC510}"/>
              </a:ext>
            </a:extLst>
          </p:cNvPr>
          <p:cNvSpPr/>
          <p:nvPr/>
        </p:nvSpPr>
        <p:spPr>
          <a:xfrm>
            <a:off x="7450159" y="4341267"/>
            <a:ext cx="1200334" cy="626854"/>
          </a:xfrm>
          <a:prstGeom prst="flowChartDecision">
            <a:avLst/>
          </a:prstGeom>
          <a:solidFill>
            <a:srgbClr val="59AA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OK?</a:t>
            </a:r>
          </a:p>
        </p:txBody>
      </p:sp>
      <p:cxnSp>
        <p:nvCxnSpPr>
          <p:cNvPr id="54" name="Straight Arrow Connector 25">
            <a:extLst>
              <a:ext uri="{FF2B5EF4-FFF2-40B4-BE49-F238E27FC236}">
                <a16:creationId xmlns:a16="http://schemas.microsoft.com/office/drawing/2014/main" id="{3C7D8C5F-2F13-795B-585D-27A28717D6DC}"/>
              </a:ext>
            </a:extLst>
          </p:cNvPr>
          <p:cNvCxnSpPr>
            <a:cxnSpLocks/>
            <a:stCxn id="20" idx="3"/>
            <a:endCxn id="52" idx="1"/>
          </p:cNvCxnSpPr>
          <p:nvPr/>
        </p:nvCxnSpPr>
        <p:spPr>
          <a:xfrm flipV="1">
            <a:off x="7070340" y="4654694"/>
            <a:ext cx="379819" cy="279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73">
            <a:extLst>
              <a:ext uri="{FF2B5EF4-FFF2-40B4-BE49-F238E27FC236}">
                <a16:creationId xmlns:a16="http://schemas.microsoft.com/office/drawing/2014/main" id="{AE8DC539-5149-C3B7-E43B-16B243030FDB}"/>
              </a:ext>
            </a:extLst>
          </p:cNvPr>
          <p:cNvSpPr txBox="1"/>
          <p:nvPr/>
        </p:nvSpPr>
        <p:spPr>
          <a:xfrm>
            <a:off x="7465069" y="4917103"/>
            <a:ext cx="736828" cy="2616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b="1">
                <a:solidFill>
                  <a:prstClr val="black"/>
                </a:solidFill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SIM</a:t>
            </a:r>
            <a:endParaRPr kumimoji="0" lang="pt-BR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Open Sans Light" panose="020B0306030504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56" name="Straight Arrow Connector 25">
            <a:extLst>
              <a:ext uri="{FF2B5EF4-FFF2-40B4-BE49-F238E27FC236}">
                <a16:creationId xmlns:a16="http://schemas.microsoft.com/office/drawing/2014/main" id="{137ADDB7-5038-7180-F7C2-0BBAA6A873C6}"/>
              </a:ext>
            </a:extLst>
          </p:cNvPr>
          <p:cNvCxnSpPr>
            <a:cxnSpLocks/>
            <a:stCxn id="52" idx="3"/>
            <a:endCxn id="59" idx="1"/>
          </p:cNvCxnSpPr>
          <p:nvPr/>
        </p:nvCxnSpPr>
        <p:spPr>
          <a:xfrm>
            <a:off x="8650493" y="4654694"/>
            <a:ext cx="433557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73">
            <a:extLst>
              <a:ext uri="{FF2B5EF4-FFF2-40B4-BE49-F238E27FC236}">
                <a16:creationId xmlns:a16="http://schemas.microsoft.com/office/drawing/2014/main" id="{5304F143-87B3-89CC-0EEB-FBE42C304B97}"/>
              </a:ext>
            </a:extLst>
          </p:cNvPr>
          <p:cNvSpPr txBox="1"/>
          <p:nvPr/>
        </p:nvSpPr>
        <p:spPr>
          <a:xfrm>
            <a:off x="8398464" y="4302885"/>
            <a:ext cx="736828" cy="2616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Open Sans Light" panose="020B0306030504020204" pitchFamily="34" charset="0"/>
                <a:cs typeface="Segoe UI" panose="020B0502040204020203" pitchFamily="34" charset="0"/>
              </a:rPr>
              <a:t>NÃO</a:t>
            </a:r>
          </a:p>
        </p:txBody>
      </p:sp>
      <p:cxnSp>
        <p:nvCxnSpPr>
          <p:cNvPr id="58" name="Straight Arrow Connector 25">
            <a:extLst>
              <a:ext uri="{FF2B5EF4-FFF2-40B4-BE49-F238E27FC236}">
                <a16:creationId xmlns:a16="http://schemas.microsoft.com/office/drawing/2014/main" id="{3E3A0069-8D58-4A7D-A004-B4CEF6AFF249}"/>
              </a:ext>
            </a:extLst>
          </p:cNvPr>
          <p:cNvCxnSpPr>
            <a:cxnSpLocks/>
            <a:stCxn id="63" idx="6"/>
            <a:endCxn id="41" idx="1"/>
          </p:cNvCxnSpPr>
          <p:nvPr/>
        </p:nvCxnSpPr>
        <p:spPr>
          <a:xfrm>
            <a:off x="3962281" y="5753789"/>
            <a:ext cx="201851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rminator 17">
            <a:extLst>
              <a:ext uri="{FF2B5EF4-FFF2-40B4-BE49-F238E27FC236}">
                <a16:creationId xmlns:a16="http://schemas.microsoft.com/office/drawing/2014/main" id="{66410687-4773-C613-23ED-1F8182C93061}"/>
              </a:ext>
            </a:extLst>
          </p:cNvPr>
          <p:cNvSpPr/>
          <p:nvPr/>
        </p:nvSpPr>
        <p:spPr>
          <a:xfrm>
            <a:off x="9084050" y="4341267"/>
            <a:ext cx="1307812" cy="626854"/>
          </a:xfrm>
          <a:prstGeom prst="flowChartTerminator">
            <a:avLst/>
          </a:prstGeom>
          <a:solidFill>
            <a:srgbClr val="59AA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Finalização do processo</a:t>
            </a:r>
          </a:p>
        </p:txBody>
      </p:sp>
      <p:sp>
        <p:nvSpPr>
          <p:cNvPr id="60" name="Process 19">
            <a:extLst>
              <a:ext uri="{FF2B5EF4-FFF2-40B4-BE49-F238E27FC236}">
                <a16:creationId xmlns:a16="http://schemas.microsoft.com/office/drawing/2014/main" id="{6A7B5C9B-1A73-04FF-4371-74BF87046993}"/>
              </a:ext>
            </a:extLst>
          </p:cNvPr>
          <p:cNvSpPr/>
          <p:nvPr/>
        </p:nvSpPr>
        <p:spPr>
          <a:xfrm>
            <a:off x="4164132" y="2313057"/>
            <a:ext cx="1307812" cy="626854"/>
          </a:xfrm>
          <a:prstGeom prst="flowChartProcess">
            <a:avLst/>
          </a:prstGeom>
          <a:solidFill>
            <a:srgbClr val="D9D9D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TextBox 63">
            <a:extLst>
              <a:ext uri="{FF2B5EF4-FFF2-40B4-BE49-F238E27FC236}">
                <a16:creationId xmlns:a16="http://schemas.microsoft.com/office/drawing/2014/main" id="{753DF781-AF72-718F-5AC1-86AD27C3F400}"/>
              </a:ext>
            </a:extLst>
          </p:cNvPr>
          <p:cNvSpPr txBox="1"/>
          <p:nvPr/>
        </p:nvSpPr>
        <p:spPr>
          <a:xfrm>
            <a:off x="4269112" y="2330919"/>
            <a:ext cx="1097852" cy="6001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 anchorCtr="0">
            <a:spAutoFit/>
          </a:bodyPr>
          <a:lstStyle>
            <a:defPPr>
              <a:defRPr lang="pt-BR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 Light" panose="020F0302020204030203" pitchFamily="34" charset="77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pt-BR">
                <a:latin typeface="Segoe UI" panose="020B0502040204020203" pitchFamily="34" charset="0"/>
                <a:cs typeface="Segoe UI" panose="020B0502040204020203" pitchFamily="34" charset="0"/>
              </a:rPr>
              <a:t>Avaliação do impacto no fluxo de caixa</a:t>
            </a:r>
          </a:p>
        </p:txBody>
      </p:sp>
      <p:sp>
        <p:nvSpPr>
          <p:cNvPr id="62" name="Oval 12">
            <a:extLst>
              <a:ext uri="{FF2B5EF4-FFF2-40B4-BE49-F238E27FC236}">
                <a16:creationId xmlns:a16="http://schemas.microsoft.com/office/drawing/2014/main" id="{317E29A5-91CF-583A-8F17-BB4BEC718971}"/>
              </a:ext>
            </a:extLst>
          </p:cNvPr>
          <p:cNvSpPr/>
          <p:nvPr/>
        </p:nvSpPr>
        <p:spPr>
          <a:xfrm>
            <a:off x="4053448" y="1454988"/>
            <a:ext cx="327124" cy="266701"/>
          </a:xfrm>
          <a:prstGeom prst="ellipse">
            <a:avLst/>
          </a:prstGeom>
          <a:solidFill>
            <a:srgbClr val="0F6F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3" name="Oval 16">
            <a:extLst>
              <a:ext uri="{FF2B5EF4-FFF2-40B4-BE49-F238E27FC236}">
                <a16:creationId xmlns:a16="http://schemas.microsoft.com/office/drawing/2014/main" id="{F3B554BC-9209-D78C-6423-AC90A627736F}"/>
              </a:ext>
            </a:extLst>
          </p:cNvPr>
          <p:cNvSpPr/>
          <p:nvPr/>
        </p:nvSpPr>
        <p:spPr>
          <a:xfrm>
            <a:off x="3635157" y="5620438"/>
            <a:ext cx="327124" cy="26670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cxnSp>
        <p:nvCxnSpPr>
          <p:cNvPr id="64" name="Straight Arrow Connector 25">
            <a:extLst>
              <a:ext uri="{FF2B5EF4-FFF2-40B4-BE49-F238E27FC236}">
                <a16:creationId xmlns:a16="http://schemas.microsoft.com/office/drawing/2014/main" id="{6C21E9BA-7E79-D52F-61E9-EEB8677C1A54}"/>
              </a:ext>
            </a:extLst>
          </p:cNvPr>
          <p:cNvCxnSpPr>
            <a:cxnSpLocks/>
            <a:stCxn id="41" idx="0"/>
            <a:endCxn id="61" idx="2"/>
          </p:cNvCxnSpPr>
          <p:nvPr/>
        </p:nvCxnSpPr>
        <p:spPr>
          <a:xfrm flipV="1">
            <a:off x="4818038" y="2931083"/>
            <a:ext cx="0" cy="250927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191">
            <a:extLst>
              <a:ext uri="{FF2B5EF4-FFF2-40B4-BE49-F238E27FC236}">
                <a16:creationId xmlns:a16="http://schemas.microsoft.com/office/drawing/2014/main" id="{B411E1D6-BA68-D362-85D3-D1693EC8EF3E}"/>
              </a:ext>
            </a:extLst>
          </p:cNvPr>
          <p:cNvCxnSpPr>
            <a:cxnSpLocks/>
            <a:stCxn id="60" idx="3"/>
            <a:endCxn id="20" idx="0"/>
          </p:cNvCxnSpPr>
          <p:nvPr/>
        </p:nvCxnSpPr>
        <p:spPr>
          <a:xfrm>
            <a:off x="5471944" y="2626484"/>
            <a:ext cx="944490" cy="1717574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929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425" imgH="424" progId="TCLayout.ActiveDocument.1">
                  <p:embed/>
                </p:oleObj>
              </mc:Choice>
              <mc:Fallback>
                <p:oleObj name="Slide do think-cell" r:id="rId5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00FA7DB-FA08-FFCE-07BB-84C65122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Qualitativo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2A0F6E59-2E78-664E-1FC8-D460FE629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936687F-6FCD-734B-07CF-258D7D3A5CE2}"/>
              </a:ext>
            </a:extLst>
          </p:cNvPr>
          <p:cNvSpPr/>
          <p:nvPr/>
        </p:nvSpPr>
        <p:spPr>
          <a:xfrm>
            <a:off x="322325" y="1558115"/>
            <a:ext cx="5773420" cy="4653302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5D89D5F-7D27-CAA4-FFF5-29DC07D3B80F}"/>
              </a:ext>
            </a:extLst>
          </p:cNvPr>
          <p:cNvSpPr/>
          <p:nvPr/>
        </p:nvSpPr>
        <p:spPr>
          <a:xfrm>
            <a:off x="320465" y="1088792"/>
            <a:ext cx="5760000" cy="468000"/>
          </a:xfrm>
          <a:prstGeom prst="rect">
            <a:avLst/>
          </a:prstGeom>
          <a:solidFill>
            <a:srgbClr val="C3CFE1"/>
          </a:solidFill>
          <a:ln w="9525" algn="ctr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101600" rIns="26988" bIns="10160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CONVERSÃO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764333C-0154-FB15-C6B6-0B1DFB157345}"/>
              </a:ext>
            </a:extLst>
          </p:cNvPr>
          <p:cNvSpPr/>
          <p:nvPr/>
        </p:nvSpPr>
        <p:spPr>
          <a:xfrm>
            <a:off x="6096000" y="1088792"/>
            <a:ext cx="5760000" cy="468000"/>
          </a:xfrm>
          <a:prstGeom prst="rect">
            <a:avLst/>
          </a:prstGeom>
          <a:solidFill>
            <a:srgbClr val="6F8DB9"/>
          </a:solidFill>
          <a:ln w="9525" algn="ctr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101600" rIns="39688" bIns="10160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DOCAGEM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BC68F45-B9F4-049B-226F-A439D138C394}"/>
              </a:ext>
            </a:extLst>
          </p:cNvPr>
          <p:cNvSpPr/>
          <p:nvPr/>
        </p:nvSpPr>
        <p:spPr>
          <a:xfrm>
            <a:off x="489479" y="1666965"/>
            <a:ext cx="828475" cy="402171"/>
          </a:xfrm>
          <a:prstGeom prst="ellipse">
            <a:avLst/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Início 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EC73B57-52F3-B8E1-CFA8-49AF4FB71A7F}"/>
              </a:ext>
            </a:extLst>
          </p:cNvPr>
          <p:cNvSpPr/>
          <p:nvPr/>
        </p:nvSpPr>
        <p:spPr>
          <a:xfrm>
            <a:off x="333356" y="2225992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Identificar oportunidade</a:t>
            </a: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8C6EEEF-A545-683C-4F26-144163C373AD}"/>
              </a:ext>
            </a:extLst>
          </p:cNvPr>
          <p:cNvCxnSpPr>
            <a:cxnSpLocks/>
            <a:stCxn id="9" idx="4"/>
            <a:endCxn id="13" idx="0"/>
          </p:cNvCxnSpPr>
          <p:nvPr/>
        </p:nvCxnSpPr>
        <p:spPr>
          <a:xfrm flipH="1">
            <a:off x="897664" y="2069136"/>
            <a:ext cx="6053" cy="15685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85D97649-C067-2B70-E553-1D420D1D5E9D}"/>
              </a:ext>
            </a:extLst>
          </p:cNvPr>
          <p:cNvSpPr/>
          <p:nvPr/>
        </p:nvSpPr>
        <p:spPr>
          <a:xfrm>
            <a:off x="333356" y="2801220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Reunião v0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(Análise Embarcações)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25A3CB3-B86D-68EF-6DA7-82AE7699982F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897663" y="2627302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884817D9-0ED8-84E6-9F0D-5C2809D4FF51}"/>
              </a:ext>
            </a:extLst>
          </p:cNvPr>
          <p:cNvSpPr/>
          <p:nvPr/>
        </p:nvSpPr>
        <p:spPr>
          <a:xfrm>
            <a:off x="333356" y="3376449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Liberação projeto para estudo (BC) 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9C1198D7-4A7F-C943-E7EF-E0A75676ED0B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897663" y="3202530"/>
            <a:ext cx="0" cy="173919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9DF1027F-F61F-C8B9-96EC-E8070ABA82F6}"/>
              </a:ext>
            </a:extLst>
          </p:cNvPr>
          <p:cNvSpPr/>
          <p:nvPr/>
        </p:nvSpPr>
        <p:spPr>
          <a:xfrm>
            <a:off x="335362" y="3951677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Definição do escopo</a:t>
            </a:r>
          </a:p>
        </p:txBody>
      </p: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8619CF70-D35F-A4C0-83A0-B5B931D1D641}"/>
              </a:ext>
            </a:extLst>
          </p:cNvPr>
          <p:cNvCxnSpPr>
            <a:cxnSpLocks/>
            <a:stCxn id="17" idx="2"/>
            <a:endCxn id="53" idx="0"/>
          </p:cNvCxnSpPr>
          <p:nvPr/>
        </p:nvCxnSpPr>
        <p:spPr>
          <a:xfrm>
            <a:off x="897663" y="3777759"/>
            <a:ext cx="2006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tângulo 66">
            <a:extLst>
              <a:ext uri="{FF2B5EF4-FFF2-40B4-BE49-F238E27FC236}">
                <a16:creationId xmlns:a16="http://schemas.microsoft.com/office/drawing/2014/main" id="{AA96430C-DF20-FBC8-BE25-62100A284DDA}"/>
              </a:ext>
            </a:extLst>
          </p:cNvPr>
          <p:cNvSpPr/>
          <p:nvPr/>
        </p:nvSpPr>
        <p:spPr>
          <a:xfrm>
            <a:off x="333356" y="4526905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Elaboração cronograma e orçamento</a:t>
            </a:r>
          </a:p>
        </p:txBody>
      </p: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020AF250-5453-6AB1-D74E-44FAF2C5FC92}"/>
              </a:ext>
            </a:extLst>
          </p:cNvPr>
          <p:cNvCxnSpPr>
            <a:cxnSpLocks/>
            <a:stCxn id="53" idx="2"/>
            <a:endCxn id="67" idx="0"/>
          </p:cNvCxnSpPr>
          <p:nvPr/>
        </p:nvCxnSpPr>
        <p:spPr>
          <a:xfrm flipH="1">
            <a:off x="897663" y="4352987"/>
            <a:ext cx="2006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tângulo 68">
            <a:extLst>
              <a:ext uri="{FF2B5EF4-FFF2-40B4-BE49-F238E27FC236}">
                <a16:creationId xmlns:a16="http://schemas.microsoft.com/office/drawing/2014/main" id="{2AB2A247-F728-68E4-61AC-15BB125914B6}"/>
              </a:ext>
            </a:extLst>
          </p:cNvPr>
          <p:cNvSpPr/>
          <p:nvPr/>
        </p:nvSpPr>
        <p:spPr>
          <a:xfrm>
            <a:off x="333356" y="5102134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Elaboração do material do BC</a:t>
            </a:r>
          </a:p>
        </p:txBody>
      </p: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09581D83-98D6-2DA4-9F5E-9519382FA2FA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>
            <a:off x="897663" y="4928215"/>
            <a:ext cx="0" cy="173919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BF88BFB3-6C0C-476A-44F7-BC182342D082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897662" y="5503444"/>
            <a:ext cx="0" cy="140055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ector: Angulado 71">
            <a:extLst>
              <a:ext uri="{FF2B5EF4-FFF2-40B4-BE49-F238E27FC236}">
                <a16:creationId xmlns:a16="http://schemas.microsoft.com/office/drawing/2014/main" id="{BC3480A4-22FA-4315-67DC-3CA76BF202AD}"/>
              </a:ext>
            </a:extLst>
          </p:cNvPr>
          <p:cNvCxnSpPr>
            <a:cxnSpLocks/>
            <a:endCxn id="73" idx="1"/>
          </p:cNvCxnSpPr>
          <p:nvPr/>
        </p:nvCxnSpPr>
        <p:spPr>
          <a:xfrm flipV="1">
            <a:off x="1463978" y="1927731"/>
            <a:ext cx="373300" cy="3870791"/>
          </a:xfrm>
          <a:prstGeom prst="bentConnector3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tângulo 72">
            <a:extLst>
              <a:ext uri="{FF2B5EF4-FFF2-40B4-BE49-F238E27FC236}">
                <a16:creationId xmlns:a16="http://schemas.microsoft.com/office/drawing/2014/main" id="{CC5C5174-A70C-E172-9361-C90FBBDDC18D}"/>
              </a:ext>
            </a:extLst>
          </p:cNvPr>
          <p:cNvSpPr/>
          <p:nvPr/>
        </p:nvSpPr>
        <p:spPr>
          <a:xfrm>
            <a:off x="1837278" y="1727076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Submissão  leilão</a:t>
            </a: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BBA5DEC3-84A5-0DF6-A0DA-F6D5029E5BF9}"/>
              </a:ext>
            </a:extLst>
          </p:cNvPr>
          <p:cNvSpPr/>
          <p:nvPr/>
        </p:nvSpPr>
        <p:spPr>
          <a:xfrm>
            <a:off x="1836273" y="2225584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Assinatura do contrato</a:t>
            </a:r>
          </a:p>
        </p:txBody>
      </p: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0C28D212-362A-E21A-82F6-FD923437B347}"/>
              </a:ext>
            </a:extLst>
          </p:cNvPr>
          <p:cNvCxnSpPr>
            <a:cxnSpLocks/>
            <a:stCxn id="73" idx="2"/>
            <a:endCxn id="74" idx="0"/>
          </p:cNvCxnSpPr>
          <p:nvPr/>
        </p:nvCxnSpPr>
        <p:spPr>
          <a:xfrm flipH="1">
            <a:off x="2400581" y="2128386"/>
            <a:ext cx="1005" cy="9719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tângulo 75">
            <a:extLst>
              <a:ext uri="{FF2B5EF4-FFF2-40B4-BE49-F238E27FC236}">
                <a16:creationId xmlns:a16="http://schemas.microsoft.com/office/drawing/2014/main" id="{98F5D923-F659-250D-DB41-205BB4CB4259}"/>
              </a:ext>
            </a:extLst>
          </p:cNvPr>
          <p:cNvSpPr/>
          <p:nvPr/>
        </p:nvSpPr>
        <p:spPr>
          <a:xfrm>
            <a:off x="1835269" y="2801220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off </a:t>
            </a:r>
          </a:p>
        </p:txBody>
      </p: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C86E4B2E-7F8B-3D61-3D18-2A4C39988CFF}"/>
              </a:ext>
            </a:extLst>
          </p:cNvPr>
          <p:cNvCxnSpPr>
            <a:cxnSpLocks/>
            <a:stCxn id="74" idx="2"/>
            <a:endCxn id="76" idx="0"/>
          </p:cNvCxnSpPr>
          <p:nvPr/>
        </p:nvCxnSpPr>
        <p:spPr>
          <a:xfrm flipH="1">
            <a:off x="2399576" y="2626894"/>
            <a:ext cx="1004" cy="17432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tângulo 77">
            <a:extLst>
              <a:ext uri="{FF2B5EF4-FFF2-40B4-BE49-F238E27FC236}">
                <a16:creationId xmlns:a16="http://schemas.microsoft.com/office/drawing/2014/main" id="{C5CC1168-33CB-875F-EE35-A1920D97F3BC}"/>
              </a:ext>
            </a:extLst>
          </p:cNvPr>
          <p:cNvSpPr/>
          <p:nvPr/>
        </p:nvSpPr>
        <p:spPr>
          <a:xfrm>
            <a:off x="1837278" y="3376449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Abertura do projeto</a:t>
            </a:r>
          </a:p>
        </p:txBody>
      </p:sp>
      <p:cxnSp>
        <p:nvCxnSpPr>
          <p:cNvPr id="79" name="Conector de Seta Reta 78">
            <a:extLst>
              <a:ext uri="{FF2B5EF4-FFF2-40B4-BE49-F238E27FC236}">
                <a16:creationId xmlns:a16="http://schemas.microsoft.com/office/drawing/2014/main" id="{F58D0E8D-608B-763D-7D67-18ED916C7D48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2401586" y="3202123"/>
            <a:ext cx="0" cy="17432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tângulo 79">
            <a:extLst>
              <a:ext uri="{FF2B5EF4-FFF2-40B4-BE49-F238E27FC236}">
                <a16:creationId xmlns:a16="http://schemas.microsoft.com/office/drawing/2014/main" id="{02E0F41D-7E77-E1BE-6A43-FE261AF42E48}"/>
              </a:ext>
            </a:extLst>
          </p:cNvPr>
          <p:cNvSpPr/>
          <p:nvPr/>
        </p:nvSpPr>
        <p:spPr>
          <a:xfrm>
            <a:off x="1835269" y="3951677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Liberação de desenhos / EP / Diagramas</a:t>
            </a:r>
          </a:p>
        </p:txBody>
      </p:sp>
      <p:cxnSp>
        <p:nvCxnSpPr>
          <p:cNvPr id="81" name="Conector de Seta Reta 80">
            <a:extLst>
              <a:ext uri="{FF2B5EF4-FFF2-40B4-BE49-F238E27FC236}">
                <a16:creationId xmlns:a16="http://schemas.microsoft.com/office/drawing/2014/main" id="{2A5B9075-82DA-0975-79A6-DC3FFF2CFFAF}"/>
              </a:ext>
            </a:extLst>
          </p:cNvPr>
          <p:cNvCxnSpPr>
            <a:cxnSpLocks/>
            <a:stCxn id="78" idx="2"/>
            <a:endCxn id="80" idx="0"/>
          </p:cNvCxnSpPr>
          <p:nvPr/>
        </p:nvCxnSpPr>
        <p:spPr>
          <a:xfrm flipH="1">
            <a:off x="2399576" y="3777759"/>
            <a:ext cx="2009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Retângulo 81">
            <a:extLst>
              <a:ext uri="{FF2B5EF4-FFF2-40B4-BE49-F238E27FC236}">
                <a16:creationId xmlns:a16="http://schemas.microsoft.com/office/drawing/2014/main" id="{799EDFDE-64F9-8F66-14EC-0077C797467F}"/>
              </a:ext>
            </a:extLst>
          </p:cNvPr>
          <p:cNvSpPr/>
          <p:nvPr/>
        </p:nvSpPr>
        <p:spPr>
          <a:xfrm>
            <a:off x="1835269" y="4526905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Liberação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RC’s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3" name="Conector de Seta Reta 82">
            <a:extLst>
              <a:ext uri="{FF2B5EF4-FFF2-40B4-BE49-F238E27FC236}">
                <a16:creationId xmlns:a16="http://schemas.microsoft.com/office/drawing/2014/main" id="{6C94CEC4-659E-E33A-58A8-FE6920B9AACB}"/>
              </a:ext>
            </a:extLst>
          </p:cNvPr>
          <p:cNvCxnSpPr>
            <a:cxnSpLocks/>
            <a:stCxn id="80" idx="2"/>
            <a:endCxn id="82" idx="0"/>
          </p:cNvCxnSpPr>
          <p:nvPr/>
        </p:nvCxnSpPr>
        <p:spPr>
          <a:xfrm>
            <a:off x="2399576" y="4352987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Retângulo 83">
            <a:extLst>
              <a:ext uri="{FF2B5EF4-FFF2-40B4-BE49-F238E27FC236}">
                <a16:creationId xmlns:a16="http://schemas.microsoft.com/office/drawing/2014/main" id="{37631E85-6FA0-9765-F208-99F45E8D8C12}"/>
              </a:ext>
            </a:extLst>
          </p:cNvPr>
          <p:cNvSpPr/>
          <p:nvPr/>
        </p:nvSpPr>
        <p:spPr>
          <a:xfrm>
            <a:off x="1837278" y="5102134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Emissão de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PO’s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5" name="Conector de Seta Reta 84">
            <a:extLst>
              <a:ext uri="{FF2B5EF4-FFF2-40B4-BE49-F238E27FC236}">
                <a16:creationId xmlns:a16="http://schemas.microsoft.com/office/drawing/2014/main" id="{869EFC40-F230-08AE-6E23-F10663AEA787}"/>
              </a:ext>
            </a:extLst>
          </p:cNvPr>
          <p:cNvCxnSpPr>
            <a:cxnSpLocks/>
          </p:cNvCxnSpPr>
          <p:nvPr/>
        </p:nvCxnSpPr>
        <p:spPr>
          <a:xfrm>
            <a:off x="2400583" y="4928216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tângulo 85">
            <a:extLst>
              <a:ext uri="{FF2B5EF4-FFF2-40B4-BE49-F238E27FC236}">
                <a16:creationId xmlns:a16="http://schemas.microsoft.com/office/drawing/2014/main" id="{E0E17F0A-BD8B-EE6E-8245-EDECDF5AB9B3}"/>
              </a:ext>
            </a:extLst>
          </p:cNvPr>
          <p:cNvSpPr/>
          <p:nvPr/>
        </p:nvSpPr>
        <p:spPr>
          <a:xfrm>
            <a:off x="1836274" y="5596409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Disponibilidade dos materiais / Definição de serviço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B5C887E7-CCE6-EC49-F7C4-6F0E50F03367}"/>
              </a:ext>
            </a:extLst>
          </p:cNvPr>
          <p:cNvSpPr/>
          <p:nvPr/>
        </p:nvSpPr>
        <p:spPr>
          <a:xfrm>
            <a:off x="3330021" y="1727076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Reunião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pré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-conversão (Estaleiros)</a:t>
            </a:r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069AB5D8-75C7-03B4-D847-CC36EE0052E8}"/>
              </a:ext>
            </a:extLst>
          </p:cNvPr>
          <p:cNvSpPr/>
          <p:nvPr/>
        </p:nvSpPr>
        <p:spPr>
          <a:xfrm>
            <a:off x="3330021" y="2225584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Atracação da embarcação/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docagem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3B9721BA-CB11-32E0-723F-FC56ACCB70D9}"/>
              </a:ext>
            </a:extLst>
          </p:cNvPr>
          <p:cNvSpPr/>
          <p:nvPr/>
        </p:nvSpPr>
        <p:spPr>
          <a:xfrm>
            <a:off x="3322858" y="2800813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Acompanhamento diário</a:t>
            </a:r>
          </a:p>
        </p:txBody>
      </p:sp>
      <p:cxnSp>
        <p:nvCxnSpPr>
          <p:cNvPr id="90" name="Conector de Seta Reta 89">
            <a:extLst>
              <a:ext uri="{FF2B5EF4-FFF2-40B4-BE49-F238E27FC236}">
                <a16:creationId xmlns:a16="http://schemas.microsoft.com/office/drawing/2014/main" id="{D918959C-ADA1-EEAF-1330-2F214025C81E}"/>
              </a:ext>
            </a:extLst>
          </p:cNvPr>
          <p:cNvCxnSpPr>
            <a:cxnSpLocks/>
          </p:cNvCxnSpPr>
          <p:nvPr/>
        </p:nvCxnSpPr>
        <p:spPr>
          <a:xfrm>
            <a:off x="3889169" y="2620951"/>
            <a:ext cx="0" cy="17432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etângulo 90">
            <a:extLst>
              <a:ext uri="{FF2B5EF4-FFF2-40B4-BE49-F238E27FC236}">
                <a16:creationId xmlns:a16="http://schemas.microsoft.com/office/drawing/2014/main" id="{604B9773-3808-3B1D-4964-93F96075B2EB}"/>
              </a:ext>
            </a:extLst>
          </p:cNvPr>
          <p:cNvSpPr/>
          <p:nvPr/>
        </p:nvSpPr>
        <p:spPr>
          <a:xfrm>
            <a:off x="3322857" y="3376041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Comissiona-mento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/testes/certificação</a:t>
            </a:r>
          </a:p>
        </p:txBody>
      </p:sp>
      <p:cxnSp>
        <p:nvCxnSpPr>
          <p:cNvPr id="92" name="Conector de Seta Reta 91">
            <a:extLst>
              <a:ext uri="{FF2B5EF4-FFF2-40B4-BE49-F238E27FC236}">
                <a16:creationId xmlns:a16="http://schemas.microsoft.com/office/drawing/2014/main" id="{DB5720E2-75B4-B827-C5FE-08B5CF7A06E2}"/>
              </a:ext>
            </a:extLst>
          </p:cNvPr>
          <p:cNvCxnSpPr>
            <a:cxnSpLocks/>
          </p:cNvCxnSpPr>
          <p:nvPr/>
        </p:nvCxnSpPr>
        <p:spPr>
          <a:xfrm>
            <a:off x="3889170" y="3202123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Retângulo 92">
            <a:extLst>
              <a:ext uri="{FF2B5EF4-FFF2-40B4-BE49-F238E27FC236}">
                <a16:creationId xmlns:a16="http://schemas.microsoft.com/office/drawing/2014/main" id="{3682C51D-86A4-EB2A-4157-F0EF83535151}"/>
              </a:ext>
            </a:extLst>
          </p:cNvPr>
          <p:cNvSpPr/>
          <p:nvPr/>
        </p:nvSpPr>
        <p:spPr>
          <a:xfrm>
            <a:off x="3322855" y="3951269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Disponibilização da embarcação</a:t>
            </a:r>
          </a:p>
        </p:txBody>
      </p:sp>
      <p:cxnSp>
        <p:nvCxnSpPr>
          <p:cNvPr id="94" name="Conector de Seta Reta 93">
            <a:extLst>
              <a:ext uri="{FF2B5EF4-FFF2-40B4-BE49-F238E27FC236}">
                <a16:creationId xmlns:a16="http://schemas.microsoft.com/office/drawing/2014/main" id="{668923B7-F0FB-9141-FE1F-2E6101D47070}"/>
              </a:ext>
            </a:extLst>
          </p:cNvPr>
          <p:cNvCxnSpPr>
            <a:cxnSpLocks/>
          </p:cNvCxnSpPr>
          <p:nvPr/>
        </p:nvCxnSpPr>
        <p:spPr>
          <a:xfrm>
            <a:off x="3874272" y="3777351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Conector de Seta Reta 94">
            <a:extLst>
              <a:ext uri="{FF2B5EF4-FFF2-40B4-BE49-F238E27FC236}">
                <a16:creationId xmlns:a16="http://schemas.microsoft.com/office/drawing/2014/main" id="{EA76AE7D-5DEA-88AD-8EC9-D107E29ECE82}"/>
              </a:ext>
            </a:extLst>
          </p:cNvPr>
          <p:cNvCxnSpPr>
            <a:cxnSpLocks/>
            <a:endCxn id="86" idx="0"/>
          </p:cNvCxnSpPr>
          <p:nvPr/>
        </p:nvCxnSpPr>
        <p:spPr>
          <a:xfrm>
            <a:off x="2400583" y="5509450"/>
            <a:ext cx="0" cy="86959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Conector de Seta Reta 95">
            <a:extLst>
              <a:ext uri="{FF2B5EF4-FFF2-40B4-BE49-F238E27FC236}">
                <a16:creationId xmlns:a16="http://schemas.microsoft.com/office/drawing/2014/main" id="{30602711-4E76-4027-DE32-1D0435368C7C}"/>
              </a:ext>
            </a:extLst>
          </p:cNvPr>
          <p:cNvCxnSpPr>
            <a:cxnSpLocks/>
          </p:cNvCxnSpPr>
          <p:nvPr/>
        </p:nvCxnSpPr>
        <p:spPr>
          <a:xfrm>
            <a:off x="3889170" y="2128386"/>
            <a:ext cx="0" cy="9719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Conector: Angulado 96">
            <a:extLst>
              <a:ext uri="{FF2B5EF4-FFF2-40B4-BE49-F238E27FC236}">
                <a16:creationId xmlns:a16="http://schemas.microsoft.com/office/drawing/2014/main" id="{9B77BEAF-C8EC-C9A2-C37E-7239F5EBB83C}"/>
              </a:ext>
            </a:extLst>
          </p:cNvPr>
          <p:cNvCxnSpPr>
            <a:cxnSpLocks/>
          </p:cNvCxnSpPr>
          <p:nvPr/>
        </p:nvCxnSpPr>
        <p:spPr>
          <a:xfrm flipV="1">
            <a:off x="2963887" y="1926274"/>
            <a:ext cx="373300" cy="3870791"/>
          </a:xfrm>
          <a:prstGeom prst="bentConnector3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Retângulo 97">
            <a:extLst>
              <a:ext uri="{FF2B5EF4-FFF2-40B4-BE49-F238E27FC236}">
                <a16:creationId xmlns:a16="http://schemas.microsoft.com/office/drawing/2014/main" id="{26AB95A7-6302-F079-8D3E-2498D3967C65}"/>
              </a:ext>
            </a:extLst>
          </p:cNvPr>
          <p:cNvSpPr/>
          <p:nvPr/>
        </p:nvSpPr>
        <p:spPr>
          <a:xfrm>
            <a:off x="3322855" y="5101726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Aceite do cliente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9" name="Conector de Seta Reta 98">
            <a:extLst>
              <a:ext uri="{FF2B5EF4-FFF2-40B4-BE49-F238E27FC236}">
                <a16:creationId xmlns:a16="http://schemas.microsoft.com/office/drawing/2014/main" id="{C37EC991-1451-E708-0A41-2A7E3E9700E2}"/>
              </a:ext>
            </a:extLst>
          </p:cNvPr>
          <p:cNvCxnSpPr>
            <a:cxnSpLocks/>
          </p:cNvCxnSpPr>
          <p:nvPr/>
        </p:nvCxnSpPr>
        <p:spPr>
          <a:xfrm>
            <a:off x="3874272" y="4352987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Retângulo 99">
            <a:extLst>
              <a:ext uri="{FF2B5EF4-FFF2-40B4-BE49-F238E27FC236}">
                <a16:creationId xmlns:a16="http://schemas.microsoft.com/office/drawing/2014/main" id="{C6D643AA-7BDA-8861-BF00-ABFEDA7E35F7}"/>
              </a:ext>
            </a:extLst>
          </p:cNvPr>
          <p:cNvSpPr/>
          <p:nvPr/>
        </p:nvSpPr>
        <p:spPr>
          <a:xfrm>
            <a:off x="3322855" y="4526090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Inspeção com cliente</a:t>
            </a:r>
          </a:p>
        </p:txBody>
      </p:sp>
      <p:cxnSp>
        <p:nvCxnSpPr>
          <p:cNvPr id="101" name="Conector de Seta Reta 100">
            <a:extLst>
              <a:ext uri="{FF2B5EF4-FFF2-40B4-BE49-F238E27FC236}">
                <a16:creationId xmlns:a16="http://schemas.microsoft.com/office/drawing/2014/main" id="{930BF81D-9F7C-117F-C6AC-0047588B7F9A}"/>
              </a:ext>
            </a:extLst>
          </p:cNvPr>
          <p:cNvCxnSpPr>
            <a:cxnSpLocks/>
          </p:cNvCxnSpPr>
          <p:nvPr/>
        </p:nvCxnSpPr>
        <p:spPr>
          <a:xfrm>
            <a:off x="3889169" y="4928216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2" name="Retângulo 101">
            <a:extLst>
              <a:ext uri="{FF2B5EF4-FFF2-40B4-BE49-F238E27FC236}">
                <a16:creationId xmlns:a16="http://schemas.microsoft.com/office/drawing/2014/main" id="{3181AE55-4A13-4759-B590-1E2311F99DF0}"/>
              </a:ext>
            </a:extLst>
          </p:cNvPr>
          <p:cNvSpPr/>
          <p:nvPr/>
        </p:nvSpPr>
        <p:spPr>
          <a:xfrm>
            <a:off x="3322855" y="5594952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Recebimento / Análise do relatório técnico</a:t>
            </a:r>
          </a:p>
        </p:txBody>
      </p:sp>
      <p:cxnSp>
        <p:nvCxnSpPr>
          <p:cNvPr id="103" name="Conector de Seta Reta 102">
            <a:extLst>
              <a:ext uri="{FF2B5EF4-FFF2-40B4-BE49-F238E27FC236}">
                <a16:creationId xmlns:a16="http://schemas.microsoft.com/office/drawing/2014/main" id="{3A3D6992-753A-5C9B-7066-AA515B254D73}"/>
              </a:ext>
            </a:extLst>
          </p:cNvPr>
          <p:cNvCxnSpPr>
            <a:cxnSpLocks/>
          </p:cNvCxnSpPr>
          <p:nvPr/>
        </p:nvCxnSpPr>
        <p:spPr>
          <a:xfrm>
            <a:off x="3889169" y="5509450"/>
            <a:ext cx="0" cy="86959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ector: Angulado 103">
            <a:extLst>
              <a:ext uri="{FF2B5EF4-FFF2-40B4-BE49-F238E27FC236}">
                <a16:creationId xmlns:a16="http://schemas.microsoft.com/office/drawing/2014/main" id="{1B9F167A-B439-7404-A220-822778FD7EDB}"/>
              </a:ext>
            </a:extLst>
          </p:cNvPr>
          <p:cNvCxnSpPr>
            <a:cxnSpLocks/>
          </p:cNvCxnSpPr>
          <p:nvPr/>
        </p:nvCxnSpPr>
        <p:spPr>
          <a:xfrm flipV="1">
            <a:off x="4453477" y="1919211"/>
            <a:ext cx="373300" cy="3870791"/>
          </a:xfrm>
          <a:prstGeom prst="bentConnector3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Retângulo 104">
            <a:extLst>
              <a:ext uri="{FF2B5EF4-FFF2-40B4-BE49-F238E27FC236}">
                <a16:creationId xmlns:a16="http://schemas.microsoft.com/office/drawing/2014/main" id="{4DEAF530-480B-F36E-F252-FC1329BC1581}"/>
              </a:ext>
            </a:extLst>
          </p:cNvPr>
          <p:cNvSpPr/>
          <p:nvPr/>
        </p:nvSpPr>
        <p:spPr>
          <a:xfrm>
            <a:off x="4841673" y="1729618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Pagamento dos fornecedores</a:t>
            </a:r>
          </a:p>
        </p:txBody>
      </p:sp>
      <p:sp>
        <p:nvSpPr>
          <p:cNvPr id="106" name="Retângulo 105">
            <a:extLst>
              <a:ext uri="{FF2B5EF4-FFF2-40B4-BE49-F238E27FC236}">
                <a16:creationId xmlns:a16="http://schemas.microsoft.com/office/drawing/2014/main" id="{B037CEB8-CB01-4658-7F0E-77DFD5C4854E}"/>
              </a:ext>
            </a:extLst>
          </p:cNvPr>
          <p:cNvSpPr/>
          <p:nvPr/>
        </p:nvSpPr>
        <p:spPr>
          <a:xfrm>
            <a:off x="4841671" y="2219641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Lições aprendidas</a:t>
            </a:r>
          </a:p>
        </p:txBody>
      </p:sp>
      <p:cxnSp>
        <p:nvCxnSpPr>
          <p:cNvPr id="107" name="Conector de Seta Reta 106">
            <a:extLst>
              <a:ext uri="{FF2B5EF4-FFF2-40B4-BE49-F238E27FC236}">
                <a16:creationId xmlns:a16="http://schemas.microsoft.com/office/drawing/2014/main" id="{FE5636DD-E428-0084-E05A-78E7229059AC}"/>
              </a:ext>
            </a:extLst>
          </p:cNvPr>
          <p:cNvCxnSpPr>
            <a:cxnSpLocks/>
          </p:cNvCxnSpPr>
          <p:nvPr/>
        </p:nvCxnSpPr>
        <p:spPr>
          <a:xfrm>
            <a:off x="5373542" y="2128386"/>
            <a:ext cx="0" cy="9719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Retângulo: Cantos Arredondados 107">
            <a:extLst>
              <a:ext uri="{FF2B5EF4-FFF2-40B4-BE49-F238E27FC236}">
                <a16:creationId xmlns:a16="http://schemas.microsoft.com/office/drawing/2014/main" id="{A4BDBA89-76CB-5242-C4EC-B2A5C5FAFD8B}"/>
              </a:ext>
            </a:extLst>
          </p:cNvPr>
          <p:cNvSpPr/>
          <p:nvPr/>
        </p:nvSpPr>
        <p:spPr>
          <a:xfrm>
            <a:off x="4841671" y="3376041"/>
            <a:ext cx="1128616" cy="398466"/>
          </a:xfrm>
          <a:prstGeom prst="round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Fechamento do projeto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9" name="Conector de Seta Reta 108">
            <a:extLst>
              <a:ext uri="{FF2B5EF4-FFF2-40B4-BE49-F238E27FC236}">
                <a16:creationId xmlns:a16="http://schemas.microsoft.com/office/drawing/2014/main" id="{80A3BD48-CE06-6451-CD89-5F3777CA9FE7}"/>
              </a:ext>
            </a:extLst>
          </p:cNvPr>
          <p:cNvCxnSpPr>
            <a:cxnSpLocks/>
          </p:cNvCxnSpPr>
          <p:nvPr/>
        </p:nvCxnSpPr>
        <p:spPr>
          <a:xfrm>
            <a:off x="5373542" y="2620951"/>
            <a:ext cx="0" cy="17432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Retângulo 109">
            <a:extLst>
              <a:ext uri="{FF2B5EF4-FFF2-40B4-BE49-F238E27FC236}">
                <a16:creationId xmlns:a16="http://schemas.microsoft.com/office/drawing/2014/main" id="{522DD922-CDFC-BD40-5B49-B2420B90AE20}"/>
              </a:ext>
            </a:extLst>
          </p:cNvPr>
          <p:cNvSpPr/>
          <p:nvPr/>
        </p:nvSpPr>
        <p:spPr>
          <a:xfrm>
            <a:off x="318459" y="5623576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GO / NO GO</a:t>
            </a:r>
          </a:p>
        </p:txBody>
      </p:sp>
      <p:sp>
        <p:nvSpPr>
          <p:cNvPr id="112" name="Retângulo 111">
            <a:extLst>
              <a:ext uri="{FF2B5EF4-FFF2-40B4-BE49-F238E27FC236}">
                <a16:creationId xmlns:a16="http://schemas.microsoft.com/office/drawing/2014/main" id="{A4F5BBE7-07E0-AD74-16C1-BE671F78FF44}"/>
              </a:ext>
            </a:extLst>
          </p:cNvPr>
          <p:cNvSpPr/>
          <p:nvPr/>
        </p:nvSpPr>
        <p:spPr>
          <a:xfrm>
            <a:off x="6314030" y="2225992"/>
            <a:ext cx="1128616" cy="4013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Necessidade da classe</a:t>
            </a:r>
          </a:p>
        </p:txBody>
      </p:sp>
      <p:sp>
        <p:nvSpPr>
          <p:cNvPr id="114" name="Retângulo 113">
            <a:extLst>
              <a:ext uri="{FF2B5EF4-FFF2-40B4-BE49-F238E27FC236}">
                <a16:creationId xmlns:a16="http://schemas.microsoft.com/office/drawing/2014/main" id="{1996C147-4D7B-8DA8-39C5-2DA67547F73F}"/>
              </a:ext>
            </a:extLst>
          </p:cNvPr>
          <p:cNvSpPr/>
          <p:nvPr/>
        </p:nvSpPr>
        <p:spPr>
          <a:xfrm>
            <a:off x="6314030" y="2801220"/>
            <a:ext cx="1128616" cy="4013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Docagem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já aprovada em contrato existente?</a:t>
            </a:r>
          </a:p>
        </p:txBody>
      </p:sp>
      <p:cxnSp>
        <p:nvCxnSpPr>
          <p:cNvPr id="115" name="Conector de Seta Reta 114">
            <a:extLst>
              <a:ext uri="{FF2B5EF4-FFF2-40B4-BE49-F238E27FC236}">
                <a16:creationId xmlns:a16="http://schemas.microsoft.com/office/drawing/2014/main" id="{92D8A509-E133-6D86-4DCC-ECB20124D872}"/>
              </a:ext>
            </a:extLst>
          </p:cNvPr>
          <p:cNvCxnSpPr>
            <a:cxnSpLocks/>
            <a:stCxn id="112" idx="2"/>
            <a:endCxn id="114" idx="0"/>
          </p:cNvCxnSpPr>
          <p:nvPr/>
        </p:nvCxnSpPr>
        <p:spPr>
          <a:xfrm>
            <a:off x="6878339" y="2627303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Retângulo 115">
            <a:extLst>
              <a:ext uri="{FF2B5EF4-FFF2-40B4-BE49-F238E27FC236}">
                <a16:creationId xmlns:a16="http://schemas.microsoft.com/office/drawing/2014/main" id="{A68577E0-737D-B94B-7550-99CFC14E10B3}"/>
              </a:ext>
            </a:extLst>
          </p:cNvPr>
          <p:cNvSpPr/>
          <p:nvPr/>
        </p:nvSpPr>
        <p:spPr>
          <a:xfrm>
            <a:off x="6314030" y="3951677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Liberação para estudo BC</a:t>
            </a:r>
          </a:p>
        </p:txBody>
      </p:sp>
      <p:sp>
        <p:nvSpPr>
          <p:cNvPr id="117" name="Retângulo 116">
            <a:extLst>
              <a:ext uri="{FF2B5EF4-FFF2-40B4-BE49-F238E27FC236}">
                <a16:creationId xmlns:a16="http://schemas.microsoft.com/office/drawing/2014/main" id="{5E5FF6D2-9990-B1B8-968F-9EB922AF5D1F}"/>
              </a:ext>
            </a:extLst>
          </p:cNvPr>
          <p:cNvSpPr/>
          <p:nvPr/>
        </p:nvSpPr>
        <p:spPr>
          <a:xfrm>
            <a:off x="6312024" y="4526905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Go / No Go</a:t>
            </a:r>
          </a:p>
        </p:txBody>
      </p:sp>
      <p:cxnSp>
        <p:nvCxnSpPr>
          <p:cNvPr id="118" name="Conector de Seta Reta 117">
            <a:extLst>
              <a:ext uri="{FF2B5EF4-FFF2-40B4-BE49-F238E27FC236}">
                <a16:creationId xmlns:a16="http://schemas.microsoft.com/office/drawing/2014/main" id="{3DA5D1FF-4625-A5D6-685C-A3D85E7EEDE3}"/>
              </a:ext>
            </a:extLst>
          </p:cNvPr>
          <p:cNvCxnSpPr>
            <a:cxnSpLocks/>
            <a:stCxn id="116" idx="2"/>
            <a:endCxn id="117" idx="0"/>
          </p:cNvCxnSpPr>
          <p:nvPr/>
        </p:nvCxnSpPr>
        <p:spPr>
          <a:xfrm flipH="1">
            <a:off x="6876332" y="4352987"/>
            <a:ext cx="2006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Retângulo 118">
            <a:extLst>
              <a:ext uri="{FF2B5EF4-FFF2-40B4-BE49-F238E27FC236}">
                <a16:creationId xmlns:a16="http://schemas.microsoft.com/office/drawing/2014/main" id="{B17733FD-824C-3239-4643-0C82DCB2C5FD}"/>
              </a:ext>
            </a:extLst>
          </p:cNvPr>
          <p:cNvSpPr/>
          <p:nvPr/>
        </p:nvSpPr>
        <p:spPr>
          <a:xfrm>
            <a:off x="6312024" y="5102134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Submissão Leilão</a:t>
            </a:r>
          </a:p>
        </p:txBody>
      </p:sp>
      <p:cxnSp>
        <p:nvCxnSpPr>
          <p:cNvPr id="120" name="Conector de Seta Reta 119">
            <a:extLst>
              <a:ext uri="{FF2B5EF4-FFF2-40B4-BE49-F238E27FC236}">
                <a16:creationId xmlns:a16="http://schemas.microsoft.com/office/drawing/2014/main" id="{81165861-3560-77F0-285E-F79E55140323}"/>
              </a:ext>
            </a:extLst>
          </p:cNvPr>
          <p:cNvCxnSpPr>
            <a:cxnSpLocks/>
            <a:stCxn id="117" idx="2"/>
            <a:endCxn id="119" idx="0"/>
          </p:cNvCxnSpPr>
          <p:nvPr/>
        </p:nvCxnSpPr>
        <p:spPr>
          <a:xfrm>
            <a:off x="6876332" y="4928215"/>
            <a:ext cx="0" cy="173919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83330AE2-B00A-957B-C12D-A55B453C2CA4}"/>
              </a:ext>
            </a:extLst>
          </p:cNvPr>
          <p:cNvSpPr/>
          <p:nvPr/>
        </p:nvSpPr>
        <p:spPr>
          <a:xfrm>
            <a:off x="9231268" y="1727076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Emissão de </a:t>
            </a: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PO’s</a:t>
            </a:r>
            <a:endParaRPr kumimoji="0" lang="pt-BR" sz="7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2" name="Retângulo 121">
            <a:extLst>
              <a:ext uri="{FF2B5EF4-FFF2-40B4-BE49-F238E27FC236}">
                <a16:creationId xmlns:a16="http://schemas.microsoft.com/office/drawing/2014/main" id="{C28CD83F-B4EC-8BED-A719-222B33538582}"/>
              </a:ext>
            </a:extLst>
          </p:cNvPr>
          <p:cNvSpPr/>
          <p:nvPr/>
        </p:nvSpPr>
        <p:spPr>
          <a:xfrm>
            <a:off x="9231268" y="2225584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Disponibilidade dos materiais / serviços</a:t>
            </a:r>
          </a:p>
        </p:txBody>
      </p:sp>
      <p:cxnSp>
        <p:nvCxnSpPr>
          <p:cNvPr id="123" name="Conector de Seta Reta 122">
            <a:extLst>
              <a:ext uri="{FF2B5EF4-FFF2-40B4-BE49-F238E27FC236}">
                <a16:creationId xmlns:a16="http://schemas.microsoft.com/office/drawing/2014/main" id="{89F46D9A-82CE-D850-06E0-DA8C3E5CDE17}"/>
              </a:ext>
            </a:extLst>
          </p:cNvPr>
          <p:cNvCxnSpPr>
            <a:cxnSpLocks/>
            <a:stCxn id="121" idx="2"/>
            <a:endCxn id="122" idx="0"/>
          </p:cNvCxnSpPr>
          <p:nvPr/>
        </p:nvCxnSpPr>
        <p:spPr>
          <a:xfrm>
            <a:off x="9795576" y="2128386"/>
            <a:ext cx="0" cy="9719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Retângulo 123">
            <a:extLst>
              <a:ext uri="{FF2B5EF4-FFF2-40B4-BE49-F238E27FC236}">
                <a16:creationId xmlns:a16="http://schemas.microsoft.com/office/drawing/2014/main" id="{BE61160D-A81F-CA43-BEEB-30E00D01BA39}"/>
              </a:ext>
            </a:extLst>
          </p:cNvPr>
          <p:cNvSpPr/>
          <p:nvPr/>
        </p:nvSpPr>
        <p:spPr>
          <a:xfrm>
            <a:off x="9231268" y="2801220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off (Reunião Coord. Manut/Operação)</a:t>
            </a:r>
          </a:p>
        </p:txBody>
      </p:sp>
      <p:cxnSp>
        <p:nvCxnSpPr>
          <p:cNvPr id="125" name="Conector de Seta Reta 124">
            <a:extLst>
              <a:ext uri="{FF2B5EF4-FFF2-40B4-BE49-F238E27FC236}">
                <a16:creationId xmlns:a16="http://schemas.microsoft.com/office/drawing/2014/main" id="{80EAF4D5-C631-8958-75AE-880983F79AEA}"/>
              </a:ext>
            </a:extLst>
          </p:cNvPr>
          <p:cNvCxnSpPr>
            <a:cxnSpLocks/>
            <a:stCxn id="122" idx="2"/>
            <a:endCxn id="124" idx="0"/>
          </p:cNvCxnSpPr>
          <p:nvPr/>
        </p:nvCxnSpPr>
        <p:spPr>
          <a:xfrm>
            <a:off x="9795576" y="2626894"/>
            <a:ext cx="0" cy="17432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Retângulo 125">
            <a:extLst>
              <a:ext uri="{FF2B5EF4-FFF2-40B4-BE49-F238E27FC236}">
                <a16:creationId xmlns:a16="http://schemas.microsoft.com/office/drawing/2014/main" id="{1BEFFF86-728D-0573-EC91-0FCD38B05620}"/>
              </a:ext>
            </a:extLst>
          </p:cNvPr>
          <p:cNvSpPr/>
          <p:nvPr/>
        </p:nvSpPr>
        <p:spPr>
          <a:xfrm>
            <a:off x="9231268" y="3376449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Reunião </a:t>
            </a: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Pré-docagem</a:t>
            </a: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(Estaleiro)</a:t>
            </a:r>
          </a:p>
        </p:txBody>
      </p:sp>
      <p:cxnSp>
        <p:nvCxnSpPr>
          <p:cNvPr id="127" name="Conector de Seta Reta 126">
            <a:extLst>
              <a:ext uri="{FF2B5EF4-FFF2-40B4-BE49-F238E27FC236}">
                <a16:creationId xmlns:a16="http://schemas.microsoft.com/office/drawing/2014/main" id="{7B0A28D7-D964-6C06-8932-C5950D1D0905}"/>
              </a:ext>
            </a:extLst>
          </p:cNvPr>
          <p:cNvCxnSpPr>
            <a:cxnSpLocks/>
            <a:endCxn id="126" idx="0"/>
          </p:cNvCxnSpPr>
          <p:nvPr/>
        </p:nvCxnSpPr>
        <p:spPr>
          <a:xfrm>
            <a:off x="9795577" y="3202123"/>
            <a:ext cx="0" cy="17432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Retângulo 127">
            <a:extLst>
              <a:ext uri="{FF2B5EF4-FFF2-40B4-BE49-F238E27FC236}">
                <a16:creationId xmlns:a16="http://schemas.microsoft.com/office/drawing/2014/main" id="{50BCCF10-017A-D820-8248-27498AFC7BBA}"/>
              </a:ext>
            </a:extLst>
          </p:cNvPr>
          <p:cNvSpPr/>
          <p:nvPr/>
        </p:nvSpPr>
        <p:spPr>
          <a:xfrm>
            <a:off x="9231268" y="3951677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Atracação da embarcação / </a:t>
            </a: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docagem</a:t>
            </a:r>
            <a:endParaRPr kumimoji="0" lang="pt-BR" sz="7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9" name="Conector de Seta Reta 128">
            <a:extLst>
              <a:ext uri="{FF2B5EF4-FFF2-40B4-BE49-F238E27FC236}">
                <a16:creationId xmlns:a16="http://schemas.microsoft.com/office/drawing/2014/main" id="{00CDF22A-B4CC-14B2-AEA3-D1E1AB8667BB}"/>
              </a:ext>
            </a:extLst>
          </p:cNvPr>
          <p:cNvCxnSpPr>
            <a:cxnSpLocks/>
            <a:stCxn id="126" idx="2"/>
            <a:endCxn id="128" idx="0"/>
          </p:cNvCxnSpPr>
          <p:nvPr/>
        </p:nvCxnSpPr>
        <p:spPr>
          <a:xfrm>
            <a:off x="9795576" y="3777759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Retângulo 129">
            <a:extLst>
              <a:ext uri="{FF2B5EF4-FFF2-40B4-BE49-F238E27FC236}">
                <a16:creationId xmlns:a16="http://schemas.microsoft.com/office/drawing/2014/main" id="{13A2EACF-82D6-2076-0B61-3F8B53B70AB5}"/>
              </a:ext>
            </a:extLst>
          </p:cNvPr>
          <p:cNvSpPr/>
          <p:nvPr/>
        </p:nvSpPr>
        <p:spPr>
          <a:xfrm>
            <a:off x="9230265" y="4526905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Acompanhamento diário</a:t>
            </a:r>
          </a:p>
        </p:txBody>
      </p:sp>
      <p:cxnSp>
        <p:nvCxnSpPr>
          <p:cNvPr id="131" name="Conector de Seta Reta 130">
            <a:extLst>
              <a:ext uri="{FF2B5EF4-FFF2-40B4-BE49-F238E27FC236}">
                <a16:creationId xmlns:a16="http://schemas.microsoft.com/office/drawing/2014/main" id="{53EE7CF8-90E7-9E21-379D-9D118D2A5A10}"/>
              </a:ext>
            </a:extLst>
          </p:cNvPr>
          <p:cNvCxnSpPr>
            <a:cxnSpLocks/>
            <a:stCxn id="128" idx="2"/>
            <a:endCxn id="130" idx="0"/>
          </p:cNvCxnSpPr>
          <p:nvPr/>
        </p:nvCxnSpPr>
        <p:spPr>
          <a:xfrm flipH="1">
            <a:off x="9794573" y="4352987"/>
            <a:ext cx="1003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Retângulo 131">
            <a:extLst>
              <a:ext uri="{FF2B5EF4-FFF2-40B4-BE49-F238E27FC236}">
                <a16:creationId xmlns:a16="http://schemas.microsoft.com/office/drawing/2014/main" id="{989705DF-9E98-BADD-5E7F-468F822730B4}"/>
              </a:ext>
            </a:extLst>
          </p:cNvPr>
          <p:cNvSpPr/>
          <p:nvPr/>
        </p:nvSpPr>
        <p:spPr>
          <a:xfrm>
            <a:off x="9230265" y="5101726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Testes / Certificação</a:t>
            </a:r>
          </a:p>
        </p:txBody>
      </p:sp>
      <p:cxnSp>
        <p:nvCxnSpPr>
          <p:cNvPr id="133" name="Conector de Seta Reta 132">
            <a:extLst>
              <a:ext uri="{FF2B5EF4-FFF2-40B4-BE49-F238E27FC236}">
                <a16:creationId xmlns:a16="http://schemas.microsoft.com/office/drawing/2014/main" id="{C9A5AF15-337B-C211-7BDF-7186AE194EA5}"/>
              </a:ext>
            </a:extLst>
          </p:cNvPr>
          <p:cNvCxnSpPr>
            <a:cxnSpLocks/>
          </p:cNvCxnSpPr>
          <p:nvPr/>
        </p:nvCxnSpPr>
        <p:spPr>
          <a:xfrm>
            <a:off x="9796579" y="4928216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" name="Retângulo 133">
            <a:extLst>
              <a:ext uri="{FF2B5EF4-FFF2-40B4-BE49-F238E27FC236}">
                <a16:creationId xmlns:a16="http://schemas.microsoft.com/office/drawing/2014/main" id="{212898B1-5C21-0868-DD49-D44515A482AF}"/>
              </a:ext>
            </a:extLst>
          </p:cNvPr>
          <p:cNvSpPr/>
          <p:nvPr/>
        </p:nvSpPr>
        <p:spPr>
          <a:xfrm>
            <a:off x="9229262" y="5596410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Inspeção com classe / Emissão de certificado</a:t>
            </a:r>
          </a:p>
        </p:txBody>
      </p:sp>
      <p:sp>
        <p:nvSpPr>
          <p:cNvPr id="135" name="Retângulo 134">
            <a:extLst>
              <a:ext uri="{FF2B5EF4-FFF2-40B4-BE49-F238E27FC236}">
                <a16:creationId xmlns:a16="http://schemas.microsoft.com/office/drawing/2014/main" id="{CE65C203-940F-3535-9A53-14E95E2D824B}"/>
              </a:ext>
            </a:extLst>
          </p:cNvPr>
          <p:cNvSpPr/>
          <p:nvPr/>
        </p:nvSpPr>
        <p:spPr>
          <a:xfrm>
            <a:off x="10725013" y="1726669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Inspeção com cliente</a:t>
            </a:r>
          </a:p>
        </p:txBody>
      </p:sp>
      <p:sp>
        <p:nvSpPr>
          <p:cNvPr id="136" name="Retângulo 135">
            <a:extLst>
              <a:ext uri="{FF2B5EF4-FFF2-40B4-BE49-F238E27FC236}">
                <a16:creationId xmlns:a16="http://schemas.microsoft.com/office/drawing/2014/main" id="{403E7125-D0AD-5A16-271E-D00933CA6AA9}"/>
              </a:ext>
            </a:extLst>
          </p:cNvPr>
          <p:cNvSpPr/>
          <p:nvPr/>
        </p:nvSpPr>
        <p:spPr>
          <a:xfrm>
            <a:off x="10725013" y="2225177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Aceite do cliente</a:t>
            </a:r>
          </a:p>
        </p:txBody>
      </p:sp>
      <p:sp>
        <p:nvSpPr>
          <p:cNvPr id="137" name="Retângulo 136">
            <a:extLst>
              <a:ext uri="{FF2B5EF4-FFF2-40B4-BE49-F238E27FC236}">
                <a16:creationId xmlns:a16="http://schemas.microsoft.com/office/drawing/2014/main" id="{D4A5EDD5-73AA-CB60-1BF5-8FAF8AB7B731}"/>
              </a:ext>
            </a:extLst>
          </p:cNvPr>
          <p:cNvSpPr/>
          <p:nvPr/>
        </p:nvSpPr>
        <p:spPr>
          <a:xfrm>
            <a:off x="10717849" y="2800813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Disponibilização da embarcação</a:t>
            </a:r>
          </a:p>
        </p:txBody>
      </p:sp>
      <p:cxnSp>
        <p:nvCxnSpPr>
          <p:cNvPr id="138" name="Conector de Seta Reta 137">
            <a:extLst>
              <a:ext uri="{FF2B5EF4-FFF2-40B4-BE49-F238E27FC236}">
                <a16:creationId xmlns:a16="http://schemas.microsoft.com/office/drawing/2014/main" id="{B285721C-A399-DFCE-91E0-CADF4E740EC7}"/>
              </a:ext>
            </a:extLst>
          </p:cNvPr>
          <p:cNvCxnSpPr>
            <a:cxnSpLocks/>
          </p:cNvCxnSpPr>
          <p:nvPr/>
        </p:nvCxnSpPr>
        <p:spPr>
          <a:xfrm>
            <a:off x="11285164" y="2620951"/>
            <a:ext cx="0" cy="17432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Retângulo 138">
            <a:extLst>
              <a:ext uri="{FF2B5EF4-FFF2-40B4-BE49-F238E27FC236}">
                <a16:creationId xmlns:a16="http://schemas.microsoft.com/office/drawing/2014/main" id="{69798798-BFFF-172A-31DB-CC39C080BE37}"/>
              </a:ext>
            </a:extLst>
          </p:cNvPr>
          <p:cNvSpPr/>
          <p:nvPr/>
        </p:nvSpPr>
        <p:spPr>
          <a:xfrm>
            <a:off x="10717848" y="3376041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Recebimento / Análise do relatório técnico</a:t>
            </a:r>
          </a:p>
        </p:txBody>
      </p:sp>
      <p:cxnSp>
        <p:nvCxnSpPr>
          <p:cNvPr id="140" name="Conector de Seta Reta 139">
            <a:extLst>
              <a:ext uri="{FF2B5EF4-FFF2-40B4-BE49-F238E27FC236}">
                <a16:creationId xmlns:a16="http://schemas.microsoft.com/office/drawing/2014/main" id="{BEA6B50D-3F07-DFFF-D6B5-FC765E93330E}"/>
              </a:ext>
            </a:extLst>
          </p:cNvPr>
          <p:cNvCxnSpPr>
            <a:cxnSpLocks/>
          </p:cNvCxnSpPr>
          <p:nvPr/>
        </p:nvCxnSpPr>
        <p:spPr>
          <a:xfrm>
            <a:off x="11285166" y="3202123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1" name="Retângulo 140">
            <a:extLst>
              <a:ext uri="{FF2B5EF4-FFF2-40B4-BE49-F238E27FC236}">
                <a16:creationId xmlns:a16="http://schemas.microsoft.com/office/drawing/2014/main" id="{C2DCCD36-DD89-5D5C-E260-C4A790B3E2B7}"/>
              </a:ext>
            </a:extLst>
          </p:cNvPr>
          <p:cNvSpPr/>
          <p:nvPr/>
        </p:nvSpPr>
        <p:spPr>
          <a:xfrm>
            <a:off x="10717848" y="3951269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Pagamento dos fornecedores</a:t>
            </a:r>
          </a:p>
        </p:txBody>
      </p:sp>
      <p:cxnSp>
        <p:nvCxnSpPr>
          <p:cNvPr id="142" name="Conector de Seta Reta 141">
            <a:extLst>
              <a:ext uri="{FF2B5EF4-FFF2-40B4-BE49-F238E27FC236}">
                <a16:creationId xmlns:a16="http://schemas.microsoft.com/office/drawing/2014/main" id="{64C56DEB-2F60-145B-7331-A8DC806E2F60}"/>
              </a:ext>
            </a:extLst>
          </p:cNvPr>
          <p:cNvCxnSpPr>
            <a:cxnSpLocks/>
          </p:cNvCxnSpPr>
          <p:nvPr/>
        </p:nvCxnSpPr>
        <p:spPr>
          <a:xfrm>
            <a:off x="11270267" y="3777352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Conector de Seta Reta 142">
            <a:extLst>
              <a:ext uri="{FF2B5EF4-FFF2-40B4-BE49-F238E27FC236}">
                <a16:creationId xmlns:a16="http://schemas.microsoft.com/office/drawing/2014/main" id="{821A00A0-7ADB-535C-7DFB-75CB07336447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9793570" y="5509451"/>
            <a:ext cx="0" cy="86959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Conector de Seta Reta 143">
            <a:extLst>
              <a:ext uri="{FF2B5EF4-FFF2-40B4-BE49-F238E27FC236}">
                <a16:creationId xmlns:a16="http://schemas.microsoft.com/office/drawing/2014/main" id="{4D64E9B9-5B52-66A0-901D-42B2C89BE253}"/>
              </a:ext>
            </a:extLst>
          </p:cNvPr>
          <p:cNvCxnSpPr>
            <a:cxnSpLocks/>
          </p:cNvCxnSpPr>
          <p:nvPr/>
        </p:nvCxnSpPr>
        <p:spPr>
          <a:xfrm>
            <a:off x="11285166" y="2128386"/>
            <a:ext cx="0" cy="9719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Conector: Angulado 144">
            <a:extLst>
              <a:ext uri="{FF2B5EF4-FFF2-40B4-BE49-F238E27FC236}">
                <a16:creationId xmlns:a16="http://schemas.microsoft.com/office/drawing/2014/main" id="{3D909D18-C4D3-97BD-783E-6B307AA9F09F}"/>
              </a:ext>
            </a:extLst>
          </p:cNvPr>
          <p:cNvCxnSpPr>
            <a:cxnSpLocks/>
          </p:cNvCxnSpPr>
          <p:nvPr/>
        </p:nvCxnSpPr>
        <p:spPr>
          <a:xfrm flipV="1">
            <a:off x="10359883" y="1926274"/>
            <a:ext cx="373300" cy="3870791"/>
          </a:xfrm>
          <a:prstGeom prst="bentConnector3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Retângulo 145">
            <a:extLst>
              <a:ext uri="{FF2B5EF4-FFF2-40B4-BE49-F238E27FC236}">
                <a16:creationId xmlns:a16="http://schemas.microsoft.com/office/drawing/2014/main" id="{A9860C35-C98F-F4E0-706A-16C726A0C20F}"/>
              </a:ext>
            </a:extLst>
          </p:cNvPr>
          <p:cNvSpPr/>
          <p:nvPr/>
        </p:nvSpPr>
        <p:spPr>
          <a:xfrm>
            <a:off x="10717848" y="5101726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Emissão do </a:t>
            </a:r>
            <a:r>
              <a:rPr kumimoji="0" lang="pt-BR" sz="7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one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pt-BR" sz="7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page</a:t>
            </a:r>
            <a:r>
              <a:rPr kumimoji="0" lang="pt-BR" sz="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pt-BR" sz="7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47" name="Conector de Seta Reta 146">
            <a:extLst>
              <a:ext uri="{FF2B5EF4-FFF2-40B4-BE49-F238E27FC236}">
                <a16:creationId xmlns:a16="http://schemas.microsoft.com/office/drawing/2014/main" id="{71B9E74E-A613-104D-D2A6-198D400C8D10}"/>
              </a:ext>
            </a:extLst>
          </p:cNvPr>
          <p:cNvCxnSpPr>
            <a:cxnSpLocks/>
          </p:cNvCxnSpPr>
          <p:nvPr/>
        </p:nvCxnSpPr>
        <p:spPr>
          <a:xfrm>
            <a:off x="11270267" y="4352988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Retângulo 147">
            <a:extLst>
              <a:ext uri="{FF2B5EF4-FFF2-40B4-BE49-F238E27FC236}">
                <a16:creationId xmlns:a16="http://schemas.microsoft.com/office/drawing/2014/main" id="{C8E59257-42EA-55E0-FB0E-FBDD4795A017}"/>
              </a:ext>
            </a:extLst>
          </p:cNvPr>
          <p:cNvSpPr/>
          <p:nvPr/>
        </p:nvSpPr>
        <p:spPr>
          <a:xfrm>
            <a:off x="10717848" y="4526090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Lições aprendidas</a:t>
            </a:r>
          </a:p>
        </p:txBody>
      </p:sp>
      <p:cxnSp>
        <p:nvCxnSpPr>
          <p:cNvPr id="149" name="Conector de Seta Reta 148">
            <a:extLst>
              <a:ext uri="{FF2B5EF4-FFF2-40B4-BE49-F238E27FC236}">
                <a16:creationId xmlns:a16="http://schemas.microsoft.com/office/drawing/2014/main" id="{F0E4BEC3-AF55-E44D-BEBA-05A7EE5AD5D0}"/>
              </a:ext>
            </a:extLst>
          </p:cNvPr>
          <p:cNvCxnSpPr>
            <a:cxnSpLocks/>
          </p:cNvCxnSpPr>
          <p:nvPr/>
        </p:nvCxnSpPr>
        <p:spPr>
          <a:xfrm>
            <a:off x="11285164" y="4928216"/>
            <a:ext cx="0" cy="173918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Conector de Seta Reta 149">
            <a:extLst>
              <a:ext uri="{FF2B5EF4-FFF2-40B4-BE49-F238E27FC236}">
                <a16:creationId xmlns:a16="http://schemas.microsoft.com/office/drawing/2014/main" id="{BEE7F30F-6EDA-76DC-7025-804A5DC5CA1E}"/>
              </a:ext>
            </a:extLst>
          </p:cNvPr>
          <p:cNvCxnSpPr>
            <a:cxnSpLocks/>
          </p:cNvCxnSpPr>
          <p:nvPr/>
        </p:nvCxnSpPr>
        <p:spPr>
          <a:xfrm>
            <a:off x="11285164" y="5509451"/>
            <a:ext cx="0" cy="86959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Retângulo: Cantos Arredondados 150">
            <a:extLst>
              <a:ext uri="{FF2B5EF4-FFF2-40B4-BE49-F238E27FC236}">
                <a16:creationId xmlns:a16="http://schemas.microsoft.com/office/drawing/2014/main" id="{A05F9BD9-9A55-9F5C-576C-F582D76B67F8}"/>
              </a:ext>
            </a:extLst>
          </p:cNvPr>
          <p:cNvSpPr/>
          <p:nvPr/>
        </p:nvSpPr>
        <p:spPr>
          <a:xfrm>
            <a:off x="10728024" y="5594953"/>
            <a:ext cx="1128616" cy="398466"/>
          </a:xfrm>
          <a:prstGeom prst="round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Fechamento do projeto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2" name="Retângulo 151">
            <a:extLst>
              <a:ext uri="{FF2B5EF4-FFF2-40B4-BE49-F238E27FC236}">
                <a16:creationId xmlns:a16="http://schemas.microsoft.com/office/drawing/2014/main" id="{0E66F0D3-8A8C-1B69-EC3A-166543BDC63D}"/>
              </a:ext>
            </a:extLst>
          </p:cNvPr>
          <p:cNvSpPr/>
          <p:nvPr/>
        </p:nvSpPr>
        <p:spPr>
          <a:xfrm>
            <a:off x="6314030" y="5596410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Abertura do Projeto</a:t>
            </a:r>
          </a:p>
        </p:txBody>
      </p:sp>
      <p:sp>
        <p:nvSpPr>
          <p:cNvPr id="153" name="Retângulo 152">
            <a:extLst>
              <a:ext uri="{FF2B5EF4-FFF2-40B4-BE49-F238E27FC236}">
                <a16:creationId xmlns:a16="http://schemas.microsoft.com/office/drawing/2014/main" id="{E1B23634-D4F8-20B6-4F22-B191C5321238}"/>
              </a:ext>
            </a:extLst>
          </p:cNvPr>
          <p:cNvSpPr/>
          <p:nvPr/>
        </p:nvSpPr>
        <p:spPr>
          <a:xfrm>
            <a:off x="4959044" y="5587591"/>
            <a:ext cx="270474" cy="18000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4" name="Retângulo 153">
            <a:extLst>
              <a:ext uri="{FF2B5EF4-FFF2-40B4-BE49-F238E27FC236}">
                <a16:creationId xmlns:a16="http://schemas.microsoft.com/office/drawing/2014/main" id="{6D02CE23-943C-E28B-AFD0-34BBB0987E50}"/>
              </a:ext>
            </a:extLst>
          </p:cNvPr>
          <p:cNvSpPr/>
          <p:nvPr/>
        </p:nvSpPr>
        <p:spPr>
          <a:xfrm>
            <a:off x="4959084" y="5261504"/>
            <a:ext cx="270474" cy="180000"/>
          </a:xfrm>
          <a:prstGeom prst="rect">
            <a:avLst/>
          </a:prstGeom>
          <a:solidFill>
            <a:srgbClr val="364D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55" name="Conector de Seta Reta 154">
            <a:extLst>
              <a:ext uri="{FF2B5EF4-FFF2-40B4-BE49-F238E27FC236}">
                <a16:creationId xmlns:a16="http://schemas.microsoft.com/office/drawing/2014/main" id="{01A9119C-AEA3-5D44-55FE-1870FEEDE9BE}"/>
              </a:ext>
            </a:extLst>
          </p:cNvPr>
          <p:cNvCxnSpPr>
            <a:cxnSpLocks/>
            <a:stCxn id="119" idx="2"/>
            <a:endCxn id="152" idx="0"/>
          </p:cNvCxnSpPr>
          <p:nvPr/>
        </p:nvCxnSpPr>
        <p:spPr>
          <a:xfrm>
            <a:off x="6876332" y="5503444"/>
            <a:ext cx="2006" cy="9296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CaixaDeTexto 155">
            <a:extLst>
              <a:ext uri="{FF2B5EF4-FFF2-40B4-BE49-F238E27FC236}">
                <a16:creationId xmlns:a16="http://schemas.microsoft.com/office/drawing/2014/main" id="{5A250C82-6BDA-5D71-BB0D-5D180878E1F6}"/>
              </a:ext>
            </a:extLst>
          </p:cNvPr>
          <p:cNvSpPr txBox="1"/>
          <p:nvPr/>
        </p:nvSpPr>
        <p:spPr>
          <a:xfrm>
            <a:off x="4958301" y="4910681"/>
            <a:ext cx="864709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LEGENDA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9A83EF02-A14F-F708-0D38-A337B016FB5E}"/>
              </a:ext>
            </a:extLst>
          </p:cNvPr>
          <p:cNvSpPr txBox="1"/>
          <p:nvPr/>
        </p:nvSpPr>
        <p:spPr>
          <a:xfrm>
            <a:off x="5233547" y="5212710"/>
            <a:ext cx="859326" cy="2616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IGUAL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8" name="CaixaDeTexto 157">
            <a:extLst>
              <a:ext uri="{FF2B5EF4-FFF2-40B4-BE49-F238E27FC236}">
                <a16:creationId xmlns:a16="http://schemas.microsoft.com/office/drawing/2014/main" id="{01DC6602-4AF7-507F-77F5-C77279C8D3A4}"/>
              </a:ext>
            </a:extLst>
          </p:cNvPr>
          <p:cNvSpPr txBox="1"/>
          <p:nvPr/>
        </p:nvSpPr>
        <p:spPr>
          <a:xfrm>
            <a:off x="5228775" y="5564229"/>
            <a:ext cx="1077664" cy="2616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SIMILAR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9" name="Retângulo 158">
            <a:extLst>
              <a:ext uri="{FF2B5EF4-FFF2-40B4-BE49-F238E27FC236}">
                <a16:creationId xmlns:a16="http://schemas.microsoft.com/office/drawing/2014/main" id="{11276912-1843-9446-6DC3-0E90E2182A93}"/>
              </a:ext>
            </a:extLst>
          </p:cNvPr>
          <p:cNvSpPr/>
          <p:nvPr/>
        </p:nvSpPr>
        <p:spPr>
          <a:xfrm>
            <a:off x="4846592" y="2796510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Emissão do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one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page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60" name="Conector de Seta Reta 159">
            <a:extLst>
              <a:ext uri="{FF2B5EF4-FFF2-40B4-BE49-F238E27FC236}">
                <a16:creationId xmlns:a16="http://schemas.microsoft.com/office/drawing/2014/main" id="{EF045D90-2A16-DE1C-5D0B-D62D097055CA}"/>
              </a:ext>
            </a:extLst>
          </p:cNvPr>
          <p:cNvCxnSpPr>
            <a:cxnSpLocks/>
          </p:cNvCxnSpPr>
          <p:nvPr/>
        </p:nvCxnSpPr>
        <p:spPr>
          <a:xfrm>
            <a:off x="5373542" y="3197820"/>
            <a:ext cx="0" cy="17432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Retângulo 160">
            <a:extLst>
              <a:ext uri="{FF2B5EF4-FFF2-40B4-BE49-F238E27FC236}">
                <a16:creationId xmlns:a16="http://schemas.microsoft.com/office/drawing/2014/main" id="{EE01F4C0-CCB3-F7A2-AD33-B336D2BE4281}"/>
              </a:ext>
            </a:extLst>
          </p:cNvPr>
          <p:cNvSpPr/>
          <p:nvPr/>
        </p:nvSpPr>
        <p:spPr>
          <a:xfrm>
            <a:off x="4958301" y="5925667"/>
            <a:ext cx="270474" cy="18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CaixaDeTexto 161">
            <a:extLst>
              <a:ext uri="{FF2B5EF4-FFF2-40B4-BE49-F238E27FC236}">
                <a16:creationId xmlns:a16="http://schemas.microsoft.com/office/drawing/2014/main" id="{8BBD76CD-4265-EC32-4176-AC9247AF26C7}"/>
              </a:ext>
            </a:extLst>
          </p:cNvPr>
          <p:cNvSpPr txBox="1"/>
          <p:nvPr/>
        </p:nvSpPr>
        <p:spPr>
          <a:xfrm>
            <a:off x="5234360" y="5903694"/>
            <a:ext cx="1077664" cy="26161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ÚNICO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3" name="Retângulo 162">
            <a:extLst>
              <a:ext uri="{FF2B5EF4-FFF2-40B4-BE49-F238E27FC236}">
                <a16:creationId xmlns:a16="http://schemas.microsoft.com/office/drawing/2014/main" id="{8F057AC4-9990-CB10-FCD4-013F00D1CFAB}"/>
              </a:ext>
            </a:extLst>
          </p:cNvPr>
          <p:cNvSpPr/>
          <p:nvPr/>
        </p:nvSpPr>
        <p:spPr>
          <a:xfrm>
            <a:off x="7814336" y="1731546"/>
            <a:ext cx="1128616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Abertura de ordem OS / RC</a:t>
            </a:r>
          </a:p>
        </p:txBody>
      </p:sp>
      <p:sp>
        <p:nvSpPr>
          <p:cNvPr id="164" name="Retângulo 163">
            <a:extLst>
              <a:ext uri="{FF2B5EF4-FFF2-40B4-BE49-F238E27FC236}">
                <a16:creationId xmlns:a16="http://schemas.microsoft.com/office/drawing/2014/main" id="{B9B962CB-C0B4-8E0C-941E-D305DFFE6345}"/>
              </a:ext>
            </a:extLst>
          </p:cNvPr>
          <p:cNvSpPr/>
          <p:nvPr/>
        </p:nvSpPr>
        <p:spPr>
          <a:xfrm>
            <a:off x="7814336" y="2235602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Definição do Escopo</a:t>
            </a:r>
          </a:p>
        </p:txBody>
      </p:sp>
      <p:pic>
        <p:nvPicPr>
          <p:cNvPr id="165" name="Gráfico 164" descr="Selo Tick1 com preenchimento sólido">
            <a:extLst>
              <a:ext uri="{FF2B5EF4-FFF2-40B4-BE49-F238E27FC236}">
                <a16:creationId xmlns:a16="http://schemas.microsoft.com/office/drawing/2014/main" id="{BE1DBD6B-6023-E168-8582-8B07184A8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3920" y="3360285"/>
            <a:ext cx="441665" cy="441665"/>
          </a:xfrm>
          <a:prstGeom prst="rect">
            <a:avLst/>
          </a:prstGeom>
        </p:spPr>
      </p:pic>
      <p:pic>
        <p:nvPicPr>
          <p:cNvPr id="166" name="Gráfico 165" descr="Selo cruz com preenchimento sólido">
            <a:extLst>
              <a:ext uri="{FF2B5EF4-FFF2-40B4-BE49-F238E27FC236}">
                <a16:creationId xmlns:a16="http://schemas.microsoft.com/office/drawing/2014/main" id="{48FBA988-54F5-7309-EDD2-FB723A065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1975" y="3356992"/>
            <a:ext cx="442800" cy="442800"/>
          </a:xfrm>
          <a:prstGeom prst="rect">
            <a:avLst/>
          </a:prstGeom>
        </p:spPr>
      </p:pic>
      <p:cxnSp>
        <p:nvCxnSpPr>
          <p:cNvPr id="167" name="Conector: Angulado 166">
            <a:extLst>
              <a:ext uri="{FF2B5EF4-FFF2-40B4-BE49-F238E27FC236}">
                <a16:creationId xmlns:a16="http://schemas.microsoft.com/office/drawing/2014/main" id="{FC55F5C9-B59E-3906-D41F-0800425DF311}"/>
              </a:ext>
            </a:extLst>
          </p:cNvPr>
          <p:cNvCxnSpPr>
            <a:cxnSpLocks/>
            <a:stCxn id="114" idx="2"/>
            <a:endCxn id="166" idx="0"/>
          </p:cNvCxnSpPr>
          <p:nvPr/>
        </p:nvCxnSpPr>
        <p:spPr>
          <a:xfrm rot="5400000">
            <a:off x="6648626" y="3127280"/>
            <a:ext cx="154462" cy="30496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Conector: Angulado 167">
            <a:extLst>
              <a:ext uri="{FF2B5EF4-FFF2-40B4-BE49-F238E27FC236}">
                <a16:creationId xmlns:a16="http://schemas.microsoft.com/office/drawing/2014/main" id="{3646796D-9FDF-DC4C-39A9-88CC22956D02}"/>
              </a:ext>
            </a:extLst>
          </p:cNvPr>
          <p:cNvCxnSpPr>
            <a:cxnSpLocks/>
            <a:stCxn id="166" idx="2"/>
            <a:endCxn id="116" idx="0"/>
          </p:cNvCxnSpPr>
          <p:nvPr/>
        </p:nvCxnSpPr>
        <p:spPr>
          <a:xfrm rot="16200000" flipH="1">
            <a:off x="6649914" y="3723252"/>
            <a:ext cx="151885" cy="304963"/>
          </a:xfrm>
          <a:prstGeom prst="bentConnector3">
            <a:avLst>
              <a:gd name="adj1" fmla="val 31187"/>
            </a:avLst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Conector: Angulado 168">
            <a:extLst>
              <a:ext uri="{FF2B5EF4-FFF2-40B4-BE49-F238E27FC236}">
                <a16:creationId xmlns:a16="http://schemas.microsoft.com/office/drawing/2014/main" id="{809074D7-4E16-60B5-3040-9C7B8BF592E2}"/>
              </a:ext>
            </a:extLst>
          </p:cNvPr>
          <p:cNvCxnSpPr>
            <a:cxnSpLocks/>
            <a:stCxn id="114" idx="2"/>
            <a:endCxn id="165" idx="0"/>
          </p:cNvCxnSpPr>
          <p:nvPr/>
        </p:nvCxnSpPr>
        <p:spPr>
          <a:xfrm rot="16200000" flipH="1">
            <a:off x="6977668" y="3103199"/>
            <a:ext cx="157755" cy="35641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Conector: Angulado 169">
            <a:extLst>
              <a:ext uri="{FF2B5EF4-FFF2-40B4-BE49-F238E27FC236}">
                <a16:creationId xmlns:a16="http://schemas.microsoft.com/office/drawing/2014/main" id="{738D6CE0-C9A8-BF1A-A812-BC31800CAD81}"/>
              </a:ext>
            </a:extLst>
          </p:cNvPr>
          <p:cNvCxnSpPr>
            <a:cxnSpLocks/>
            <a:stCxn id="165" idx="3"/>
            <a:endCxn id="152" idx="3"/>
          </p:cNvCxnSpPr>
          <p:nvPr/>
        </p:nvCxnSpPr>
        <p:spPr>
          <a:xfrm flipH="1">
            <a:off x="7442646" y="3581118"/>
            <a:ext cx="12939" cy="2215947"/>
          </a:xfrm>
          <a:prstGeom prst="bentConnector3">
            <a:avLst>
              <a:gd name="adj1" fmla="val -1766752"/>
            </a:avLst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Conector: Angulado 170">
            <a:extLst>
              <a:ext uri="{FF2B5EF4-FFF2-40B4-BE49-F238E27FC236}">
                <a16:creationId xmlns:a16="http://schemas.microsoft.com/office/drawing/2014/main" id="{AE99BFF1-5136-447E-09D4-AFF189562CE2}"/>
              </a:ext>
            </a:extLst>
          </p:cNvPr>
          <p:cNvCxnSpPr>
            <a:cxnSpLocks/>
            <a:stCxn id="152" idx="2"/>
            <a:endCxn id="164" idx="2"/>
          </p:cNvCxnSpPr>
          <p:nvPr/>
        </p:nvCxnSpPr>
        <p:spPr>
          <a:xfrm rot="5400000" flipH="1" flipV="1">
            <a:off x="5948087" y="3567163"/>
            <a:ext cx="3360808" cy="1500306"/>
          </a:xfrm>
          <a:prstGeom prst="bentConnector3">
            <a:avLst>
              <a:gd name="adj1" fmla="val -6802"/>
            </a:avLst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Conector de Seta Reta 171">
            <a:extLst>
              <a:ext uri="{FF2B5EF4-FFF2-40B4-BE49-F238E27FC236}">
                <a16:creationId xmlns:a16="http://schemas.microsoft.com/office/drawing/2014/main" id="{7886942D-8142-FDCD-E2E3-75A87AD85A61}"/>
              </a:ext>
            </a:extLst>
          </p:cNvPr>
          <p:cNvCxnSpPr>
            <a:cxnSpLocks/>
            <a:stCxn id="164" idx="0"/>
            <a:endCxn id="163" idx="2"/>
          </p:cNvCxnSpPr>
          <p:nvPr/>
        </p:nvCxnSpPr>
        <p:spPr>
          <a:xfrm flipV="1">
            <a:off x="8378644" y="2132856"/>
            <a:ext cx="0" cy="102746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Conector de Seta Reta 172">
            <a:extLst>
              <a:ext uri="{FF2B5EF4-FFF2-40B4-BE49-F238E27FC236}">
                <a16:creationId xmlns:a16="http://schemas.microsoft.com/office/drawing/2014/main" id="{6EE70416-F439-2AD0-D221-B03FE3F2BF5C}"/>
              </a:ext>
            </a:extLst>
          </p:cNvPr>
          <p:cNvCxnSpPr>
            <a:cxnSpLocks/>
            <a:stCxn id="163" idx="3"/>
            <a:endCxn id="121" idx="1"/>
          </p:cNvCxnSpPr>
          <p:nvPr/>
        </p:nvCxnSpPr>
        <p:spPr>
          <a:xfrm flipV="1">
            <a:off x="8942952" y="1927731"/>
            <a:ext cx="288316" cy="447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8" name="Elipse 177">
            <a:extLst>
              <a:ext uri="{FF2B5EF4-FFF2-40B4-BE49-F238E27FC236}">
                <a16:creationId xmlns:a16="http://schemas.microsoft.com/office/drawing/2014/main" id="{7F9B309B-F2C9-298C-5550-4E47AB8B0DE8}"/>
              </a:ext>
            </a:extLst>
          </p:cNvPr>
          <p:cNvSpPr/>
          <p:nvPr/>
        </p:nvSpPr>
        <p:spPr>
          <a:xfrm>
            <a:off x="6459872" y="1721100"/>
            <a:ext cx="828475" cy="402171"/>
          </a:xfrm>
          <a:prstGeom prst="ellipse">
            <a:avLst/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Início </a:t>
            </a:r>
          </a:p>
        </p:txBody>
      </p:sp>
      <p:cxnSp>
        <p:nvCxnSpPr>
          <p:cNvPr id="179" name="Conector de Seta Reta 178">
            <a:extLst>
              <a:ext uri="{FF2B5EF4-FFF2-40B4-BE49-F238E27FC236}">
                <a16:creationId xmlns:a16="http://schemas.microsoft.com/office/drawing/2014/main" id="{3FD83ED9-0318-C5B7-2975-79A7FFCE3B9B}"/>
              </a:ext>
            </a:extLst>
          </p:cNvPr>
          <p:cNvCxnSpPr>
            <a:cxnSpLocks/>
            <a:stCxn id="178" idx="4"/>
            <a:endCxn id="112" idx="0"/>
          </p:cNvCxnSpPr>
          <p:nvPr/>
        </p:nvCxnSpPr>
        <p:spPr>
          <a:xfrm>
            <a:off x="6874110" y="2123271"/>
            <a:ext cx="4228" cy="10272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9781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425" imgH="424" progId="TCLayout.ActiveDocument.1">
                  <p:embed/>
                </p:oleObj>
              </mc:Choice>
              <mc:Fallback>
                <p:oleObj name="Slide do think-cell" r:id="rId5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00FA7DB-FA08-FFCE-07BB-84C65122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Qualitativo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2A0F6E59-2E78-664E-1FC8-D460FE629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7F38DDA-3531-3985-0C43-0013CA0DED28}"/>
              </a:ext>
            </a:extLst>
          </p:cNvPr>
          <p:cNvSpPr/>
          <p:nvPr/>
        </p:nvSpPr>
        <p:spPr>
          <a:xfrm>
            <a:off x="320465" y="1088792"/>
            <a:ext cx="11632896" cy="608942"/>
          </a:xfrm>
          <a:prstGeom prst="rect">
            <a:avLst/>
          </a:prstGeom>
          <a:solidFill>
            <a:srgbClr val="C3CFE1"/>
          </a:solidFill>
          <a:ln w="9525" algn="ctr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101600" rIns="26988" bIns="10160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CONVERSÃO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D6DF468-B2C2-870C-AB2A-BA6069A171FB}"/>
              </a:ext>
            </a:extLst>
          </p:cNvPr>
          <p:cNvGrpSpPr/>
          <p:nvPr/>
        </p:nvGrpSpPr>
        <p:grpSpPr>
          <a:xfrm>
            <a:off x="333356" y="1786326"/>
            <a:ext cx="1130622" cy="4276232"/>
            <a:chOff x="333356" y="1786326"/>
            <a:chExt cx="1130622" cy="4276232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D232DB7D-3035-9E72-F510-6A610D737718}"/>
                </a:ext>
              </a:extLst>
            </p:cNvPr>
            <p:cNvSpPr/>
            <p:nvPr/>
          </p:nvSpPr>
          <p:spPr>
            <a:xfrm>
              <a:off x="553702" y="1786326"/>
              <a:ext cx="687924" cy="326346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285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Início 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9E90038F-80BF-1B3B-ED26-DF6DDE44B3F1}"/>
                </a:ext>
              </a:extLst>
            </p:cNvPr>
            <p:cNvSpPr/>
            <p:nvPr/>
          </p:nvSpPr>
          <p:spPr>
            <a:xfrm>
              <a:off x="333356" y="2225992"/>
              <a:ext cx="1128616" cy="401310"/>
            </a:xfrm>
            <a:prstGeom prst="rect">
              <a:avLst/>
            </a:prstGeom>
            <a:solidFill>
              <a:srgbClr val="364D6E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Identificar oportunidade</a:t>
              </a:r>
            </a:p>
          </p:txBody>
        </p:sp>
        <p:cxnSp>
          <p:nvCxnSpPr>
            <p:cNvPr id="18" name="Conector de Seta Reta 17">
              <a:extLst>
                <a:ext uri="{FF2B5EF4-FFF2-40B4-BE49-F238E27FC236}">
                  <a16:creationId xmlns:a16="http://schemas.microsoft.com/office/drawing/2014/main" id="{DB4C06A3-4471-4539-CAC7-CA4DF63856DB}"/>
                </a:ext>
              </a:extLst>
            </p:cNvPr>
            <p:cNvCxnSpPr>
              <a:cxnSpLocks/>
              <a:stCxn id="11" idx="4"/>
              <a:endCxn id="12" idx="0"/>
            </p:cNvCxnSpPr>
            <p:nvPr/>
          </p:nvCxnSpPr>
          <p:spPr>
            <a:xfrm>
              <a:off x="897664" y="2112672"/>
              <a:ext cx="0" cy="113320"/>
            </a:xfrm>
            <a:prstGeom prst="straightConnector1">
              <a:avLst/>
            </a:prstGeom>
            <a:ln w="19050"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FDE198D6-94A9-8EAC-0477-23A5E6A343C1}"/>
                </a:ext>
              </a:extLst>
            </p:cNvPr>
            <p:cNvSpPr/>
            <p:nvPr/>
          </p:nvSpPr>
          <p:spPr>
            <a:xfrm>
              <a:off x="333356" y="2913043"/>
              <a:ext cx="1128616" cy="401310"/>
            </a:xfrm>
            <a:prstGeom prst="rect">
              <a:avLst/>
            </a:prstGeom>
            <a:solidFill>
              <a:srgbClr val="364D6E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 Reunião v0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 (Análise Embarcações)</a:t>
              </a:r>
            </a:p>
          </p:txBody>
        </p:sp>
        <p:cxnSp>
          <p:nvCxnSpPr>
            <p:cNvPr id="20" name="Conector de Seta Reta 19">
              <a:extLst>
                <a:ext uri="{FF2B5EF4-FFF2-40B4-BE49-F238E27FC236}">
                  <a16:creationId xmlns:a16="http://schemas.microsoft.com/office/drawing/2014/main" id="{F27B83E5-3C07-F853-88DA-D80355DF24C2}"/>
                </a:ext>
              </a:extLst>
            </p:cNvPr>
            <p:cNvCxnSpPr>
              <a:cxnSpLocks/>
              <a:stCxn id="12" idx="2"/>
              <a:endCxn id="19" idx="0"/>
            </p:cNvCxnSpPr>
            <p:nvPr/>
          </p:nvCxnSpPr>
          <p:spPr>
            <a:xfrm>
              <a:off x="897664" y="2627302"/>
              <a:ext cx="0" cy="285741"/>
            </a:xfrm>
            <a:prstGeom prst="straightConnector1">
              <a:avLst/>
            </a:prstGeom>
            <a:ln w="19050"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36FB064-7F3A-45B6-2156-18356EECFA52}"/>
                </a:ext>
              </a:extLst>
            </p:cNvPr>
            <p:cNvSpPr/>
            <p:nvPr/>
          </p:nvSpPr>
          <p:spPr>
            <a:xfrm>
              <a:off x="333356" y="3600094"/>
              <a:ext cx="1128616" cy="401310"/>
            </a:xfrm>
            <a:prstGeom prst="rect">
              <a:avLst/>
            </a:prstGeom>
            <a:solidFill>
              <a:srgbClr val="364D6E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Liberação projeto para estudo BC </a:t>
              </a:r>
            </a:p>
          </p:txBody>
        </p:sp>
        <p:cxnSp>
          <p:nvCxnSpPr>
            <p:cNvPr id="22" name="Conector de Seta Reta 21">
              <a:extLst>
                <a:ext uri="{FF2B5EF4-FFF2-40B4-BE49-F238E27FC236}">
                  <a16:creationId xmlns:a16="http://schemas.microsoft.com/office/drawing/2014/main" id="{0CE5BAC4-DC02-A978-0E01-DC7ED7D64D72}"/>
                </a:ext>
              </a:extLst>
            </p:cNvPr>
            <p:cNvCxnSpPr>
              <a:cxnSpLocks/>
              <a:stCxn id="19" idx="2"/>
              <a:endCxn id="21" idx="0"/>
            </p:cNvCxnSpPr>
            <p:nvPr/>
          </p:nvCxnSpPr>
          <p:spPr>
            <a:xfrm>
              <a:off x="897664" y="3314353"/>
              <a:ext cx="0" cy="285741"/>
            </a:xfrm>
            <a:prstGeom prst="straightConnector1">
              <a:avLst/>
            </a:prstGeom>
            <a:ln w="19050"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5B8FF175-F287-DF01-3B8D-48FDBDCFFA55}"/>
                </a:ext>
              </a:extLst>
            </p:cNvPr>
            <p:cNvSpPr/>
            <p:nvPr/>
          </p:nvSpPr>
          <p:spPr>
            <a:xfrm>
              <a:off x="335362" y="4287145"/>
              <a:ext cx="1128616" cy="401310"/>
            </a:xfrm>
            <a:prstGeom prst="rect">
              <a:avLst/>
            </a:prstGeom>
            <a:solidFill>
              <a:srgbClr val="364D6E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Definição do escopo</a:t>
              </a:r>
            </a:p>
          </p:txBody>
        </p: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106B9E46-908D-C4C0-C313-1959FB235DE2}"/>
                </a:ext>
              </a:extLst>
            </p:cNvPr>
            <p:cNvCxnSpPr>
              <a:cxnSpLocks/>
              <a:stCxn id="21" idx="2"/>
              <a:endCxn id="24" idx="0"/>
            </p:cNvCxnSpPr>
            <p:nvPr/>
          </p:nvCxnSpPr>
          <p:spPr>
            <a:xfrm>
              <a:off x="897664" y="4001404"/>
              <a:ext cx="2006" cy="285741"/>
            </a:xfrm>
            <a:prstGeom prst="straightConnector1">
              <a:avLst/>
            </a:prstGeom>
            <a:ln w="19050"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id="{BADC8F4D-E24A-47CA-02BF-47616B0C4863}"/>
                </a:ext>
              </a:extLst>
            </p:cNvPr>
            <p:cNvSpPr/>
            <p:nvPr/>
          </p:nvSpPr>
          <p:spPr>
            <a:xfrm>
              <a:off x="333356" y="4974196"/>
              <a:ext cx="1128616" cy="401310"/>
            </a:xfrm>
            <a:prstGeom prst="rect">
              <a:avLst/>
            </a:prstGeom>
            <a:solidFill>
              <a:srgbClr val="364D6E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Elaboração cronograma e orçamento</a:t>
              </a:r>
            </a:p>
          </p:txBody>
        </p:sp>
        <p:cxnSp>
          <p:nvCxnSpPr>
            <p:cNvPr id="27" name="Conector de Seta Reta 26">
              <a:extLst>
                <a:ext uri="{FF2B5EF4-FFF2-40B4-BE49-F238E27FC236}">
                  <a16:creationId xmlns:a16="http://schemas.microsoft.com/office/drawing/2014/main" id="{777BB974-AA6D-0EE3-4D96-4BD339562990}"/>
                </a:ext>
              </a:extLst>
            </p:cNvPr>
            <p:cNvCxnSpPr>
              <a:cxnSpLocks/>
              <a:stCxn id="24" idx="2"/>
              <a:endCxn id="26" idx="0"/>
            </p:cNvCxnSpPr>
            <p:nvPr/>
          </p:nvCxnSpPr>
          <p:spPr>
            <a:xfrm flipH="1">
              <a:off x="897664" y="4688455"/>
              <a:ext cx="2006" cy="285741"/>
            </a:xfrm>
            <a:prstGeom prst="straightConnector1">
              <a:avLst/>
            </a:prstGeom>
            <a:ln w="19050"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6BEEAFDB-DB31-2E3D-6C67-D3D2B6345290}"/>
                </a:ext>
              </a:extLst>
            </p:cNvPr>
            <p:cNvSpPr/>
            <p:nvPr/>
          </p:nvSpPr>
          <p:spPr>
            <a:xfrm>
              <a:off x="335360" y="5661248"/>
              <a:ext cx="1128616" cy="401310"/>
            </a:xfrm>
            <a:prstGeom prst="rect">
              <a:avLst/>
            </a:prstGeom>
            <a:solidFill>
              <a:srgbClr val="364D6E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Análise Financeira</a:t>
              </a:r>
            </a:p>
          </p:txBody>
        </p:sp>
        <p:cxnSp>
          <p:nvCxnSpPr>
            <p:cNvPr id="29" name="Conector de Seta Reta 28">
              <a:extLst>
                <a:ext uri="{FF2B5EF4-FFF2-40B4-BE49-F238E27FC236}">
                  <a16:creationId xmlns:a16="http://schemas.microsoft.com/office/drawing/2014/main" id="{4676C03A-2CF1-03AC-1AF1-2E1BC538A29C}"/>
                </a:ext>
              </a:extLst>
            </p:cNvPr>
            <p:cNvCxnSpPr>
              <a:cxnSpLocks/>
              <a:stCxn id="26" idx="2"/>
              <a:endCxn id="28" idx="0"/>
            </p:cNvCxnSpPr>
            <p:nvPr/>
          </p:nvCxnSpPr>
          <p:spPr>
            <a:xfrm>
              <a:off x="897664" y="5375506"/>
              <a:ext cx="2004" cy="285742"/>
            </a:xfrm>
            <a:prstGeom prst="straightConnector1">
              <a:avLst/>
            </a:prstGeom>
            <a:ln w="19050">
              <a:tailEnd type="triangl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Retângulo 29">
            <a:extLst>
              <a:ext uri="{FF2B5EF4-FFF2-40B4-BE49-F238E27FC236}">
                <a16:creationId xmlns:a16="http://schemas.microsoft.com/office/drawing/2014/main" id="{64A22299-6C3D-7DEE-9444-DA301F55E240}"/>
              </a:ext>
            </a:extLst>
          </p:cNvPr>
          <p:cNvSpPr/>
          <p:nvPr/>
        </p:nvSpPr>
        <p:spPr>
          <a:xfrm>
            <a:off x="2710121" y="2225992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Elaboração do material do BC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0B97DCA-F25F-50E4-A2B8-9A2292D9F540}"/>
              </a:ext>
            </a:extLst>
          </p:cNvPr>
          <p:cNvSpPr/>
          <p:nvPr/>
        </p:nvSpPr>
        <p:spPr>
          <a:xfrm>
            <a:off x="2710121" y="2913043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GO / NO GO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4F5EAF41-B15E-8B93-FBB7-E29B0C8CF815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>
            <a:off x="3274429" y="2627302"/>
            <a:ext cx="0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tângulo 32">
            <a:extLst>
              <a:ext uri="{FF2B5EF4-FFF2-40B4-BE49-F238E27FC236}">
                <a16:creationId xmlns:a16="http://schemas.microsoft.com/office/drawing/2014/main" id="{20D925FE-92FB-0E84-22B4-7BD6060D471E}"/>
              </a:ext>
            </a:extLst>
          </p:cNvPr>
          <p:cNvSpPr/>
          <p:nvPr/>
        </p:nvSpPr>
        <p:spPr>
          <a:xfrm>
            <a:off x="2710121" y="3600094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Submissão leilão / Negociação comercial</a:t>
            </a:r>
          </a:p>
        </p:txBody>
      </p: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7A8B2E05-2CBD-B436-40F7-7CE49B3F351B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>
            <a:off x="3274429" y="3314353"/>
            <a:ext cx="0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B9DE7C91-1664-CCD1-88FF-81CAC9052288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3274429" y="4001404"/>
            <a:ext cx="2006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tângulo 35">
            <a:extLst>
              <a:ext uri="{FF2B5EF4-FFF2-40B4-BE49-F238E27FC236}">
                <a16:creationId xmlns:a16="http://schemas.microsoft.com/office/drawing/2014/main" id="{0CBE71C8-95CA-E2F7-7085-CD1985C8C6FD}"/>
              </a:ext>
            </a:extLst>
          </p:cNvPr>
          <p:cNvSpPr/>
          <p:nvPr/>
        </p:nvSpPr>
        <p:spPr>
          <a:xfrm>
            <a:off x="2710121" y="4287145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Assinatura do contrato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3E7B6F2C-6911-7BC9-35B7-ACBEA43526F6}"/>
              </a:ext>
            </a:extLst>
          </p:cNvPr>
          <p:cNvSpPr/>
          <p:nvPr/>
        </p:nvSpPr>
        <p:spPr>
          <a:xfrm>
            <a:off x="2710121" y="4974196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off</a:t>
            </a: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C77F5ACC-5047-3357-F025-31AE9E653ED4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>
            <a:off x="3274429" y="4688455"/>
            <a:ext cx="0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tângulo 39">
            <a:extLst>
              <a:ext uri="{FF2B5EF4-FFF2-40B4-BE49-F238E27FC236}">
                <a16:creationId xmlns:a16="http://schemas.microsoft.com/office/drawing/2014/main" id="{D5E56453-A086-357D-00BD-97A99F86CC2C}"/>
              </a:ext>
            </a:extLst>
          </p:cNvPr>
          <p:cNvSpPr/>
          <p:nvPr/>
        </p:nvSpPr>
        <p:spPr>
          <a:xfrm>
            <a:off x="2710121" y="5661248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Abertura do projeto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835861B1-E5BA-6897-8667-D9E5CC46A2E2}"/>
              </a:ext>
            </a:extLst>
          </p:cNvPr>
          <p:cNvSpPr/>
          <p:nvPr/>
        </p:nvSpPr>
        <p:spPr>
          <a:xfrm>
            <a:off x="5086886" y="2224519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Liberação dos desenhos / EP / Diagramas / Serviço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924BFCAB-76BD-84A7-B08F-04CEE8406BC7}"/>
              </a:ext>
            </a:extLst>
          </p:cNvPr>
          <p:cNvSpPr/>
          <p:nvPr/>
        </p:nvSpPr>
        <p:spPr>
          <a:xfrm>
            <a:off x="5086886" y="2911570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Liberação </a:t>
            </a: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RC’s</a:t>
            </a:r>
            <a:endParaRPr kumimoji="0" lang="pt-BR" sz="7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E99AA00B-9B9A-411E-2AB7-D618B03E89C6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5651194" y="2625829"/>
            <a:ext cx="0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tângulo 43">
            <a:extLst>
              <a:ext uri="{FF2B5EF4-FFF2-40B4-BE49-F238E27FC236}">
                <a16:creationId xmlns:a16="http://schemas.microsoft.com/office/drawing/2014/main" id="{1AEE297D-41FB-1014-FA11-22A50720C79D}"/>
              </a:ext>
            </a:extLst>
          </p:cNvPr>
          <p:cNvSpPr/>
          <p:nvPr/>
        </p:nvSpPr>
        <p:spPr>
          <a:xfrm>
            <a:off x="5088892" y="3598621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Emissão de </a:t>
            </a: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POs</a:t>
            </a:r>
            <a:endParaRPr kumimoji="0" lang="pt-BR" sz="7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75D15A06-B8DB-DEEF-8AA2-9A10BA45684C}"/>
              </a:ext>
            </a:extLst>
          </p:cNvPr>
          <p:cNvCxnSpPr>
            <a:cxnSpLocks/>
            <a:stCxn id="42" idx="2"/>
            <a:endCxn id="44" idx="0"/>
          </p:cNvCxnSpPr>
          <p:nvPr/>
        </p:nvCxnSpPr>
        <p:spPr>
          <a:xfrm>
            <a:off x="5651194" y="3312880"/>
            <a:ext cx="2006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tângulo 45">
            <a:extLst>
              <a:ext uri="{FF2B5EF4-FFF2-40B4-BE49-F238E27FC236}">
                <a16:creationId xmlns:a16="http://schemas.microsoft.com/office/drawing/2014/main" id="{0977BC4B-6595-F4EF-5F7A-854F13669290}"/>
              </a:ext>
            </a:extLst>
          </p:cNvPr>
          <p:cNvSpPr/>
          <p:nvPr/>
        </p:nvSpPr>
        <p:spPr>
          <a:xfrm>
            <a:off x="5086886" y="4285672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Disponibilidade dos materiais</a:t>
            </a:r>
          </a:p>
        </p:txBody>
      </p: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0033DF73-E764-7182-52DE-1C0493DC9D8C}"/>
              </a:ext>
            </a:extLst>
          </p:cNvPr>
          <p:cNvCxnSpPr>
            <a:cxnSpLocks/>
            <a:stCxn id="44" idx="2"/>
            <a:endCxn id="46" idx="0"/>
          </p:cNvCxnSpPr>
          <p:nvPr/>
        </p:nvCxnSpPr>
        <p:spPr>
          <a:xfrm flipH="1">
            <a:off x="5651194" y="3999931"/>
            <a:ext cx="2006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tângulo 47">
            <a:extLst>
              <a:ext uri="{FF2B5EF4-FFF2-40B4-BE49-F238E27FC236}">
                <a16:creationId xmlns:a16="http://schemas.microsoft.com/office/drawing/2014/main" id="{0A15211F-4A60-DB29-B701-9B069FBD819E}"/>
              </a:ext>
            </a:extLst>
          </p:cNvPr>
          <p:cNvSpPr/>
          <p:nvPr/>
        </p:nvSpPr>
        <p:spPr>
          <a:xfrm>
            <a:off x="5088890" y="4972724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Reunião </a:t>
            </a: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pré</a:t>
            </a: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-conversão (Estaleiros)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88A60EC3-1B48-5546-B18A-A625E5BA50D1}"/>
              </a:ext>
            </a:extLst>
          </p:cNvPr>
          <p:cNvCxnSpPr>
            <a:cxnSpLocks/>
            <a:stCxn id="46" idx="2"/>
            <a:endCxn id="48" idx="0"/>
          </p:cNvCxnSpPr>
          <p:nvPr/>
        </p:nvCxnSpPr>
        <p:spPr>
          <a:xfrm>
            <a:off x="5651194" y="4686982"/>
            <a:ext cx="2004" cy="285742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tângulo 49">
            <a:extLst>
              <a:ext uri="{FF2B5EF4-FFF2-40B4-BE49-F238E27FC236}">
                <a16:creationId xmlns:a16="http://schemas.microsoft.com/office/drawing/2014/main" id="{2A3FDC1A-8C0D-44C7-5ADA-D40817A4C8EB}"/>
              </a:ext>
            </a:extLst>
          </p:cNvPr>
          <p:cNvSpPr/>
          <p:nvPr/>
        </p:nvSpPr>
        <p:spPr>
          <a:xfrm>
            <a:off x="5090820" y="5641797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Atracação da embarcação/</a:t>
            </a: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docagem</a:t>
            </a:r>
            <a:endParaRPr kumimoji="0" lang="pt-BR" sz="7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1B61E4BE-7A52-7AF2-44C8-800DF1A5E4EC}"/>
              </a:ext>
            </a:extLst>
          </p:cNvPr>
          <p:cNvSpPr/>
          <p:nvPr/>
        </p:nvSpPr>
        <p:spPr>
          <a:xfrm>
            <a:off x="7449525" y="2224519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Execução Física (Obra)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A38C4384-4ACE-5681-5A51-69AD05681E8E}"/>
              </a:ext>
            </a:extLst>
          </p:cNvPr>
          <p:cNvSpPr/>
          <p:nvPr/>
        </p:nvSpPr>
        <p:spPr>
          <a:xfrm>
            <a:off x="7449525" y="2911570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Pagamento dos fornecedores</a:t>
            </a:r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441516C3-EE5C-6079-677B-9E45C0FCC9A4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8013833" y="2625829"/>
            <a:ext cx="0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etângulo 54">
            <a:extLst>
              <a:ext uri="{FF2B5EF4-FFF2-40B4-BE49-F238E27FC236}">
                <a16:creationId xmlns:a16="http://schemas.microsoft.com/office/drawing/2014/main" id="{A0ED6183-94E6-5EB9-ABED-5AD909000BB4}"/>
              </a:ext>
            </a:extLst>
          </p:cNvPr>
          <p:cNvSpPr/>
          <p:nvPr/>
        </p:nvSpPr>
        <p:spPr>
          <a:xfrm>
            <a:off x="7451531" y="3598621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Comissionamento / Testes / Certificação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9A730987-9CDF-581B-02F3-EAD964FAE131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>
            <a:off x="8013833" y="3312880"/>
            <a:ext cx="2006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5C6F4EA1-5AE9-EEAA-5EE6-277FFD95B75D}"/>
              </a:ext>
            </a:extLst>
          </p:cNvPr>
          <p:cNvSpPr/>
          <p:nvPr/>
        </p:nvSpPr>
        <p:spPr>
          <a:xfrm>
            <a:off x="7449525" y="4285672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Prova de Mar</a:t>
            </a:r>
          </a:p>
        </p:txBody>
      </p: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335838B4-7E1D-47C0-8D6E-810C5BE012F1}"/>
              </a:ext>
            </a:extLst>
          </p:cNvPr>
          <p:cNvCxnSpPr>
            <a:cxnSpLocks/>
            <a:stCxn id="55" idx="2"/>
            <a:endCxn id="57" idx="0"/>
          </p:cNvCxnSpPr>
          <p:nvPr/>
        </p:nvCxnSpPr>
        <p:spPr>
          <a:xfrm flipH="1">
            <a:off x="8013833" y="3999931"/>
            <a:ext cx="2006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DEDA37A2-E35E-160C-DCBB-5E6C59B37E4C}"/>
              </a:ext>
            </a:extLst>
          </p:cNvPr>
          <p:cNvSpPr/>
          <p:nvPr/>
        </p:nvSpPr>
        <p:spPr>
          <a:xfrm>
            <a:off x="7451529" y="4972724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Inspeção com cliente</a:t>
            </a:r>
          </a:p>
        </p:txBody>
      </p: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90227465-BBC6-3570-6F3D-D8A291C9CDF5}"/>
              </a:ext>
            </a:extLst>
          </p:cNvPr>
          <p:cNvCxnSpPr>
            <a:cxnSpLocks/>
            <a:stCxn id="57" idx="2"/>
            <a:endCxn id="59" idx="0"/>
          </p:cNvCxnSpPr>
          <p:nvPr/>
        </p:nvCxnSpPr>
        <p:spPr>
          <a:xfrm>
            <a:off x="8013833" y="4686982"/>
            <a:ext cx="2004" cy="285742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tângulo 60">
            <a:extLst>
              <a:ext uri="{FF2B5EF4-FFF2-40B4-BE49-F238E27FC236}">
                <a16:creationId xmlns:a16="http://schemas.microsoft.com/office/drawing/2014/main" id="{3499B910-9AF7-27CB-8DBE-6659EBC159C7}"/>
              </a:ext>
            </a:extLst>
          </p:cNvPr>
          <p:cNvSpPr/>
          <p:nvPr/>
        </p:nvSpPr>
        <p:spPr>
          <a:xfrm>
            <a:off x="7451529" y="5641797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Análise e verificação de pendências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488ED038-7434-E77B-326D-0890BCAED040}"/>
              </a:ext>
            </a:extLst>
          </p:cNvPr>
          <p:cNvSpPr/>
          <p:nvPr/>
        </p:nvSpPr>
        <p:spPr>
          <a:xfrm>
            <a:off x="9812164" y="2225992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Lições Aprendidas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CF7005DB-643C-A8A5-06D8-E0B09C0B3227}"/>
              </a:ext>
            </a:extLst>
          </p:cNvPr>
          <p:cNvSpPr/>
          <p:nvPr/>
        </p:nvSpPr>
        <p:spPr>
          <a:xfrm>
            <a:off x="9812164" y="2913043"/>
            <a:ext cx="1128616" cy="401310"/>
          </a:xfrm>
          <a:prstGeom prst="rect">
            <a:avLst/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Emissão do </a:t>
            </a:r>
            <a:r>
              <a:rPr kumimoji="0" lang="pt-BR" sz="7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One</a:t>
            </a:r>
            <a:r>
              <a:rPr kumimoji="0" lang="pt-BR" sz="7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Page Report</a:t>
            </a:r>
          </a:p>
        </p:txBody>
      </p: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F068869E-2243-C165-AA8F-BD4F7B0C4DD9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>
            <a:off x="10376472" y="2627302"/>
            <a:ext cx="0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id="{64E06FAF-963F-0D89-A8EC-1C4D66EB131A}"/>
              </a:ext>
            </a:extLst>
          </p:cNvPr>
          <p:cNvCxnSpPr>
            <a:cxnSpLocks/>
            <a:stCxn id="63" idx="2"/>
            <a:endCxn id="182" idx="0"/>
          </p:cNvCxnSpPr>
          <p:nvPr/>
        </p:nvCxnSpPr>
        <p:spPr>
          <a:xfrm flipH="1">
            <a:off x="10375383" y="3314353"/>
            <a:ext cx="1089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" name="Retângulo 173">
            <a:extLst>
              <a:ext uri="{FF2B5EF4-FFF2-40B4-BE49-F238E27FC236}">
                <a16:creationId xmlns:a16="http://schemas.microsoft.com/office/drawing/2014/main" id="{B30AB432-6A21-DE08-4939-D4F47CBE8111}"/>
              </a:ext>
            </a:extLst>
          </p:cNvPr>
          <p:cNvSpPr/>
          <p:nvPr/>
        </p:nvSpPr>
        <p:spPr>
          <a:xfrm>
            <a:off x="1641175" y="4287145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Acrescentar escopo de TI e Manutenção.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(TM Master)</a:t>
            </a:r>
          </a:p>
        </p:txBody>
      </p:sp>
      <p:sp>
        <p:nvSpPr>
          <p:cNvPr id="175" name="Retângulo 174">
            <a:extLst>
              <a:ext uri="{FF2B5EF4-FFF2-40B4-BE49-F238E27FC236}">
                <a16:creationId xmlns:a16="http://schemas.microsoft.com/office/drawing/2014/main" id="{E22326A6-91F6-D49D-44EA-A18ADAB317B8}"/>
              </a:ext>
            </a:extLst>
          </p:cNvPr>
          <p:cNvSpPr/>
          <p:nvPr/>
        </p:nvSpPr>
        <p:spPr>
          <a:xfrm>
            <a:off x="1641175" y="4974196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Utilizar o FPA 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TI e Manutenção </a:t>
            </a:r>
          </a:p>
        </p:txBody>
      </p:sp>
      <p:grpSp>
        <p:nvGrpSpPr>
          <p:cNvPr id="176" name="Agrupar 175">
            <a:extLst>
              <a:ext uri="{FF2B5EF4-FFF2-40B4-BE49-F238E27FC236}">
                <a16:creationId xmlns:a16="http://schemas.microsoft.com/office/drawing/2014/main" id="{590C2EC1-55E9-C99D-BAFF-4CC4AA6A27AA}"/>
              </a:ext>
            </a:extLst>
          </p:cNvPr>
          <p:cNvGrpSpPr/>
          <p:nvPr/>
        </p:nvGrpSpPr>
        <p:grpSpPr>
          <a:xfrm>
            <a:off x="10732484" y="4975599"/>
            <a:ext cx="1224136" cy="261610"/>
            <a:chOff x="2927648" y="1772816"/>
            <a:chExt cx="1224136" cy="261610"/>
          </a:xfrm>
        </p:grpSpPr>
        <p:sp>
          <p:nvSpPr>
            <p:cNvPr id="177" name="Retângulo 176">
              <a:extLst>
                <a:ext uri="{FF2B5EF4-FFF2-40B4-BE49-F238E27FC236}">
                  <a16:creationId xmlns:a16="http://schemas.microsoft.com/office/drawing/2014/main" id="{F7FBF74D-D1B0-CA2C-B795-ADD13D3F8093}"/>
                </a:ext>
              </a:extLst>
            </p:cNvPr>
            <p:cNvSpPr/>
            <p:nvPr/>
          </p:nvSpPr>
          <p:spPr>
            <a:xfrm>
              <a:off x="2927648" y="1772816"/>
              <a:ext cx="387109" cy="191709"/>
            </a:xfrm>
            <a:prstGeom prst="rect">
              <a:avLst/>
            </a:prstGeom>
            <a:solidFill>
              <a:srgbClr val="364D6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8" name="CaixaDeTexto 177">
              <a:extLst>
                <a:ext uri="{FF2B5EF4-FFF2-40B4-BE49-F238E27FC236}">
                  <a16:creationId xmlns:a16="http://schemas.microsoft.com/office/drawing/2014/main" id="{449AD4C6-40AB-75AC-C334-E5547B9B79CE}"/>
                </a:ext>
              </a:extLst>
            </p:cNvPr>
            <p:cNvSpPr txBox="1"/>
            <p:nvPr/>
          </p:nvSpPr>
          <p:spPr>
            <a:xfrm>
              <a:off x="3359696" y="1772816"/>
              <a:ext cx="7920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Fase</a:t>
              </a:r>
              <a:endParaRPr kumimoji="0" lang="pt-B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79" name="Conector: Angulado 178">
            <a:extLst>
              <a:ext uri="{FF2B5EF4-FFF2-40B4-BE49-F238E27FC236}">
                <a16:creationId xmlns:a16="http://schemas.microsoft.com/office/drawing/2014/main" id="{AB6D5841-9706-2CA9-C35A-3B9B2A517048}"/>
              </a:ext>
            </a:extLst>
          </p:cNvPr>
          <p:cNvCxnSpPr>
            <a:cxnSpLocks/>
            <a:stCxn id="28" idx="2"/>
            <a:endCxn id="30" idx="1"/>
          </p:cNvCxnSpPr>
          <p:nvPr/>
        </p:nvCxnSpPr>
        <p:spPr>
          <a:xfrm rot="5400000" flipH="1" flipV="1">
            <a:off x="-13062" y="3339376"/>
            <a:ext cx="3635911" cy="1810453"/>
          </a:xfrm>
          <a:prstGeom prst="bentConnector4">
            <a:avLst>
              <a:gd name="adj1" fmla="val -6287"/>
              <a:gd name="adj2" fmla="val 91540"/>
            </a:avLst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Conector de Seta Reta 179">
            <a:extLst>
              <a:ext uri="{FF2B5EF4-FFF2-40B4-BE49-F238E27FC236}">
                <a16:creationId xmlns:a16="http://schemas.microsoft.com/office/drawing/2014/main" id="{667F39D9-6BB7-930E-D527-FF3048980E12}"/>
              </a:ext>
            </a:extLst>
          </p:cNvPr>
          <p:cNvCxnSpPr>
            <a:cxnSpLocks/>
            <a:stCxn id="24" idx="3"/>
            <a:endCxn id="174" idx="1"/>
          </p:cNvCxnSpPr>
          <p:nvPr/>
        </p:nvCxnSpPr>
        <p:spPr>
          <a:xfrm>
            <a:off x="1463978" y="4487800"/>
            <a:ext cx="177197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Conector de Seta Reta 180">
            <a:extLst>
              <a:ext uri="{FF2B5EF4-FFF2-40B4-BE49-F238E27FC236}">
                <a16:creationId xmlns:a16="http://schemas.microsoft.com/office/drawing/2014/main" id="{F54D4428-167F-D472-0E60-3D49F8BDBEDC}"/>
              </a:ext>
            </a:extLst>
          </p:cNvPr>
          <p:cNvCxnSpPr>
            <a:cxnSpLocks/>
            <a:stCxn id="26" idx="3"/>
            <a:endCxn id="175" idx="1"/>
          </p:cNvCxnSpPr>
          <p:nvPr/>
        </p:nvCxnSpPr>
        <p:spPr>
          <a:xfrm>
            <a:off x="1461972" y="5174851"/>
            <a:ext cx="179203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2" name="Retângulo: Cantos Arredondados 181">
            <a:extLst>
              <a:ext uri="{FF2B5EF4-FFF2-40B4-BE49-F238E27FC236}">
                <a16:creationId xmlns:a16="http://schemas.microsoft.com/office/drawing/2014/main" id="{884DA436-D0EC-A6C6-F6B7-140FF0C6668E}"/>
              </a:ext>
            </a:extLst>
          </p:cNvPr>
          <p:cNvSpPr/>
          <p:nvPr/>
        </p:nvSpPr>
        <p:spPr>
          <a:xfrm>
            <a:off x="9814084" y="3600094"/>
            <a:ext cx="1122598" cy="401310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285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Fechamento do  projeto</a:t>
            </a:r>
          </a:p>
        </p:txBody>
      </p:sp>
      <p:sp>
        <p:nvSpPr>
          <p:cNvPr id="183" name="Retângulo 182">
            <a:extLst>
              <a:ext uri="{FF2B5EF4-FFF2-40B4-BE49-F238E27FC236}">
                <a16:creationId xmlns:a16="http://schemas.microsoft.com/office/drawing/2014/main" id="{844EDD65-BD5E-1207-3F18-66B6783FAA17}"/>
              </a:ext>
            </a:extLst>
          </p:cNvPr>
          <p:cNvSpPr/>
          <p:nvPr/>
        </p:nvSpPr>
        <p:spPr>
          <a:xfrm>
            <a:off x="6392699" y="2224519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Realizar o detalhamento do escopo por cada líder técnico</a:t>
            </a:r>
          </a:p>
        </p:txBody>
      </p:sp>
      <p:cxnSp>
        <p:nvCxnSpPr>
          <p:cNvPr id="184" name="Conector de Seta Reta 183">
            <a:extLst>
              <a:ext uri="{FF2B5EF4-FFF2-40B4-BE49-F238E27FC236}">
                <a16:creationId xmlns:a16="http://schemas.microsoft.com/office/drawing/2014/main" id="{F2FD451F-5EE0-0AB7-5E13-F2F6A59A9A40}"/>
              </a:ext>
            </a:extLst>
          </p:cNvPr>
          <p:cNvCxnSpPr>
            <a:cxnSpLocks/>
            <a:stCxn id="41" idx="3"/>
            <a:endCxn id="183" idx="1"/>
          </p:cNvCxnSpPr>
          <p:nvPr/>
        </p:nvCxnSpPr>
        <p:spPr>
          <a:xfrm>
            <a:off x="6215502" y="2425174"/>
            <a:ext cx="177197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Retângulo 184">
            <a:extLst>
              <a:ext uri="{FF2B5EF4-FFF2-40B4-BE49-F238E27FC236}">
                <a16:creationId xmlns:a16="http://schemas.microsoft.com/office/drawing/2014/main" id="{0E09A0C3-FA37-E3D3-F087-7DDFEB252789}"/>
              </a:ext>
            </a:extLst>
          </p:cNvPr>
          <p:cNvSpPr/>
          <p:nvPr/>
        </p:nvSpPr>
        <p:spPr>
          <a:xfrm>
            <a:off x="6392699" y="2916335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Planejamento de materiais deverá abrir as </a:t>
            </a:r>
            <a:r>
              <a:rPr kumimoji="0" lang="pt-BR" sz="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RC’s</a:t>
            </a:r>
            <a:endParaRPr kumimoji="0" lang="pt-BR" sz="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86" name="Conector de Seta Reta 185">
            <a:extLst>
              <a:ext uri="{FF2B5EF4-FFF2-40B4-BE49-F238E27FC236}">
                <a16:creationId xmlns:a16="http://schemas.microsoft.com/office/drawing/2014/main" id="{6FE171C0-8C60-A821-D503-F5E84A811BED}"/>
              </a:ext>
            </a:extLst>
          </p:cNvPr>
          <p:cNvCxnSpPr>
            <a:cxnSpLocks/>
            <a:stCxn id="42" idx="3"/>
            <a:endCxn id="185" idx="1"/>
          </p:cNvCxnSpPr>
          <p:nvPr/>
        </p:nvCxnSpPr>
        <p:spPr>
          <a:xfrm>
            <a:off x="6215502" y="3112225"/>
            <a:ext cx="177197" cy="4765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Retângulo 186">
            <a:extLst>
              <a:ext uri="{FF2B5EF4-FFF2-40B4-BE49-F238E27FC236}">
                <a16:creationId xmlns:a16="http://schemas.microsoft.com/office/drawing/2014/main" id="{EB1806C8-BD31-1E48-16CF-4B96E01DE681}"/>
              </a:ext>
            </a:extLst>
          </p:cNvPr>
          <p:cNvSpPr/>
          <p:nvPr/>
        </p:nvSpPr>
        <p:spPr>
          <a:xfrm>
            <a:off x="6392699" y="3599525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Envolver os gerentes responsáveis pela obra</a:t>
            </a:r>
          </a:p>
        </p:txBody>
      </p:sp>
      <p:cxnSp>
        <p:nvCxnSpPr>
          <p:cNvPr id="188" name="Conector de Seta Reta 187">
            <a:extLst>
              <a:ext uri="{FF2B5EF4-FFF2-40B4-BE49-F238E27FC236}">
                <a16:creationId xmlns:a16="http://schemas.microsoft.com/office/drawing/2014/main" id="{4E6C7DE7-7165-A3BE-31F7-AAFD6189ED60}"/>
              </a:ext>
            </a:extLst>
          </p:cNvPr>
          <p:cNvCxnSpPr>
            <a:cxnSpLocks/>
            <a:stCxn id="44" idx="3"/>
            <a:endCxn id="187" idx="1"/>
          </p:cNvCxnSpPr>
          <p:nvPr/>
        </p:nvCxnSpPr>
        <p:spPr>
          <a:xfrm>
            <a:off x="6217508" y="3799276"/>
            <a:ext cx="175191" cy="904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9" name="Retângulo 188">
            <a:extLst>
              <a:ext uri="{FF2B5EF4-FFF2-40B4-BE49-F238E27FC236}">
                <a16:creationId xmlns:a16="http://schemas.microsoft.com/office/drawing/2014/main" id="{8DAFC99D-2EA8-AAB7-3331-89B02B6EB932}"/>
              </a:ext>
            </a:extLst>
          </p:cNvPr>
          <p:cNvSpPr/>
          <p:nvPr/>
        </p:nvSpPr>
        <p:spPr>
          <a:xfrm>
            <a:off x="6392699" y="4287137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Ter um ponto de abastecimento na obra. Prioridade no frete marítimo</a:t>
            </a:r>
          </a:p>
        </p:txBody>
      </p:sp>
      <p:cxnSp>
        <p:nvCxnSpPr>
          <p:cNvPr id="190" name="Conector de Seta Reta 189">
            <a:extLst>
              <a:ext uri="{FF2B5EF4-FFF2-40B4-BE49-F238E27FC236}">
                <a16:creationId xmlns:a16="http://schemas.microsoft.com/office/drawing/2014/main" id="{32336B3B-A918-5F53-9B38-E1689988E63C}"/>
              </a:ext>
            </a:extLst>
          </p:cNvPr>
          <p:cNvCxnSpPr>
            <a:cxnSpLocks/>
            <a:stCxn id="46" idx="3"/>
            <a:endCxn id="189" idx="1"/>
          </p:cNvCxnSpPr>
          <p:nvPr/>
        </p:nvCxnSpPr>
        <p:spPr>
          <a:xfrm>
            <a:off x="6215502" y="4486327"/>
            <a:ext cx="177197" cy="1465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Conector: Angulado 190">
            <a:extLst>
              <a:ext uri="{FF2B5EF4-FFF2-40B4-BE49-F238E27FC236}">
                <a16:creationId xmlns:a16="http://schemas.microsoft.com/office/drawing/2014/main" id="{43072550-4841-E846-07DE-6BC1C6739DE4}"/>
              </a:ext>
            </a:extLst>
          </p:cNvPr>
          <p:cNvCxnSpPr>
            <a:cxnSpLocks/>
            <a:stCxn id="40" idx="2"/>
            <a:endCxn id="41" idx="1"/>
          </p:cNvCxnSpPr>
          <p:nvPr/>
        </p:nvCxnSpPr>
        <p:spPr>
          <a:xfrm rot="5400000" flipH="1" flipV="1">
            <a:off x="2361965" y="3337637"/>
            <a:ext cx="3637384" cy="1812457"/>
          </a:xfrm>
          <a:prstGeom prst="bentConnector4">
            <a:avLst>
              <a:gd name="adj1" fmla="val -6285"/>
              <a:gd name="adj2" fmla="val 92895"/>
            </a:avLst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Conector: Angulado 191">
            <a:extLst>
              <a:ext uri="{FF2B5EF4-FFF2-40B4-BE49-F238E27FC236}">
                <a16:creationId xmlns:a16="http://schemas.microsoft.com/office/drawing/2014/main" id="{E334DF9A-91A8-8FF8-2C96-4DA947380492}"/>
              </a:ext>
            </a:extLst>
          </p:cNvPr>
          <p:cNvCxnSpPr>
            <a:cxnSpLocks/>
            <a:stCxn id="50" idx="2"/>
            <a:endCxn id="51" idx="1"/>
          </p:cNvCxnSpPr>
          <p:nvPr/>
        </p:nvCxnSpPr>
        <p:spPr>
          <a:xfrm rot="5400000" flipH="1" flipV="1">
            <a:off x="4743359" y="3336942"/>
            <a:ext cx="3617933" cy="1794397"/>
          </a:xfrm>
          <a:prstGeom prst="bentConnector4">
            <a:avLst>
              <a:gd name="adj1" fmla="val -6319"/>
              <a:gd name="adj2" fmla="val 93327"/>
            </a:avLst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Conector: Angulado 192">
            <a:extLst>
              <a:ext uri="{FF2B5EF4-FFF2-40B4-BE49-F238E27FC236}">
                <a16:creationId xmlns:a16="http://schemas.microsoft.com/office/drawing/2014/main" id="{43937BA8-DBD0-106C-19B8-643994587471}"/>
              </a:ext>
            </a:extLst>
          </p:cNvPr>
          <p:cNvCxnSpPr>
            <a:cxnSpLocks/>
            <a:stCxn id="61" idx="2"/>
            <a:endCxn id="62" idx="1"/>
          </p:cNvCxnSpPr>
          <p:nvPr/>
        </p:nvCxnSpPr>
        <p:spPr>
          <a:xfrm rot="5400000" flipH="1" flipV="1">
            <a:off x="7105770" y="3336713"/>
            <a:ext cx="3616460" cy="1796327"/>
          </a:xfrm>
          <a:prstGeom prst="bentConnector4">
            <a:avLst>
              <a:gd name="adj1" fmla="val -6321"/>
              <a:gd name="adj2" fmla="val 92750"/>
            </a:avLst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4" name="Retângulo 193">
            <a:extLst>
              <a:ext uri="{FF2B5EF4-FFF2-40B4-BE49-F238E27FC236}">
                <a16:creationId xmlns:a16="http://schemas.microsoft.com/office/drawing/2014/main" id="{CE5BE8B1-591A-8A6D-ABDA-A79A179AFDE5}"/>
              </a:ext>
            </a:extLst>
          </p:cNvPr>
          <p:cNvSpPr/>
          <p:nvPr/>
        </p:nvSpPr>
        <p:spPr>
          <a:xfrm>
            <a:off x="6392699" y="4972724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Garantir que 100% do escopo está mapeado</a:t>
            </a:r>
          </a:p>
        </p:txBody>
      </p:sp>
      <p:cxnSp>
        <p:nvCxnSpPr>
          <p:cNvPr id="195" name="Conector de Seta Reta 194">
            <a:extLst>
              <a:ext uri="{FF2B5EF4-FFF2-40B4-BE49-F238E27FC236}">
                <a16:creationId xmlns:a16="http://schemas.microsoft.com/office/drawing/2014/main" id="{8C57D75C-1482-7AF0-B92D-12950ADC35B9}"/>
              </a:ext>
            </a:extLst>
          </p:cNvPr>
          <p:cNvCxnSpPr>
            <a:cxnSpLocks/>
            <a:stCxn id="48" idx="3"/>
            <a:endCxn id="194" idx="1"/>
          </p:cNvCxnSpPr>
          <p:nvPr/>
        </p:nvCxnSpPr>
        <p:spPr>
          <a:xfrm>
            <a:off x="6217506" y="5173379"/>
            <a:ext cx="175193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Retângulo 195">
            <a:extLst>
              <a:ext uri="{FF2B5EF4-FFF2-40B4-BE49-F238E27FC236}">
                <a16:creationId xmlns:a16="http://schemas.microsoft.com/office/drawing/2014/main" id="{39F16CBD-2DAA-B2A2-6761-118AFAB63698}"/>
              </a:ext>
            </a:extLst>
          </p:cNvPr>
          <p:cNvSpPr/>
          <p:nvPr/>
        </p:nvSpPr>
        <p:spPr>
          <a:xfrm>
            <a:off x="6388047" y="5641797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Incluir ponto de entrega de material </a:t>
            </a:r>
          </a:p>
        </p:txBody>
      </p:sp>
      <p:cxnSp>
        <p:nvCxnSpPr>
          <p:cNvPr id="197" name="Conector de Seta Reta 196">
            <a:extLst>
              <a:ext uri="{FF2B5EF4-FFF2-40B4-BE49-F238E27FC236}">
                <a16:creationId xmlns:a16="http://schemas.microsoft.com/office/drawing/2014/main" id="{C1405768-3527-0377-AE45-F550D3CE9F18}"/>
              </a:ext>
            </a:extLst>
          </p:cNvPr>
          <p:cNvCxnSpPr>
            <a:cxnSpLocks/>
            <a:stCxn id="50" idx="3"/>
            <a:endCxn id="196" idx="1"/>
          </p:cNvCxnSpPr>
          <p:nvPr/>
        </p:nvCxnSpPr>
        <p:spPr>
          <a:xfrm>
            <a:off x="6219436" y="5842452"/>
            <a:ext cx="168611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8" name="Retângulo 197">
            <a:extLst>
              <a:ext uri="{FF2B5EF4-FFF2-40B4-BE49-F238E27FC236}">
                <a16:creationId xmlns:a16="http://schemas.microsoft.com/office/drawing/2014/main" id="{92B483BA-F114-86F7-B16A-A6FE4A77379A}"/>
              </a:ext>
            </a:extLst>
          </p:cNvPr>
          <p:cNvSpPr/>
          <p:nvPr/>
        </p:nvSpPr>
        <p:spPr>
          <a:xfrm>
            <a:off x="8760716" y="2218366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Aprimorar os KPIs, acompanhamento do cronograma </a:t>
            </a:r>
          </a:p>
        </p:txBody>
      </p:sp>
      <p:cxnSp>
        <p:nvCxnSpPr>
          <p:cNvPr id="199" name="Conector de Seta Reta 198">
            <a:extLst>
              <a:ext uri="{FF2B5EF4-FFF2-40B4-BE49-F238E27FC236}">
                <a16:creationId xmlns:a16="http://schemas.microsoft.com/office/drawing/2014/main" id="{F5FA04AB-00F3-E2D3-67C0-A8999D3F3A51}"/>
              </a:ext>
            </a:extLst>
          </p:cNvPr>
          <p:cNvCxnSpPr>
            <a:cxnSpLocks/>
            <a:stCxn id="51" idx="3"/>
            <a:endCxn id="198" idx="1"/>
          </p:cNvCxnSpPr>
          <p:nvPr/>
        </p:nvCxnSpPr>
        <p:spPr>
          <a:xfrm flipV="1">
            <a:off x="8578141" y="2419021"/>
            <a:ext cx="182575" cy="6153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0" name="Retângulo 199">
            <a:extLst>
              <a:ext uri="{FF2B5EF4-FFF2-40B4-BE49-F238E27FC236}">
                <a16:creationId xmlns:a16="http://schemas.microsoft.com/office/drawing/2014/main" id="{495E4F2C-54E5-919C-FE48-4FFB82BE2064}"/>
              </a:ext>
            </a:extLst>
          </p:cNvPr>
          <p:cNvSpPr/>
          <p:nvPr/>
        </p:nvSpPr>
        <p:spPr>
          <a:xfrm>
            <a:off x="8762533" y="2911570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Realizar uma inspeção de qualidade dos itens importados</a:t>
            </a:r>
          </a:p>
        </p:txBody>
      </p:sp>
      <p:cxnSp>
        <p:nvCxnSpPr>
          <p:cNvPr id="201" name="Conector de Seta Reta 200">
            <a:extLst>
              <a:ext uri="{FF2B5EF4-FFF2-40B4-BE49-F238E27FC236}">
                <a16:creationId xmlns:a16="http://schemas.microsoft.com/office/drawing/2014/main" id="{29F3D060-43CC-C34A-6944-C57234AC59F8}"/>
              </a:ext>
            </a:extLst>
          </p:cNvPr>
          <p:cNvCxnSpPr>
            <a:cxnSpLocks/>
            <a:stCxn id="52" idx="3"/>
            <a:endCxn id="200" idx="1"/>
          </p:cNvCxnSpPr>
          <p:nvPr/>
        </p:nvCxnSpPr>
        <p:spPr>
          <a:xfrm>
            <a:off x="8578141" y="3112225"/>
            <a:ext cx="184392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Retângulo 201">
            <a:extLst>
              <a:ext uri="{FF2B5EF4-FFF2-40B4-BE49-F238E27FC236}">
                <a16:creationId xmlns:a16="http://schemas.microsoft.com/office/drawing/2014/main" id="{1503C239-7A33-3B45-179A-EF52ACF86D83}"/>
              </a:ext>
            </a:extLst>
          </p:cNvPr>
          <p:cNvSpPr/>
          <p:nvPr/>
        </p:nvSpPr>
        <p:spPr>
          <a:xfrm>
            <a:off x="8763270" y="4972724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Entender a expectativa do cliente. Incluir dep. qualidade </a:t>
            </a:r>
          </a:p>
        </p:txBody>
      </p:sp>
      <p:cxnSp>
        <p:nvCxnSpPr>
          <p:cNvPr id="203" name="Conector de Seta Reta 202">
            <a:extLst>
              <a:ext uri="{FF2B5EF4-FFF2-40B4-BE49-F238E27FC236}">
                <a16:creationId xmlns:a16="http://schemas.microsoft.com/office/drawing/2014/main" id="{10FCFABB-ADEE-3EBE-7863-97D0D422F920}"/>
              </a:ext>
            </a:extLst>
          </p:cNvPr>
          <p:cNvCxnSpPr>
            <a:cxnSpLocks/>
            <a:stCxn id="59" idx="3"/>
            <a:endCxn id="202" idx="1"/>
          </p:cNvCxnSpPr>
          <p:nvPr/>
        </p:nvCxnSpPr>
        <p:spPr>
          <a:xfrm>
            <a:off x="8580145" y="5173379"/>
            <a:ext cx="183125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4" name="Retângulo 203">
            <a:extLst>
              <a:ext uri="{FF2B5EF4-FFF2-40B4-BE49-F238E27FC236}">
                <a16:creationId xmlns:a16="http://schemas.microsoft.com/office/drawing/2014/main" id="{66589040-F408-A032-624D-5B4B6D27A8BE}"/>
              </a:ext>
            </a:extLst>
          </p:cNvPr>
          <p:cNvSpPr/>
          <p:nvPr/>
        </p:nvSpPr>
        <p:spPr>
          <a:xfrm>
            <a:off x="8753244" y="5641797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Incluir área específica para atuar nas pendências</a:t>
            </a:r>
          </a:p>
        </p:txBody>
      </p:sp>
      <p:cxnSp>
        <p:nvCxnSpPr>
          <p:cNvPr id="205" name="Conector de Seta Reta 204">
            <a:extLst>
              <a:ext uri="{FF2B5EF4-FFF2-40B4-BE49-F238E27FC236}">
                <a16:creationId xmlns:a16="http://schemas.microsoft.com/office/drawing/2014/main" id="{14D821E5-899E-54A0-D0B2-05671D9DFFE8}"/>
              </a:ext>
            </a:extLst>
          </p:cNvPr>
          <p:cNvCxnSpPr>
            <a:cxnSpLocks/>
            <a:stCxn id="61" idx="3"/>
            <a:endCxn id="204" idx="1"/>
          </p:cNvCxnSpPr>
          <p:nvPr/>
        </p:nvCxnSpPr>
        <p:spPr>
          <a:xfrm>
            <a:off x="8580145" y="5842452"/>
            <a:ext cx="173099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6" name="Retângulo 205">
            <a:extLst>
              <a:ext uri="{FF2B5EF4-FFF2-40B4-BE49-F238E27FC236}">
                <a16:creationId xmlns:a16="http://schemas.microsoft.com/office/drawing/2014/main" id="{1CF2065A-8438-5FAA-D8C5-0FF61BCF76E1}"/>
              </a:ext>
            </a:extLst>
          </p:cNvPr>
          <p:cNvSpPr/>
          <p:nvPr/>
        </p:nvSpPr>
        <p:spPr>
          <a:xfrm>
            <a:off x="11113879" y="2228506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Ser uma avaliação continua durante o projeto.</a:t>
            </a:r>
          </a:p>
        </p:txBody>
      </p:sp>
      <p:cxnSp>
        <p:nvCxnSpPr>
          <p:cNvPr id="207" name="Conector de Seta Reta 206">
            <a:extLst>
              <a:ext uri="{FF2B5EF4-FFF2-40B4-BE49-F238E27FC236}">
                <a16:creationId xmlns:a16="http://schemas.microsoft.com/office/drawing/2014/main" id="{60492DCC-99F8-5D96-EBCC-36932E0369B3}"/>
              </a:ext>
            </a:extLst>
          </p:cNvPr>
          <p:cNvCxnSpPr>
            <a:cxnSpLocks/>
            <a:stCxn id="62" idx="3"/>
            <a:endCxn id="206" idx="1"/>
          </p:cNvCxnSpPr>
          <p:nvPr/>
        </p:nvCxnSpPr>
        <p:spPr>
          <a:xfrm>
            <a:off x="10940780" y="2426647"/>
            <a:ext cx="173099" cy="2514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" name="Retângulo 207">
            <a:extLst>
              <a:ext uri="{FF2B5EF4-FFF2-40B4-BE49-F238E27FC236}">
                <a16:creationId xmlns:a16="http://schemas.microsoft.com/office/drawing/2014/main" id="{ECE136E3-C97E-C84D-B23F-4810D28BE562}"/>
              </a:ext>
            </a:extLst>
          </p:cNvPr>
          <p:cNvSpPr/>
          <p:nvPr/>
        </p:nvSpPr>
        <p:spPr>
          <a:xfrm>
            <a:off x="11116448" y="2913043"/>
            <a:ext cx="782417" cy="401310"/>
          </a:xfrm>
          <a:prstGeom prst="rect">
            <a:avLst/>
          </a:prstGeom>
          <a:solidFill>
            <a:srgbClr val="C3CFE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Garantir que 100% dos projetos tenham </a:t>
            </a:r>
            <a:r>
              <a:rPr lang="pt-BR" sz="6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</a:t>
            </a: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documentação</a:t>
            </a:r>
          </a:p>
        </p:txBody>
      </p:sp>
      <p:cxnSp>
        <p:nvCxnSpPr>
          <p:cNvPr id="209" name="Conector de Seta Reta 208">
            <a:extLst>
              <a:ext uri="{FF2B5EF4-FFF2-40B4-BE49-F238E27FC236}">
                <a16:creationId xmlns:a16="http://schemas.microsoft.com/office/drawing/2014/main" id="{9A61F537-3486-C67E-B173-FA33668A5142}"/>
              </a:ext>
            </a:extLst>
          </p:cNvPr>
          <p:cNvCxnSpPr>
            <a:cxnSpLocks/>
            <a:stCxn id="63" idx="3"/>
            <a:endCxn id="208" idx="1"/>
          </p:cNvCxnSpPr>
          <p:nvPr/>
        </p:nvCxnSpPr>
        <p:spPr>
          <a:xfrm>
            <a:off x="10940780" y="3113698"/>
            <a:ext cx="175668" cy="0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Conector de Seta Reta 209">
            <a:extLst>
              <a:ext uri="{FF2B5EF4-FFF2-40B4-BE49-F238E27FC236}">
                <a16:creationId xmlns:a16="http://schemas.microsoft.com/office/drawing/2014/main" id="{381B6A1A-06A8-3228-CCBC-9F9C0C3495EC}"/>
              </a:ext>
            </a:extLst>
          </p:cNvPr>
          <p:cNvCxnSpPr>
            <a:cxnSpLocks/>
          </p:cNvCxnSpPr>
          <p:nvPr/>
        </p:nvCxnSpPr>
        <p:spPr>
          <a:xfrm>
            <a:off x="3272422" y="5375507"/>
            <a:ext cx="0" cy="285741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Conector de Seta Reta 210">
            <a:extLst>
              <a:ext uri="{FF2B5EF4-FFF2-40B4-BE49-F238E27FC236}">
                <a16:creationId xmlns:a16="http://schemas.microsoft.com/office/drawing/2014/main" id="{F568662F-EC18-E692-403A-B9AED0E3AB89}"/>
              </a:ext>
            </a:extLst>
          </p:cNvPr>
          <p:cNvCxnSpPr>
            <a:cxnSpLocks/>
            <a:stCxn id="48" idx="2"/>
            <a:endCxn id="50" idx="0"/>
          </p:cNvCxnSpPr>
          <p:nvPr/>
        </p:nvCxnSpPr>
        <p:spPr>
          <a:xfrm>
            <a:off x="5653198" y="5374034"/>
            <a:ext cx="1930" cy="267763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Conector de Seta Reta 211">
            <a:extLst>
              <a:ext uri="{FF2B5EF4-FFF2-40B4-BE49-F238E27FC236}">
                <a16:creationId xmlns:a16="http://schemas.microsoft.com/office/drawing/2014/main" id="{A7DA0299-B442-C958-AF49-A862804AEF12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>
            <a:off x="8015837" y="5374034"/>
            <a:ext cx="0" cy="267763"/>
          </a:xfrm>
          <a:prstGeom prst="straightConnector1">
            <a:avLst/>
          </a:prstGeom>
          <a:ln w="19050"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3" name="Agrupar 212">
            <a:extLst>
              <a:ext uri="{FF2B5EF4-FFF2-40B4-BE49-F238E27FC236}">
                <a16:creationId xmlns:a16="http://schemas.microsoft.com/office/drawing/2014/main" id="{4819A57A-87F5-25B0-F412-78DE9FDE7285}"/>
              </a:ext>
            </a:extLst>
          </p:cNvPr>
          <p:cNvGrpSpPr/>
          <p:nvPr/>
        </p:nvGrpSpPr>
        <p:grpSpPr>
          <a:xfrm>
            <a:off x="10729225" y="5294569"/>
            <a:ext cx="1224136" cy="261610"/>
            <a:chOff x="2927648" y="1772816"/>
            <a:chExt cx="1224136" cy="261610"/>
          </a:xfrm>
        </p:grpSpPr>
        <p:sp>
          <p:nvSpPr>
            <p:cNvPr id="214" name="Retângulo 213">
              <a:extLst>
                <a:ext uri="{FF2B5EF4-FFF2-40B4-BE49-F238E27FC236}">
                  <a16:creationId xmlns:a16="http://schemas.microsoft.com/office/drawing/2014/main" id="{7BC7B080-C9B0-5DFB-B785-2362697E6444}"/>
                </a:ext>
              </a:extLst>
            </p:cNvPr>
            <p:cNvSpPr/>
            <p:nvPr/>
          </p:nvSpPr>
          <p:spPr>
            <a:xfrm>
              <a:off x="2927648" y="1772816"/>
              <a:ext cx="387109" cy="191709"/>
            </a:xfrm>
            <a:prstGeom prst="rect">
              <a:avLst/>
            </a:prstGeom>
            <a:solidFill>
              <a:srgbClr val="C3CFE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5" name="CaixaDeTexto 214">
              <a:extLst>
                <a:ext uri="{FF2B5EF4-FFF2-40B4-BE49-F238E27FC236}">
                  <a16:creationId xmlns:a16="http://schemas.microsoft.com/office/drawing/2014/main" id="{5B71CF11-5841-E64A-16CB-B497345DA406}"/>
                </a:ext>
              </a:extLst>
            </p:cNvPr>
            <p:cNvSpPr txBox="1"/>
            <p:nvPr/>
          </p:nvSpPr>
          <p:spPr>
            <a:xfrm>
              <a:off x="3359696" y="1772816"/>
              <a:ext cx="7920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Melhoria</a:t>
              </a:r>
              <a:endParaRPr kumimoji="0" lang="pt-B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88811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8" imgW="425" imgH="424" progId="TCLayout.ActiveDocument.1">
                  <p:embed/>
                </p:oleObj>
              </mc:Choice>
              <mc:Fallback>
                <p:oleObj name="Slide do think-cell" r:id="rId8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00FA7DB-FA08-FFCE-07BB-84C65122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Qualitativo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2A0F6E59-2E78-664E-1FC8-D460FE629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B6937C3-A94E-75D4-7EE8-8F24BC979333}"/>
              </a:ext>
            </a:extLst>
          </p:cNvPr>
          <p:cNvSpPr/>
          <p:nvPr/>
        </p:nvSpPr>
        <p:spPr>
          <a:xfrm>
            <a:off x="4291806" y="1539875"/>
            <a:ext cx="3608388" cy="468131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Provavelmente um monitoramento mais abrangente proporcionaria um maior saving mas de difícil quantificação.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8E45DCBC-AF24-5AF7-D7B4-093CD5365FD5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676275" y="1039813"/>
            <a:ext cx="3695700" cy="477838"/>
          </a:xfrm>
          <a:prstGeom prst="chevron">
            <a:avLst>
              <a:gd name="adj" fmla="val 18272"/>
            </a:avLst>
          </a:prstGeom>
          <a:solidFill>
            <a:srgbClr val="D9D9D9"/>
          </a:solidFill>
          <a:ln w="9525" algn="ctr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101600" rIns="20638" bIns="10160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  <a:sym typeface="Segoe UI" panose="020B0502040204020203" pitchFamily="34" charset="0"/>
              </a:rPr>
              <a:t>Situação atual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07A625AA-5C32-C599-5C06-8CC78C0B04BA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4284663" y="1039813"/>
            <a:ext cx="3695700" cy="477838"/>
          </a:xfrm>
          <a:prstGeom prst="chevron">
            <a:avLst>
              <a:gd name="adj" fmla="val 18272"/>
            </a:avLst>
          </a:prstGeom>
          <a:solidFill>
            <a:schemeClr val="accent1"/>
          </a:solidFill>
          <a:ln w="9525" algn="ctr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101600" rIns="33338" bIns="10160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cs typeface="Segoe UI"/>
                <a:sym typeface="Segoe UI" panose="020B0502040204020203" pitchFamily="34" charset="0"/>
              </a:rPr>
              <a:t>Conclusão</a:t>
            </a:r>
          </a:p>
        </p:txBody>
      </p:sp>
      <p:sp>
        <p:nvSpPr>
          <p:cNvPr id="9" name="Espaço Reservado para Texto 2">
            <a:extLst>
              <a:ext uri="{FF2B5EF4-FFF2-40B4-BE49-F238E27FC236}">
                <a16:creationId xmlns:a16="http://schemas.microsoft.com/office/drawing/2014/main" id="{73B01D58-2A3E-8124-C790-1A88510FF816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7893050" y="1039813"/>
            <a:ext cx="3695700" cy="477838"/>
          </a:xfrm>
          <a:prstGeom prst="chevron">
            <a:avLst>
              <a:gd name="adj" fmla="val 18272"/>
            </a:avLst>
          </a:prstGeom>
          <a:solidFill>
            <a:srgbClr val="364D6E"/>
          </a:solidFill>
          <a:ln w="9525" algn="ctr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0" tIns="101600" rIns="7938" bIns="10160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cs typeface="Segoe UI"/>
                <a:sym typeface="Segoe UI" panose="020B0502040204020203" pitchFamily="34" charset="0"/>
              </a:rPr>
              <a:t>Proposta e </a:t>
            </a:r>
            <a:r>
              <a:rPr kumimoji="0" lang="pt-BR" sz="1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cs typeface="Segoe UI"/>
                <a:sym typeface="Segoe UI" panose="020B0502040204020203" pitchFamily="34" charset="0"/>
              </a:rPr>
              <a:t>Saving</a:t>
            </a:r>
            <a:endParaRPr lang="pt-BR" sz="1400" b="1" i="0" u="none" strike="noStrike" kern="1200" cap="none" spc="0" normalizeH="0" baseline="0" noProof="0" dirty="0" err="1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D624BB4-203A-A028-678A-2BB47C4E9A98}"/>
              </a:ext>
            </a:extLst>
          </p:cNvPr>
          <p:cNvSpPr txBox="1"/>
          <p:nvPr/>
        </p:nvSpPr>
        <p:spPr>
          <a:xfrm>
            <a:off x="676275" y="1539875"/>
            <a:ext cx="3695700" cy="51090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95250" indent="-2857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pt-BR" sz="1400" dirty="0">
                <a:latin typeface="Segoe UI"/>
                <a:cs typeface="Segoe UI"/>
              </a:rPr>
              <a:t>Monitoramento 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com uma pessoa</a:t>
            </a:r>
            <a:r>
              <a:rPr lang="pt-BR" sz="1400" dirty="0">
                <a:latin typeface="Segoe UI"/>
                <a:cs typeface="Segoe UI"/>
              </a:rPr>
              <a:t> 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5 dias por semana (segunda a sexta) em horário comercial, num total de 240 dias no ano.</a:t>
            </a:r>
          </a:p>
          <a:p>
            <a:pPr marL="95250" indent="-2857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pt-BR" sz="1400" dirty="0">
              <a:latin typeface="Segoe UI"/>
              <a:cs typeface="Segoe UI"/>
            </a:endParaRPr>
          </a:p>
          <a:p>
            <a:pPr marL="952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Atividade de monitoramento proporcionou um 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saving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estimado em 2022 de R$ 4,3 MM.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95250" indent="-2857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pt-BR" sz="1400" dirty="0">
              <a:latin typeface="Segoe UI"/>
              <a:cs typeface="Segoe UI"/>
            </a:endParaRPr>
          </a:p>
          <a:p>
            <a:pPr marL="952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Situações que ocorrem fora do horário comercial não são monitorados.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95250" indent="-2857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endParaRPr lang="pt-BR" sz="1400" dirty="0">
              <a:latin typeface="Segoe UI"/>
              <a:cs typeface="Segoe UI"/>
            </a:endParaRPr>
          </a:p>
          <a:p>
            <a:pPr marL="952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Caso Xavantes e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Camogli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ocorreram fora do horário de monitoramento.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5524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Horário Xavantes: 04:17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am</a:t>
            </a:r>
          </a:p>
          <a:p>
            <a:pPr marL="5524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Prejuízo: USD 3.2 MM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5524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52450" lvl="1" indent="-2857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Horário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Camogli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: 06:14 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am</a:t>
            </a:r>
            <a:r>
              <a:rPr lang="pt-BR" sz="1400" dirty="0">
                <a:solidFill>
                  <a:srgbClr val="FF0000"/>
                </a:solidFill>
                <a:latin typeface="Segoe UI"/>
                <a:cs typeface="Segoe UI"/>
              </a:rPr>
              <a:t> 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524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Prejuízo: USD 1.0 MM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952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7B155BC-C802-0BE1-B84E-090A76DEACF0}"/>
              </a:ext>
            </a:extLst>
          </p:cNvPr>
          <p:cNvSpPr txBox="1"/>
          <p:nvPr/>
        </p:nvSpPr>
        <p:spPr>
          <a:xfrm>
            <a:off x="7924054" y="1562100"/>
            <a:ext cx="3600024" cy="19081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defTabSz="9144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Realizar um teste adicionando mais 4 </a:t>
            </a:r>
            <a:r>
              <a:rPr kumimoji="0" lang="pt-BR" sz="140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HC’s</a:t>
            </a:r>
            <a:r>
              <a:rPr kumimoji="0" lang="pt-BR" sz="1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no monitoramento da frota.</a:t>
            </a:r>
            <a:r>
              <a:rPr lang="pt-BR" sz="1400" dirty="0">
                <a:latin typeface="Segoe UI"/>
                <a:cs typeface="Segoe UI"/>
              </a:rPr>
              <a:t> </a:t>
            </a:r>
            <a:endParaRPr kumimoji="0" lang="pt-B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Custo Anual: USD 474.615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Saving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potencial: USD 2.0 MM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Saving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potencial líquido: USD 1.5 MM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7802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D742C0A-C8B2-EF2C-F520-188A0CD56A2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3" imgH="476" progId="TCLayout.ActiveDocument.1">
                  <p:embed/>
                </p:oleObj>
              </mc:Choice>
              <mc:Fallback>
                <p:oleObj name="Slide do think-cell" r:id="rId3" imgW="473" imgH="47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742C0A-C8B2-EF2C-F520-188A0CD56A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A05F793-DD59-059B-4A77-582B686CE6CD}"/>
              </a:ext>
            </a:extLst>
          </p:cNvPr>
          <p:cNvGrpSpPr/>
          <p:nvPr/>
        </p:nvGrpSpPr>
        <p:grpSpPr>
          <a:xfrm>
            <a:off x="3998118" y="1104900"/>
            <a:ext cx="4195763" cy="4648200"/>
            <a:chOff x="3800475" y="1571625"/>
            <a:chExt cx="4195763" cy="4648200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4EE4E865-99D4-F62C-3A34-4FA04C58A4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0475" y="1571625"/>
              <a:ext cx="4195763" cy="4648200"/>
              <a:chOff x="918" y="1389"/>
              <a:chExt cx="2864" cy="2928"/>
            </a:xfrm>
          </p:grpSpPr>
          <p:sp>
            <p:nvSpPr>
              <p:cNvPr id="13" name="Freeform 5">
                <a:extLst>
                  <a:ext uri="{FF2B5EF4-FFF2-40B4-BE49-F238E27FC236}">
                    <a16:creationId xmlns:a16="http://schemas.microsoft.com/office/drawing/2014/main" id="{A6885271-B0F2-116D-2899-7122371DB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3462"/>
                <a:ext cx="600" cy="855"/>
              </a:xfrm>
              <a:custGeom>
                <a:avLst/>
                <a:gdLst>
                  <a:gd name="T0" fmla="*/ 395 w 600"/>
                  <a:gd name="T1" fmla="*/ 690 h 855"/>
                  <a:gd name="T2" fmla="*/ 440 w 600"/>
                  <a:gd name="T3" fmla="*/ 576 h 855"/>
                  <a:gd name="T4" fmla="*/ 483 w 600"/>
                  <a:gd name="T5" fmla="*/ 500 h 855"/>
                  <a:gd name="T6" fmla="*/ 534 w 600"/>
                  <a:gd name="T7" fmla="*/ 437 h 855"/>
                  <a:gd name="T8" fmla="*/ 554 w 600"/>
                  <a:gd name="T9" fmla="*/ 342 h 855"/>
                  <a:gd name="T10" fmla="*/ 552 w 600"/>
                  <a:gd name="T11" fmla="*/ 228 h 855"/>
                  <a:gd name="T12" fmla="*/ 600 w 600"/>
                  <a:gd name="T13" fmla="*/ 182 h 855"/>
                  <a:gd name="T14" fmla="*/ 581 w 600"/>
                  <a:gd name="T15" fmla="*/ 180 h 855"/>
                  <a:gd name="T16" fmla="*/ 530 w 600"/>
                  <a:gd name="T17" fmla="*/ 138 h 855"/>
                  <a:gd name="T18" fmla="*/ 506 w 600"/>
                  <a:gd name="T19" fmla="*/ 141 h 855"/>
                  <a:gd name="T20" fmla="*/ 465 w 600"/>
                  <a:gd name="T21" fmla="*/ 66 h 855"/>
                  <a:gd name="T22" fmla="*/ 437 w 600"/>
                  <a:gd name="T23" fmla="*/ 39 h 855"/>
                  <a:gd name="T24" fmla="*/ 417 w 600"/>
                  <a:gd name="T25" fmla="*/ 24 h 855"/>
                  <a:gd name="T26" fmla="*/ 344 w 600"/>
                  <a:gd name="T27" fmla="*/ 24 h 855"/>
                  <a:gd name="T28" fmla="*/ 279 w 600"/>
                  <a:gd name="T29" fmla="*/ 0 h 855"/>
                  <a:gd name="T30" fmla="*/ 231 w 600"/>
                  <a:gd name="T31" fmla="*/ 0 h 855"/>
                  <a:gd name="T32" fmla="*/ 203 w 600"/>
                  <a:gd name="T33" fmla="*/ 24 h 855"/>
                  <a:gd name="T34" fmla="*/ 165 w 600"/>
                  <a:gd name="T35" fmla="*/ 89 h 855"/>
                  <a:gd name="T36" fmla="*/ 164 w 600"/>
                  <a:gd name="T37" fmla="*/ 117 h 855"/>
                  <a:gd name="T38" fmla="*/ 164 w 600"/>
                  <a:gd name="T39" fmla="*/ 179 h 855"/>
                  <a:gd name="T40" fmla="*/ 138 w 600"/>
                  <a:gd name="T41" fmla="*/ 203 h 855"/>
                  <a:gd name="T42" fmla="*/ 141 w 600"/>
                  <a:gd name="T43" fmla="*/ 230 h 855"/>
                  <a:gd name="T44" fmla="*/ 186 w 600"/>
                  <a:gd name="T45" fmla="*/ 251 h 855"/>
                  <a:gd name="T46" fmla="*/ 204 w 600"/>
                  <a:gd name="T47" fmla="*/ 281 h 855"/>
                  <a:gd name="T48" fmla="*/ 204 w 600"/>
                  <a:gd name="T49" fmla="*/ 341 h 855"/>
                  <a:gd name="T50" fmla="*/ 141 w 600"/>
                  <a:gd name="T51" fmla="*/ 389 h 855"/>
                  <a:gd name="T52" fmla="*/ 0 w 600"/>
                  <a:gd name="T53" fmla="*/ 596 h 855"/>
                  <a:gd name="T54" fmla="*/ 0 w 600"/>
                  <a:gd name="T55" fmla="*/ 620 h 855"/>
                  <a:gd name="T56" fmla="*/ 51 w 600"/>
                  <a:gd name="T57" fmla="*/ 621 h 855"/>
                  <a:gd name="T58" fmla="*/ 144 w 600"/>
                  <a:gd name="T59" fmla="*/ 671 h 855"/>
                  <a:gd name="T60" fmla="*/ 164 w 600"/>
                  <a:gd name="T61" fmla="*/ 666 h 855"/>
                  <a:gd name="T62" fmla="*/ 254 w 600"/>
                  <a:gd name="T63" fmla="*/ 758 h 855"/>
                  <a:gd name="T64" fmla="*/ 279 w 600"/>
                  <a:gd name="T65" fmla="*/ 734 h 855"/>
                  <a:gd name="T66" fmla="*/ 279 w 600"/>
                  <a:gd name="T67" fmla="*/ 782 h 855"/>
                  <a:gd name="T68" fmla="*/ 255 w 600"/>
                  <a:gd name="T69" fmla="*/ 807 h 855"/>
                  <a:gd name="T70" fmla="*/ 255 w 600"/>
                  <a:gd name="T71" fmla="*/ 855 h 855"/>
                  <a:gd name="T72" fmla="*/ 303 w 600"/>
                  <a:gd name="T73" fmla="*/ 834 h 855"/>
                  <a:gd name="T74" fmla="*/ 341 w 600"/>
                  <a:gd name="T75" fmla="*/ 731 h 855"/>
                  <a:gd name="T76" fmla="*/ 395 w 600"/>
                  <a:gd name="T77" fmla="*/ 690 h 85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600"/>
                  <a:gd name="T118" fmla="*/ 0 h 855"/>
                  <a:gd name="T119" fmla="*/ 600 w 600"/>
                  <a:gd name="T120" fmla="*/ 855 h 85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600" h="855">
                    <a:moveTo>
                      <a:pt x="395" y="690"/>
                    </a:moveTo>
                    <a:lnTo>
                      <a:pt x="440" y="576"/>
                    </a:lnTo>
                    <a:lnTo>
                      <a:pt x="483" y="500"/>
                    </a:lnTo>
                    <a:lnTo>
                      <a:pt x="534" y="437"/>
                    </a:lnTo>
                    <a:lnTo>
                      <a:pt x="554" y="342"/>
                    </a:lnTo>
                    <a:lnTo>
                      <a:pt x="552" y="228"/>
                    </a:lnTo>
                    <a:lnTo>
                      <a:pt x="600" y="182"/>
                    </a:lnTo>
                    <a:lnTo>
                      <a:pt x="581" y="180"/>
                    </a:lnTo>
                    <a:lnTo>
                      <a:pt x="530" y="138"/>
                    </a:lnTo>
                    <a:lnTo>
                      <a:pt x="506" y="141"/>
                    </a:lnTo>
                    <a:lnTo>
                      <a:pt x="465" y="66"/>
                    </a:lnTo>
                    <a:lnTo>
                      <a:pt x="437" y="39"/>
                    </a:lnTo>
                    <a:lnTo>
                      <a:pt x="417" y="24"/>
                    </a:lnTo>
                    <a:lnTo>
                      <a:pt x="344" y="24"/>
                    </a:lnTo>
                    <a:lnTo>
                      <a:pt x="279" y="0"/>
                    </a:lnTo>
                    <a:lnTo>
                      <a:pt x="231" y="0"/>
                    </a:lnTo>
                    <a:lnTo>
                      <a:pt x="203" y="24"/>
                    </a:lnTo>
                    <a:lnTo>
                      <a:pt x="165" y="89"/>
                    </a:lnTo>
                    <a:lnTo>
                      <a:pt x="164" y="117"/>
                    </a:lnTo>
                    <a:lnTo>
                      <a:pt x="164" y="179"/>
                    </a:lnTo>
                    <a:lnTo>
                      <a:pt x="138" y="203"/>
                    </a:lnTo>
                    <a:lnTo>
                      <a:pt x="141" y="230"/>
                    </a:lnTo>
                    <a:lnTo>
                      <a:pt x="186" y="251"/>
                    </a:lnTo>
                    <a:lnTo>
                      <a:pt x="204" y="281"/>
                    </a:lnTo>
                    <a:lnTo>
                      <a:pt x="204" y="341"/>
                    </a:lnTo>
                    <a:lnTo>
                      <a:pt x="141" y="389"/>
                    </a:lnTo>
                    <a:lnTo>
                      <a:pt x="0" y="596"/>
                    </a:lnTo>
                    <a:lnTo>
                      <a:pt x="0" y="620"/>
                    </a:lnTo>
                    <a:lnTo>
                      <a:pt x="51" y="621"/>
                    </a:lnTo>
                    <a:lnTo>
                      <a:pt x="144" y="671"/>
                    </a:lnTo>
                    <a:lnTo>
                      <a:pt x="164" y="666"/>
                    </a:lnTo>
                    <a:lnTo>
                      <a:pt x="254" y="758"/>
                    </a:lnTo>
                    <a:lnTo>
                      <a:pt x="279" y="734"/>
                    </a:lnTo>
                    <a:lnTo>
                      <a:pt x="279" y="782"/>
                    </a:lnTo>
                    <a:lnTo>
                      <a:pt x="255" y="807"/>
                    </a:lnTo>
                    <a:lnTo>
                      <a:pt x="255" y="855"/>
                    </a:lnTo>
                    <a:lnTo>
                      <a:pt x="303" y="834"/>
                    </a:lnTo>
                    <a:lnTo>
                      <a:pt x="341" y="731"/>
                    </a:lnTo>
                    <a:lnTo>
                      <a:pt x="395" y="690"/>
                    </a:lnTo>
                  </a:path>
                </a:pathLst>
              </a:custGeom>
              <a:solidFill>
                <a:srgbClr val="C0C0C0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pt-BR"/>
              </a:p>
            </p:txBody>
          </p:sp>
          <p:sp>
            <p:nvSpPr>
              <p:cNvPr id="14" name="Freeform 6">
                <a:extLst>
                  <a:ext uri="{FF2B5EF4-FFF2-40B4-BE49-F238E27FC236}">
                    <a16:creationId xmlns:a16="http://schemas.microsoft.com/office/drawing/2014/main" id="{9E65F78A-DA3D-4E4B-21D0-361FDA798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2" y="2861"/>
                <a:ext cx="968" cy="783"/>
              </a:xfrm>
              <a:custGeom>
                <a:avLst/>
                <a:gdLst>
                  <a:gd name="T0" fmla="*/ 0 w 968"/>
                  <a:gd name="T1" fmla="*/ 603 h 783"/>
                  <a:gd name="T2" fmla="*/ 47 w 968"/>
                  <a:gd name="T3" fmla="*/ 603 h 783"/>
                  <a:gd name="T4" fmla="*/ 116 w 968"/>
                  <a:gd name="T5" fmla="*/ 625 h 783"/>
                  <a:gd name="T6" fmla="*/ 186 w 968"/>
                  <a:gd name="T7" fmla="*/ 625 h 783"/>
                  <a:gd name="T8" fmla="*/ 234 w 968"/>
                  <a:gd name="T9" fmla="*/ 667 h 783"/>
                  <a:gd name="T10" fmla="*/ 275 w 968"/>
                  <a:gd name="T11" fmla="*/ 742 h 783"/>
                  <a:gd name="T12" fmla="*/ 300 w 968"/>
                  <a:gd name="T13" fmla="*/ 741 h 783"/>
                  <a:gd name="T14" fmla="*/ 351 w 968"/>
                  <a:gd name="T15" fmla="*/ 783 h 783"/>
                  <a:gd name="T16" fmla="*/ 374 w 968"/>
                  <a:gd name="T17" fmla="*/ 783 h 783"/>
                  <a:gd name="T18" fmla="*/ 395 w 968"/>
                  <a:gd name="T19" fmla="*/ 762 h 783"/>
                  <a:gd name="T20" fmla="*/ 476 w 968"/>
                  <a:gd name="T21" fmla="*/ 705 h 783"/>
                  <a:gd name="T22" fmla="*/ 528 w 968"/>
                  <a:gd name="T23" fmla="*/ 666 h 783"/>
                  <a:gd name="T24" fmla="*/ 576 w 968"/>
                  <a:gd name="T25" fmla="*/ 640 h 783"/>
                  <a:gd name="T26" fmla="*/ 668 w 968"/>
                  <a:gd name="T27" fmla="*/ 625 h 783"/>
                  <a:gd name="T28" fmla="*/ 792 w 968"/>
                  <a:gd name="T29" fmla="*/ 624 h 783"/>
                  <a:gd name="T30" fmla="*/ 806 w 968"/>
                  <a:gd name="T31" fmla="*/ 577 h 783"/>
                  <a:gd name="T32" fmla="*/ 854 w 968"/>
                  <a:gd name="T33" fmla="*/ 553 h 783"/>
                  <a:gd name="T34" fmla="*/ 851 w 968"/>
                  <a:gd name="T35" fmla="*/ 528 h 783"/>
                  <a:gd name="T36" fmla="*/ 879 w 968"/>
                  <a:gd name="T37" fmla="*/ 504 h 783"/>
                  <a:gd name="T38" fmla="*/ 926 w 968"/>
                  <a:gd name="T39" fmla="*/ 417 h 783"/>
                  <a:gd name="T40" fmla="*/ 942 w 968"/>
                  <a:gd name="T41" fmla="*/ 330 h 783"/>
                  <a:gd name="T42" fmla="*/ 966 w 968"/>
                  <a:gd name="T43" fmla="*/ 274 h 783"/>
                  <a:gd name="T44" fmla="*/ 941 w 968"/>
                  <a:gd name="T45" fmla="*/ 253 h 783"/>
                  <a:gd name="T46" fmla="*/ 942 w 968"/>
                  <a:gd name="T47" fmla="*/ 228 h 783"/>
                  <a:gd name="T48" fmla="*/ 926 w 968"/>
                  <a:gd name="T49" fmla="*/ 213 h 783"/>
                  <a:gd name="T50" fmla="*/ 941 w 968"/>
                  <a:gd name="T51" fmla="*/ 165 h 783"/>
                  <a:gd name="T52" fmla="*/ 968 w 968"/>
                  <a:gd name="T53" fmla="*/ 139 h 783"/>
                  <a:gd name="T54" fmla="*/ 968 w 968"/>
                  <a:gd name="T55" fmla="*/ 117 h 783"/>
                  <a:gd name="T56" fmla="*/ 903 w 968"/>
                  <a:gd name="T57" fmla="*/ 90 h 783"/>
                  <a:gd name="T58" fmla="*/ 876 w 968"/>
                  <a:gd name="T59" fmla="*/ 90 h 783"/>
                  <a:gd name="T60" fmla="*/ 830 w 968"/>
                  <a:gd name="T61" fmla="*/ 49 h 783"/>
                  <a:gd name="T62" fmla="*/ 786 w 968"/>
                  <a:gd name="T63" fmla="*/ 49 h 783"/>
                  <a:gd name="T64" fmla="*/ 741 w 968"/>
                  <a:gd name="T65" fmla="*/ 24 h 783"/>
                  <a:gd name="T66" fmla="*/ 693 w 968"/>
                  <a:gd name="T67" fmla="*/ 27 h 783"/>
                  <a:gd name="T68" fmla="*/ 650 w 968"/>
                  <a:gd name="T69" fmla="*/ 1 h 783"/>
                  <a:gd name="T70" fmla="*/ 576 w 968"/>
                  <a:gd name="T71" fmla="*/ 0 h 783"/>
                  <a:gd name="T72" fmla="*/ 548 w 968"/>
                  <a:gd name="T73" fmla="*/ 28 h 783"/>
                  <a:gd name="T74" fmla="*/ 512 w 968"/>
                  <a:gd name="T75" fmla="*/ 48 h 783"/>
                  <a:gd name="T76" fmla="*/ 461 w 968"/>
                  <a:gd name="T77" fmla="*/ 27 h 783"/>
                  <a:gd name="T78" fmla="*/ 438 w 968"/>
                  <a:gd name="T79" fmla="*/ 73 h 783"/>
                  <a:gd name="T80" fmla="*/ 413 w 968"/>
                  <a:gd name="T81" fmla="*/ 91 h 783"/>
                  <a:gd name="T82" fmla="*/ 414 w 968"/>
                  <a:gd name="T83" fmla="*/ 139 h 783"/>
                  <a:gd name="T84" fmla="*/ 387 w 968"/>
                  <a:gd name="T85" fmla="*/ 162 h 783"/>
                  <a:gd name="T86" fmla="*/ 414 w 968"/>
                  <a:gd name="T87" fmla="*/ 210 h 783"/>
                  <a:gd name="T88" fmla="*/ 413 w 968"/>
                  <a:gd name="T89" fmla="*/ 229 h 783"/>
                  <a:gd name="T90" fmla="*/ 375 w 968"/>
                  <a:gd name="T91" fmla="*/ 276 h 783"/>
                  <a:gd name="T92" fmla="*/ 269 w 968"/>
                  <a:gd name="T93" fmla="*/ 276 h 783"/>
                  <a:gd name="T94" fmla="*/ 209 w 968"/>
                  <a:gd name="T95" fmla="*/ 303 h 783"/>
                  <a:gd name="T96" fmla="*/ 159 w 968"/>
                  <a:gd name="T97" fmla="*/ 348 h 783"/>
                  <a:gd name="T98" fmla="*/ 162 w 968"/>
                  <a:gd name="T99" fmla="*/ 391 h 783"/>
                  <a:gd name="T100" fmla="*/ 113 w 968"/>
                  <a:gd name="T101" fmla="*/ 460 h 783"/>
                  <a:gd name="T102" fmla="*/ 77 w 968"/>
                  <a:gd name="T103" fmla="*/ 525 h 783"/>
                  <a:gd name="T104" fmla="*/ 0 w 968"/>
                  <a:gd name="T105" fmla="*/ 601 h 783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968"/>
                  <a:gd name="T160" fmla="*/ 0 h 783"/>
                  <a:gd name="T161" fmla="*/ 968 w 968"/>
                  <a:gd name="T162" fmla="*/ 783 h 783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968" h="783">
                    <a:moveTo>
                      <a:pt x="0" y="603"/>
                    </a:moveTo>
                    <a:lnTo>
                      <a:pt x="47" y="603"/>
                    </a:lnTo>
                    <a:lnTo>
                      <a:pt x="116" y="625"/>
                    </a:lnTo>
                    <a:lnTo>
                      <a:pt x="186" y="625"/>
                    </a:lnTo>
                    <a:lnTo>
                      <a:pt x="234" y="667"/>
                    </a:lnTo>
                    <a:lnTo>
                      <a:pt x="275" y="742"/>
                    </a:lnTo>
                    <a:lnTo>
                      <a:pt x="300" y="741"/>
                    </a:lnTo>
                    <a:lnTo>
                      <a:pt x="351" y="783"/>
                    </a:lnTo>
                    <a:lnTo>
                      <a:pt x="374" y="783"/>
                    </a:lnTo>
                    <a:lnTo>
                      <a:pt x="395" y="762"/>
                    </a:lnTo>
                    <a:lnTo>
                      <a:pt x="476" y="705"/>
                    </a:lnTo>
                    <a:lnTo>
                      <a:pt x="528" y="666"/>
                    </a:lnTo>
                    <a:lnTo>
                      <a:pt x="576" y="640"/>
                    </a:lnTo>
                    <a:lnTo>
                      <a:pt x="668" y="625"/>
                    </a:lnTo>
                    <a:lnTo>
                      <a:pt x="792" y="624"/>
                    </a:lnTo>
                    <a:lnTo>
                      <a:pt x="806" y="577"/>
                    </a:lnTo>
                    <a:lnTo>
                      <a:pt x="854" y="553"/>
                    </a:lnTo>
                    <a:lnTo>
                      <a:pt x="851" y="528"/>
                    </a:lnTo>
                    <a:lnTo>
                      <a:pt x="879" y="504"/>
                    </a:lnTo>
                    <a:lnTo>
                      <a:pt x="926" y="417"/>
                    </a:lnTo>
                    <a:lnTo>
                      <a:pt x="942" y="330"/>
                    </a:lnTo>
                    <a:lnTo>
                      <a:pt x="966" y="274"/>
                    </a:lnTo>
                    <a:lnTo>
                      <a:pt x="941" y="253"/>
                    </a:lnTo>
                    <a:lnTo>
                      <a:pt x="942" y="228"/>
                    </a:lnTo>
                    <a:lnTo>
                      <a:pt x="926" y="213"/>
                    </a:lnTo>
                    <a:lnTo>
                      <a:pt x="941" y="165"/>
                    </a:lnTo>
                    <a:lnTo>
                      <a:pt x="968" y="139"/>
                    </a:lnTo>
                    <a:lnTo>
                      <a:pt x="968" y="117"/>
                    </a:lnTo>
                    <a:lnTo>
                      <a:pt x="903" y="90"/>
                    </a:lnTo>
                    <a:lnTo>
                      <a:pt x="876" y="90"/>
                    </a:lnTo>
                    <a:lnTo>
                      <a:pt x="830" y="49"/>
                    </a:lnTo>
                    <a:lnTo>
                      <a:pt x="786" y="49"/>
                    </a:lnTo>
                    <a:lnTo>
                      <a:pt x="741" y="24"/>
                    </a:lnTo>
                    <a:lnTo>
                      <a:pt x="693" y="27"/>
                    </a:lnTo>
                    <a:lnTo>
                      <a:pt x="650" y="1"/>
                    </a:lnTo>
                    <a:lnTo>
                      <a:pt x="576" y="0"/>
                    </a:lnTo>
                    <a:lnTo>
                      <a:pt x="548" y="28"/>
                    </a:lnTo>
                    <a:lnTo>
                      <a:pt x="512" y="48"/>
                    </a:lnTo>
                    <a:lnTo>
                      <a:pt x="461" y="27"/>
                    </a:lnTo>
                    <a:lnTo>
                      <a:pt x="438" y="73"/>
                    </a:lnTo>
                    <a:lnTo>
                      <a:pt x="413" y="91"/>
                    </a:lnTo>
                    <a:lnTo>
                      <a:pt x="414" y="139"/>
                    </a:lnTo>
                    <a:lnTo>
                      <a:pt x="387" y="162"/>
                    </a:lnTo>
                    <a:lnTo>
                      <a:pt x="414" y="210"/>
                    </a:lnTo>
                    <a:lnTo>
                      <a:pt x="413" y="229"/>
                    </a:lnTo>
                    <a:lnTo>
                      <a:pt x="375" y="276"/>
                    </a:lnTo>
                    <a:lnTo>
                      <a:pt x="269" y="276"/>
                    </a:lnTo>
                    <a:lnTo>
                      <a:pt x="209" y="303"/>
                    </a:lnTo>
                    <a:lnTo>
                      <a:pt x="159" y="348"/>
                    </a:lnTo>
                    <a:lnTo>
                      <a:pt x="162" y="391"/>
                    </a:lnTo>
                    <a:lnTo>
                      <a:pt x="113" y="460"/>
                    </a:lnTo>
                    <a:lnTo>
                      <a:pt x="77" y="525"/>
                    </a:lnTo>
                    <a:lnTo>
                      <a:pt x="0" y="601"/>
                    </a:lnTo>
                  </a:path>
                </a:pathLst>
              </a:custGeom>
              <a:solidFill>
                <a:srgbClr val="C0C0C0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pt-BR"/>
              </a:p>
            </p:txBody>
          </p:sp>
          <p:sp>
            <p:nvSpPr>
              <p:cNvPr id="15" name="Freeform 7">
                <a:extLst>
                  <a:ext uri="{FF2B5EF4-FFF2-40B4-BE49-F238E27FC236}">
                    <a16:creationId xmlns:a16="http://schemas.microsoft.com/office/drawing/2014/main" id="{69058E13-40B0-F043-BFD3-07181659C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9" y="1842"/>
                <a:ext cx="1043" cy="1295"/>
              </a:xfrm>
              <a:custGeom>
                <a:avLst/>
                <a:gdLst>
                  <a:gd name="T0" fmla="*/ 671 w 1043"/>
                  <a:gd name="T1" fmla="*/ 1155 h 1295"/>
                  <a:gd name="T2" fmla="*/ 629 w 1043"/>
                  <a:gd name="T3" fmla="*/ 1233 h 1295"/>
                  <a:gd name="T4" fmla="*/ 644 w 1043"/>
                  <a:gd name="T5" fmla="*/ 1272 h 1295"/>
                  <a:gd name="T6" fmla="*/ 699 w 1043"/>
                  <a:gd name="T7" fmla="*/ 1265 h 1295"/>
                  <a:gd name="T8" fmla="*/ 719 w 1043"/>
                  <a:gd name="T9" fmla="*/ 1158 h 1295"/>
                  <a:gd name="T10" fmla="*/ 743 w 1043"/>
                  <a:gd name="T11" fmla="*/ 942 h 1295"/>
                  <a:gd name="T12" fmla="*/ 767 w 1043"/>
                  <a:gd name="T13" fmla="*/ 927 h 1295"/>
                  <a:gd name="T14" fmla="*/ 831 w 1043"/>
                  <a:gd name="T15" fmla="*/ 833 h 1295"/>
                  <a:gd name="T16" fmla="*/ 906 w 1043"/>
                  <a:gd name="T17" fmla="*/ 717 h 1295"/>
                  <a:gd name="T18" fmla="*/ 983 w 1043"/>
                  <a:gd name="T19" fmla="*/ 630 h 1295"/>
                  <a:gd name="T20" fmla="*/ 1043 w 1043"/>
                  <a:gd name="T21" fmla="*/ 510 h 1295"/>
                  <a:gd name="T22" fmla="*/ 1019 w 1043"/>
                  <a:gd name="T23" fmla="*/ 392 h 1295"/>
                  <a:gd name="T24" fmla="*/ 971 w 1043"/>
                  <a:gd name="T25" fmla="*/ 279 h 1295"/>
                  <a:gd name="T26" fmla="*/ 858 w 1043"/>
                  <a:gd name="T27" fmla="*/ 252 h 1295"/>
                  <a:gd name="T28" fmla="*/ 770 w 1043"/>
                  <a:gd name="T29" fmla="*/ 213 h 1295"/>
                  <a:gd name="T30" fmla="*/ 651 w 1043"/>
                  <a:gd name="T31" fmla="*/ 140 h 1295"/>
                  <a:gd name="T32" fmla="*/ 440 w 1043"/>
                  <a:gd name="T33" fmla="*/ 113 h 1295"/>
                  <a:gd name="T34" fmla="*/ 329 w 1043"/>
                  <a:gd name="T35" fmla="*/ 74 h 1295"/>
                  <a:gd name="T36" fmla="*/ 305 w 1043"/>
                  <a:gd name="T37" fmla="*/ 77 h 1295"/>
                  <a:gd name="T38" fmla="*/ 230 w 1043"/>
                  <a:gd name="T39" fmla="*/ 27 h 1295"/>
                  <a:gd name="T40" fmla="*/ 165 w 1043"/>
                  <a:gd name="T41" fmla="*/ 74 h 1295"/>
                  <a:gd name="T42" fmla="*/ 119 w 1043"/>
                  <a:gd name="T43" fmla="*/ 236 h 1295"/>
                  <a:gd name="T44" fmla="*/ 27 w 1043"/>
                  <a:gd name="T45" fmla="*/ 302 h 1295"/>
                  <a:gd name="T46" fmla="*/ 53 w 1043"/>
                  <a:gd name="T47" fmla="*/ 327 h 1295"/>
                  <a:gd name="T48" fmla="*/ 77 w 1043"/>
                  <a:gd name="T49" fmla="*/ 377 h 1295"/>
                  <a:gd name="T50" fmla="*/ 75 w 1043"/>
                  <a:gd name="T51" fmla="*/ 488 h 1295"/>
                  <a:gd name="T52" fmla="*/ 143 w 1043"/>
                  <a:gd name="T53" fmla="*/ 488 h 1295"/>
                  <a:gd name="T54" fmla="*/ 162 w 1043"/>
                  <a:gd name="T55" fmla="*/ 531 h 1295"/>
                  <a:gd name="T56" fmla="*/ 117 w 1043"/>
                  <a:gd name="T57" fmla="*/ 602 h 1295"/>
                  <a:gd name="T58" fmla="*/ 188 w 1043"/>
                  <a:gd name="T59" fmla="*/ 693 h 1295"/>
                  <a:gd name="T60" fmla="*/ 212 w 1043"/>
                  <a:gd name="T61" fmla="*/ 719 h 1295"/>
                  <a:gd name="T62" fmla="*/ 164 w 1043"/>
                  <a:gd name="T63" fmla="*/ 791 h 1295"/>
                  <a:gd name="T64" fmla="*/ 188 w 1043"/>
                  <a:gd name="T65" fmla="*/ 948 h 1295"/>
                  <a:gd name="T66" fmla="*/ 210 w 1043"/>
                  <a:gd name="T67" fmla="*/ 1068 h 1295"/>
                  <a:gd name="T68" fmla="*/ 279 w 1043"/>
                  <a:gd name="T69" fmla="*/ 1019 h 1295"/>
                  <a:gd name="T70" fmla="*/ 398 w 1043"/>
                  <a:gd name="T71" fmla="*/ 1046 h 1295"/>
                  <a:gd name="T72" fmla="*/ 492 w 1043"/>
                  <a:gd name="T73" fmla="*/ 1070 h 1295"/>
                  <a:gd name="T74" fmla="*/ 579 w 1043"/>
                  <a:gd name="T75" fmla="*/ 1109 h 1295"/>
                  <a:gd name="T76" fmla="*/ 671 w 1043"/>
                  <a:gd name="T77" fmla="*/ 1136 h 129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043"/>
                  <a:gd name="T118" fmla="*/ 0 h 1295"/>
                  <a:gd name="T119" fmla="*/ 1043 w 1043"/>
                  <a:gd name="T120" fmla="*/ 1295 h 129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043" h="1295">
                    <a:moveTo>
                      <a:pt x="669" y="1137"/>
                    </a:moveTo>
                    <a:lnTo>
                      <a:pt x="671" y="1155"/>
                    </a:lnTo>
                    <a:lnTo>
                      <a:pt x="644" y="1184"/>
                    </a:lnTo>
                    <a:lnTo>
                      <a:pt x="629" y="1233"/>
                    </a:lnTo>
                    <a:lnTo>
                      <a:pt x="648" y="1248"/>
                    </a:lnTo>
                    <a:lnTo>
                      <a:pt x="644" y="1272"/>
                    </a:lnTo>
                    <a:lnTo>
                      <a:pt x="669" y="1295"/>
                    </a:lnTo>
                    <a:lnTo>
                      <a:pt x="699" y="1265"/>
                    </a:lnTo>
                    <a:lnTo>
                      <a:pt x="719" y="1233"/>
                    </a:lnTo>
                    <a:lnTo>
                      <a:pt x="719" y="1158"/>
                    </a:lnTo>
                    <a:lnTo>
                      <a:pt x="741" y="1109"/>
                    </a:lnTo>
                    <a:lnTo>
                      <a:pt x="743" y="942"/>
                    </a:lnTo>
                    <a:lnTo>
                      <a:pt x="767" y="906"/>
                    </a:lnTo>
                    <a:lnTo>
                      <a:pt x="767" y="927"/>
                    </a:lnTo>
                    <a:lnTo>
                      <a:pt x="783" y="927"/>
                    </a:lnTo>
                    <a:lnTo>
                      <a:pt x="831" y="833"/>
                    </a:lnTo>
                    <a:lnTo>
                      <a:pt x="863" y="801"/>
                    </a:lnTo>
                    <a:lnTo>
                      <a:pt x="906" y="717"/>
                    </a:lnTo>
                    <a:lnTo>
                      <a:pt x="948" y="690"/>
                    </a:lnTo>
                    <a:lnTo>
                      <a:pt x="983" y="630"/>
                    </a:lnTo>
                    <a:lnTo>
                      <a:pt x="1020" y="578"/>
                    </a:lnTo>
                    <a:lnTo>
                      <a:pt x="1043" y="510"/>
                    </a:lnTo>
                    <a:lnTo>
                      <a:pt x="1043" y="443"/>
                    </a:lnTo>
                    <a:lnTo>
                      <a:pt x="1019" y="392"/>
                    </a:lnTo>
                    <a:lnTo>
                      <a:pt x="993" y="305"/>
                    </a:lnTo>
                    <a:lnTo>
                      <a:pt x="971" y="279"/>
                    </a:lnTo>
                    <a:lnTo>
                      <a:pt x="921" y="281"/>
                    </a:lnTo>
                    <a:lnTo>
                      <a:pt x="858" y="252"/>
                    </a:lnTo>
                    <a:lnTo>
                      <a:pt x="786" y="213"/>
                    </a:lnTo>
                    <a:lnTo>
                      <a:pt x="770" y="213"/>
                    </a:lnTo>
                    <a:lnTo>
                      <a:pt x="719" y="164"/>
                    </a:lnTo>
                    <a:lnTo>
                      <a:pt x="651" y="140"/>
                    </a:lnTo>
                    <a:lnTo>
                      <a:pt x="491" y="140"/>
                    </a:lnTo>
                    <a:lnTo>
                      <a:pt x="440" y="113"/>
                    </a:lnTo>
                    <a:lnTo>
                      <a:pt x="372" y="99"/>
                    </a:lnTo>
                    <a:lnTo>
                      <a:pt x="329" y="74"/>
                    </a:lnTo>
                    <a:lnTo>
                      <a:pt x="303" y="113"/>
                    </a:lnTo>
                    <a:lnTo>
                      <a:pt x="305" y="77"/>
                    </a:lnTo>
                    <a:lnTo>
                      <a:pt x="255" y="53"/>
                    </a:lnTo>
                    <a:lnTo>
                      <a:pt x="230" y="27"/>
                    </a:lnTo>
                    <a:lnTo>
                      <a:pt x="162" y="0"/>
                    </a:lnTo>
                    <a:lnTo>
                      <a:pt x="165" y="74"/>
                    </a:lnTo>
                    <a:lnTo>
                      <a:pt x="143" y="161"/>
                    </a:lnTo>
                    <a:lnTo>
                      <a:pt x="119" y="236"/>
                    </a:lnTo>
                    <a:lnTo>
                      <a:pt x="75" y="278"/>
                    </a:lnTo>
                    <a:lnTo>
                      <a:pt x="27" y="302"/>
                    </a:lnTo>
                    <a:lnTo>
                      <a:pt x="0" y="327"/>
                    </a:lnTo>
                    <a:lnTo>
                      <a:pt x="53" y="327"/>
                    </a:lnTo>
                    <a:lnTo>
                      <a:pt x="75" y="353"/>
                    </a:lnTo>
                    <a:lnTo>
                      <a:pt x="77" y="377"/>
                    </a:lnTo>
                    <a:lnTo>
                      <a:pt x="51" y="417"/>
                    </a:lnTo>
                    <a:lnTo>
                      <a:pt x="75" y="488"/>
                    </a:lnTo>
                    <a:lnTo>
                      <a:pt x="116" y="513"/>
                    </a:lnTo>
                    <a:lnTo>
                      <a:pt x="143" y="488"/>
                    </a:lnTo>
                    <a:lnTo>
                      <a:pt x="165" y="513"/>
                    </a:lnTo>
                    <a:lnTo>
                      <a:pt x="162" y="531"/>
                    </a:lnTo>
                    <a:lnTo>
                      <a:pt x="143" y="554"/>
                    </a:lnTo>
                    <a:lnTo>
                      <a:pt x="117" y="602"/>
                    </a:lnTo>
                    <a:lnTo>
                      <a:pt x="141" y="656"/>
                    </a:lnTo>
                    <a:lnTo>
                      <a:pt x="188" y="693"/>
                    </a:lnTo>
                    <a:lnTo>
                      <a:pt x="212" y="695"/>
                    </a:lnTo>
                    <a:lnTo>
                      <a:pt x="212" y="719"/>
                    </a:lnTo>
                    <a:lnTo>
                      <a:pt x="188" y="743"/>
                    </a:lnTo>
                    <a:lnTo>
                      <a:pt x="164" y="791"/>
                    </a:lnTo>
                    <a:lnTo>
                      <a:pt x="188" y="852"/>
                    </a:lnTo>
                    <a:lnTo>
                      <a:pt x="188" y="948"/>
                    </a:lnTo>
                    <a:lnTo>
                      <a:pt x="212" y="995"/>
                    </a:lnTo>
                    <a:lnTo>
                      <a:pt x="210" y="1068"/>
                    </a:lnTo>
                    <a:lnTo>
                      <a:pt x="246" y="1049"/>
                    </a:lnTo>
                    <a:lnTo>
                      <a:pt x="279" y="1019"/>
                    </a:lnTo>
                    <a:lnTo>
                      <a:pt x="351" y="1019"/>
                    </a:lnTo>
                    <a:lnTo>
                      <a:pt x="398" y="1046"/>
                    </a:lnTo>
                    <a:lnTo>
                      <a:pt x="444" y="1044"/>
                    </a:lnTo>
                    <a:lnTo>
                      <a:pt x="492" y="1070"/>
                    </a:lnTo>
                    <a:lnTo>
                      <a:pt x="530" y="1068"/>
                    </a:lnTo>
                    <a:lnTo>
                      <a:pt x="579" y="1109"/>
                    </a:lnTo>
                    <a:lnTo>
                      <a:pt x="609" y="1112"/>
                    </a:lnTo>
                    <a:lnTo>
                      <a:pt x="671" y="1136"/>
                    </a:lnTo>
                  </a:path>
                </a:pathLst>
              </a:custGeom>
              <a:solidFill>
                <a:srgbClr val="C0C0C0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pt-BR"/>
              </a:p>
            </p:txBody>
          </p:sp>
          <p:sp>
            <p:nvSpPr>
              <p:cNvPr id="16" name="Freeform 8">
                <a:extLst>
                  <a:ext uri="{FF2B5EF4-FFF2-40B4-BE49-F238E27FC236}">
                    <a16:creationId xmlns:a16="http://schemas.microsoft.com/office/drawing/2014/main" id="{4ACA0FDA-A3EC-5B83-2461-B4C3ACBE0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1" y="2169"/>
                <a:ext cx="1131" cy="1409"/>
              </a:xfrm>
              <a:custGeom>
                <a:avLst/>
                <a:gdLst>
                  <a:gd name="T0" fmla="*/ 831 w 1131"/>
                  <a:gd name="T1" fmla="*/ 275 h 1409"/>
                  <a:gd name="T2" fmla="*/ 855 w 1131"/>
                  <a:gd name="T3" fmla="*/ 162 h 1409"/>
                  <a:gd name="T4" fmla="*/ 945 w 1131"/>
                  <a:gd name="T5" fmla="*/ 51 h 1409"/>
                  <a:gd name="T6" fmla="*/ 920 w 1131"/>
                  <a:gd name="T7" fmla="*/ 0 h 1409"/>
                  <a:gd name="T8" fmla="*/ 995 w 1131"/>
                  <a:gd name="T9" fmla="*/ 27 h 1409"/>
                  <a:gd name="T10" fmla="*/ 969 w 1131"/>
                  <a:gd name="T11" fmla="*/ 89 h 1409"/>
                  <a:gd name="T12" fmla="*/ 1035 w 1131"/>
                  <a:gd name="T13" fmla="*/ 185 h 1409"/>
                  <a:gd name="T14" fmla="*/ 1085 w 1131"/>
                  <a:gd name="T15" fmla="*/ 185 h 1409"/>
                  <a:gd name="T16" fmla="*/ 1061 w 1131"/>
                  <a:gd name="T17" fmla="*/ 227 h 1409"/>
                  <a:gd name="T18" fmla="*/ 1061 w 1131"/>
                  <a:gd name="T19" fmla="*/ 330 h 1409"/>
                  <a:gd name="T20" fmla="*/ 1131 w 1131"/>
                  <a:gd name="T21" fmla="*/ 366 h 1409"/>
                  <a:gd name="T22" fmla="*/ 1106 w 1131"/>
                  <a:gd name="T23" fmla="*/ 419 h 1409"/>
                  <a:gd name="T24" fmla="*/ 1107 w 1131"/>
                  <a:gd name="T25" fmla="*/ 525 h 1409"/>
                  <a:gd name="T26" fmla="*/ 1130 w 1131"/>
                  <a:gd name="T27" fmla="*/ 665 h 1409"/>
                  <a:gd name="T28" fmla="*/ 1082 w 1131"/>
                  <a:gd name="T29" fmla="*/ 717 h 1409"/>
                  <a:gd name="T30" fmla="*/ 1035 w 1131"/>
                  <a:gd name="T31" fmla="*/ 780 h 1409"/>
                  <a:gd name="T32" fmla="*/ 1008 w 1131"/>
                  <a:gd name="T33" fmla="*/ 854 h 1409"/>
                  <a:gd name="T34" fmla="*/ 1035 w 1131"/>
                  <a:gd name="T35" fmla="*/ 920 h 1409"/>
                  <a:gd name="T36" fmla="*/ 896 w 1131"/>
                  <a:gd name="T37" fmla="*/ 968 h 1409"/>
                  <a:gd name="T38" fmla="*/ 782 w 1131"/>
                  <a:gd name="T39" fmla="*/ 1038 h 1409"/>
                  <a:gd name="T40" fmla="*/ 737 w 1131"/>
                  <a:gd name="T41" fmla="*/ 1151 h 1409"/>
                  <a:gd name="T42" fmla="*/ 594 w 1131"/>
                  <a:gd name="T43" fmla="*/ 1317 h 1409"/>
                  <a:gd name="T44" fmla="*/ 554 w 1131"/>
                  <a:gd name="T45" fmla="*/ 1407 h 1409"/>
                  <a:gd name="T46" fmla="*/ 482 w 1131"/>
                  <a:gd name="T47" fmla="*/ 1389 h 1409"/>
                  <a:gd name="T48" fmla="*/ 441 w 1131"/>
                  <a:gd name="T49" fmla="*/ 1293 h 1409"/>
                  <a:gd name="T50" fmla="*/ 318 w 1131"/>
                  <a:gd name="T51" fmla="*/ 1272 h 1409"/>
                  <a:gd name="T52" fmla="*/ 341 w 1131"/>
                  <a:gd name="T53" fmla="*/ 1086 h 1409"/>
                  <a:gd name="T54" fmla="*/ 318 w 1131"/>
                  <a:gd name="T55" fmla="*/ 1016 h 1409"/>
                  <a:gd name="T56" fmla="*/ 279 w 1131"/>
                  <a:gd name="T57" fmla="*/ 945 h 1409"/>
                  <a:gd name="T58" fmla="*/ 254 w 1131"/>
                  <a:gd name="T59" fmla="*/ 876 h 1409"/>
                  <a:gd name="T60" fmla="*/ 87 w 1131"/>
                  <a:gd name="T61" fmla="*/ 857 h 1409"/>
                  <a:gd name="T62" fmla="*/ 65 w 1131"/>
                  <a:gd name="T63" fmla="*/ 765 h 1409"/>
                  <a:gd name="T64" fmla="*/ 66 w 1131"/>
                  <a:gd name="T65" fmla="*/ 665 h 1409"/>
                  <a:gd name="T66" fmla="*/ 116 w 1131"/>
                  <a:gd name="T67" fmla="*/ 482 h 1409"/>
                  <a:gd name="T68" fmla="*/ 0 w 1131"/>
                  <a:gd name="T69" fmla="*/ 345 h 1409"/>
                  <a:gd name="T70" fmla="*/ 204 w 1131"/>
                  <a:gd name="T71" fmla="*/ 302 h 1409"/>
                  <a:gd name="T72" fmla="*/ 228 w 1131"/>
                  <a:gd name="T73" fmla="*/ 204 h 1409"/>
                  <a:gd name="T74" fmla="*/ 278 w 1131"/>
                  <a:gd name="T75" fmla="*/ 228 h 1409"/>
                  <a:gd name="T76" fmla="*/ 365 w 1131"/>
                  <a:gd name="T77" fmla="*/ 324 h 1409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131"/>
                  <a:gd name="T118" fmla="*/ 0 h 1409"/>
                  <a:gd name="T119" fmla="*/ 1131 w 1131"/>
                  <a:gd name="T120" fmla="*/ 1409 h 1409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131" h="1409">
                    <a:moveTo>
                      <a:pt x="782" y="342"/>
                    </a:moveTo>
                    <a:lnTo>
                      <a:pt x="831" y="275"/>
                    </a:lnTo>
                    <a:lnTo>
                      <a:pt x="855" y="227"/>
                    </a:lnTo>
                    <a:lnTo>
                      <a:pt x="855" y="162"/>
                    </a:lnTo>
                    <a:lnTo>
                      <a:pt x="870" y="113"/>
                    </a:lnTo>
                    <a:lnTo>
                      <a:pt x="945" y="51"/>
                    </a:lnTo>
                    <a:lnTo>
                      <a:pt x="944" y="26"/>
                    </a:lnTo>
                    <a:lnTo>
                      <a:pt x="920" y="0"/>
                    </a:lnTo>
                    <a:lnTo>
                      <a:pt x="972" y="0"/>
                    </a:lnTo>
                    <a:lnTo>
                      <a:pt x="995" y="27"/>
                    </a:lnTo>
                    <a:lnTo>
                      <a:pt x="995" y="51"/>
                    </a:lnTo>
                    <a:lnTo>
                      <a:pt x="969" y="89"/>
                    </a:lnTo>
                    <a:lnTo>
                      <a:pt x="993" y="162"/>
                    </a:lnTo>
                    <a:lnTo>
                      <a:pt x="1035" y="185"/>
                    </a:lnTo>
                    <a:lnTo>
                      <a:pt x="1059" y="161"/>
                    </a:lnTo>
                    <a:lnTo>
                      <a:pt x="1085" y="185"/>
                    </a:lnTo>
                    <a:lnTo>
                      <a:pt x="1082" y="203"/>
                    </a:lnTo>
                    <a:lnTo>
                      <a:pt x="1061" y="227"/>
                    </a:lnTo>
                    <a:lnTo>
                      <a:pt x="1035" y="276"/>
                    </a:lnTo>
                    <a:lnTo>
                      <a:pt x="1061" y="330"/>
                    </a:lnTo>
                    <a:lnTo>
                      <a:pt x="1107" y="366"/>
                    </a:lnTo>
                    <a:lnTo>
                      <a:pt x="1131" y="366"/>
                    </a:lnTo>
                    <a:lnTo>
                      <a:pt x="1131" y="392"/>
                    </a:lnTo>
                    <a:lnTo>
                      <a:pt x="1106" y="419"/>
                    </a:lnTo>
                    <a:lnTo>
                      <a:pt x="1082" y="465"/>
                    </a:lnTo>
                    <a:lnTo>
                      <a:pt x="1107" y="525"/>
                    </a:lnTo>
                    <a:lnTo>
                      <a:pt x="1106" y="618"/>
                    </a:lnTo>
                    <a:lnTo>
                      <a:pt x="1130" y="665"/>
                    </a:lnTo>
                    <a:lnTo>
                      <a:pt x="1130" y="740"/>
                    </a:lnTo>
                    <a:lnTo>
                      <a:pt x="1082" y="717"/>
                    </a:lnTo>
                    <a:lnTo>
                      <a:pt x="1058" y="768"/>
                    </a:lnTo>
                    <a:lnTo>
                      <a:pt x="1035" y="780"/>
                    </a:lnTo>
                    <a:lnTo>
                      <a:pt x="1037" y="830"/>
                    </a:lnTo>
                    <a:lnTo>
                      <a:pt x="1008" y="854"/>
                    </a:lnTo>
                    <a:lnTo>
                      <a:pt x="1035" y="902"/>
                    </a:lnTo>
                    <a:lnTo>
                      <a:pt x="1035" y="920"/>
                    </a:lnTo>
                    <a:lnTo>
                      <a:pt x="998" y="968"/>
                    </a:lnTo>
                    <a:lnTo>
                      <a:pt x="896" y="968"/>
                    </a:lnTo>
                    <a:lnTo>
                      <a:pt x="834" y="990"/>
                    </a:lnTo>
                    <a:lnTo>
                      <a:pt x="782" y="1038"/>
                    </a:lnTo>
                    <a:lnTo>
                      <a:pt x="785" y="1082"/>
                    </a:lnTo>
                    <a:lnTo>
                      <a:pt x="737" y="1151"/>
                    </a:lnTo>
                    <a:lnTo>
                      <a:pt x="699" y="1217"/>
                    </a:lnTo>
                    <a:lnTo>
                      <a:pt x="594" y="1317"/>
                    </a:lnTo>
                    <a:lnTo>
                      <a:pt x="555" y="1383"/>
                    </a:lnTo>
                    <a:lnTo>
                      <a:pt x="554" y="1407"/>
                    </a:lnTo>
                    <a:lnTo>
                      <a:pt x="506" y="1409"/>
                    </a:lnTo>
                    <a:lnTo>
                      <a:pt x="482" y="1389"/>
                    </a:lnTo>
                    <a:lnTo>
                      <a:pt x="458" y="1320"/>
                    </a:lnTo>
                    <a:lnTo>
                      <a:pt x="441" y="1293"/>
                    </a:lnTo>
                    <a:lnTo>
                      <a:pt x="344" y="1295"/>
                    </a:lnTo>
                    <a:lnTo>
                      <a:pt x="318" y="1272"/>
                    </a:lnTo>
                    <a:lnTo>
                      <a:pt x="318" y="1130"/>
                    </a:lnTo>
                    <a:lnTo>
                      <a:pt x="341" y="1086"/>
                    </a:lnTo>
                    <a:lnTo>
                      <a:pt x="344" y="1043"/>
                    </a:lnTo>
                    <a:lnTo>
                      <a:pt x="318" y="1016"/>
                    </a:lnTo>
                    <a:lnTo>
                      <a:pt x="317" y="965"/>
                    </a:lnTo>
                    <a:lnTo>
                      <a:pt x="279" y="945"/>
                    </a:lnTo>
                    <a:lnTo>
                      <a:pt x="254" y="905"/>
                    </a:lnTo>
                    <a:lnTo>
                      <a:pt x="254" y="876"/>
                    </a:lnTo>
                    <a:lnTo>
                      <a:pt x="201" y="878"/>
                    </a:lnTo>
                    <a:lnTo>
                      <a:pt x="87" y="857"/>
                    </a:lnTo>
                    <a:lnTo>
                      <a:pt x="89" y="806"/>
                    </a:lnTo>
                    <a:lnTo>
                      <a:pt x="65" y="765"/>
                    </a:lnTo>
                    <a:lnTo>
                      <a:pt x="90" y="737"/>
                    </a:lnTo>
                    <a:lnTo>
                      <a:pt x="66" y="665"/>
                    </a:lnTo>
                    <a:lnTo>
                      <a:pt x="116" y="579"/>
                    </a:lnTo>
                    <a:lnTo>
                      <a:pt x="116" y="482"/>
                    </a:lnTo>
                    <a:lnTo>
                      <a:pt x="0" y="467"/>
                    </a:lnTo>
                    <a:lnTo>
                      <a:pt x="0" y="345"/>
                    </a:lnTo>
                    <a:lnTo>
                      <a:pt x="12" y="302"/>
                    </a:lnTo>
                    <a:lnTo>
                      <a:pt x="204" y="302"/>
                    </a:lnTo>
                    <a:lnTo>
                      <a:pt x="207" y="252"/>
                    </a:lnTo>
                    <a:lnTo>
                      <a:pt x="228" y="204"/>
                    </a:lnTo>
                    <a:lnTo>
                      <a:pt x="228" y="161"/>
                    </a:lnTo>
                    <a:lnTo>
                      <a:pt x="278" y="228"/>
                    </a:lnTo>
                    <a:lnTo>
                      <a:pt x="318" y="303"/>
                    </a:lnTo>
                    <a:lnTo>
                      <a:pt x="365" y="324"/>
                    </a:lnTo>
                    <a:lnTo>
                      <a:pt x="782" y="341"/>
                    </a:lnTo>
                  </a:path>
                </a:pathLst>
              </a:custGeom>
              <a:solidFill>
                <a:srgbClr val="C0C0C0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pt-BR"/>
              </a:p>
            </p:txBody>
          </p:sp>
          <p:grpSp>
            <p:nvGrpSpPr>
              <p:cNvPr id="17" name="Group 9">
                <a:extLst>
                  <a:ext uri="{FF2B5EF4-FFF2-40B4-BE49-F238E27FC236}">
                    <a16:creationId xmlns:a16="http://schemas.microsoft.com/office/drawing/2014/main" id="{32940372-044E-1C55-0289-3FC7F203D9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8" y="1389"/>
                <a:ext cx="1988" cy="1446"/>
                <a:chOff x="576" y="1389"/>
                <a:chExt cx="1988" cy="1446"/>
              </a:xfrm>
            </p:grpSpPr>
            <p:sp>
              <p:nvSpPr>
                <p:cNvPr id="18" name="Freeform 10">
                  <a:extLst>
                    <a:ext uri="{FF2B5EF4-FFF2-40B4-BE49-F238E27FC236}">
                      <a16:creationId xmlns:a16="http://schemas.microsoft.com/office/drawing/2014/main" id="{5942C3F5-4EF8-F569-6416-7EF577BF35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17" y="1770"/>
                  <a:ext cx="204" cy="140"/>
                </a:xfrm>
                <a:custGeom>
                  <a:avLst/>
                  <a:gdLst>
                    <a:gd name="T0" fmla="*/ 849 w 100"/>
                    <a:gd name="T1" fmla="*/ 105 h 68"/>
                    <a:gd name="T2" fmla="*/ 783 w 100"/>
                    <a:gd name="T3" fmla="*/ 313 h 68"/>
                    <a:gd name="T4" fmla="*/ 579 w 100"/>
                    <a:gd name="T5" fmla="*/ 488 h 68"/>
                    <a:gd name="T6" fmla="*/ 375 w 100"/>
                    <a:gd name="T7" fmla="*/ 593 h 68"/>
                    <a:gd name="T8" fmla="*/ 204 w 100"/>
                    <a:gd name="T9" fmla="*/ 488 h 68"/>
                    <a:gd name="T10" fmla="*/ 0 w 100"/>
                    <a:gd name="T11" fmla="*/ 420 h 68"/>
                    <a:gd name="T12" fmla="*/ 100 w 100"/>
                    <a:gd name="T13" fmla="*/ 105 h 68"/>
                    <a:gd name="T14" fmla="*/ 271 w 100"/>
                    <a:gd name="T15" fmla="*/ 0 h 68"/>
                    <a:gd name="T16" fmla="*/ 375 w 100"/>
                    <a:gd name="T17" fmla="*/ 0 h 68"/>
                    <a:gd name="T18" fmla="*/ 579 w 100"/>
                    <a:gd name="T19" fmla="*/ 105 h 68"/>
                    <a:gd name="T20" fmla="*/ 783 w 100"/>
                    <a:gd name="T21" fmla="*/ 0 h 68"/>
                    <a:gd name="T22" fmla="*/ 849 w 100"/>
                    <a:gd name="T23" fmla="*/ 105 h 6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100"/>
                    <a:gd name="T37" fmla="*/ 0 h 68"/>
                    <a:gd name="T38" fmla="*/ 100 w 100"/>
                    <a:gd name="T39" fmla="*/ 68 h 68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100" h="68">
                      <a:moveTo>
                        <a:pt x="100" y="12"/>
                      </a:moveTo>
                      <a:lnTo>
                        <a:pt x="92" y="36"/>
                      </a:lnTo>
                      <a:lnTo>
                        <a:pt x="68" y="56"/>
                      </a:lnTo>
                      <a:lnTo>
                        <a:pt x="44" y="68"/>
                      </a:lnTo>
                      <a:lnTo>
                        <a:pt x="24" y="56"/>
                      </a:lnTo>
                      <a:lnTo>
                        <a:pt x="0" y="48"/>
                      </a:lnTo>
                      <a:lnTo>
                        <a:pt x="12" y="12"/>
                      </a:lnTo>
                      <a:lnTo>
                        <a:pt x="32" y="0"/>
                      </a:lnTo>
                      <a:lnTo>
                        <a:pt x="44" y="0"/>
                      </a:lnTo>
                      <a:lnTo>
                        <a:pt x="68" y="12"/>
                      </a:lnTo>
                      <a:lnTo>
                        <a:pt x="92" y="0"/>
                      </a:lnTo>
                      <a:lnTo>
                        <a:pt x="100" y="12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solidFill>
                    <a:srgbClr val="4D4D4D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pt-BR"/>
                </a:p>
              </p:txBody>
            </p:sp>
            <p:sp>
              <p:nvSpPr>
                <p:cNvPr id="19" name="Freeform 11">
                  <a:extLst>
                    <a:ext uri="{FF2B5EF4-FFF2-40B4-BE49-F238E27FC236}">
                      <a16:creationId xmlns:a16="http://schemas.microsoft.com/office/drawing/2014/main" id="{D557D043-8194-1901-AB73-FC55120D2B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66" y="1730"/>
                  <a:ext cx="65" cy="16"/>
                </a:xfrm>
                <a:custGeom>
                  <a:avLst/>
                  <a:gdLst>
                    <a:gd name="T0" fmla="*/ 0 w 32"/>
                    <a:gd name="T1" fmla="*/ 64 h 8"/>
                    <a:gd name="T2" fmla="*/ 67 w 32"/>
                    <a:gd name="T3" fmla="*/ 0 h 8"/>
                    <a:gd name="T4" fmla="*/ 169 w 32"/>
                    <a:gd name="T5" fmla="*/ 0 h 8"/>
                    <a:gd name="T6" fmla="*/ 268 w 32"/>
                    <a:gd name="T7" fmla="*/ 64 h 8"/>
                    <a:gd name="T8" fmla="*/ 0 w 32"/>
                    <a:gd name="T9" fmla="*/ 64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"/>
                    <a:gd name="T16" fmla="*/ 0 h 8"/>
                    <a:gd name="T17" fmla="*/ 32 w 32"/>
                    <a:gd name="T18" fmla="*/ 8 h 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" h="8">
                      <a:moveTo>
                        <a:pt x="0" y="8"/>
                      </a:moveTo>
                      <a:lnTo>
                        <a:pt x="8" y="0"/>
                      </a:lnTo>
                      <a:lnTo>
                        <a:pt x="20" y="0"/>
                      </a:lnTo>
                      <a:lnTo>
                        <a:pt x="32" y="8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solidFill>
                    <a:srgbClr val="4D4D4D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pt-BR"/>
                </a:p>
              </p:txBody>
            </p:sp>
            <p:sp>
              <p:nvSpPr>
                <p:cNvPr id="20" name="Freeform 12">
                  <a:extLst>
                    <a:ext uri="{FF2B5EF4-FFF2-40B4-BE49-F238E27FC236}">
                      <a16:creationId xmlns:a16="http://schemas.microsoft.com/office/drawing/2014/main" id="{DEC796EE-44B7-D798-E465-CD87E81992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6" y="1389"/>
                  <a:ext cx="1988" cy="1446"/>
                </a:xfrm>
                <a:custGeom>
                  <a:avLst/>
                  <a:gdLst>
                    <a:gd name="T0" fmla="*/ 1962 w 1988"/>
                    <a:gd name="T1" fmla="*/ 427 h 1446"/>
                    <a:gd name="T2" fmla="*/ 1850 w 1988"/>
                    <a:gd name="T3" fmla="*/ 452 h 1446"/>
                    <a:gd name="T4" fmla="*/ 1772 w 1988"/>
                    <a:gd name="T5" fmla="*/ 554 h 1446"/>
                    <a:gd name="T6" fmla="*/ 1758 w 1988"/>
                    <a:gd name="T7" fmla="*/ 551 h 1446"/>
                    <a:gd name="T8" fmla="*/ 1616 w 1988"/>
                    <a:gd name="T9" fmla="*/ 477 h 1446"/>
                    <a:gd name="T10" fmla="*/ 1636 w 1988"/>
                    <a:gd name="T11" fmla="*/ 389 h 1446"/>
                    <a:gd name="T12" fmla="*/ 1708 w 1988"/>
                    <a:gd name="T13" fmla="*/ 289 h 1446"/>
                    <a:gd name="T14" fmla="*/ 1658 w 1988"/>
                    <a:gd name="T15" fmla="*/ 221 h 1446"/>
                    <a:gd name="T16" fmla="*/ 1634 w 1988"/>
                    <a:gd name="T17" fmla="*/ 85 h 1446"/>
                    <a:gd name="T18" fmla="*/ 1550 w 1988"/>
                    <a:gd name="T19" fmla="*/ 175 h 1446"/>
                    <a:gd name="T20" fmla="*/ 1408 w 1988"/>
                    <a:gd name="T21" fmla="*/ 225 h 1446"/>
                    <a:gd name="T22" fmla="*/ 1268 w 1988"/>
                    <a:gd name="T23" fmla="*/ 201 h 1446"/>
                    <a:gd name="T24" fmla="*/ 1266 w 1988"/>
                    <a:gd name="T25" fmla="*/ 225 h 1446"/>
                    <a:gd name="T26" fmla="*/ 1188 w 1988"/>
                    <a:gd name="T27" fmla="*/ 251 h 1446"/>
                    <a:gd name="T28" fmla="*/ 1014 w 1988"/>
                    <a:gd name="T29" fmla="*/ 291 h 1446"/>
                    <a:gd name="T30" fmla="*/ 968 w 1988"/>
                    <a:gd name="T31" fmla="*/ 179 h 1446"/>
                    <a:gd name="T32" fmla="*/ 969 w 1988"/>
                    <a:gd name="T33" fmla="*/ 63 h 1446"/>
                    <a:gd name="T34" fmla="*/ 945 w 1988"/>
                    <a:gd name="T35" fmla="*/ 12 h 1446"/>
                    <a:gd name="T36" fmla="*/ 903 w 1988"/>
                    <a:gd name="T37" fmla="*/ 42 h 1446"/>
                    <a:gd name="T38" fmla="*/ 783 w 1988"/>
                    <a:gd name="T39" fmla="*/ 138 h 1446"/>
                    <a:gd name="T40" fmla="*/ 740 w 1988"/>
                    <a:gd name="T41" fmla="*/ 113 h 1446"/>
                    <a:gd name="T42" fmla="*/ 624 w 1988"/>
                    <a:gd name="T43" fmla="*/ 114 h 1446"/>
                    <a:gd name="T44" fmla="*/ 666 w 1988"/>
                    <a:gd name="T45" fmla="*/ 174 h 1446"/>
                    <a:gd name="T46" fmla="*/ 744 w 1988"/>
                    <a:gd name="T47" fmla="*/ 251 h 1446"/>
                    <a:gd name="T48" fmla="*/ 668 w 1988"/>
                    <a:gd name="T49" fmla="*/ 315 h 1446"/>
                    <a:gd name="T50" fmla="*/ 531 w 1988"/>
                    <a:gd name="T51" fmla="*/ 390 h 1446"/>
                    <a:gd name="T52" fmla="*/ 470 w 1988"/>
                    <a:gd name="T53" fmla="*/ 320 h 1446"/>
                    <a:gd name="T54" fmla="*/ 365 w 1988"/>
                    <a:gd name="T55" fmla="*/ 293 h 1446"/>
                    <a:gd name="T56" fmla="*/ 254 w 1988"/>
                    <a:gd name="T57" fmla="*/ 342 h 1446"/>
                    <a:gd name="T58" fmla="*/ 302 w 1988"/>
                    <a:gd name="T59" fmla="*/ 390 h 1446"/>
                    <a:gd name="T60" fmla="*/ 228 w 1988"/>
                    <a:gd name="T61" fmla="*/ 414 h 1446"/>
                    <a:gd name="T62" fmla="*/ 300 w 1988"/>
                    <a:gd name="T63" fmla="*/ 557 h 1446"/>
                    <a:gd name="T64" fmla="*/ 254 w 1988"/>
                    <a:gd name="T65" fmla="*/ 780 h 1446"/>
                    <a:gd name="T66" fmla="*/ 116 w 1988"/>
                    <a:gd name="T67" fmla="*/ 830 h 1446"/>
                    <a:gd name="T68" fmla="*/ 48 w 1988"/>
                    <a:gd name="T69" fmla="*/ 917 h 1446"/>
                    <a:gd name="T70" fmla="*/ 26 w 1988"/>
                    <a:gd name="T71" fmla="*/ 965 h 1446"/>
                    <a:gd name="T72" fmla="*/ 0 w 1988"/>
                    <a:gd name="T73" fmla="*/ 1082 h 1446"/>
                    <a:gd name="T74" fmla="*/ 77 w 1988"/>
                    <a:gd name="T75" fmla="*/ 1175 h 1446"/>
                    <a:gd name="T76" fmla="*/ 116 w 1988"/>
                    <a:gd name="T77" fmla="*/ 1221 h 1446"/>
                    <a:gd name="T78" fmla="*/ 188 w 1988"/>
                    <a:gd name="T79" fmla="*/ 1244 h 1446"/>
                    <a:gd name="T80" fmla="*/ 228 w 1988"/>
                    <a:gd name="T81" fmla="*/ 1263 h 1446"/>
                    <a:gd name="T82" fmla="*/ 371 w 1988"/>
                    <a:gd name="T83" fmla="*/ 1286 h 1446"/>
                    <a:gd name="T84" fmla="*/ 576 w 1988"/>
                    <a:gd name="T85" fmla="*/ 1194 h 1446"/>
                    <a:gd name="T86" fmla="*/ 627 w 1988"/>
                    <a:gd name="T87" fmla="*/ 1220 h 1446"/>
                    <a:gd name="T88" fmla="*/ 672 w 1988"/>
                    <a:gd name="T89" fmla="*/ 1358 h 1446"/>
                    <a:gd name="T90" fmla="*/ 812 w 1988"/>
                    <a:gd name="T91" fmla="*/ 1400 h 1446"/>
                    <a:gd name="T92" fmla="*/ 969 w 1988"/>
                    <a:gd name="T93" fmla="*/ 1446 h 1446"/>
                    <a:gd name="T94" fmla="*/ 1019 w 1988"/>
                    <a:gd name="T95" fmla="*/ 1260 h 1446"/>
                    <a:gd name="T96" fmla="*/ 903 w 1988"/>
                    <a:gd name="T97" fmla="*/ 1122 h 1446"/>
                    <a:gd name="T98" fmla="*/ 1107 w 1988"/>
                    <a:gd name="T99" fmla="*/ 1082 h 1446"/>
                    <a:gd name="T100" fmla="*/ 1133 w 1988"/>
                    <a:gd name="T101" fmla="*/ 981 h 1446"/>
                    <a:gd name="T102" fmla="*/ 1187 w 1988"/>
                    <a:gd name="T103" fmla="*/ 1019 h 1446"/>
                    <a:gd name="T104" fmla="*/ 1265 w 1988"/>
                    <a:gd name="T105" fmla="*/ 1104 h 1446"/>
                    <a:gd name="T106" fmla="*/ 1736 w 1988"/>
                    <a:gd name="T107" fmla="*/ 1053 h 1446"/>
                    <a:gd name="T108" fmla="*/ 1757 w 1988"/>
                    <a:gd name="T109" fmla="*/ 939 h 1446"/>
                    <a:gd name="T110" fmla="*/ 1848 w 1988"/>
                    <a:gd name="T111" fmla="*/ 834 h 1446"/>
                    <a:gd name="T112" fmla="*/ 1824 w 1988"/>
                    <a:gd name="T113" fmla="*/ 780 h 1446"/>
                    <a:gd name="T114" fmla="*/ 1898 w 1988"/>
                    <a:gd name="T115" fmla="*/ 729 h 1446"/>
                    <a:gd name="T116" fmla="*/ 1967 w 1988"/>
                    <a:gd name="T117" fmla="*/ 611 h 1446"/>
                    <a:gd name="T118" fmla="*/ 1986 w 1988"/>
                    <a:gd name="T119" fmla="*/ 458 h 144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w 1988"/>
                    <a:gd name="T181" fmla="*/ 0 h 1446"/>
                    <a:gd name="T182" fmla="*/ 1988 w 1988"/>
                    <a:gd name="T183" fmla="*/ 1446 h 144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T180" t="T181" r="T182" b="T183"/>
                  <a:pathLst>
                    <a:path w="1988" h="1446">
                      <a:moveTo>
                        <a:pt x="1988" y="456"/>
                      </a:moveTo>
                      <a:lnTo>
                        <a:pt x="1962" y="427"/>
                      </a:lnTo>
                      <a:lnTo>
                        <a:pt x="1872" y="413"/>
                      </a:lnTo>
                      <a:lnTo>
                        <a:pt x="1850" y="452"/>
                      </a:lnTo>
                      <a:lnTo>
                        <a:pt x="1794" y="506"/>
                      </a:lnTo>
                      <a:lnTo>
                        <a:pt x="1772" y="554"/>
                      </a:lnTo>
                      <a:lnTo>
                        <a:pt x="1756" y="619"/>
                      </a:lnTo>
                      <a:lnTo>
                        <a:pt x="1758" y="551"/>
                      </a:lnTo>
                      <a:lnTo>
                        <a:pt x="1658" y="529"/>
                      </a:lnTo>
                      <a:lnTo>
                        <a:pt x="1616" y="477"/>
                      </a:lnTo>
                      <a:lnTo>
                        <a:pt x="1616" y="459"/>
                      </a:lnTo>
                      <a:lnTo>
                        <a:pt x="1636" y="389"/>
                      </a:lnTo>
                      <a:lnTo>
                        <a:pt x="1710" y="315"/>
                      </a:lnTo>
                      <a:lnTo>
                        <a:pt x="1708" y="289"/>
                      </a:lnTo>
                      <a:lnTo>
                        <a:pt x="1684" y="279"/>
                      </a:lnTo>
                      <a:lnTo>
                        <a:pt x="1658" y="221"/>
                      </a:lnTo>
                      <a:lnTo>
                        <a:pt x="1632" y="153"/>
                      </a:lnTo>
                      <a:lnTo>
                        <a:pt x="1634" y="85"/>
                      </a:lnTo>
                      <a:lnTo>
                        <a:pt x="1616" y="87"/>
                      </a:lnTo>
                      <a:lnTo>
                        <a:pt x="1550" y="175"/>
                      </a:lnTo>
                      <a:lnTo>
                        <a:pt x="1484" y="225"/>
                      </a:lnTo>
                      <a:lnTo>
                        <a:pt x="1408" y="225"/>
                      </a:lnTo>
                      <a:lnTo>
                        <a:pt x="1344" y="201"/>
                      </a:lnTo>
                      <a:lnTo>
                        <a:pt x="1268" y="201"/>
                      </a:lnTo>
                      <a:lnTo>
                        <a:pt x="1247" y="224"/>
                      </a:lnTo>
                      <a:lnTo>
                        <a:pt x="1266" y="225"/>
                      </a:lnTo>
                      <a:lnTo>
                        <a:pt x="1250" y="249"/>
                      </a:lnTo>
                      <a:lnTo>
                        <a:pt x="1188" y="251"/>
                      </a:lnTo>
                      <a:lnTo>
                        <a:pt x="1049" y="290"/>
                      </a:lnTo>
                      <a:lnTo>
                        <a:pt x="1014" y="291"/>
                      </a:lnTo>
                      <a:lnTo>
                        <a:pt x="992" y="278"/>
                      </a:lnTo>
                      <a:lnTo>
                        <a:pt x="968" y="179"/>
                      </a:lnTo>
                      <a:lnTo>
                        <a:pt x="992" y="113"/>
                      </a:lnTo>
                      <a:lnTo>
                        <a:pt x="969" y="63"/>
                      </a:lnTo>
                      <a:lnTo>
                        <a:pt x="945" y="68"/>
                      </a:lnTo>
                      <a:lnTo>
                        <a:pt x="945" y="12"/>
                      </a:lnTo>
                      <a:lnTo>
                        <a:pt x="899" y="0"/>
                      </a:lnTo>
                      <a:lnTo>
                        <a:pt x="903" y="42"/>
                      </a:lnTo>
                      <a:lnTo>
                        <a:pt x="804" y="89"/>
                      </a:lnTo>
                      <a:lnTo>
                        <a:pt x="783" y="138"/>
                      </a:lnTo>
                      <a:lnTo>
                        <a:pt x="767" y="114"/>
                      </a:lnTo>
                      <a:lnTo>
                        <a:pt x="740" y="113"/>
                      </a:lnTo>
                      <a:lnTo>
                        <a:pt x="645" y="89"/>
                      </a:lnTo>
                      <a:lnTo>
                        <a:pt x="624" y="114"/>
                      </a:lnTo>
                      <a:lnTo>
                        <a:pt x="669" y="137"/>
                      </a:lnTo>
                      <a:lnTo>
                        <a:pt x="666" y="174"/>
                      </a:lnTo>
                      <a:lnTo>
                        <a:pt x="692" y="227"/>
                      </a:lnTo>
                      <a:lnTo>
                        <a:pt x="744" y="251"/>
                      </a:lnTo>
                      <a:lnTo>
                        <a:pt x="743" y="275"/>
                      </a:lnTo>
                      <a:lnTo>
                        <a:pt x="668" y="315"/>
                      </a:lnTo>
                      <a:lnTo>
                        <a:pt x="627" y="368"/>
                      </a:lnTo>
                      <a:lnTo>
                        <a:pt x="531" y="390"/>
                      </a:lnTo>
                      <a:lnTo>
                        <a:pt x="492" y="371"/>
                      </a:lnTo>
                      <a:lnTo>
                        <a:pt x="470" y="320"/>
                      </a:lnTo>
                      <a:lnTo>
                        <a:pt x="438" y="291"/>
                      </a:lnTo>
                      <a:lnTo>
                        <a:pt x="365" y="293"/>
                      </a:lnTo>
                      <a:lnTo>
                        <a:pt x="254" y="317"/>
                      </a:lnTo>
                      <a:lnTo>
                        <a:pt x="254" y="342"/>
                      </a:lnTo>
                      <a:lnTo>
                        <a:pt x="302" y="365"/>
                      </a:lnTo>
                      <a:lnTo>
                        <a:pt x="302" y="390"/>
                      </a:lnTo>
                      <a:lnTo>
                        <a:pt x="252" y="387"/>
                      </a:lnTo>
                      <a:lnTo>
                        <a:pt x="228" y="414"/>
                      </a:lnTo>
                      <a:lnTo>
                        <a:pt x="254" y="504"/>
                      </a:lnTo>
                      <a:lnTo>
                        <a:pt x="300" y="557"/>
                      </a:lnTo>
                      <a:lnTo>
                        <a:pt x="275" y="698"/>
                      </a:lnTo>
                      <a:lnTo>
                        <a:pt x="254" y="780"/>
                      </a:lnTo>
                      <a:lnTo>
                        <a:pt x="227" y="782"/>
                      </a:lnTo>
                      <a:lnTo>
                        <a:pt x="116" y="830"/>
                      </a:lnTo>
                      <a:lnTo>
                        <a:pt x="72" y="875"/>
                      </a:lnTo>
                      <a:lnTo>
                        <a:pt x="48" y="917"/>
                      </a:lnTo>
                      <a:lnTo>
                        <a:pt x="51" y="944"/>
                      </a:lnTo>
                      <a:lnTo>
                        <a:pt x="26" y="965"/>
                      </a:lnTo>
                      <a:lnTo>
                        <a:pt x="2" y="1008"/>
                      </a:lnTo>
                      <a:lnTo>
                        <a:pt x="0" y="1082"/>
                      </a:lnTo>
                      <a:lnTo>
                        <a:pt x="29" y="1125"/>
                      </a:lnTo>
                      <a:lnTo>
                        <a:pt x="77" y="1175"/>
                      </a:lnTo>
                      <a:lnTo>
                        <a:pt x="90" y="1221"/>
                      </a:lnTo>
                      <a:lnTo>
                        <a:pt x="116" y="1221"/>
                      </a:lnTo>
                      <a:lnTo>
                        <a:pt x="143" y="1245"/>
                      </a:lnTo>
                      <a:lnTo>
                        <a:pt x="188" y="1244"/>
                      </a:lnTo>
                      <a:lnTo>
                        <a:pt x="227" y="1199"/>
                      </a:lnTo>
                      <a:lnTo>
                        <a:pt x="228" y="1263"/>
                      </a:lnTo>
                      <a:lnTo>
                        <a:pt x="254" y="1284"/>
                      </a:lnTo>
                      <a:lnTo>
                        <a:pt x="371" y="1286"/>
                      </a:lnTo>
                      <a:lnTo>
                        <a:pt x="465" y="1263"/>
                      </a:lnTo>
                      <a:lnTo>
                        <a:pt x="576" y="1194"/>
                      </a:lnTo>
                      <a:lnTo>
                        <a:pt x="603" y="1194"/>
                      </a:lnTo>
                      <a:lnTo>
                        <a:pt x="627" y="1220"/>
                      </a:lnTo>
                      <a:lnTo>
                        <a:pt x="627" y="1290"/>
                      </a:lnTo>
                      <a:lnTo>
                        <a:pt x="672" y="1358"/>
                      </a:lnTo>
                      <a:lnTo>
                        <a:pt x="764" y="1382"/>
                      </a:lnTo>
                      <a:lnTo>
                        <a:pt x="812" y="1400"/>
                      </a:lnTo>
                      <a:lnTo>
                        <a:pt x="920" y="1422"/>
                      </a:lnTo>
                      <a:lnTo>
                        <a:pt x="969" y="1446"/>
                      </a:lnTo>
                      <a:lnTo>
                        <a:pt x="1019" y="1361"/>
                      </a:lnTo>
                      <a:lnTo>
                        <a:pt x="1019" y="1260"/>
                      </a:lnTo>
                      <a:lnTo>
                        <a:pt x="903" y="1247"/>
                      </a:lnTo>
                      <a:lnTo>
                        <a:pt x="903" y="1122"/>
                      </a:lnTo>
                      <a:lnTo>
                        <a:pt x="915" y="1080"/>
                      </a:lnTo>
                      <a:lnTo>
                        <a:pt x="1107" y="1082"/>
                      </a:lnTo>
                      <a:lnTo>
                        <a:pt x="1110" y="1031"/>
                      </a:lnTo>
                      <a:lnTo>
                        <a:pt x="1133" y="981"/>
                      </a:lnTo>
                      <a:lnTo>
                        <a:pt x="1131" y="941"/>
                      </a:lnTo>
                      <a:lnTo>
                        <a:pt x="1187" y="1019"/>
                      </a:lnTo>
                      <a:lnTo>
                        <a:pt x="1221" y="1083"/>
                      </a:lnTo>
                      <a:lnTo>
                        <a:pt x="1265" y="1104"/>
                      </a:lnTo>
                      <a:lnTo>
                        <a:pt x="1686" y="1122"/>
                      </a:lnTo>
                      <a:lnTo>
                        <a:pt x="1736" y="1053"/>
                      </a:lnTo>
                      <a:lnTo>
                        <a:pt x="1760" y="1007"/>
                      </a:lnTo>
                      <a:lnTo>
                        <a:pt x="1757" y="939"/>
                      </a:lnTo>
                      <a:lnTo>
                        <a:pt x="1776" y="890"/>
                      </a:lnTo>
                      <a:lnTo>
                        <a:pt x="1848" y="834"/>
                      </a:lnTo>
                      <a:lnTo>
                        <a:pt x="1848" y="807"/>
                      </a:lnTo>
                      <a:lnTo>
                        <a:pt x="1824" y="780"/>
                      </a:lnTo>
                      <a:lnTo>
                        <a:pt x="1850" y="753"/>
                      </a:lnTo>
                      <a:lnTo>
                        <a:pt x="1898" y="729"/>
                      </a:lnTo>
                      <a:lnTo>
                        <a:pt x="1940" y="686"/>
                      </a:lnTo>
                      <a:lnTo>
                        <a:pt x="1967" y="611"/>
                      </a:lnTo>
                      <a:lnTo>
                        <a:pt x="1986" y="527"/>
                      </a:lnTo>
                      <a:lnTo>
                        <a:pt x="1986" y="458"/>
                      </a:lnTo>
                    </a:path>
                  </a:pathLst>
                </a:custGeom>
                <a:solidFill>
                  <a:srgbClr val="C0C0C0"/>
                </a:solidFill>
                <a:ln w="9525">
                  <a:solidFill>
                    <a:srgbClr val="4D4D4D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pt-BR"/>
                </a:p>
              </p:txBody>
            </p:sp>
          </p:grpSp>
        </p:grpSp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EF5CC5C0-B047-942B-E820-62FCFBED8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0450" y="2513013"/>
              <a:ext cx="550863" cy="27622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200"/>
                <a:t>Norte</a:t>
              </a:r>
            </a:p>
          </p:txBody>
        </p:sp>
        <p:sp>
          <p:nvSpPr>
            <p:cNvPr id="9" name="Text Box 14">
              <a:extLst>
                <a:ext uri="{FF2B5EF4-FFF2-40B4-BE49-F238E27FC236}">
                  <a16:creationId xmlns:a16="http://schemas.microsoft.com/office/drawing/2014/main" id="{D313CE46-8238-7457-24C2-0025413B9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5038" y="5262563"/>
              <a:ext cx="379413" cy="27622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200"/>
                <a:t>Sul</a:t>
              </a:r>
            </a:p>
          </p:txBody>
        </p:sp>
        <p:sp>
          <p:nvSpPr>
            <p:cNvPr id="10" name="Text Box 15">
              <a:extLst>
                <a:ext uri="{FF2B5EF4-FFF2-40B4-BE49-F238E27FC236}">
                  <a16:creationId xmlns:a16="http://schemas.microsoft.com/office/drawing/2014/main" id="{C3F2792B-15BA-608A-FB7F-C38E4E82C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5788" y="2989263"/>
              <a:ext cx="768350" cy="27622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200" err="1"/>
                <a:t>Nordeste</a:t>
              </a:r>
              <a:endParaRPr lang="en-US" altLang="en-US" sz="1200"/>
            </a:p>
          </p:txBody>
        </p:sp>
        <p:sp>
          <p:nvSpPr>
            <p:cNvPr id="11" name="Text Box 16">
              <a:extLst>
                <a:ext uri="{FF2B5EF4-FFF2-40B4-BE49-F238E27FC236}">
                  <a16:creationId xmlns:a16="http://schemas.microsoft.com/office/drawing/2014/main" id="{B184ABCC-2CB7-BC27-AA7E-42F61EC02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6563" y="3811588"/>
              <a:ext cx="1028700" cy="27622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200"/>
                <a:t>Centro-Oeste</a:t>
              </a:r>
            </a:p>
          </p:txBody>
        </p:sp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2C2031B3-73ED-00AE-065D-EFE11ED10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0500" y="4448175"/>
              <a:ext cx="687388" cy="27622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200" err="1"/>
                <a:t>Sudeste</a:t>
              </a:r>
              <a:endParaRPr lang="en-US" altLang="en-US" sz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B4B638F-1EEC-2380-FD09-5F7A90F1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Quantitativo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217CD3-A5FD-1332-EC66-9B7440FEB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</a:t>
            </a:r>
          </a:p>
        </p:txBody>
      </p:sp>
    </p:spTree>
    <p:extLst>
      <p:ext uri="{BB962C8B-B14F-4D97-AF65-F5344CB8AC3E}">
        <p14:creationId xmlns:p14="http://schemas.microsoft.com/office/powerpoint/2010/main" val="2438419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D742C0A-C8B2-EF2C-F520-188A0CD56A2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3" imgH="476" progId="TCLayout.ActiveDocument.1">
                  <p:embed/>
                </p:oleObj>
              </mc:Choice>
              <mc:Fallback>
                <p:oleObj name="Slide do think-cell" r:id="rId3" imgW="473" imgH="47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742C0A-C8B2-EF2C-F520-188A0CD56A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5EACB937-0208-6735-3B7C-7081B7C5763F}"/>
              </a:ext>
            </a:extLst>
          </p:cNvPr>
          <p:cNvGrpSpPr>
            <a:grpSpLocks/>
          </p:cNvGrpSpPr>
          <p:nvPr/>
        </p:nvGrpSpPr>
        <p:grpSpPr bwMode="auto">
          <a:xfrm>
            <a:off x="4001229" y="1104107"/>
            <a:ext cx="4198932" cy="4649790"/>
            <a:chOff x="582" y="1388"/>
            <a:chExt cx="2864" cy="2929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E510566-65FB-B54C-3954-D85F4DDA4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" y="3804"/>
              <a:ext cx="481" cy="513"/>
            </a:xfrm>
            <a:custGeom>
              <a:avLst/>
              <a:gdLst>
                <a:gd name="T0" fmla="*/ 1064 w 235"/>
                <a:gd name="T1" fmla="*/ 2142 h 251"/>
                <a:gd name="T2" fmla="*/ 1269 w 235"/>
                <a:gd name="T3" fmla="*/ 2038 h 251"/>
                <a:gd name="T4" fmla="*/ 1433 w 235"/>
                <a:gd name="T5" fmla="*/ 1629 h 251"/>
                <a:gd name="T6" fmla="*/ 1637 w 235"/>
                <a:gd name="T7" fmla="*/ 1457 h 251"/>
                <a:gd name="T8" fmla="*/ 1844 w 235"/>
                <a:gd name="T9" fmla="*/ 989 h 251"/>
                <a:gd name="T10" fmla="*/ 2016 w 235"/>
                <a:gd name="T11" fmla="*/ 685 h 251"/>
                <a:gd name="T12" fmla="*/ 1949 w 235"/>
                <a:gd name="T13" fmla="*/ 580 h 251"/>
                <a:gd name="T14" fmla="*/ 1949 w 235"/>
                <a:gd name="T15" fmla="*/ 409 h 251"/>
                <a:gd name="T16" fmla="*/ 1844 w 235"/>
                <a:gd name="T17" fmla="*/ 409 h 251"/>
                <a:gd name="T18" fmla="*/ 1742 w 235"/>
                <a:gd name="T19" fmla="*/ 309 h 251"/>
                <a:gd name="T20" fmla="*/ 1533 w 235"/>
                <a:gd name="T21" fmla="*/ 204 h 251"/>
                <a:gd name="T22" fmla="*/ 1433 w 235"/>
                <a:gd name="T23" fmla="*/ 104 h 251"/>
                <a:gd name="T24" fmla="*/ 1165 w 235"/>
                <a:gd name="T25" fmla="*/ 0 h 251"/>
                <a:gd name="T26" fmla="*/ 860 w 235"/>
                <a:gd name="T27" fmla="*/ 0 h 251"/>
                <a:gd name="T28" fmla="*/ 583 w 235"/>
                <a:gd name="T29" fmla="*/ 204 h 251"/>
                <a:gd name="T30" fmla="*/ 0 w 235"/>
                <a:gd name="T31" fmla="*/ 1057 h 251"/>
                <a:gd name="T32" fmla="*/ 0 w 235"/>
                <a:gd name="T33" fmla="*/ 1161 h 251"/>
                <a:gd name="T34" fmla="*/ 205 w 235"/>
                <a:gd name="T35" fmla="*/ 1161 h 251"/>
                <a:gd name="T36" fmla="*/ 583 w 235"/>
                <a:gd name="T37" fmla="*/ 1365 h 251"/>
                <a:gd name="T38" fmla="*/ 688 w 235"/>
                <a:gd name="T39" fmla="*/ 1365 h 251"/>
                <a:gd name="T40" fmla="*/ 1064 w 235"/>
                <a:gd name="T41" fmla="*/ 1733 h 251"/>
                <a:gd name="T42" fmla="*/ 1165 w 235"/>
                <a:gd name="T43" fmla="*/ 1629 h 251"/>
                <a:gd name="T44" fmla="*/ 1165 w 235"/>
                <a:gd name="T45" fmla="*/ 1833 h 251"/>
                <a:gd name="T46" fmla="*/ 1064 w 235"/>
                <a:gd name="T47" fmla="*/ 1938 h 251"/>
                <a:gd name="T48" fmla="*/ 1064 w 235"/>
                <a:gd name="T49" fmla="*/ 2142 h 2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235"/>
                <a:gd name="T76" fmla="*/ 0 h 251"/>
                <a:gd name="T77" fmla="*/ 235 w 235"/>
                <a:gd name="T78" fmla="*/ 251 h 25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235" h="251">
                  <a:moveTo>
                    <a:pt x="124" y="251"/>
                  </a:moveTo>
                  <a:lnTo>
                    <a:pt x="148" y="239"/>
                  </a:lnTo>
                  <a:lnTo>
                    <a:pt x="167" y="191"/>
                  </a:lnTo>
                  <a:lnTo>
                    <a:pt x="191" y="171"/>
                  </a:lnTo>
                  <a:lnTo>
                    <a:pt x="215" y="116"/>
                  </a:lnTo>
                  <a:lnTo>
                    <a:pt x="235" y="80"/>
                  </a:lnTo>
                  <a:lnTo>
                    <a:pt x="227" y="68"/>
                  </a:lnTo>
                  <a:lnTo>
                    <a:pt x="227" y="48"/>
                  </a:lnTo>
                  <a:lnTo>
                    <a:pt x="215" y="48"/>
                  </a:lnTo>
                  <a:lnTo>
                    <a:pt x="203" y="36"/>
                  </a:lnTo>
                  <a:lnTo>
                    <a:pt x="179" y="24"/>
                  </a:lnTo>
                  <a:lnTo>
                    <a:pt x="167" y="12"/>
                  </a:lnTo>
                  <a:lnTo>
                    <a:pt x="136" y="0"/>
                  </a:lnTo>
                  <a:lnTo>
                    <a:pt x="100" y="0"/>
                  </a:lnTo>
                  <a:lnTo>
                    <a:pt x="68" y="24"/>
                  </a:lnTo>
                  <a:lnTo>
                    <a:pt x="0" y="124"/>
                  </a:lnTo>
                  <a:lnTo>
                    <a:pt x="0" y="136"/>
                  </a:lnTo>
                  <a:lnTo>
                    <a:pt x="24" y="136"/>
                  </a:lnTo>
                  <a:lnTo>
                    <a:pt x="68" y="160"/>
                  </a:lnTo>
                  <a:lnTo>
                    <a:pt x="80" y="160"/>
                  </a:lnTo>
                  <a:lnTo>
                    <a:pt x="124" y="203"/>
                  </a:lnTo>
                  <a:lnTo>
                    <a:pt x="136" y="191"/>
                  </a:lnTo>
                  <a:lnTo>
                    <a:pt x="136" y="215"/>
                  </a:lnTo>
                  <a:lnTo>
                    <a:pt x="124" y="227"/>
                  </a:lnTo>
                  <a:lnTo>
                    <a:pt x="124" y="251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418E15FF-B8FF-D11C-80F9-0119F1856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3716"/>
              <a:ext cx="350" cy="251"/>
            </a:xfrm>
            <a:custGeom>
              <a:avLst/>
              <a:gdLst>
                <a:gd name="T0" fmla="*/ 1156 w 171"/>
                <a:gd name="T1" fmla="*/ 1045 h 123"/>
                <a:gd name="T2" fmla="*/ 1361 w 171"/>
                <a:gd name="T3" fmla="*/ 775 h 123"/>
                <a:gd name="T4" fmla="*/ 1465 w 171"/>
                <a:gd name="T5" fmla="*/ 367 h 123"/>
                <a:gd name="T6" fmla="*/ 1465 w 171"/>
                <a:gd name="T7" fmla="*/ 100 h 123"/>
                <a:gd name="T8" fmla="*/ 1361 w 171"/>
                <a:gd name="T9" fmla="*/ 100 h 123"/>
                <a:gd name="T10" fmla="*/ 1156 w 171"/>
                <a:gd name="T11" fmla="*/ 0 h 123"/>
                <a:gd name="T12" fmla="*/ 985 w 171"/>
                <a:gd name="T13" fmla="*/ 0 h 123"/>
                <a:gd name="T14" fmla="*/ 780 w 171"/>
                <a:gd name="T15" fmla="*/ 100 h 123"/>
                <a:gd name="T16" fmla="*/ 680 w 171"/>
                <a:gd name="T17" fmla="*/ 204 h 123"/>
                <a:gd name="T18" fmla="*/ 309 w 171"/>
                <a:gd name="T19" fmla="*/ 100 h 123"/>
                <a:gd name="T20" fmla="*/ 0 w 171"/>
                <a:gd name="T21" fmla="*/ 100 h 123"/>
                <a:gd name="T22" fmla="*/ 0 w 171"/>
                <a:gd name="T23" fmla="*/ 367 h 123"/>
                <a:gd name="T24" fmla="*/ 309 w 171"/>
                <a:gd name="T25" fmla="*/ 367 h 123"/>
                <a:gd name="T26" fmla="*/ 573 w 171"/>
                <a:gd name="T27" fmla="*/ 467 h 123"/>
                <a:gd name="T28" fmla="*/ 680 w 171"/>
                <a:gd name="T29" fmla="*/ 571 h 123"/>
                <a:gd name="T30" fmla="*/ 884 w 171"/>
                <a:gd name="T31" fmla="*/ 671 h 123"/>
                <a:gd name="T32" fmla="*/ 985 w 171"/>
                <a:gd name="T33" fmla="*/ 775 h 123"/>
                <a:gd name="T34" fmla="*/ 1089 w 171"/>
                <a:gd name="T35" fmla="*/ 775 h 123"/>
                <a:gd name="T36" fmla="*/ 1089 w 171"/>
                <a:gd name="T37" fmla="*/ 945 h 123"/>
                <a:gd name="T38" fmla="*/ 1156 w 171"/>
                <a:gd name="T39" fmla="*/ 1045 h 12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71"/>
                <a:gd name="T61" fmla="*/ 0 h 123"/>
                <a:gd name="T62" fmla="*/ 171 w 171"/>
                <a:gd name="T63" fmla="*/ 123 h 12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71" h="123">
                  <a:moveTo>
                    <a:pt x="135" y="123"/>
                  </a:moveTo>
                  <a:lnTo>
                    <a:pt x="159" y="91"/>
                  </a:lnTo>
                  <a:lnTo>
                    <a:pt x="171" y="43"/>
                  </a:lnTo>
                  <a:lnTo>
                    <a:pt x="171" y="12"/>
                  </a:lnTo>
                  <a:lnTo>
                    <a:pt x="159" y="12"/>
                  </a:lnTo>
                  <a:lnTo>
                    <a:pt x="135" y="0"/>
                  </a:lnTo>
                  <a:lnTo>
                    <a:pt x="115" y="0"/>
                  </a:lnTo>
                  <a:lnTo>
                    <a:pt x="91" y="12"/>
                  </a:lnTo>
                  <a:lnTo>
                    <a:pt x="79" y="24"/>
                  </a:lnTo>
                  <a:lnTo>
                    <a:pt x="36" y="12"/>
                  </a:lnTo>
                  <a:lnTo>
                    <a:pt x="0" y="12"/>
                  </a:lnTo>
                  <a:lnTo>
                    <a:pt x="0" y="43"/>
                  </a:lnTo>
                  <a:lnTo>
                    <a:pt x="36" y="43"/>
                  </a:lnTo>
                  <a:lnTo>
                    <a:pt x="67" y="55"/>
                  </a:lnTo>
                  <a:lnTo>
                    <a:pt x="79" y="67"/>
                  </a:lnTo>
                  <a:lnTo>
                    <a:pt x="103" y="79"/>
                  </a:lnTo>
                  <a:lnTo>
                    <a:pt x="115" y="91"/>
                  </a:lnTo>
                  <a:lnTo>
                    <a:pt x="127" y="91"/>
                  </a:lnTo>
                  <a:lnTo>
                    <a:pt x="127" y="111"/>
                  </a:lnTo>
                  <a:lnTo>
                    <a:pt x="135" y="123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6C5BE45D-84FE-887C-836A-833B2098E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3462"/>
              <a:ext cx="464" cy="303"/>
            </a:xfrm>
            <a:custGeom>
              <a:avLst/>
              <a:gdLst>
                <a:gd name="T0" fmla="*/ 272 w 227"/>
                <a:gd name="T1" fmla="*/ 1165 h 148"/>
                <a:gd name="T2" fmla="*/ 581 w 227"/>
                <a:gd name="T3" fmla="*/ 1165 h 148"/>
                <a:gd name="T4" fmla="*/ 948 w 227"/>
                <a:gd name="T5" fmla="*/ 1269 h 148"/>
                <a:gd name="T6" fmla="*/ 1049 w 227"/>
                <a:gd name="T7" fmla="*/ 1165 h 148"/>
                <a:gd name="T8" fmla="*/ 1253 w 227"/>
                <a:gd name="T9" fmla="*/ 1065 h 148"/>
                <a:gd name="T10" fmla="*/ 1425 w 227"/>
                <a:gd name="T11" fmla="*/ 1065 h 148"/>
                <a:gd name="T12" fmla="*/ 1629 w 227"/>
                <a:gd name="T13" fmla="*/ 1165 h 148"/>
                <a:gd name="T14" fmla="*/ 1733 w 227"/>
                <a:gd name="T15" fmla="*/ 1165 h 148"/>
                <a:gd name="T16" fmla="*/ 1733 w 227"/>
                <a:gd name="T17" fmla="*/ 960 h 148"/>
                <a:gd name="T18" fmla="*/ 1938 w 227"/>
                <a:gd name="T19" fmla="*/ 755 h 148"/>
                <a:gd name="T20" fmla="*/ 1834 w 227"/>
                <a:gd name="T21" fmla="*/ 755 h 148"/>
                <a:gd name="T22" fmla="*/ 1629 w 227"/>
                <a:gd name="T23" fmla="*/ 583 h 148"/>
                <a:gd name="T24" fmla="*/ 1529 w 227"/>
                <a:gd name="T25" fmla="*/ 583 h 148"/>
                <a:gd name="T26" fmla="*/ 1357 w 227"/>
                <a:gd name="T27" fmla="*/ 276 h 148"/>
                <a:gd name="T28" fmla="*/ 1253 w 227"/>
                <a:gd name="T29" fmla="*/ 172 h 148"/>
                <a:gd name="T30" fmla="*/ 1153 w 227"/>
                <a:gd name="T31" fmla="*/ 104 h 148"/>
                <a:gd name="T32" fmla="*/ 844 w 227"/>
                <a:gd name="T33" fmla="*/ 104 h 148"/>
                <a:gd name="T34" fmla="*/ 581 w 227"/>
                <a:gd name="T35" fmla="*/ 0 h 148"/>
                <a:gd name="T36" fmla="*/ 376 w 227"/>
                <a:gd name="T37" fmla="*/ 0 h 148"/>
                <a:gd name="T38" fmla="*/ 272 w 227"/>
                <a:gd name="T39" fmla="*/ 104 h 148"/>
                <a:gd name="T40" fmla="*/ 104 w 227"/>
                <a:gd name="T41" fmla="*/ 377 h 148"/>
                <a:gd name="T42" fmla="*/ 104 w 227"/>
                <a:gd name="T43" fmla="*/ 583 h 148"/>
                <a:gd name="T44" fmla="*/ 104 w 227"/>
                <a:gd name="T45" fmla="*/ 755 h 148"/>
                <a:gd name="T46" fmla="*/ 0 w 227"/>
                <a:gd name="T47" fmla="*/ 860 h 148"/>
                <a:gd name="T48" fmla="*/ 0 w 227"/>
                <a:gd name="T49" fmla="*/ 960 h 148"/>
                <a:gd name="T50" fmla="*/ 204 w 227"/>
                <a:gd name="T51" fmla="*/ 1065 h 148"/>
                <a:gd name="T52" fmla="*/ 272 w 227"/>
                <a:gd name="T53" fmla="*/ 1165 h 1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27"/>
                <a:gd name="T82" fmla="*/ 0 h 148"/>
                <a:gd name="T83" fmla="*/ 227 w 227"/>
                <a:gd name="T84" fmla="*/ 148 h 14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27" h="148">
                  <a:moveTo>
                    <a:pt x="32" y="136"/>
                  </a:moveTo>
                  <a:lnTo>
                    <a:pt x="68" y="136"/>
                  </a:lnTo>
                  <a:lnTo>
                    <a:pt x="111" y="148"/>
                  </a:lnTo>
                  <a:lnTo>
                    <a:pt x="123" y="136"/>
                  </a:lnTo>
                  <a:lnTo>
                    <a:pt x="147" y="124"/>
                  </a:lnTo>
                  <a:lnTo>
                    <a:pt x="167" y="124"/>
                  </a:lnTo>
                  <a:lnTo>
                    <a:pt x="191" y="136"/>
                  </a:lnTo>
                  <a:lnTo>
                    <a:pt x="203" y="136"/>
                  </a:lnTo>
                  <a:lnTo>
                    <a:pt x="203" y="112"/>
                  </a:lnTo>
                  <a:lnTo>
                    <a:pt x="227" y="88"/>
                  </a:lnTo>
                  <a:lnTo>
                    <a:pt x="215" y="88"/>
                  </a:lnTo>
                  <a:lnTo>
                    <a:pt x="191" y="68"/>
                  </a:lnTo>
                  <a:lnTo>
                    <a:pt x="179" y="68"/>
                  </a:lnTo>
                  <a:lnTo>
                    <a:pt x="159" y="32"/>
                  </a:lnTo>
                  <a:lnTo>
                    <a:pt x="147" y="20"/>
                  </a:lnTo>
                  <a:lnTo>
                    <a:pt x="135" y="12"/>
                  </a:lnTo>
                  <a:lnTo>
                    <a:pt x="99" y="12"/>
                  </a:lnTo>
                  <a:lnTo>
                    <a:pt x="68" y="0"/>
                  </a:lnTo>
                  <a:lnTo>
                    <a:pt x="44" y="0"/>
                  </a:lnTo>
                  <a:lnTo>
                    <a:pt x="32" y="12"/>
                  </a:lnTo>
                  <a:lnTo>
                    <a:pt x="12" y="44"/>
                  </a:lnTo>
                  <a:lnTo>
                    <a:pt x="12" y="68"/>
                  </a:lnTo>
                  <a:lnTo>
                    <a:pt x="12" y="88"/>
                  </a:lnTo>
                  <a:lnTo>
                    <a:pt x="0" y="100"/>
                  </a:lnTo>
                  <a:lnTo>
                    <a:pt x="0" y="112"/>
                  </a:lnTo>
                  <a:lnTo>
                    <a:pt x="24" y="124"/>
                  </a:lnTo>
                  <a:lnTo>
                    <a:pt x="32" y="136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7F34F49-F4FE-9FF7-5110-1327A1098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3251"/>
              <a:ext cx="601" cy="391"/>
            </a:xfrm>
            <a:custGeom>
              <a:avLst/>
              <a:gdLst>
                <a:gd name="T0" fmla="*/ 2406 w 294"/>
                <a:gd name="T1" fmla="*/ 1056 h 191"/>
                <a:gd name="T2" fmla="*/ 2406 w 294"/>
                <a:gd name="T3" fmla="*/ 985 h 191"/>
                <a:gd name="T4" fmla="*/ 2512 w 294"/>
                <a:gd name="T5" fmla="*/ 884 h 191"/>
                <a:gd name="T6" fmla="*/ 2306 w 294"/>
                <a:gd name="T7" fmla="*/ 884 h 191"/>
                <a:gd name="T8" fmla="*/ 2136 w 294"/>
                <a:gd name="T9" fmla="*/ 884 h 191"/>
                <a:gd name="T10" fmla="*/ 1930 w 294"/>
                <a:gd name="T11" fmla="*/ 780 h 191"/>
                <a:gd name="T12" fmla="*/ 1838 w 294"/>
                <a:gd name="T13" fmla="*/ 583 h 191"/>
                <a:gd name="T14" fmla="*/ 1838 w 294"/>
                <a:gd name="T15" fmla="*/ 481 h 191"/>
                <a:gd name="T16" fmla="*/ 1733 w 294"/>
                <a:gd name="T17" fmla="*/ 411 h 191"/>
                <a:gd name="T18" fmla="*/ 1733 w 294"/>
                <a:gd name="T19" fmla="*/ 205 h 191"/>
                <a:gd name="T20" fmla="*/ 1629 w 294"/>
                <a:gd name="T21" fmla="*/ 104 h 191"/>
                <a:gd name="T22" fmla="*/ 1462 w 294"/>
                <a:gd name="T23" fmla="*/ 0 h 191"/>
                <a:gd name="T24" fmla="*/ 1153 w 294"/>
                <a:gd name="T25" fmla="*/ 104 h 191"/>
                <a:gd name="T26" fmla="*/ 981 w 294"/>
                <a:gd name="T27" fmla="*/ 0 h 191"/>
                <a:gd name="T28" fmla="*/ 673 w 294"/>
                <a:gd name="T29" fmla="*/ 0 h 191"/>
                <a:gd name="T30" fmla="*/ 468 w 294"/>
                <a:gd name="T31" fmla="*/ 309 h 191"/>
                <a:gd name="T32" fmla="*/ 309 w 294"/>
                <a:gd name="T33" fmla="*/ 583 h 191"/>
                <a:gd name="T34" fmla="*/ 104 w 294"/>
                <a:gd name="T35" fmla="*/ 780 h 191"/>
                <a:gd name="T36" fmla="*/ 0 w 294"/>
                <a:gd name="T37" fmla="*/ 884 h 191"/>
                <a:gd name="T38" fmla="*/ 204 w 294"/>
                <a:gd name="T39" fmla="*/ 884 h 191"/>
                <a:gd name="T40" fmla="*/ 468 w 294"/>
                <a:gd name="T41" fmla="*/ 985 h 191"/>
                <a:gd name="T42" fmla="*/ 777 w 294"/>
                <a:gd name="T43" fmla="*/ 985 h 191"/>
                <a:gd name="T44" fmla="*/ 881 w 294"/>
                <a:gd name="T45" fmla="*/ 1056 h 191"/>
                <a:gd name="T46" fmla="*/ 981 w 294"/>
                <a:gd name="T47" fmla="*/ 1157 h 191"/>
                <a:gd name="T48" fmla="*/ 1153 w 294"/>
                <a:gd name="T49" fmla="*/ 1466 h 191"/>
                <a:gd name="T50" fmla="*/ 1257 w 294"/>
                <a:gd name="T51" fmla="*/ 1466 h 191"/>
                <a:gd name="T52" fmla="*/ 1462 w 294"/>
                <a:gd name="T53" fmla="*/ 1638 h 191"/>
                <a:gd name="T54" fmla="*/ 1564 w 294"/>
                <a:gd name="T55" fmla="*/ 1638 h 191"/>
                <a:gd name="T56" fmla="*/ 1629 w 294"/>
                <a:gd name="T57" fmla="*/ 1572 h 191"/>
                <a:gd name="T58" fmla="*/ 1930 w 294"/>
                <a:gd name="T59" fmla="*/ 1361 h 191"/>
                <a:gd name="T60" fmla="*/ 2202 w 294"/>
                <a:gd name="T61" fmla="*/ 1157 h 191"/>
                <a:gd name="T62" fmla="*/ 2406 w 294"/>
                <a:gd name="T63" fmla="*/ 1056 h 19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94"/>
                <a:gd name="T97" fmla="*/ 0 h 191"/>
                <a:gd name="T98" fmla="*/ 294 w 294"/>
                <a:gd name="T99" fmla="*/ 191 h 19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94" h="191">
                  <a:moveTo>
                    <a:pt x="282" y="123"/>
                  </a:moveTo>
                  <a:lnTo>
                    <a:pt x="282" y="115"/>
                  </a:lnTo>
                  <a:lnTo>
                    <a:pt x="294" y="103"/>
                  </a:lnTo>
                  <a:lnTo>
                    <a:pt x="270" y="103"/>
                  </a:lnTo>
                  <a:lnTo>
                    <a:pt x="250" y="103"/>
                  </a:lnTo>
                  <a:lnTo>
                    <a:pt x="226" y="91"/>
                  </a:lnTo>
                  <a:lnTo>
                    <a:pt x="215" y="68"/>
                  </a:lnTo>
                  <a:lnTo>
                    <a:pt x="215" y="56"/>
                  </a:lnTo>
                  <a:lnTo>
                    <a:pt x="203" y="48"/>
                  </a:lnTo>
                  <a:lnTo>
                    <a:pt x="203" y="24"/>
                  </a:lnTo>
                  <a:lnTo>
                    <a:pt x="191" y="12"/>
                  </a:lnTo>
                  <a:lnTo>
                    <a:pt x="171" y="0"/>
                  </a:lnTo>
                  <a:lnTo>
                    <a:pt x="135" y="12"/>
                  </a:lnTo>
                  <a:lnTo>
                    <a:pt x="115" y="0"/>
                  </a:lnTo>
                  <a:lnTo>
                    <a:pt x="79" y="0"/>
                  </a:lnTo>
                  <a:lnTo>
                    <a:pt x="55" y="36"/>
                  </a:lnTo>
                  <a:lnTo>
                    <a:pt x="36" y="68"/>
                  </a:lnTo>
                  <a:lnTo>
                    <a:pt x="12" y="91"/>
                  </a:lnTo>
                  <a:lnTo>
                    <a:pt x="0" y="103"/>
                  </a:lnTo>
                  <a:lnTo>
                    <a:pt x="24" y="103"/>
                  </a:lnTo>
                  <a:lnTo>
                    <a:pt x="55" y="115"/>
                  </a:lnTo>
                  <a:lnTo>
                    <a:pt x="91" y="115"/>
                  </a:lnTo>
                  <a:lnTo>
                    <a:pt x="103" y="123"/>
                  </a:lnTo>
                  <a:lnTo>
                    <a:pt x="115" y="135"/>
                  </a:lnTo>
                  <a:lnTo>
                    <a:pt x="135" y="171"/>
                  </a:lnTo>
                  <a:lnTo>
                    <a:pt x="147" y="171"/>
                  </a:lnTo>
                  <a:lnTo>
                    <a:pt x="171" y="191"/>
                  </a:lnTo>
                  <a:lnTo>
                    <a:pt x="183" y="191"/>
                  </a:lnTo>
                  <a:lnTo>
                    <a:pt x="191" y="183"/>
                  </a:lnTo>
                  <a:lnTo>
                    <a:pt x="226" y="159"/>
                  </a:lnTo>
                  <a:lnTo>
                    <a:pt x="258" y="135"/>
                  </a:lnTo>
                  <a:lnTo>
                    <a:pt x="282" y="123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CD885543-454E-38BC-3E8C-DE95AE123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6" y="3325"/>
              <a:ext cx="326" cy="178"/>
            </a:xfrm>
            <a:custGeom>
              <a:avLst/>
              <a:gdLst>
                <a:gd name="T0" fmla="*/ 105 w 159"/>
                <a:gd name="T1" fmla="*/ 745 h 87"/>
                <a:gd name="T2" fmla="*/ 105 w 159"/>
                <a:gd name="T3" fmla="*/ 677 h 87"/>
                <a:gd name="T4" fmla="*/ 205 w 159"/>
                <a:gd name="T5" fmla="*/ 573 h 87"/>
                <a:gd name="T6" fmla="*/ 0 w 159"/>
                <a:gd name="T7" fmla="*/ 573 h 87"/>
                <a:gd name="T8" fmla="*/ 205 w 159"/>
                <a:gd name="T9" fmla="*/ 473 h 87"/>
                <a:gd name="T10" fmla="*/ 412 w 159"/>
                <a:gd name="T11" fmla="*/ 368 h 87"/>
                <a:gd name="T12" fmla="*/ 584 w 159"/>
                <a:gd name="T13" fmla="*/ 368 h 87"/>
                <a:gd name="T14" fmla="*/ 796 w 159"/>
                <a:gd name="T15" fmla="*/ 272 h 87"/>
                <a:gd name="T16" fmla="*/ 896 w 159"/>
                <a:gd name="T17" fmla="*/ 104 h 87"/>
                <a:gd name="T18" fmla="*/ 1001 w 159"/>
                <a:gd name="T19" fmla="*/ 0 h 87"/>
                <a:gd name="T20" fmla="*/ 1068 w 159"/>
                <a:gd name="T21" fmla="*/ 172 h 87"/>
                <a:gd name="T22" fmla="*/ 1370 w 159"/>
                <a:gd name="T23" fmla="*/ 172 h 87"/>
                <a:gd name="T24" fmla="*/ 1265 w 159"/>
                <a:gd name="T25" fmla="*/ 272 h 87"/>
                <a:gd name="T26" fmla="*/ 1265 w 159"/>
                <a:gd name="T27" fmla="*/ 368 h 87"/>
                <a:gd name="T28" fmla="*/ 1068 w 159"/>
                <a:gd name="T29" fmla="*/ 473 h 87"/>
                <a:gd name="T30" fmla="*/ 1001 w 159"/>
                <a:gd name="T31" fmla="*/ 677 h 87"/>
                <a:gd name="T32" fmla="*/ 484 w 159"/>
                <a:gd name="T33" fmla="*/ 677 h 87"/>
                <a:gd name="T34" fmla="*/ 105 w 159"/>
                <a:gd name="T35" fmla="*/ 745 h 8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9"/>
                <a:gd name="T55" fmla="*/ 0 h 87"/>
                <a:gd name="T56" fmla="*/ 159 w 159"/>
                <a:gd name="T57" fmla="*/ 87 h 8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9" h="87">
                  <a:moveTo>
                    <a:pt x="12" y="87"/>
                  </a:moveTo>
                  <a:lnTo>
                    <a:pt x="12" y="79"/>
                  </a:lnTo>
                  <a:lnTo>
                    <a:pt x="24" y="67"/>
                  </a:lnTo>
                  <a:lnTo>
                    <a:pt x="0" y="67"/>
                  </a:lnTo>
                  <a:lnTo>
                    <a:pt x="24" y="55"/>
                  </a:lnTo>
                  <a:lnTo>
                    <a:pt x="48" y="43"/>
                  </a:lnTo>
                  <a:lnTo>
                    <a:pt x="68" y="43"/>
                  </a:lnTo>
                  <a:lnTo>
                    <a:pt x="92" y="32"/>
                  </a:lnTo>
                  <a:lnTo>
                    <a:pt x="104" y="12"/>
                  </a:lnTo>
                  <a:lnTo>
                    <a:pt x="116" y="0"/>
                  </a:lnTo>
                  <a:lnTo>
                    <a:pt x="124" y="20"/>
                  </a:lnTo>
                  <a:lnTo>
                    <a:pt x="159" y="20"/>
                  </a:lnTo>
                  <a:lnTo>
                    <a:pt x="147" y="32"/>
                  </a:lnTo>
                  <a:lnTo>
                    <a:pt x="147" y="43"/>
                  </a:lnTo>
                  <a:lnTo>
                    <a:pt x="124" y="55"/>
                  </a:lnTo>
                  <a:lnTo>
                    <a:pt x="116" y="79"/>
                  </a:lnTo>
                  <a:lnTo>
                    <a:pt x="56" y="79"/>
                  </a:lnTo>
                  <a:lnTo>
                    <a:pt x="12" y="87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66B0782-4285-E902-D131-DB6E9B835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3112"/>
              <a:ext cx="178" cy="254"/>
            </a:xfrm>
            <a:custGeom>
              <a:avLst/>
              <a:gdLst>
                <a:gd name="T0" fmla="*/ 368 w 87"/>
                <a:gd name="T1" fmla="*/ 1065 h 124"/>
                <a:gd name="T2" fmla="*/ 573 w 87"/>
                <a:gd name="T3" fmla="*/ 688 h 124"/>
                <a:gd name="T4" fmla="*/ 640 w 87"/>
                <a:gd name="T5" fmla="*/ 311 h 124"/>
                <a:gd name="T6" fmla="*/ 745 w 87"/>
                <a:gd name="T7" fmla="*/ 104 h 124"/>
                <a:gd name="T8" fmla="*/ 640 w 87"/>
                <a:gd name="T9" fmla="*/ 0 h 124"/>
                <a:gd name="T10" fmla="*/ 473 w 87"/>
                <a:gd name="T11" fmla="*/ 0 h 124"/>
                <a:gd name="T12" fmla="*/ 368 w 87"/>
                <a:gd name="T13" fmla="*/ 104 h 124"/>
                <a:gd name="T14" fmla="*/ 368 w 87"/>
                <a:gd name="T15" fmla="*/ 205 h 124"/>
                <a:gd name="T16" fmla="*/ 264 w 87"/>
                <a:gd name="T17" fmla="*/ 412 h 124"/>
                <a:gd name="T18" fmla="*/ 264 w 87"/>
                <a:gd name="T19" fmla="*/ 483 h 124"/>
                <a:gd name="T20" fmla="*/ 68 w 87"/>
                <a:gd name="T21" fmla="*/ 688 h 124"/>
                <a:gd name="T22" fmla="*/ 0 w 87"/>
                <a:gd name="T23" fmla="*/ 893 h 124"/>
                <a:gd name="T24" fmla="*/ 68 w 87"/>
                <a:gd name="T25" fmla="*/ 1065 h 124"/>
                <a:gd name="T26" fmla="*/ 368 w 87"/>
                <a:gd name="T27" fmla="*/ 1065 h 1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87"/>
                <a:gd name="T43" fmla="*/ 0 h 124"/>
                <a:gd name="T44" fmla="*/ 87 w 87"/>
                <a:gd name="T45" fmla="*/ 124 h 12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87" h="124">
                  <a:moveTo>
                    <a:pt x="43" y="124"/>
                  </a:moveTo>
                  <a:lnTo>
                    <a:pt x="67" y="80"/>
                  </a:lnTo>
                  <a:lnTo>
                    <a:pt x="75" y="36"/>
                  </a:lnTo>
                  <a:lnTo>
                    <a:pt x="87" y="12"/>
                  </a:lnTo>
                  <a:lnTo>
                    <a:pt x="75" y="0"/>
                  </a:lnTo>
                  <a:lnTo>
                    <a:pt x="55" y="0"/>
                  </a:lnTo>
                  <a:lnTo>
                    <a:pt x="43" y="12"/>
                  </a:lnTo>
                  <a:lnTo>
                    <a:pt x="43" y="24"/>
                  </a:lnTo>
                  <a:lnTo>
                    <a:pt x="31" y="48"/>
                  </a:lnTo>
                  <a:lnTo>
                    <a:pt x="31" y="56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8" y="124"/>
                  </a:lnTo>
                  <a:lnTo>
                    <a:pt x="43" y="124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1AF00C3A-8D5D-7807-8DED-0096B8A5F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2861"/>
              <a:ext cx="806" cy="601"/>
            </a:xfrm>
            <a:custGeom>
              <a:avLst/>
              <a:gdLst>
                <a:gd name="T0" fmla="*/ 3269 w 394"/>
                <a:gd name="T1" fmla="*/ 949 h 294"/>
                <a:gd name="T2" fmla="*/ 3201 w 394"/>
                <a:gd name="T3" fmla="*/ 881 h 294"/>
                <a:gd name="T4" fmla="*/ 3269 w 394"/>
                <a:gd name="T5" fmla="*/ 685 h 294"/>
                <a:gd name="T6" fmla="*/ 3373 w 394"/>
                <a:gd name="T7" fmla="*/ 581 h 294"/>
                <a:gd name="T8" fmla="*/ 3373 w 394"/>
                <a:gd name="T9" fmla="*/ 476 h 294"/>
                <a:gd name="T10" fmla="*/ 3101 w 394"/>
                <a:gd name="T11" fmla="*/ 376 h 294"/>
                <a:gd name="T12" fmla="*/ 2997 w 394"/>
                <a:gd name="T13" fmla="*/ 376 h 294"/>
                <a:gd name="T14" fmla="*/ 2790 w 394"/>
                <a:gd name="T15" fmla="*/ 204 h 294"/>
                <a:gd name="T16" fmla="*/ 2629 w 394"/>
                <a:gd name="T17" fmla="*/ 204 h 294"/>
                <a:gd name="T18" fmla="*/ 2422 w 394"/>
                <a:gd name="T19" fmla="*/ 104 h 294"/>
                <a:gd name="T20" fmla="*/ 2218 w 394"/>
                <a:gd name="T21" fmla="*/ 104 h 294"/>
                <a:gd name="T22" fmla="*/ 2046 w 394"/>
                <a:gd name="T23" fmla="*/ 0 h 294"/>
                <a:gd name="T24" fmla="*/ 1737 w 394"/>
                <a:gd name="T25" fmla="*/ 0 h 294"/>
                <a:gd name="T26" fmla="*/ 1637 w 394"/>
                <a:gd name="T27" fmla="*/ 104 h 294"/>
                <a:gd name="T28" fmla="*/ 1465 w 394"/>
                <a:gd name="T29" fmla="*/ 204 h 294"/>
                <a:gd name="T30" fmla="*/ 1260 w 394"/>
                <a:gd name="T31" fmla="*/ 104 h 294"/>
                <a:gd name="T32" fmla="*/ 1164 w 394"/>
                <a:gd name="T33" fmla="*/ 309 h 294"/>
                <a:gd name="T34" fmla="*/ 1064 w 394"/>
                <a:gd name="T35" fmla="*/ 376 h 294"/>
                <a:gd name="T36" fmla="*/ 1064 w 394"/>
                <a:gd name="T37" fmla="*/ 581 h 294"/>
                <a:gd name="T38" fmla="*/ 957 w 394"/>
                <a:gd name="T39" fmla="*/ 685 h 294"/>
                <a:gd name="T40" fmla="*/ 1064 w 394"/>
                <a:gd name="T41" fmla="*/ 881 h 294"/>
                <a:gd name="T42" fmla="*/ 1064 w 394"/>
                <a:gd name="T43" fmla="*/ 949 h 294"/>
                <a:gd name="T44" fmla="*/ 892 w 394"/>
                <a:gd name="T45" fmla="*/ 1153 h 294"/>
                <a:gd name="T46" fmla="*/ 481 w 394"/>
                <a:gd name="T47" fmla="*/ 1153 h 294"/>
                <a:gd name="T48" fmla="*/ 205 w 394"/>
                <a:gd name="T49" fmla="*/ 1257 h 294"/>
                <a:gd name="T50" fmla="*/ 0 w 394"/>
                <a:gd name="T51" fmla="*/ 1462 h 294"/>
                <a:gd name="T52" fmla="*/ 0 w 394"/>
                <a:gd name="T53" fmla="*/ 1629 h 294"/>
                <a:gd name="T54" fmla="*/ 309 w 394"/>
                <a:gd name="T55" fmla="*/ 1629 h 294"/>
                <a:gd name="T56" fmla="*/ 481 w 394"/>
                <a:gd name="T57" fmla="*/ 1733 h 294"/>
                <a:gd name="T58" fmla="*/ 788 w 394"/>
                <a:gd name="T59" fmla="*/ 1629 h 294"/>
                <a:gd name="T60" fmla="*/ 957 w 394"/>
                <a:gd name="T61" fmla="*/ 1733 h 294"/>
                <a:gd name="T62" fmla="*/ 1064 w 394"/>
                <a:gd name="T63" fmla="*/ 1838 h 294"/>
                <a:gd name="T64" fmla="*/ 1064 w 394"/>
                <a:gd name="T65" fmla="*/ 2044 h 294"/>
                <a:gd name="T66" fmla="*/ 1164 w 394"/>
                <a:gd name="T67" fmla="*/ 2110 h 294"/>
                <a:gd name="T68" fmla="*/ 1164 w 394"/>
                <a:gd name="T69" fmla="*/ 2210 h 294"/>
                <a:gd name="T70" fmla="*/ 1260 w 394"/>
                <a:gd name="T71" fmla="*/ 2406 h 294"/>
                <a:gd name="T72" fmla="*/ 1465 w 394"/>
                <a:gd name="T73" fmla="*/ 2512 h 294"/>
                <a:gd name="T74" fmla="*/ 1637 w 394"/>
                <a:gd name="T75" fmla="*/ 2512 h 294"/>
                <a:gd name="T76" fmla="*/ 1841 w 394"/>
                <a:gd name="T77" fmla="*/ 2406 h 294"/>
                <a:gd name="T78" fmla="*/ 2046 w 394"/>
                <a:gd name="T79" fmla="*/ 2306 h 294"/>
                <a:gd name="T80" fmla="*/ 2218 w 394"/>
                <a:gd name="T81" fmla="*/ 2306 h 294"/>
                <a:gd name="T82" fmla="*/ 2422 w 394"/>
                <a:gd name="T83" fmla="*/ 2210 h 294"/>
                <a:gd name="T84" fmla="*/ 2524 w 394"/>
                <a:gd name="T85" fmla="*/ 2044 h 294"/>
                <a:gd name="T86" fmla="*/ 2629 w 394"/>
                <a:gd name="T87" fmla="*/ 1940 h 294"/>
                <a:gd name="T88" fmla="*/ 2694 w 394"/>
                <a:gd name="T89" fmla="*/ 1733 h 294"/>
                <a:gd name="T90" fmla="*/ 2893 w 394"/>
                <a:gd name="T91" fmla="*/ 1529 h 294"/>
                <a:gd name="T92" fmla="*/ 2893 w 394"/>
                <a:gd name="T93" fmla="*/ 1462 h 294"/>
                <a:gd name="T94" fmla="*/ 2997 w 394"/>
                <a:gd name="T95" fmla="*/ 1257 h 294"/>
                <a:gd name="T96" fmla="*/ 2997 w 394"/>
                <a:gd name="T97" fmla="*/ 1153 h 294"/>
                <a:gd name="T98" fmla="*/ 3101 w 394"/>
                <a:gd name="T99" fmla="*/ 1049 h 294"/>
                <a:gd name="T100" fmla="*/ 3269 w 394"/>
                <a:gd name="T101" fmla="*/ 1049 h 294"/>
                <a:gd name="T102" fmla="*/ 3269 w 394"/>
                <a:gd name="T103" fmla="*/ 949 h 29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94"/>
                <a:gd name="T157" fmla="*/ 0 h 294"/>
                <a:gd name="T158" fmla="*/ 394 w 394"/>
                <a:gd name="T159" fmla="*/ 294 h 29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94" h="294">
                  <a:moveTo>
                    <a:pt x="382" y="111"/>
                  </a:moveTo>
                  <a:lnTo>
                    <a:pt x="374" y="103"/>
                  </a:lnTo>
                  <a:lnTo>
                    <a:pt x="382" y="80"/>
                  </a:lnTo>
                  <a:lnTo>
                    <a:pt x="394" y="68"/>
                  </a:lnTo>
                  <a:lnTo>
                    <a:pt x="394" y="56"/>
                  </a:lnTo>
                  <a:lnTo>
                    <a:pt x="362" y="44"/>
                  </a:lnTo>
                  <a:lnTo>
                    <a:pt x="350" y="44"/>
                  </a:lnTo>
                  <a:lnTo>
                    <a:pt x="326" y="24"/>
                  </a:lnTo>
                  <a:lnTo>
                    <a:pt x="307" y="24"/>
                  </a:lnTo>
                  <a:lnTo>
                    <a:pt x="283" y="12"/>
                  </a:lnTo>
                  <a:lnTo>
                    <a:pt x="259" y="12"/>
                  </a:lnTo>
                  <a:lnTo>
                    <a:pt x="239" y="0"/>
                  </a:lnTo>
                  <a:lnTo>
                    <a:pt x="203" y="0"/>
                  </a:lnTo>
                  <a:lnTo>
                    <a:pt x="191" y="12"/>
                  </a:lnTo>
                  <a:lnTo>
                    <a:pt x="171" y="24"/>
                  </a:lnTo>
                  <a:lnTo>
                    <a:pt x="147" y="12"/>
                  </a:lnTo>
                  <a:lnTo>
                    <a:pt x="136" y="36"/>
                  </a:lnTo>
                  <a:lnTo>
                    <a:pt x="124" y="44"/>
                  </a:lnTo>
                  <a:lnTo>
                    <a:pt x="124" y="68"/>
                  </a:lnTo>
                  <a:lnTo>
                    <a:pt x="112" y="80"/>
                  </a:lnTo>
                  <a:lnTo>
                    <a:pt x="124" y="103"/>
                  </a:lnTo>
                  <a:lnTo>
                    <a:pt x="124" y="111"/>
                  </a:lnTo>
                  <a:lnTo>
                    <a:pt x="104" y="135"/>
                  </a:lnTo>
                  <a:lnTo>
                    <a:pt x="56" y="135"/>
                  </a:lnTo>
                  <a:lnTo>
                    <a:pt x="24" y="147"/>
                  </a:lnTo>
                  <a:lnTo>
                    <a:pt x="0" y="171"/>
                  </a:lnTo>
                  <a:lnTo>
                    <a:pt x="0" y="191"/>
                  </a:lnTo>
                  <a:lnTo>
                    <a:pt x="36" y="191"/>
                  </a:lnTo>
                  <a:lnTo>
                    <a:pt x="56" y="203"/>
                  </a:lnTo>
                  <a:lnTo>
                    <a:pt x="92" y="191"/>
                  </a:lnTo>
                  <a:lnTo>
                    <a:pt x="112" y="203"/>
                  </a:lnTo>
                  <a:lnTo>
                    <a:pt x="124" y="215"/>
                  </a:lnTo>
                  <a:lnTo>
                    <a:pt x="124" y="239"/>
                  </a:lnTo>
                  <a:lnTo>
                    <a:pt x="136" y="247"/>
                  </a:lnTo>
                  <a:lnTo>
                    <a:pt x="136" y="259"/>
                  </a:lnTo>
                  <a:lnTo>
                    <a:pt x="147" y="282"/>
                  </a:lnTo>
                  <a:lnTo>
                    <a:pt x="171" y="294"/>
                  </a:lnTo>
                  <a:lnTo>
                    <a:pt x="191" y="294"/>
                  </a:lnTo>
                  <a:lnTo>
                    <a:pt x="215" y="282"/>
                  </a:lnTo>
                  <a:lnTo>
                    <a:pt x="239" y="270"/>
                  </a:lnTo>
                  <a:lnTo>
                    <a:pt x="259" y="270"/>
                  </a:lnTo>
                  <a:lnTo>
                    <a:pt x="283" y="259"/>
                  </a:lnTo>
                  <a:lnTo>
                    <a:pt x="295" y="239"/>
                  </a:lnTo>
                  <a:lnTo>
                    <a:pt x="307" y="227"/>
                  </a:lnTo>
                  <a:lnTo>
                    <a:pt x="315" y="203"/>
                  </a:lnTo>
                  <a:lnTo>
                    <a:pt x="338" y="179"/>
                  </a:lnTo>
                  <a:lnTo>
                    <a:pt x="338" y="171"/>
                  </a:lnTo>
                  <a:lnTo>
                    <a:pt x="350" y="147"/>
                  </a:lnTo>
                  <a:lnTo>
                    <a:pt x="350" y="135"/>
                  </a:lnTo>
                  <a:lnTo>
                    <a:pt x="362" y="123"/>
                  </a:lnTo>
                  <a:lnTo>
                    <a:pt x="382" y="123"/>
                  </a:lnTo>
                  <a:lnTo>
                    <a:pt x="382" y="111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A094F999-D209-8CE5-30D6-BDFE9A6E0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396"/>
              <a:ext cx="694" cy="741"/>
            </a:xfrm>
            <a:custGeom>
              <a:avLst/>
              <a:gdLst>
                <a:gd name="T0" fmla="*/ 205 w 339"/>
                <a:gd name="T1" fmla="*/ 2153 h 362"/>
                <a:gd name="T2" fmla="*/ 377 w 339"/>
                <a:gd name="T3" fmla="*/ 2049 h 362"/>
                <a:gd name="T4" fmla="*/ 481 w 339"/>
                <a:gd name="T5" fmla="*/ 1949 h 362"/>
                <a:gd name="T6" fmla="*/ 788 w 339"/>
                <a:gd name="T7" fmla="*/ 1949 h 362"/>
                <a:gd name="T8" fmla="*/ 960 w 339"/>
                <a:gd name="T9" fmla="*/ 2049 h 362"/>
                <a:gd name="T10" fmla="*/ 1165 w 339"/>
                <a:gd name="T11" fmla="*/ 2049 h 362"/>
                <a:gd name="T12" fmla="*/ 1374 w 339"/>
                <a:gd name="T13" fmla="*/ 2153 h 362"/>
                <a:gd name="T14" fmla="*/ 1533 w 339"/>
                <a:gd name="T15" fmla="*/ 2153 h 362"/>
                <a:gd name="T16" fmla="*/ 1744 w 339"/>
                <a:gd name="T17" fmla="*/ 2325 h 362"/>
                <a:gd name="T18" fmla="*/ 1845 w 339"/>
                <a:gd name="T19" fmla="*/ 2325 h 362"/>
                <a:gd name="T20" fmla="*/ 2121 w 339"/>
                <a:gd name="T21" fmla="*/ 2426 h 362"/>
                <a:gd name="T22" fmla="*/ 2121 w 339"/>
                <a:gd name="T23" fmla="*/ 2530 h 362"/>
                <a:gd name="T24" fmla="*/ 2016 w 339"/>
                <a:gd name="T25" fmla="*/ 2630 h 362"/>
                <a:gd name="T26" fmla="*/ 1949 w 339"/>
                <a:gd name="T27" fmla="*/ 2829 h 362"/>
                <a:gd name="T28" fmla="*/ 2016 w 339"/>
                <a:gd name="T29" fmla="*/ 2898 h 362"/>
                <a:gd name="T30" fmla="*/ 2016 w 339"/>
                <a:gd name="T31" fmla="*/ 3001 h 362"/>
                <a:gd name="T32" fmla="*/ 2121 w 339"/>
                <a:gd name="T33" fmla="*/ 3105 h 362"/>
                <a:gd name="T34" fmla="*/ 2221 w 339"/>
                <a:gd name="T35" fmla="*/ 3001 h 362"/>
                <a:gd name="T36" fmla="*/ 2326 w 339"/>
                <a:gd name="T37" fmla="*/ 2829 h 362"/>
                <a:gd name="T38" fmla="*/ 2326 w 339"/>
                <a:gd name="T39" fmla="*/ 2530 h 362"/>
                <a:gd name="T40" fmla="*/ 2426 w 339"/>
                <a:gd name="T41" fmla="*/ 2325 h 362"/>
                <a:gd name="T42" fmla="*/ 2426 w 339"/>
                <a:gd name="T43" fmla="*/ 1638 h 362"/>
                <a:gd name="T44" fmla="*/ 2532 w 339"/>
                <a:gd name="T45" fmla="*/ 1466 h 362"/>
                <a:gd name="T46" fmla="*/ 2532 w 339"/>
                <a:gd name="T47" fmla="*/ 1572 h 362"/>
                <a:gd name="T48" fmla="*/ 2598 w 339"/>
                <a:gd name="T49" fmla="*/ 1572 h 362"/>
                <a:gd name="T50" fmla="*/ 2805 w 339"/>
                <a:gd name="T51" fmla="*/ 1157 h 362"/>
                <a:gd name="T52" fmla="*/ 2909 w 339"/>
                <a:gd name="T53" fmla="*/ 1064 h 362"/>
                <a:gd name="T54" fmla="*/ 2598 w 339"/>
                <a:gd name="T55" fmla="*/ 993 h 362"/>
                <a:gd name="T56" fmla="*/ 2598 w 339"/>
                <a:gd name="T57" fmla="*/ 892 h 362"/>
                <a:gd name="T58" fmla="*/ 2532 w 339"/>
                <a:gd name="T59" fmla="*/ 788 h 362"/>
                <a:gd name="T60" fmla="*/ 2532 w 339"/>
                <a:gd name="T61" fmla="*/ 688 h 362"/>
                <a:gd name="T62" fmla="*/ 2598 w 339"/>
                <a:gd name="T63" fmla="*/ 688 h 362"/>
                <a:gd name="T64" fmla="*/ 2702 w 339"/>
                <a:gd name="T65" fmla="*/ 583 h 362"/>
                <a:gd name="T66" fmla="*/ 2702 w 339"/>
                <a:gd name="T67" fmla="*/ 411 h 362"/>
                <a:gd name="T68" fmla="*/ 2598 w 339"/>
                <a:gd name="T69" fmla="*/ 205 h 362"/>
                <a:gd name="T70" fmla="*/ 2532 w 339"/>
                <a:gd name="T71" fmla="*/ 205 h 362"/>
                <a:gd name="T72" fmla="*/ 2532 w 339"/>
                <a:gd name="T73" fmla="*/ 104 h 362"/>
                <a:gd name="T74" fmla="*/ 2121 w 339"/>
                <a:gd name="T75" fmla="*/ 0 h 362"/>
                <a:gd name="T76" fmla="*/ 1949 w 339"/>
                <a:gd name="T77" fmla="*/ 205 h 362"/>
                <a:gd name="T78" fmla="*/ 1744 w 339"/>
                <a:gd name="T79" fmla="*/ 205 h 362"/>
                <a:gd name="T80" fmla="*/ 1744 w 339"/>
                <a:gd name="T81" fmla="*/ 104 h 362"/>
                <a:gd name="T82" fmla="*/ 1638 w 339"/>
                <a:gd name="T83" fmla="*/ 0 h 362"/>
                <a:gd name="T84" fmla="*/ 1441 w 339"/>
                <a:gd name="T85" fmla="*/ 205 h 362"/>
                <a:gd name="T86" fmla="*/ 1065 w 339"/>
                <a:gd name="T87" fmla="*/ 309 h 362"/>
                <a:gd name="T88" fmla="*/ 860 w 339"/>
                <a:gd name="T89" fmla="*/ 205 h 362"/>
                <a:gd name="T90" fmla="*/ 788 w 339"/>
                <a:gd name="T91" fmla="*/ 309 h 362"/>
                <a:gd name="T92" fmla="*/ 788 w 339"/>
                <a:gd name="T93" fmla="*/ 411 h 362"/>
                <a:gd name="T94" fmla="*/ 860 w 339"/>
                <a:gd name="T95" fmla="*/ 481 h 362"/>
                <a:gd name="T96" fmla="*/ 860 w 339"/>
                <a:gd name="T97" fmla="*/ 583 h 362"/>
                <a:gd name="T98" fmla="*/ 688 w 339"/>
                <a:gd name="T99" fmla="*/ 788 h 362"/>
                <a:gd name="T100" fmla="*/ 481 w 339"/>
                <a:gd name="T101" fmla="*/ 788 h 362"/>
                <a:gd name="T102" fmla="*/ 276 w 339"/>
                <a:gd name="T103" fmla="*/ 688 h 362"/>
                <a:gd name="T104" fmla="*/ 205 w 339"/>
                <a:gd name="T105" fmla="*/ 688 h 362"/>
                <a:gd name="T106" fmla="*/ 104 w 339"/>
                <a:gd name="T107" fmla="*/ 788 h 362"/>
                <a:gd name="T108" fmla="*/ 0 w 339"/>
                <a:gd name="T109" fmla="*/ 993 h 362"/>
                <a:gd name="T110" fmla="*/ 104 w 339"/>
                <a:gd name="T111" fmla="*/ 1261 h 362"/>
                <a:gd name="T112" fmla="*/ 104 w 339"/>
                <a:gd name="T113" fmla="*/ 1638 h 362"/>
                <a:gd name="T114" fmla="*/ 205 w 339"/>
                <a:gd name="T115" fmla="*/ 1844 h 362"/>
                <a:gd name="T116" fmla="*/ 205 w 339"/>
                <a:gd name="T117" fmla="*/ 2153 h 36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39"/>
                <a:gd name="T178" fmla="*/ 0 h 362"/>
                <a:gd name="T179" fmla="*/ 339 w 339"/>
                <a:gd name="T180" fmla="*/ 362 h 36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39" h="362">
                  <a:moveTo>
                    <a:pt x="24" y="251"/>
                  </a:moveTo>
                  <a:lnTo>
                    <a:pt x="44" y="239"/>
                  </a:lnTo>
                  <a:lnTo>
                    <a:pt x="56" y="227"/>
                  </a:lnTo>
                  <a:lnTo>
                    <a:pt x="92" y="227"/>
                  </a:lnTo>
                  <a:lnTo>
                    <a:pt x="112" y="239"/>
                  </a:lnTo>
                  <a:lnTo>
                    <a:pt x="136" y="239"/>
                  </a:lnTo>
                  <a:lnTo>
                    <a:pt x="160" y="251"/>
                  </a:lnTo>
                  <a:lnTo>
                    <a:pt x="179" y="251"/>
                  </a:lnTo>
                  <a:lnTo>
                    <a:pt x="203" y="271"/>
                  </a:lnTo>
                  <a:lnTo>
                    <a:pt x="215" y="271"/>
                  </a:lnTo>
                  <a:lnTo>
                    <a:pt x="247" y="283"/>
                  </a:lnTo>
                  <a:lnTo>
                    <a:pt x="247" y="295"/>
                  </a:lnTo>
                  <a:lnTo>
                    <a:pt x="235" y="307"/>
                  </a:lnTo>
                  <a:lnTo>
                    <a:pt x="227" y="330"/>
                  </a:lnTo>
                  <a:lnTo>
                    <a:pt x="235" y="338"/>
                  </a:lnTo>
                  <a:lnTo>
                    <a:pt x="235" y="350"/>
                  </a:lnTo>
                  <a:lnTo>
                    <a:pt x="247" y="362"/>
                  </a:lnTo>
                  <a:lnTo>
                    <a:pt x="259" y="350"/>
                  </a:lnTo>
                  <a:lnTo>
                    <a:pt x="271" y="330"/>
                  </a:lnTo>
                  <a:lnTo>
                    <a:pt x="271" y="295"/>
                  </a:lnTo>
                  <a:lnTo>
                    <a:pt x="283" y="271"/>
                  </a:lnTo>
                  <a:lnTo>
                    <a:pt x="283" y="191"/>
                  </a:lnTo>
                  <a:lnTo>
                    <a:pt x="295" y="171"/>
                  </a:lnTo>
                  <a:lnTo>
                    <a:pt x="295" y="183"/>
                  </a:lnTo>
                  <a:lnTo>
                    <a:pt x="303" y="183"/>
                  </a:lnTo>
                  <a:lnTo>
                    <a:pt x="327" y="135"/>
                  </a:lnTo>
                  <a:lnTo>
                    <a:pt x="339" y="124"/>
                  </a:lnTo>
                  <a:lnTo>
                    <a:pt x="303" y="116"/>
                  </a:lnTo>
                  <a:lnTo>
                    <a:pt x="303" y="104"/>
                  </a:lnTo>
                  <a:lnTo>
                    <a:pt x="295" y="92"/>
                  </a:lnTo>
                  <a:lnTo>
                    <a:pt x="295" y="80"/>
                  </a:lnTo>
                  <a:lnTo>
                    <a:pt x="303" y="80"/>
                  </a:lnTo>
                  <a:lnTo>
                    <a:pt x="315" y="68"/>
                  </a:lnTo>
                  <a:lnTo>
                    <a:pt x="315" y="48"/>
                  </a:lnTo>
                  <a:lnTo>
                    <a:pt x="303" y="24"/>
                  </a:lnTo>
                  <a:lnTo>
                    <a:pt x="295" y="24"/>
                  </a:lnTo>
                  <a:lnTo>
                    <a:pt x="295" y="12"/>
                  </a:lnTo>
                  <a:lnTo>
                    <a:pt x="247" y="0"/>
                  </a:lnTo>
                  <a:lnTo>
                    <a:pt x="227" y="24"/>
                  </a:lnTo>
                  <a:lnTo>
                    <a:pt x="203" y="24"/>
                  </a:lnTo>
                  <a:lnTo>
                    <a:pt x="203" y="12"/>
                  </a:lnTo>
                  <a:lnTo>
                    <a:pt x="191" y="0"/>
                  </a:lnTo>
                  <a:lnTo>
                    <a:pt x="168" y="24"/>
                  </a:lnTo>
                  <a:lnTo>
                    <a:pt x="124" y="36"/>
                  </a:lnTo>
                  <a:lnTo>
                    <a:pt x="100" y="24"/>
                  </a:lnTo>
                  <a:lnTo>
                    <a:pt x="92" y="36"/>
                  </a:lnTo>
                  <a:lnTo>
                    <a:pt x="92" y="48"/>
                  </a:lnTo>
                  <a:lnTo>
                    <a:pt x="100" y="56"/>
                  </a:lnTo>
                  <a:lnTo>
                    <a:pt x="100" y="68"/>
                  </a:lnTo>
                  <a:lnTo>
                    <a:pt x="80" y="92"/>
                  </a:lnTo>
                  <a:lnTo>
                    <a:pt x="56" y="92"/>
                  </a:lnTo>
                  <a:lnTo>
                    <a:pt x="32" y="80"/>
                  </a:lnTo>
                  <a:lnTo>
                    <a:pt x="24" y="80"/>
                  </a:lnTo>
                  <a:lnTo>
                    <a:pt x="12" y="92"/>
                  </a:lnTo>
                  <a:lnTo>
                    <a:pt x="0" y="116"/>
                  </a:lnTo>
                  <a:lnTo>
                    <a:pt x="12" y="147"/>
                  </a:lnTo>
                  <a:lnTo>
                    <a:pt x="12" y="191"/>
                  </a:lnTo>
                  <a:lnTo>
                    <a:pt x="24" y="215"/>
                  </a:lnTo>
                  <a:lnTo>
                    <a:pt x="24" y="251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D6BEE467-F80C-3055-6187-F3FDA2325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495"/>
              <a:ext cx="137" cy="155"/>
            </a:xfrm>
            <a:custGeom>
              <a:avLst/>
              <a:gdLst>
                <a:gd name="T0" fmla="*/ 376 w 67"/>
                <a:gd name="T1" fmla="*/ 644 h 76"/>
                <a:gd name="T2" fmla="*/ 573 w 67"/>
                <a:gd name="T3" fmla="*/ 271 h 76"/>
                <a:gd name="T4" fmla="*/ 468 w 67"/>
                <a:gd name="T5" fmla="*/ 171 h 76"/>
                <a:gd name="T6" fmla="*/ 272 w 67"/>
                <a:gd name="T7" fmla="*/ 0 h 76"/>
                <a:gd name="T8" fmla="*/ 172 w 67"/>
                <a:gd name="T9" fmla="*/ 0 h 76"/>
                <a:gd name="T10" fmla="*/ 172 w 67"/>
                <a:gd name="T11" fmla="*/ 171 h 76"/>
                <a:gd name="T12" fmla="*/ 67 w 67"/>
                <a:gd name="T13" fmla="*/ 271 h 76"/>
                <a:gd name="T14" fmla="*/ 0 w 67"/>
                <a:gd name="T15" fmla="*/ 271 h 76"/>
                <a:gd name="T16" fmla="*/ 0 w 67"/>
                <a:gd name="T17" fmla="*/ 375 h 76"/>
                <a:gd name="T18" fmla="*/ 67 w 67"/>
                <a:gd name="T19" fmla="*/ 473 h 76"/>
                <a:gd name="T20" fmla="*/ 67 w 67"/>
                <a:gd name="T21" fmla="*/ 577 h 76"/>
                <a:gd name="T22" fmla="*/ 376 w 67"/>
                <a:gd name="T23" fmla="*/ 644 h 7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7"/>
                <a:gd name="T37" fmla="*/ 0 h 76"/>
                <a:gd name="T38" fmla="*/ 67 w 67"/>
                <a:gd name="T39" fmla="*/ 76 h 7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7" h="76">
                  <a:moveTo>
                    <a:pt x="44" y="76"/>
                  </a:moveTo>
                  <a:lnTo>
                    <a:pt x="67" y="32"/>
                  </a:lnTo>
                  <a:lnTo>
                    <a:pt x="55" y="20"/>
                  </a:lnTo>
                  <a:lnTo>
                    <a:pt x="32" y="0"/>
                  </a:lnTo>
                  <a:lnTo>
                    <a:pt x="20" y="0"/>
                  </a:lnTo>
                  <a:lnTo>
                    <a:pt x="20" y="20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44"/>
                  </a:lnTo>
                  <a:lnTo>
                    <a:pt x="8" y="56"/>
                  </a:lnTo>
                  <a:lnTo>
                    <a:pt x="8" y="68"/>
                  </a:lnTo>
                  <a:lnTo>
                    <a:pt x="44" y="76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698971B8-D969-4371-BD0A-7CEC72610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6" y="2421"/>
              <a:ext cx="235" cy="139"/>
            </a:xfrm>
            <a:custGeom>
              <a:avLst/>
              <a:gdLst>
                <a:gd name="T0" fmla="*/ 505 w 115"/>
                <a:gd name="T1" fmla="*/ 581 h 68"/>
                <a:gd name="T2" fmla="*/ 672 w 115"/>
                <a:gd name="T3" fmla="*/ 476 h 68"/>
                <a:gd name="T4" fmla="*/ 777 w 115"/>
                <a:gd name="T5" fmla="*/ 309 h 68"/>
                <a:gd name="T6" fmla="*/ 981 w 115"/>
                <a:gd name="T7" fmla="*/ 0 h 68"/>
                <a:gd name="T8" fmla="*/ 672 w 115"/>
                <a:gd name="T9" fmla="*/ 0 h 68"/>
                <a:gd name="T10" fmla="*/ 572 w 115"/>
                <a:gd name="T11" fmla="*/ 104 h 68"/>
                <a:gd name="T12" fmla="*/ 505 w 115"/>
                <a:gd name="T13" fmla="*/ 104 h 68"/>
                <a:gd name="T14" fmla="*/ 309 w 115"/>
                <a:gd name="T15" fmla="*/ 0 h 68"/>
                <a:gd name="T16" fmla="*/ 104 w 115"/>
                <a:gd name="T17" fmla="*/ 0 h 68"/>
                <a:gd name="T18" fmla="*/ 0 w 115"/>
                <a:gd name="T19" fmla="*/ 104 h 68"/>
                <a:gd name="T20" fmla="*/ 104 w 115"/>
                <a:gd name="T21" fmla="*/ 309 h 68"/>
                <a:gd name="T22" fmla="*/ 204 w 115"/>
                <a:gd name="T23" fmla="*/ 309 h 68"/>
                <a:gd name="T24" fmla="*/ 401 w 115"/>
                <a:gd name="T25" fmla="*/ 476 h 68"/>
                <a:gd name="T26" fmla="*/ 505 w 115"/>
                <a:gd name="T27" fmla="*/ 581 h 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15"/>
                <a:gd name="T43" fmla="*/ 0 h 68"/>
                <a:gd name="T44" fmla="*/ 115 w 115"/>
                <a:gd name="T45" fmla="*/ 68 h 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15" h="68">
                  <a:moveTo>
                    <a:pt x="59" y="68"/>
                  </a:moveTo>
                  <a:lnTo>
                    <a:pt x="79" y="56"/>
                  </a:lnTo>
                  <a:lnTo>
                    <a:pt x="91" y="36"/>
                  </a:lnTo>
                  <a:lnTo>
                    <a:pt x="115" y="0"/>
                  </a:lnTo>
                  <a:lnTo>
                    <a:pt x="79" y="0"/>
                  </a:lnTo>
                  <a:lnTo>
                    <a:pt x="67" y="12"/>
                  </a:lnTo>
                  <a:lnTo>
                    <a:pt x="59" y="12"/>
                  </a:lnTo>
                  <a:lnTo>
                    <a:pt x="36" y="0"/>
                  </a:lnTo>
                  <a:lnTo>
                    <a:pt x="12" y="0"/>
                  </a:lnTo>
                  <a:lnTo>
                    <a:pt x="0" y="12"/>
                  </a:lnTo>
                  <a:lnTo>
                    <a:pt x="12" y="36"/>
                  </a:lnTo>
                  <a:lnTo>
                    <a:pt x="24" y="36"/>
                  </a:lnTo>
                  <a:lnTo>
                    <a:pt x="47" y="56"/>
                  </a:lnTo>
                  <a:lnTo>
                    <a:pt x="59" y="6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A3760A28-DB2F-FE7D-40B3-F3B031803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2284"/>
              <a:ext cx="489" cy="161"/>
            </a:xfrm>
            <a:custGeom>
              <a:avLst/>
              <a:gdLst>
                <a:gd name="T0" fmla="*/ 2048 w 239"/>
                <a:gd name="T1" fmla="*/ 0 h 79"/>
                <a:gd name="T2" fmla="*/ 1942 w 239"/>
                <a:gd name="T3" fmla="*/ 0 h 79"/>
                <a:gd name="T4" fmla="*/ 1737 w 239"/>
                <a:gd name="T5" fmla="*/ 196 h 79"/>
                <a:gd name="T6" fmla="*/ 1532 w 239"/>
                <a:gd name="T7" fmla="*/ 196 h 79"/>
                <a:gd name="T8" fmla="*/ 1465 w 239"/>
                <a:gd name="T9" fmla="*/ 196 h 79"/>
                <a:gd name="T10" fmla="*/ 1361 w 239"/>
                <a:gd name="T11" fmla="*/ 296 h 79"/>
                <a:gd name="T12" fmla="*/ 1164 w 239"/>
                <a:gd name="T13" fmla="*/ 296 h 79"/>
                <a:gd name="T14" fmla="*/ 1269 w 239"/>
                <a:gd name="T15" fmla="*/ 92 h 79"/>
                <a:gd name="T16" fmla="*/ 1164 w 239"/>
                <a:gd name="T17" fmla="*/ 92 h 79"/>
                <a:gd name="T18" fmla="*/ 960 w 239"/>
                <a:gd name="T19" fmla="*/ 196 h 79"/>
                <a:gd name="T20" fmla="*/ 892 w 239"/>
                <a:gd name="T21" fmla="*/ 296 h 79"/>
                <a:gd name="T22" fmla="*/ 581 w 239"/>
                <a:gd name="T23" fmla="*/ 196 h 79"/>
                <a:gd name="T24" fmla="*/ 481 w 239"/>
                <a:gd name="T25" fmla="*/ 196 h 79"/>
                <a:gd name="T26" fmla="*/ 376 w 239"/>
                <a:gd name="T27" fmla="*/ 92 h 79"/>
                <a:gd name="T28" fmla="*/ 205 w 239"/>
                <a:gd name="T29" fmla="*/ 92 h 79"/>
                <a:gd name="T30" fmla="*/ 104 w 239"/>
                <a:gd name="T31" fmla="*/ 196 h 79"/>
                <a:gd name="T32" fmla="*/ 104 w 239"/>
                <a:gd name="T33" fmla="*/ 365 h 79"/>
                <a:gd name="T34" fmla="*/ 0 w 239"/>
                <a:gd name="T35" fmla="*/ 465 h 79"/>
                <a:gd name="T36" fmla="*/ 104 w 239"/>
                <a:gd name="T37" fmla="*/ 569 h 79"/>
                <a:gd name="T38" fmla="*/ 104 w 239"/>
                <a:gd name="T39" fmla="*/ 668 h 79"/>
                <a:gd name="T40" fmla="*/ 309 w 239"/>
                <a:gd name="T41" fmla="*/ 668 h 79"/>
                <a:gd name="T42" fmla="*/ 481 w 239"/>
                <a:gd name="T43" fmla="*/ 465 h 79"/>
                <a:gd name="T44" fmla="*/ 892 w 239"/>
                <a:gd name="T45" fmla="*/ 569 h 79"/>
                <a:gd name="T46" fmla="*/ 892 w 239"/>
                <a:gd name="T47" fmla="*/ 668 h 79"/>
                <a:gd name="T48" fmla="*/ 960 w 239"/>
                <a:gd name="T49" fmla="*/ 668 h 79"/>
                <a:gd name="T50" fmla="*/ 1064 w 239"/>
                <a:gd name="T51" fmla="*/ 569 h 79"/>
                <a:gd name="T52" fmla="*/ 1269 w 239"/>
                <a:gd name="T53" fmla="*/ 569 h 79"/>
                <a:gd name="T54" fmla="*/ 1465 w 239"/>
                <a:gd name="T55" fmla="*/ 668 h 79"/>
                <a:gd name="T56" fmla="*/ 1532 w 239"/>
                <a:gd name="T57" fmla="*/ 668 h 79"/>
                <a:gd name="T58" fmla="*/ 1637 w 239"/>
                <a:gd name="T59" fmla="*/ 569 h 79"/>
                <a:gd name="T60" fmla="*/ 1942 w 239"/>
                <a:gd name="T61" fmla="*/ 569 h 79"/>
                <a:gd name="T62" fmla="*/ 2048 w 239"/>
                <a:gd name="T63" fmla="*/ 296 h 79"/>
                <a:gd name="T64" fmla="*/ 2048 w 239"/>
                <a:gd name="T65" fmla="*/ 0 h 7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9"/>
                <a:gd name="T100" fmla="*/ 0 h 79"/>
                <a:gd name="T101" fmla="*/ 239 w 239"/>
                <a:gd name="T102" fmla="*/ 79 h 7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9" h="79">
                  <a:moveTo>
                    <a:pt x="239" y="0"/>
                  </a:moveTo>
                  <a:lnTo>
                    <a:pt x="227" y="0"/>
                  </a:lnTo>
                  <a:lnTo>
                    <a:pt x="203" y="23"/>
                  </a:lnTo>
                  <a:lnTo>
                    <a:pt x="179" y="23"/>
                  </a:lnTo>
                  <a:lnTo>
                    <a:pt x="171" y="23"/>
                  </a:lnTo>
                  <a:lnTo>
                    <a:pt x="159" y="35"/>
                  </a:lnTo>
                  <a:lnTo>
                    <a:pt x="136" y="35"/>
                  </a:lnTo>
                  <a:lnTo>
                    <a:pt x="148" y="11"/>
                  </a:lnTo>
                  <a:lnTo>
                    <a:pt x="136" y="11"/>
                  </a:lnTo>
                  <a:lnTo>
                    <a:pt x="112" y="23"/>
                  </a:lnTo>
                  <a:lnTo>
                    <a:pt x="104" y="35"/>
                  </a:lnTo>
                  <a:lnTo>
                    <a:pt x="68" y="23"/>
                  </a:lnTo>
                  <a:lnTo>
                    <a:pt x="56" y="23"/>
                  </a:lnTo>
                  <a:lnTo>
                    <a:pt x="44" y="11"/>
                  </a:lnTo>
                  <a:lnTo>
                    <a:pt x="24" y="11"/>
                  </a:lnTo>
                  <a:lnTo>
                    <a:pt x="12" y="23"/>
                  </a:lnTo>
                  <a:lnTo>
                    <a:pt x="12" y="43"/>
                  </a:lnTo>
                  <a:lnTo>
                    <a:pt x="0" y="55"/>
                  </a:lnTo>
                  <a:lnTo>
                    <a:pt x="12" y="67"/>
                  </a:lnTo>
                  <a:lnTo>
                    <a:pt x="12" y="79"/>
                  </a:lnTo>
                  <a:lnTo>
                    <a:pt x="36" y="79"/>
                  </a:lnTo>
                  <a:lnTo>
                    <a:pt x="56" y="55"/>
                  </a:lnTo>
                  <a:lnTo>
                    <a:pt x="104" y="67"/>
                  </a:lnTo>
                  <a:lnTo>
                    <a:pt x="104" y="79"/>
                  </a:lnTo>
                  <a:lnTo>
                    <a:pt x="112" y="79"/>
                  </a:lnTo>
                  <a:lnTo>
                    <a:pt x="124" y="67"/>
                  </a:lnTo>
                  <a:lnTo>
                    <a:pt x="148" y="67"/>
                  </a:lnTo>
                  <a:lnTo>
                    <a:pt x="171" y="79"/>
                  </a:lnTo>
                  <a:lnTo>
                    <a:pt x="179" y="79"/>
                  </a:lnTo>
                  <a:lnTo>
                    <a:pt x="191" y="67"/>
                  </a:lnTo>
                  <a:lnTo>
                    <a:pt x="227" y="67"/>
                  </a:lnTo>
                  <a:lnTo>
                    <a:pt x="239" y="35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3AAECE04-E85E-2B4E-1C33-CFB9CBC15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194"/>
              <a:ext cx="350" cy="161"/>
            </a:xfrm>
            <a:custGeom>
              <a:avLst/>
              <a:gdLst>
                <a:gd name="T0" fmla="*/ 1465 w 171"/>
                <a:gd name="T1" fmla="*/ 373 h 79"/>
                <a:gd name="T2" fmla="*/ 1361 w 171"/>
                <a:gd name="T3" fmla="*/ 171 h 79"/>
                <a:gd name="T4" fmla="*/ 1056 w 171"/>
                <a:gd name="T5" fmla="*/ 171 h 79"/>
                <a:gd name="T6" fmla="*/ 952 w 171"/>
                <a:gd name="T7" fmla="*/ 100 h 79"/>
                <a:gd name="T8" fmla="*/ 884 w 171"/>
                <a:gd name="T9" fmla="*/ 100 h 79"/>
                <a:gd name="T10" fmla="*/ 884 w 171"/>
                <a:gd name="T11" fmla="*/ 171 h 79"/>
                <a:gd name="T12" fmla="*/ 884 w 171"/>
                <a:gd name="T13" fmla="*/ 269 h 79"/>
                <a:gd name="T14" fmla="*/ 481 w 171"/>
                <a:gd name="T15" fmla="*/ 269 h 79"/>
                <a:gd name="T16" fmla="*/ 688 w 171"/>
                <a:gd name="T17" fmla="*/ 100 h 79"/>
                <a:gd name="T18" fmla="*/ 583 w 171"/>
                <a:gd name="T19" fmla="*/ 0 h 79"/>
                <a:gd name="T20" fmla="*/ 481 w 171"/>
                <a:gd name="T21" fmla="*/ 100 h 79"/>
                <a:gd name="T22" fmla="*/ 309 w 171"/>
                <a:gd name="T23" fmla="*/ 171 h 79"/>
                <a:gd name="T24" fmla="*/ 205 w 171"/>
                <a:gd name="T25" fmla="*/ 171 h 79"/>
                <a:gd name="T26" fmla="*/ 104 w 171"/>
                <a:gd name="T27" fmla="*/ 465 h 79"/>
                <a:gd name="T28" fmla="*/ 0 w 171"/>
                <a:gd name="T29" fmla="*/ 569 h 79"/>
                <a:gd name="T30" fmla="*/ 309 w 171"/>
                <a:gd name="T31" fmla="*/ 668 h 79"/>
                <a:gd name="T32" fmla="*/ 377 w 171"/>
                <a:gd name="T33" fmla="*/ 569 h 79"/>
                <a:gd name="T34" fmla="*/ 583 w 171"/>
                <a:gd name="T35" fmla="*/ 465 h 79"/>
                <a:gd name="T36" fmla="*/ 688 w 171"/>
                <a:gd name="T37" fmla="*/ 465 h 79"/>
                <a:gd name="T38" fmla="*/ 583 w 171"/>
                <a:gd name="T39" fmla="*/ 668 h 79"/>
                <a:gd name="T40" fmla="*/ 780 w 171"/>
                <a:gd name="T41" fmla="*/ 668 h 79"/>
                <a:gd name="T42" fmla="*/ 884 w 171"/>
                <a:gd name="T43" fmla="*/ 569 h 79"/>
                <a:gd name="T44" fmla="*/ 1156 w 171"/>
                <a:gd name="T45" fmla="*/ 569 h 79"/>
                <a:gd name="T46" fmla="*/ 1361 w 171"/>
                <a:gd name="T47" fmla="*/ 373 h 79"/>
                <a:gd name="T48" fmla="*/ 1465 w 171"/>
                <a:gd name="T49" fmla="*/ 373 h 7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71"/>
                <a:gd name="T76" fmla="*/ 0 h 79"/>
                <a:gd name="T77" fmla="*/ 171 w 171"/>
                <a:gd name="T78" fmla="*/ 79 h 7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71" h="79">
                  <a:moveTo>
                    <a:pt x="171" y="44"/>
                  </a:moveTo>
                  <a:lnTo>
                    <a:pt x="159" y="20"/>
                  </a:lnTo>
                  <a:lnTo>
                    <a:pt x="123" y="20"/>
                  </a:lnTo>
                  <a:lnTo>
                    <a:pt x="111" y="12"/>
                  </a:lnTo>
                  <a:lnTo>
                    <a:pt x="103" y="12"/>
                  </a:lnTo>
                  <a:lnTo>
                    <a:pt x="103" y="20"/>
                  </a:lnTo>
                  <a:lnTo>
                    <a:pt x="103" y="32"/>
                  </a:lnTo>
                  <a:lnTo>
                    <a:pt x="56" y="32"/>
                  </a:lnTo>
                  <a:lnTo>
                    <a:pt x="80" y="12"/>
                  </a:lnTo>
                  <a:lnTo>
                    <a:pt x="68" y="0"/>
                  </a:lnTo>
                  <a:lnTo>
                    <a:pt x="56" y="12"/>
                  </a:lnTo>
                  <a:lnTo>
                    <a:pt x="36" y="20"/>
                  </a:lnTo>
                  <a:lnTo>
                    <a:pt x="24" y="20"/>
                  </a:lnTo>
                  <a:lnTo>
                    <a:pt x="12" y="55"/>
                  </a:lnTo>
                  <a:lnTo>
                    <a:pt x="0" y="67"/>
                  </a:lnTo>
                  <a:lnTo>
                    <a:pt x="36" y="79"/>
                  </a:lnTo>
                  <a:lnTo>
                    <a:pt x="44" y="67"/>
                  </a:lnTo>
                  <a:lnTo>
                    <a:pt x="68" y="55"/>
                  </a:lnTo>
                  <a:lnTo>
                    <a:pt x="80" y="55"/>
                  </a:lnTo>
                  <a:lnTo>
                    <a:pt x="68" y="79"/>
                  </a:lnTo>
                  <a:lnTo>
                    <a:pt x="91" y="79"/>
                  </a:lnTo>
                  <a:lnTo>
                    <a:pt x="103" y="67"/>
                  </a:lnTo>
                  <a:lnTo>
                    <a:pt x="135" y="67"/>
                  </a:lnTo>
                  <a:lnTo>
                    <a:pt x="159" y="44"/>
                  </a:lnTo>
                  <a:lnTo>
                    <a:pt x="171" y="44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5F44E2CC-4205-82DF-0BD6-747F9F5CD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2096"/>
              <a:ext cx="276" cy="163"/>
            </a:xfrm>
            <a:custGeom>
              <a:avLst/>
              <a:gdLst>
                <a:gd name="T0" fmla="*/ 1153 w 135"/>
                <a:gd name="T1" fmla="*/ 577 h 80"/>
                <a:gd name="T2" fmla="*/ 1049 w 135"/>
                <a:gd name="T3" fmla="*/ 204 h 80"/>
                <a:gd name="T4" fmla="*/ 949 w 135"/>
                <a:gd name="T5" fmla="*/ 100 h 80"/>
                <a:gd name="T6" fmla="*/ 744 w 135"/>
                <a:gd name="T7" fmla="*/ 100 h 80"/>
                <a:gd name="T8" fmla="*/ 476 w 135"/>
                <a:gd name="T9" fmla="*/ 0 h 80"/>
                <a:gd name="T10" fmla="*/ 376 w 135"/>
                <a:gd name="T11" fmla="*/ 0 h 80"/>
                <a:gd name="T12" fmla="*/ 272 w 135"/>
                <a:gd name="T13" fmla="*/ 100 h 80"/>
                <a:gd name="T14" fmla="*/ 172 w 135"/>
                <a:gd name="T15" fmla="*/ 304 h 80"/>
                <a:gd name="T16" fmla="*/ 0 w 135"/>
                <a:gd name="T17" fmla="*/ 577 h 80"/>
                <a:gd name="T18" fmla="*/ 104 w 135"/>
                <a:gd name="T19" fmla="*/ 577 h 80"/>
                <a:gd name="T20" fmla="*/ 272 w 135"/>
                <a:gd name="T21" fmla="*/ 507 h 80"/>
                <a:gd name="T22" fmla="*/ 376 w 135"/>
                <a:gd name="T23" fmla="*/ 408 h 80"/>
                <a:gd name="T24" fmla="*/ 476 w 135"/>
                <a:gd name="T25" fmla="*/ 507 h 80"/>
                <a:gd name="T26" fmla="*/ 272 w 135"/>
                <a:gd name="T27" fmla="*/ 676 h 80"/>
                <a:gd name="T28" fmla="*/ 677 w 135"/>
                <a:gd name="T29" fmla="*/ 676 h 80"/>
                <a:gd name="T30" fmla="*/ 677 w 135"/>
                <a:gd name="T31" fmla="*/ 507 h 80"/>
                <a:gd name="T32" fmla="*/ 744 w 135"/>
                <a:gd name="T33" fmla="*/ 507 h 80"/>
                <a:gd name="T34" fmla="*/ 844 w 135"/>
                <a:gd name="T35" fmla="*/ 577 h 80"/>
                <a:gd name="T36" fmla="*/ 1153 w 135"/>
                <a:gd name="T37" fmla="*/ 577 h 8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35"/>
                <a:gd name="T58" fmla="*/ 0 h 80"/>
                <a:gd name="T59" fmla="*/ 135 w 135"/>
                <a:gd name="T60" fmla="*/ 80 h 8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35" h="80">
                  <a:moveTo>
                    <a:pt x="135" y="68"/>
                  </a:moveTo>
                  <a:lnTo>
                    <a:pt x="123" y="24"/>
                  </a:lnTo>
                  <a:lnTo>
                    <a:pt x="111" y="12"/>
                  </a:lnTo>
                  <a:lnTo>
                    <a:pt x="87" y="12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2" y="12"/>
                  </a:lnTo>
                  <a:lnTo>
                    <a:pt x="20" y="36"/>
                  </a:lnTo>
                  <a:lnTo>
                    <a:pt x="0" y="68"/>
                  </a:lnTo>
                  <a:lnTo>
                    <a:pt x="12" y="68"/>
                  </a:lnTo>
                  <a:lnTo>
                    <a:pt x="32" y="60"/>
                  </a:lnTo>
                  <a:lnTo>
                    <a:pt x="44" y="48"/>
                  </a:lnTo>
                  <a:lnTo>
                    <a:pt x="56" y="60"/>
                  </a:lnTo>
                  <a:lnTo>
                    <a:pt x="32" y="80"/>
                  </a:lnTo>
                  <a:lnTo>
                    <a:pt x="79" y="80"/>
                  </a:lnTo>
                  <a:lnTo>
                    <a:pt x="79" y="60"/>
                  </a:lnTo>
                  <a:lnTo>
                    <a:pt x="87" y="60"/>
                  </a:lnTo>
                  <a:lnTo>
                    <a:pt x="99" y="68"/>
                  </a:lnTo>
                  <a:lnTo>
                    <a:pt x="135" y="6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A57EECE3-F59A-5914-AE31-FC51732AE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1981"/>
              <a:ext cx="327" cy="350"/>
            </a:xfrm>
            <a:custGeom>
              <a:avLst/>
              <a:gdLst>
                <a:gd name="T0" fmla="*/ 1365 w 160"/>
                <a:gd name="T1" fmla="*/ 481 h 171"/>
                <a:gd name="T2" fmla="*/ 1057 w 160"/>
                <a:gd name="T3" fmla="*/ 309 h 171"/>
                <a:gd name="T4" fmla="*/ 989 w 160"/>
                <a:gd name="T5" fmla="*/ 309 h 171"/>
                <a:gd name="T6" fmla="*/ 785 w 160"/>
                <a:gd name="T7" fmla="*/ 104 h 171"/>
                <a:gd name="T8" fmla="*/ 476 w 160"/>
                <a:gd name="T9" fmla="*/ 0 h 171"/>
                <a:gd name="T10" fmla="*/ 0 w 160"/>
                <a:gd name="T11" fmla="*/ 0 h 171"/>
                <a:gd name="T12" fmla="*/ 0 w 160"/>
                <a:gd name="T13" fmla="*/ 205 h 171"/>
                <a:gd name="T14" fmla="*/ 0 w 160"/>
                <a:gd name="T15" fmla="*/ 411 h 171"/>
                <a:gd name="T16" fmla="*/ 104 w 160"/>
                <a:gd name="T17" fmla="*/ 788 h 171"/>
                <a:gd name="T18" fmla="*/ 104 w 160"/>
                <a:gd name="T19" fmla="*/ 993 h 171"/>
                <a:gd name="T20" fmla="*/ 309 w 160"/>
                <a:gd name="T21" fmla="*/ 1269 h 171"/>
                <a:gd name="T22" fmla="*/ 309 w 160"/>
                <a:gd name="T23" fmla="*/ 1361 h 171"/>
                <a:gd name="T24" fmla="*/ 476 w 160"/>
                <a:gd name="T25" fmla="*/ 1361 h 171"/>
                <a:gd name="T26" fmla="*/ 580 w 160"/>
                <a:gd name="T27" fmla="*/ 1465 h 171"/>
                <a:gd name="T28" fmla="*/ 685 w 160"/>
                <a:gd name="T29" fmla="*/ 1465 h 171"/>
                <a:gd name="T30" fmla="*/ 785 w 160"/>
                <a:gd name="T31" fmla="*/ 1361 h 171"/>
                <a:gd name="T32" fmla="*/ 889 w 160"/>
                <a:gd name="T33" fmla="*/ 1064 h 171"/>
                <a:gd name="T34" fmla="*/ 1057 w 160"/>
                <a:gd name="T35" fmla="*/ 788 h 171"/>
                <a:gd name="T36" fmla="*/ 1161 w 160"/>
                <a:gd name="T37" fmla="*/ 583 h 171"/>
                <a:gd name="T38" fmla="*/ 1261 w 160"/>
                <a:gd name="T39" fmla="*/ 481 h 171"/>
                <a:gd name="T40" fmla="*/ 1365 w 160"/>
                <a:gd name="T41" fmla="*/ 481 h 17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60"/>
                <a:gd name="T64" fmla="*/ 0 h 171"/>
                <a:gd name="T65" fmla="*/ 160 w 160"/>
                <a:gd name="T66" fmla="*/ 171 h 17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60" h="171">
                  <a:moveTo>
                    <a:pt x="160" y="56"/>
                  </a:moveTo>
                  <a:lnTo>
                    <a:pt x="124" y="36"/>
                  </a:lnTo>
                  <a:lnTo>
                    <a:pt x="116" y="36"/>
                  </a:lnTo>
                  <a:lnTo>
                    <a:pt x="92" y="12"/>
                  </a:lnTo>
                  <a:lnTo>
                    <a:pt x="56" y="0"/>
                  </a:lnTo>
                  <a:lnTo>
                    <a:pt x="0" y="0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12" y="92"/>
                  </a:lnTo>
                  <a:lnTo>
                    <a:pt x="12" y="116"/>
                  </a:lnTo>
                  <a:lnTo>
                    <a:pt x="36" y="148"/>
                  </a:lnTo>
                  <a:lnTo>
                    <a:pt x="36" y="159"/>
                  </a:lnTo>
                  <a:lnTo>
                    <a:pt x="56" y="159"/>
                  </a:lnTo>
                  <a:lnTo>
                    <a:pt x="68" y="171"/>
                  </a:lnTo>
                  <a:lnTo>
                    <a:pt x="80" y="171"/>
                  </a:lnTo>
                  <a:lnTo>
                    <a:pt x="92" y="159"/>
                  </a:lnTo>
                  <a:lnTo>
                    <a:pt x="104" y="124"/>
                  </a:lnTo>
                  <a:lnTo>
                    <a:pt x="124" y="92"/>
                  </a:lnTo>
                  <a:lnTo>
                    <a:pt x="136" y="68"/>
                  </a:lnTo>
                  <a:lnTo>
                    <a:pt x="148" y="56"/>
                  </a:lnTo>
                  <a:lnTo>
                    <a:pt x="160" y="56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BFEE27D2-A485-18E9-0E8B-7F4DB0E9F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" y="1981"/>
              <a:ext cx="415" cy="604"/>
            </a:xfrm>
            <a:custGeom>
              <a:avLst/>
              <a:gdLst>
                <a:gd name="T0" fmla="*/ 1333 w 203"/>
                <a:gd name="T1" fmla="*/ 0 h 295"/>
                <a:gd name="T2" fmla="*/ 1265 w 203"/>
                <a:gd name="T3" fmla="*/ 104 h 295"/>
                <a:gd name="T4" fmla="*/ 1161 w 203"/>
                <a:gd name="T5" fmla="*/ 104 h 295"/>
                <a:gd name="T6" fmla="*/ 1057 w 203"/>
                <a:gd name="T7" fmla="*/ 205 h 295"/>
                <a:gd name="T8" fmla="*/ 957 w 203"/>
                <a:gd name="T9" fmla="*/ 412 h 295"/>
                <a:gd name="T10" fmla="*/ 957 w 203"/>
                <a:gd name="T11" fmla="*/ 584 h 295"/>
                <a:gd name="T12" fmla="*/ 852 w 203"/>
                <a:gd name="T13" fmla="*/ 893 h 295"/>
                <a:gd name="T14" fmla="*/ 852 w 203"/>
                <a:gd name="T15" fmla="*/ 1065 h 295"/>
                <a:gd name="T16" fmla="*/ 752 w 203"/>
                <a:gd name="T17" fmla="*/ 1165 h 295"/>
                <a:gd name="T18" fmla="*/ 476 w 203"/>
                <a:gd name="T19" fmla="*/ 1269 h 295"/>
                <a:gd name="T20" fmla="*/ 272 w 203"/>
                <a:gd name="T21" fmla="*/ 1366 h 295"/>
                <a:gd name="T22" fmla="*/ 104 w 203"/>
                <a:gd name="T23" fmla="*/ 1572 h 295"/>
                <a:gd name="T24" fmla="*/ 0 w 203"/>
                <a:gd name="T25" fmla="*/ 1949 h 295"/>
                <a:gd name="T26" fmla="*/ 104 w 203"/>
                <a:gd name="T27" fmla="*/ 2326 h 295"/>
                <a:gd name="T28" fmla="*/ 104 w 203"/>
                <a:gd name="T29" fmla="*/ 2426 h 295"/>
                <a:gd name="T30" fmla="*/ 172 w 203"/>
                <a:gd name="T31" fmla="*/ 2426 h 295"/>
                <a:gd name="T32" fmla="*/ 376 w 203"/>
                <a:gd name="T33" fmla="*/ 2533 h 295"/>
                <a:gd name="T34" fmla="*/ 581 w 203"/>
                <a:gd name="T35" fmla="*/ 2533 h 295"/>
                <a:gd name="T36" fmla="*/ 752 w 203"/>
                <a:gd name="T37" fmla="*/ 2326 h 295"/>
                <a:gd name="T38" fmla="*/ 752 w 203"/>
                <a:gd name="T39" fmla="*/ 2221 h 295"/>
                <a:gd name="T40" fmla="*/ 685 w 203"/>
                <a:gd name="T41" fmla="*/ 2154 h 295"/>
                <a:gd name="T42" fmla="*/ 685 w 203"/>
                <a:gd name="T43" fmla="*/ 2050 h 295"/>
                <a:gd name="T44" fmla="*/ 752 w 203"/>
                <a:gd name="T45" fmla="*/ 1949 h 295"/>
                <a:gd name="T46" fmla="*/ 957 w 203"/>
                <a:gd name="T47" fmla="*/ 2050 h 295"/>
                <a:gd name="T48" fmla="*/ 1333 w 203"/>
                <a:gd name="T49" fmla="*/ 1949 h 295"/>
                <a:gd name="T50" fmla="*/ 1529 w 203"/>
                <a:gd name="T51" fmla="*/ 1744 h 295"/>
                <a:gd name="T52" fmla="*/ 1629 w 203"/>
                <a:gd name="T53" fmla="*/ 1640 h 295"/>
                <a:gd name="T54" fmla="*/ 1629 w 203"/>
                <a:gd name="T55" fmla="*/ 1468 h 295"/>
                <a:gd name="T56" fmla="*/ 1734 w 203"/>
                <a:gd name="T57" fmla="*/ 1366 h 295"/>
                <a:gd name="T58" fmla="*/ 1734 w 203"/>
                <a:gd name="T59" fmla="*/ 1269 h 295"/>
                <a:gd name="T60" fmla="*/ 1529 w 203"/>
                <a:gd name="T61" fmla="*/ 997 h 295"/>
                <a:gd name="T62" fmla="*/ 1529 w 203"/>
                <a:gd name="T63" fmla="*/ 788 h 295"/>
                <a:gd name="T64" fmla="*/ 1425 w 203"/>
                <a:gd name="T65" fmla="*/ 412 h 295"/>
                <a:gd name="T66" fmla="*/ 1425 w 203"/>
                <a:gd name="T67" fmla="*/ 205 h 295"/>
                <a:gd name="T68" fmla="*/ 1425 w 203"/>
                <a:gd name="T69" fmla="*/ 0 h 295"/>
                <a:gd name="T70" fmla="*/ 1333 w 203"/>
                <a:gd name="T71" fmla="*/ 0 h 29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03"/>
                <a:gd name="T109" fmla="*/ 0 h 295"/>
                <a:gd name="T110" fmla="*/ 203 w 203"/>
                <a:gd name="T111" fmla="*/ 295 h 29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03" h="295">
                  <a:moveTo>
                    <a:pt x="156" y="0"/>
                  </a:moveTo>
                  <a:lnTo>
                    <a:pt x="148" y="12"/>
                  </a:lnTo>
                  <a:lnTo>
                    <a:pt x="136" y="12"/>
                  </a:lnTo>
                  <a:lnTo>
                    <a:pt x="124" y="24"/>
                  </a:lnTo>
                  <a:lnTo>
                    <a:pt x="112" y="48"/>
                  </a:lnTo>
                  <a:lnTo>
                    <a:pt x="112" y="68"/>
                  </a:lnTo>
                  <a:lnTo>
                    <a:pt x="100" y="104"/>
                  </a:lnTo>
                  <a:lnTo>
                    <a:pt x="100" y="124"/>
                  </a:lnTo>
                  <a:lnTo>
                    <a:pt x="88" y="136"/>
                  </a:lnTo>
                  <a:lnTo>
                    <a:pt x="56" y="148"/>
                  </a:lnTo>
                  <a:lnTo>
                    <a:pt x="32" y="159"/>
                  </a:lnTo>
                  <a:lnTo>
                    <a:pt x="12" y="183"/>
                  </a:lnTo>
                  <a:lnTo>
                    <a:pt x="0" y="227"/>
                  </a:lnTo>
                  <a:lnTo>
                    <a:pt x="12" y="271"/>
                  </a:lnTo>
                  <a:lnTo>
                    <a:pt x="12" y="283"/>
                  </a:lnTo>
                  <a:lnTo>
                    <a:pt x="20" y="283"/>
                  </a:lnTo>
                  <a:lnTo>
                    <a:pt x="44" y="295"/>
                  </a:lnTo>
                  <a:lnTo>
                    <a:pt x="68" y="295"/>
                  </a:lnTo>
                  <a:lnTo>
                    <a:pt x="88" y="271"/>
                  </a:lnTo>
                  <a:lnTo>
                    <a:pt x="88" y="259"/>
                  </a:lnTo>
                  <a:lnTo>
                    <a:pt x="80" y="251"/>
                  </a:lnTo>
                  <a:lnTo>
                    <a:pt x="80" y="239"/>
                  </a:lnTo>
                  <a:lnTo>
                    <a:pt x="88" y="227"/>
                  </a:lnTo>
                  <a:lnTo>
                    <a:pt x="112" y="239"/>
                  </a:lnTo>
                  <a:lnTo>
                    <a:pt x="156" y="227"/>
                  </a:lnTo>
                  <a:lnTo>
                    <a:pt x="179" y="203"/>
                  </a:lnTo>
                  <a:lnTo>
                    <a:pt x="191" y="191"/>
                  </a:lnTo>
                  <a:lnTo>
                    <a:pt x="191" y="171"/>
                  </a:lnTo>
                  <a:lnTo>
                    <a:pt x="203" y="159"/>
                  </a:lnTo>
                  <a:lnTo>
                    <a:pt x="203" y="148"/>
                  </a:lnTo>
                  <a:lnTo>
                    <a:pt x="179" y="116"/>
                  </a:lnTo>
                  <a:lnTo>
                    <a:pt x="179" y="92"/>
                  </a:lnTo>
                  <a:lnTo>
                    <a:pt x="167" y="48"/>
                  </a:lnTo>
                  <a:lnTo>
                    <a:pt x="167" y="24"/>
                  </a:lnTo>
                  <a:lnTo>
                    <a:pt x="167" y="0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EF3DEC68-F7C1-3992-D0E6-B7644042F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844"/>
              <a:ext cx="505" cy="691"/>
            </a:xfrm>
            <a:custGeom>
              <a:avLst/>
              <a:gdLst>
                <a:gd name="T0" fmla="*/ 677 w 247"/>
                <a:gd name="T1" fmla="*/ 0 h 338"/>
                <a:gd name="T2" fmla="*/ 677 w 247"/>
                <a:gd name="T3" fmla="*/ 309 h 338"/>
                <a:gd name="T4" fmla="*/ 581 w 247"/>
                <a:gd name="T5" fmla="*/ 677 h 338"/>
                <a:gd name="T6" fmla="*/ 476 w 247"/>
                <a:gd name="T7" fmla="*/ 981 h 338"/>
                <a:gd name="T8" fmla="*/ 309 w 247"/>
                <a:gd name="T9" fmla="*/ 1153 h 338"/>
                <a:gd name="T10" fmla="*/ 104 w 247"/>
                <a:gd name="T11" fmla="*/ 1257 h 338"/>
                <a:gd name="T12" fmla="*/ 0 w 247"/>
                <a:gd name="T13" fmla="*/ 1357 h 338"/>
                <a:gd name="T14" fmla="*/ 204 w 247"/>
                <a:gd name="T15" fmla="*/ 1357 h 338"/>
                <a:gd name="T16" fmla="*/ 309 w 247"/>
                <a:gd name="T17" fmla="*/ 1464 h 338"/>
                <a:gd name="T18" fmla="*/ 309 w 247"/>
                <a:gd name="T19" fmla="*/ 1564 h 338"/>
                <a:gd name="T20" fmla="*/ 204 w 247"/>
                <a:gd name="T21" fmla="*/ 1734 h 338"/>
                <a:gd name="T22" fmla="*/ 309 w 247"/>
                <a:gd name="T23" fmla="*/ 2036 h 338"/>
                <a:gd name="T24" fmla="*/ 476 w 247"/>
                <a:gd name="T25" fmla="*/ 2136 h 338"/>
                <a:gd name="T26" fmla="*/ 581 w 247"/>
                <a:gd name="T27" fmla="*/ 2036 h 338"/>
                <a:gd name="T28" fmla="*/ 677 w 247"/>
                <a:gd name="T29" fmla="*/ 2136 h 338"/>
                <a:gd name="T30" fmla="*/ 677 w 247"/>
                <a:gd name="T31" fmla="*/ 2202 h 338"/>
                <a:gd name="T32" fmla="*/ 581 w 247"/>
                <a:gd name="T33" fmla="*/ 2306 h 338"/>
                <a:gd name="T34" fmla="*/ 476 w 247"/>
                <a:gd name="T35" fmla="*/ 2513 h 338"/>
                <a:gd name="T36" fmla="*/ 581 w 247"/>
                <a:gd name="T37" fmla="*/ 2717 h 338"/>
                <a:gd name="T38" fmla="*/ 777 w 247"/>
                <a:gd name="T39" fmla="*/ 2889 h 338"/>
                <a:gd name="T40" fmla="*/ 881 w 247"/>
                <a:gd name="T41" fmla="*/ 2889 h 338"/>
                <a:gd name="T42" fmla="*/ 777 w 247"/>
                <a:gd name="T43" fmla="*/ 2513 h 338"/>
                <a:gd name="T44" fmla="*/ 881 w 247"/>
                <a:gd name="T45" fmla="*/ 2136 h 338"/>
                <a:gd name="T46" fmla="*/ 1049 w 247"/>
                <a:gd name="T47" fmla="*/ 1932 h 338"/>
                <a:gd name="T48" fmla="*/ 1257 w 247"/>
                <a:gd name="T49" fmla="*/ 1840 h 338"/>
                <a:gd name="T50" fmla="*/ 1529 w 247"/>
                <a:gd name="T51" fmla="*/ 1734 h 338"/>
                <a:gd name="T52" fmla="*/ 1634 w 247"/>
                <a:gd name="T53" fmla="*/ 1629 h 338"/>
                <a:gd name="T54" fmla="*/ 1634 w 247"/>
                <a:gd name="T55" fmla="*/ 1464 h 338"/>
                <a:gd name="T56" fmla="*/ 1734 w 247"/>
                <a:gd name="T57" fmla="*/ 1153 h 338"/>
                <a:gd name="T58" fmla="*/ 1734 w 247"/>
                <a:gd name="T59" fmla="*/ 981 h 338"/>
                <a:gd name="T60" fmla="*/ 1840 w 247"/>
                <a:gd name="T61" fmla="*/ 777 h 338"/>
                <a:gd name="T62" fmla="*/ 1940 w 247"/>
                <a:gd name="T63" fmla="*/ 677 h 338"/>
                <a:gd name="T64" fmla="*/ 2045 w 247"/>
                <a:gd name="T65" fmla="*/ 677 h 338"/>
                <a:gd name="T66" fmla="*/ 2110 w 247"/>
                <a:gd name="T67" fmla="*/ 572 h 338"/>
                <a:gd name="T68" fmla="*/ 2045 w 247"/>
                <a:gd name="T69" fmla="*/ 572 h 338"/>
                <a:gd name="T70" fmla="*/ 1840 w 247"/>
                <a:gd name="T71" fmla="*/ 468 h 338"/>
                <a:gd name="T72" fmla="*/ 1529 w 247"/>
                <a:gd name="T73" fmla="*/ 401 h 338"/>
                <a:gd name="T74" fmla="*/ 1358 w 247"/>
                <a:gd name="T75" fmla="*/ 309 h 338"/>
                <a:gd name="T76" fmla="*/ 1257 w 247"/>
                <a:gd name="T77" fmla="*/ 468 h 338"/>
                <a:gd name="T78" fmla="*/ 1257 w 247"/>
                <a:gd name="T79" fmla="*/ 309 h 338"/>
                <a:gd name="T80" fmla="*/ 1049 w 247"/>
                <a:gd name="T81" fmla="*/ 204 h 338"/>
                <a:gd name="T82" fmla="*/ 949 w 247"/>
                <a:gd name="T83" fmla="*/ 104 h 338"/>
                <a:gd name="T84" fmla="*/ 677 w 247"/>
                <a:gd name="T85" fmla="*/ 0 h 3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7"/>
                <a:gd name="T130" fmla="*/ 0 h 338"/>
                <a:gd name="T131" fmla="*/ 247 w 247"/>
                <a:gd name="T132" fmla="*/ 338 h 3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7" h="338">
                  <a:moveTo>
                    <a:pt x="79" y="0"/>
                  </a:moveTo>
                  <a:lnTo>
                    <a:pt x="79" y="36"/>
                  </a:lnTo>
                  <a:lnTo>
                    <a:pt x="68" y="79"/>
                  </a:lnTo>
                  <a:lnTo>
                    <a:pt x="56" y="115"/>
                  </a:lnTo>
                  <a:lnTo>
                    <a:pt x="36" y="135"/>
                  </a:lnTo>
                  <a:lnTo>
                    <a:pt x="12" y="147"/>
                  </a:lnTo>
                  <a:lnTo>
                    <a:pt x="0" y="159"/>
                  </a:lnTo>
                  <a:lnTo>
                    <a:pt x="24" y="159"/>
                  </a:lnTo>
                  <a:lnTo>
                    <a:pt x="36" y="171"/>
                  </a:lnTo>
                  <a:lnTo>
                    <a:pt x="36" y="183"/>
                  </a:lnTo>
                  <a:lnTo>
                    <a:pt x="24" y="203"/>
                  </a:lnTo>
                  <a:lnTo>
                    <a:pt x="36" y="238"/>
                  </a:lnTo>
                  <a:lnTo>
                    <a:pt x="56" y="250"/>
                  </a:lnTo>
                  <a:lnTo>
                    <a:pt x="68" y="238"/>
                  </a:lnTo>
                  <a:lnTo>
                    <a:pt x="79" y="250"/>
                  </a:lnTo>
                  <a:lnTo>
                    <a:pt x="79" y="258"/>
                  </a:lnTo>
                  <a:lnTo>
                    <a:pt x="68" y="270"/>
                  </a:lnTo>
                  <a:lnTo>
                    <a:pt x="56" y="294"/>
                  </a:lnTo>
                  <a:lnTo>
                    <a:pt x="68" y="318"/>
                  </a:lnTo>
                  <a:lnTo>
                    <a:pt x="91" y="338"/>
                  </a:lnTo>
                  <a:lnTo>
                    <a:pt x="103" y="338"/>
                  </a:lnTo>
                  <a:lnTo>
                    <a:pt x="91" y="294"/>
                  </a:lnTo>
                  <a:lnTo>
                    <a:pt x="103" y="250"/>
                  </a:lnTo>
                  <a:lnTo>
                    <a:pt x="123" y="226"/>
                  </a:lnTo>
                  <a:lnTo>
                    <a:pt x="147" y="215"/>
                  </a:lnTo>
                  <a:lnTo>
                    <a:pt x="179" y="203"/>
                  </a:lnTo>
                  <a:lnTo>
                    <a:pt x="191" y="191"/>
                  </a:lnTo>
                  <a:lnTo>
                    <a:pt x="191" y="171"/>
                  </a:lnTo>
                  <a:lnTo>
                    <a:pt x="203" y="135"/>
                  </a:lnTo>
                  <a:lnTo>
                    <a:pt x="203" y="115"/>
                  </a:lnTo>
                  <a:lnTo>
                    <a:pt x="215" y="91"/>
                  </a:lnTo>
                  <a:lnTo>
                    <a:pt x="227" y="79"/>
                  </a:lnTo>
                  <a:lnTo>
                    <a:pt x="239" y="79"/>
                  </a:lnTo>
                  <a:lnTo>
                    <a:pt x="247" y="67"/>
                  </a:lnTo>
                  <a:lnTo>
                    <a:pt x="239" y="67"/>
                  </a:lnTo>
                  <a:lnTo>
                    <a:pt x="215" y="55"/>
                  </a:lnTo>
                  <a:lnTo>
                    <a:pt x="179" y="47"/>
                  </a:lnTo>
                  <a:lnTo>
                    <a:pt x="159" y="36"/>
                  </a:lnTo>
                  <a:lnTo>
                    <a:pt x="147" y="55"/>
                  </a:lnTo>
                  <a:lnTo>
                    <a:pt x="147" y="36"/>
                  </a:lnTo>
                  <a:lnTo>
                    <a:pt x="123" y="24"/>
                  </a:lnTo>
                  <a:lnTo>
                    <a:pt x="111" y="12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5EE56C5C-FCEE-365C-4EBB-84D45A924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2169"/>
              <a:ext cx="374" cy="643"/>
            </a:xfrm>
            <a:custGeom>
              <a:avLst/>
              <a:gdLst>
                <a:gd name="T0" fmla="*/ 681 w 183"/>
                <a:gd name="T1" fmla="*/ 0 h 314"/>
                <a:gd name="T2" fmla="*/ 785 w 183"/>
                <a:gd name="T3" fmla="*/ 104 h 314"/>
                <a:gd name="T4" fmla="*/ 785 w 183"/>
                <a:gd name="T5" fmla="*/ 205 h 314"/>
                <a:gd name="T6" fmla="*/ 476 w 183"/>
                <a:gd name="T7" fmla="*/ 481 h 314"/>
                <a:gd name="T8" fmla="*/ 409 w 183"/>
                <a:gd name="T9" fmla="*/ 680 h 314"/>
                <a:gd name="T10" fmla="*/ 409 w 183"/>
                <a:gd name="T11" fmla="*/ 952 h 314"/>
                <a:gd name="T12" fmla="*/ 309 w 183"/>
                <a:gd name="T13" fmla="*/ 1157 h 314"/>
                <a:gd name="T14" fmla="*/ 104 w 183"/>
                <a:gd name="T15" fmla="*/ 1433 h 314"/>
                <a:gd name="T16" fmla="*/ 0 w 183"/>
                <a:gd name="T17" fmla="*/ 1745 h 314"/>
                <a:gd name="T18" fmla="*/ 0 w 183"/>
                <a:gd name="T19" fmla="*/ 2017 h 314"/>
                <a:gd name="T20" fmla="*/ 104 w 183"/>
                <a:gd name="T21" fmla="*/ 2318 h 314"/>
                <a:gd name="T22" fmla="*/ 0 w 183"/>
                <a:gd name="T23" fmla="*/ 2592 h 314"/>
                <a:gd name="T24" fmla="*/ 104 w 183"/>
                <a:gd name="T25" fmla="*/ 2592 h 314"/>
                <a:gd name="T26" fmla="*/ 309 w 183"/>
                <a:gd name="T27" fmla="*/ 2525 h 314"/>
                <a:gd name="T28" fmla="*/ 476 w 183"/>
                <a:gd name="T29" fmla="*/ 2525 h 314"/>
                <a:gd name="T30" fmla="*/ 580 w 183"/>
                <a:gd name="T31" fmla="*/ 2592 h 314"/>
                <a:gd name="T32" fmla="*/ 785 w 183"/>
                <a:gd name="T33" fmla="*/ 2697 h 314"/>
                <a:gd name="T34" fmla="*/ 889 w 183"/>
                <a:gd name="T35" fmla="*/ 2592 h 314"/>
                <a:gd name="T36" fmla="*/ 1057 w 183"/>
                <a:gd name="T37" fmla="*/ 2525 h 314"/>
                <a:gd name="T38" fmla="*/ 1457 w 183"/>
                <a:gd name="T39" fmla="*/ 2592 h 314"/>
                <a:gd name="T40" fmla="*/ 1457 w 183"/>
                <a:gd name="T41" fmla="*/ 2214 h 314"/>
                <a:gd name="T42" fmla="*/ 1357 w 183"/>
                <a:gd name="T43" fmla="*/ 1949 h 314"/>
                <a:gd name="T44" fmla="*/ 1457 w 183"/>
                <a:gd name="T45" fmla="*/ 1745 h 314"/>
                <a:gd name="T46" fmla="*/ 1561 w 183"/>
                <a:gd name="T47" fmla="*/ 1640 h 314"/>
                <a:gd name="T48" fmla="*/ 1561 w 183"/>
                <a:gd name="T49" fmla="*/ 1540 h 314"/>
                <a:gd name="T50" fmla="*/ 1457 w 183"/>
                <a:gd name="T51" fmla="*/ 1540 h 314"/>
                <a:gd name="T52" fmla="*/ 1261 w 183"/>
                <a:gd name="T53" fmla="*/ 1368 h 314"/>
                <a:gd name="T54" fmla="*/ 1161 w 183"/>
                <a:gd name="T55" fmla="*/ 1157 h 314"/>
                <a:gd name="T56" fmla="*/ 1261 w 183"/>
                <a:gd name="T57" fmla="*/ 952 h 314"/>
                <a:gd name="T58" fmla="*/ 1357 w 183"/>
                <a:gd name="T59" fmla="*/ 852 h 314"/>
                <a:gd name="T60" fmla="*/ 1357 w 183"/>
                <a:gd name="T61" fmla="*/ 780 h 314"/>
                <a:gd name="T62" fmla="*/ 1261 w 183"/>
                <a:gd name="T63" fmla="*/ 680 h 314"/>
                <a:gd name="T64" fmla="*/ 1161 w 183"/>
                <a:gd name="T65" fmla="*/ 780 h 314"/>
                <a:gd name="T66" fmla="*/ 989 w 183"/>
                <a:gd name="T67" fmla="*/ 680 h 314"/>
                <a:gd name="T68" fmla="*/ 889 w 183"/>
                <a:gd name="T69" fmla="*/ 377 h 314"/>
                <a:gd name="T70" fmla="*/ 989 w 183"/>
                <a:gd name="T71" fmla="*/ 205 h 314"/>
                <a:gd name="T72" fmla="*/ 989 w 183"/>
                <a:gd name="T73" fmla="*/ 104 h 314"/>
                <a:gd name="T74" fmla="*/ 889 w 183"/>
                <a:gd name="T75" fmla="*/ 0 h 314"/>
                <a:gd name="T76" fmla="*/ 681 w 183"/>
                <a:gd name="T77" fmla="*/ 0 h 31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83"/>
                <a:gd name="T118" fmla="*/ 0 h 314"/>
                <a:gd name="T119" fmla="*/ 183 w 183"/>
                <a:gd name="T120" fmla="*/ 314 h 31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83" h="314">
                  <a:moveTo>
                    <a:pt x="80" y="0"/>
                  </a:moveTo>
                  <a:lnTo>
                    <a:pt x="92" y="12"/>
                  </a:lnTo>
                  <a:lnTo>
                    <a:pt x="92" y="24"/>
                  </a:lnTo>
                  <a:lnTo>
                    <a:pt x="56" y="56"/>
                  </a:lnTo>
                  <a:lnTo>
                    <a:pt x="48" y="79"/>
                  </a:lnTo>
                  <a:lnTo>
                    <a:pt x="48" y="111"/>
                  </a:lnTo>
                  <a:lnTo>
                    <a:pt x="36" y="135"/>
                  </a:lnTo>
                  <a:lnTo>
                    <a:pt x="12" y="167"/>
                  </a:lnTo>
                  <a:lnTo>
                    <a:pt x="0" y="203"/>
                  </a:lnTo>
                  <a:lnTo>
                    <a:pt x="0" y="235"/>
                  </a:lnTo>
                  <a:lnTo>
                    <a:pt x="12" y="270"/>
                  </a:lnTo>
                  <a:lnTo>
                    <a:pt x="0" y="302"/>
                  </a:lnTo>
                  <a:lnTo>
                    <a:pt x="12" y="302"/>
                  </a:lnTo>
                  <a:lnTo>
                    <a:pt x="36" y="294"/>
                  </a:lnTo>
                  <a:lnTo>
                    <a:pt x="56" y="294"/>
                  </a:lnTo>
                  <a:lnTo>
                    <a:pt x="68" y="302"/>
                  </a:lnTo>
                  <a:lnTo>
                    <a:pt x="92" y="314"/>
                  </a:lnTo>
                  <a:lnTo>
                    <a:pt x="104" y="302"/>
                  </a:lnTo>
                  <a:lnTo>
                    <a:pt x="124" y="294"/>
                  </a:lnTo>
                  <a:lnTo>
                    <a:pt x="171" y="302"/>
                  </a:lnTo>
                  <a:lnTo>
                    <a:pt x="171" y="258"/>
                  </a:lnTo>
                  <a:lnTo>
                    <a:pt x="159" y="227"/>
                  </a:lnTo>
                  <a:lnTo>
                    <a:pt x="171" y="203"/>
                  </a:lnTo>
                  <a:lnTo>
                    <a:pt x="183" y="191"/>
                  </a:lnTo>
                  <a:lnTo>
                    <a:pt x="183" y="179"/>
                  </a:lnTo>
                  <a:lnTo>
                    <a:pt x="171" y="179"/>
                  </a:lnTo>
                  <a:lnTo>
                    <a:pt x="148" y="159"/>
                  </a:lnTo>
                  <a:lnTo>
                    <a:pt x="136" y="135"/>
                  </a:lnTo>
                  <a:lnTo>
                    <a:pt x="148" y="111"/>
                  </a:lnTo>
                  <a:lnTo>
                    <a:pt x="159" y="99"/>
                  </a:lnTo>
                  <a:lnTo>
                    <a:pt x="159" y="91"/>
                  </a:lnTo>
                  <a:lnTo>
                    <a:pt x="148" y="79"/>
                  </a:lnTo>
                  <a:lnTo>
                    <a:pt x="136" y="91"/>
                  </a:lnTo>
                  <a:lnTo>
                    <a:pt x="116" y="79"/>
                  </a:lnTo>
                  <a:lnTo>
                    <a:pt x="104" y="44"/>
                  </a:lnTo>
                  <a:lnTo>
                    <a:pt x="116" y="24"/>
                  </a:lnTo>
                  <a:lnTo>
                    <a:pt x="116" y="12"/>
                  </a:lnTo>
                  <a:lnTo>
                    <a:pt x="104" y="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780D1513-6F0A-0306-A7A9-C474F3A55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2771"/>
              <a:ext cx="536" cy="439"/>
            </a:xfrm>
            <a:custGeom>
              <a:avLst/>
              <a:gdLst>
                <a:gd name="T0" fmla="*/ 677 w 262"/>
                <a:gd name="T1" fmla="*/ 67 h 215"/>
                <a:gd name="T2" fmla="*/ 677 w 262"/>
                <a:gd name="T3" fmla="*/ 272 h 215"/>
                <a:gd name="T4" fmla="*/ 573 w 262"/>
                <a:gd name="T5" fmla="*/ 476 h 215"/>
                <a:gd name="T6" fmla="*/ 409 w 262"/>
                <a:gd name="T7" fmla="*/ 580 h 215"/>
                <a:gd name="T8" fmla="*/ 309 w 262"/>
                <a:gd name="T9" fmla="*/ 751 h 215"/>
                <a:gd name="T10" fmla="*/ 104 w 262"/>
                <a:gd name="T11" fmla="*/ 956 h 215"/>
                <a:gd name="T12" fmla="*/ 0 w 262"/>
                <a:gd name="T13" fmla="*/ 1252 h 215"/>
                <a:gd name="T14" fmla="*/ 0 w 262"/>
                <a:gd name="T15" fmla="*/ 1421 h 215"/>
                <a:gd name="T16" fmla="*/ 205 w 262"/>
                <a:gd name="T17" fmla="*/ 1521 h 215"/>
                <a:gd name="T18" fmla="*/ 573 w 262"/>
                <a:gd name="T19" fmla="*/ 1830 h 215"/>
                <a:gd name="T20" fmla="*/ 779 w 262"/>
                <a:gd name="T21" fmla="*/ 1830 h 215"/>
                <a:gd name="T22" fmla="*/ 984 w 262"/>
                <a:gd name="T23" fmla="*/ 1625 h 215"/>
                <a:gd name="T24" fmla="*/ 1260 w 262"/>
                <a:gd name="T25" fmla="*/ 1521 h 215"/>
                <a:gd name="T26" fmla="*/ 1669 w 262"/>
                <a:gd name="T27" fmla="*/ 1521 h 215"/>
                <a:gd name="T28" fmla="*/ 1841 w 262"/>
                <a:gd name="T29" fmla="*/ 1317 h 215"/>
                <a:gd name="T30" fmla="*/ 1841 w 262"/>
                <a:gd name="T31" fmla="*/ 1252 h 215"/>
                <a:gd name="T32" fmla="*/ 1737 w 262"/>
                <a:gd name="T33" fmla="*/ 1056 h 215"/>
                <a:gd name="T34" fmla="*/ 1841 w 262"/>
                <a:gd name="T35" fmla="*/ 956 h 215"/>
                <a:gd name="T36" fmla="*/ 1841 w 262"/>
                <a:gd name="T37" fmla="*/ 751 h 215"/>
                <a:gd name="T38" fmla="*/ 1941 w 262"/>
                <a:gd name="T39" fmla="*/ 680 h 215"/>
                <a:gd name="T40" fmla="*/ 2038 w 262"/>
                <a:gd name="T41" fmla="*/ 476 h 215"/>
                <a:gd name="T42" fmla="*/ 2244 w 262"/>
                <a:gd name="T43" fmla="*/ 580 h 215"/>
                <a:gd name="T44" fmla="*/ 2244 w 262"/>
                <a:gd name="T45" fmla="*/ 272 h 215"/>
                <a:gd name="T46" fmla="*/ 2138 w 262"/>
                <a:gd name="T47" fmla="*/ 67 h 215"/>
                <a:gd name="T48" fmla="*/ 1737 w 262"/>
                <a:gd name="T49" fmla="*/ 0 h 215"/>
                <a:gd name="T50" fmla="*/ 1565 w 262"/>
                <a:gd name="T51" fmla="*/ 67 h 215"/>
                <a:gd name="T52" fmla="*/ 1465 w 262"/>
                <a:gd name="T53" fmla="*/ 172 h 215"/>
                <a:gd name="T54" fmla="*/ 1260 w 262"/>
                <a:gd name="T55" fmla="*/ 67 h 215"/>
                <a:gd name="T56" fmla="*/ 1156 w 262"/>
                <a:gd name="T57" fmla="*/ 0 h 215"/>
                <a:gd name="T58" fmla="*/ 984 w 262"/>
                <a:gd name="T59" fmla="*/ 0 h 215"/>
                <a:gd name="T60" fmla="*/ 779 w 262"/>
                <a:gd name="T61" fmla="*/ 67 h 215"/>
                <a:gd name="T62" fmla="*/ 677 w 262"/>
                <a:gd name="T63" fmla="*/ 67 h 21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62"/>
                <a:gd name="T97" fmla="*/ 0 h 215"/>
                <a:gd name="T98" fmla="*/ 262 w 262"/>
                <a:gd name="T99" fmla="*/ 215 h 21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62" h="215">
                  <a:moveTo>
                    <a:pt x="79" y="8"/>
                  </a:moveTo>
                  <a:lnTo>
                    <a:pt x="79" y="32"/>
                  </a:lnTo>
                  <a:lnTo>
                    <a:pt x="67" y="56"/>
                  </a:lnTo>
                  <a:lnTo>
                    <a:pt x="48" y="68"/>
                  </a:lnTo>
                  <a:lnTo>
                    <a:pt x="36" y="88"/>
                  </a:lnTo>
                  <a:lnTo>
                    <a:pt x="12" y="112"/>
                  </a:lnTo>
                  <a:lnTo>
                    <a:pt x="0" y="147"/>
                  </a:lnTo>
                  <a:lnTo>
                    <a:pt x="0" y="167"/>
                  </a:lnTo>
                  <a:lnTo>
                    <a:pt x="24" y="179"/>
                  </a:lnTo>
                  <a:lnTo>
                    <a:pt x="67" y="215"/>
                  </a:lnTo>
                  <a:lnTo>
                    <a:pt x="91" y="215"/>
                  </a:lnTo>
                  <a:lnTo>
                    <a:pt x="115" y="191"/>
                  </a:lnTo>
                  <a:lnTo>
                    <a:pt x="147" y="179"/>
                  </a:lnTo>
                  <a:lnTo>
                    <a:pt x="195" y="179"/>
                  </a:lnTo>
                  <a:lnTo>
                    <a:pt x="215" y="155"/>
                  </a:lnTo>
                  <a:lnTo>
                    <a:pt x="215" y="147"/>
                  </a:lnTo>
                  <a:lnTo>
                    <a:pt x="203" y="124"/>
                  </a:lnTo>
                  <a:lnTo>
                    <a:pt x="215" y="112"/>
                  </a:lnTo>
                  <a:lnTo>
                    <a:pt x="215" y="88"/>
                  </a:lnTo>
                  <a:lnTo>
                    <a:pt x="227" y="80"/>
                  </a:lnTo>
                  <a:lnTo>
                    <a:pt x="238" y="56"/>
                  </a:lnTo>
                  <a:lnTo>
                    <a:pt x="262" y="68"/>
                  </a:lnTo>
                  <a:lnTo>
                    <a:pt x="262" y="32"/>
                  </a:lnTo>
                  <a:lnTo>
                    <a:pt x="250" y="8"/>
                  </a:lnTo>
                  <a:lnTo>
                    <a:pt x="203" y="0"/>
                  </a:lnTo>
                  <a:lnTo>
                    <a:pt x="183" y="8"/>
                  </a:lnTo>
                  <a:lnTo>
                    <a:pt x="171" y="20"/>
                  </a:lnTo>
                  <a:lnTo>
                    <a:pt x="147" y="8"/>
                  </a:lnTo>
                  <a:lnTo>
                    <a:pt x="135" y="0"/>
                  </a:lnTo>
                  <a:lnTo>
                    <a:pt x="115" y="0"/>
                  </a:lnTo>
                  <a:lnTo>
                    <a:pt x="91" y="8"/>
                  </a:lnTo>
                  <a:lnTo>
                    <a:pt x="79" y="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56C63B66-0041-8806-C3A1-37432E633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" y="3071"/>
              <a:ext cx="463" cy="506"/>
            </a:xfrm>
            <a:custGeom>
              <a:avLst/>
              <a:gdLst>
                <a:gd name="T0" fmla="*/ 1162 w 226"/>
                <a:gd name="T1" fmla="*/ 68 h 247"/>
                <a:gd name="T2" fmla="*/ 1092 w 226"/>
                <a:gd name="T3" fmla="*/ 68 h 247"/>
                <a:gd name="T4" fmla="*/ 990 w 226"/>
                <a:gd name="T5" fmla="*/ 0 h 247"/>
                <a:gd name="T6" fmla="*/ 885 w 226"/>
                <a:gd name="T7" fmla="*/ 0 h 247"/>
                <a:gd name="T8" fmla="*/ 781 w 226"/>
                <a:gd name="T9" fmla="*/ 68 h 247"/>
                <a:gd name="T10" fmla="*/ 576 w 226"/>
                <a:gd name="T11" fmla="*/ 172 h 247"/>
                <a:gd name="T12" fmla="*/ 303 w 226"/>
                <a:gd name="T13" fmla="*/ 68 h 247"/>
                <a:gd name="T14" fmla="*/ 104 w 226"/>
                <a:gd name="T15" fmla="*/ 68 h 247"/>
                <a:gd name="T16" fmla="*/ 0 w 226"/>
                <a:gd name="T17" fmla="*/ 172 h 247"/>
                <a:gd name="T18" fmla="*/ 0 w 226"/>
                <a:gd name="T19" fmla="*/ 483 h 247"/>
                <a:gd name="T20" fmla="*/ 104 w 226"/>
                <a:gd name="T21" fmla="*/ 584 h 247"/>
                <a:gd name="T22" fmla="*/ 104 w 226"/>
                <a:gd name="T23" fmla="*/ 756 h 247"/>
                <a:gd name="T24" fmla="*/ 0 w 226"/>
                <a:gd name="T25" fmla="*/ 961 h 247"/>
                <a:gd name="T26" fmla="*/ 0 w 226"/>
                <a:gd name="T27" fmla="*/ 1541 h 247"/>
                <a:gd name="T28" fmla="*/ 104 w 226"/>
                <a:gd name="T29" fmla="*/ 1641 h 247"/>
                <a:gd name="T30" fmla="*/ 508 w 226"/>
                <a:gd name="T31" fmla="*/ 1641 h 247"/>
                <a:gd name="T32" fmla="*/ 576 w 226"/>
                <a:gd name="T33" fmla="*/ 1745 h 247"/>
                <a:gd name="T34" fmla="*/ 680 w 226"/>
                <a:gd name="T35" fmla="*/ 2018 h 247"/>
                <a:gd name="T36" fmla="*/ 781 w 226"/>
                <a:gd name="T37" fmla="*/ 2124 h 247"/>
                <a:gd name="T38" fmla="*/ 990 w 226"/>
                <a:gd name="T39" fmla="*/ 2124 h 247"/>
                <a:gd name="T40" fmla="*/ 990 w 226"/>
                <a:gd name="T41" fmla="*/ 2018 h 247"/>
                <a:gd name="T42" fmla="*/ 1162 w 226"/>
                <a:gd name="T43" fmla="*/ 1745 h 247"/>
                <a:gd name="T44" fmla="*/ 1264 w 226"/>
                <a:gd name="T45" fmla="*/ 1641 h 247"/>
                <a:gd name="T46" fmla="*/ 1573 w 226"/>
                <a:gd name="T47" fmla="*/ 1344 h 247"/>
                <a:gd name="T48" fmla="*/ 1737 w 226"/>
                <a:gd name="T49" fmla="*/ 1065 h 247"/>
                <a:gd name="T50" fmla="*/ 1944 w 226"/>
                <a:gd name="T51" fmla="*/ 756 h 247"/>
                <a:gd name="T52" fmla="*/ 1944 w 226"/>
                <a:gd name="T53" fmla="*/ 584 h 247"/>
                <a:gd name="T54" fmla="*/ 1737 w 226"/>
                <a:gd name="T55" fmla="*/ 584 h 247"/>
                <a:gd name="T56" fmla="*/ 1369 w 226"/>
                <a:gd name="T57" fmla="*/ 277 h 247"/>
                <a:gd name="T58" fmla="*/ 1162 w 226"/>
                <a:gd name="T59" fmla="*/ 172 h 247"/>
                <a:gd name="T60" fmla="*/ 1162 w 226"/>
                <a:gd name="T61" fmla="*/ 68 h 247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226"/>
                <a:gd name="T94" fmla="*/ 0 h 247"/>
                <a:gd name="T95" fmla="*/ 226 w 226"/>
                <a:gd name="T96" fmla="*/ 247 h 247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226" h="247">
                  <a:moveTo>
                    <a:pt x="135" y="8"/>
                  </a:moveTo>
                  <a:lnTo>
                    <a:pt x="127" y="8"/>
                  </a:lnTo>
                  <a:lnTo>
                    <a:pt x="115" y="0"/>
                  </a:lnTo>
                  <a:lnTo>
                    <a:pt x="103" y="0"/>
                  </a:lnTo>
                  <a:lnTo>
                    <a:pt x="91" y="8"/>
                  </a:lnTo>
                  <a:lnTo>
                    <a:pt x="67" y="20"/>
                  </a:lnTo>
                  <a:lnTo>
                    <a:pt x="35" y="8"/>
                  </a:lnTo>
                  <a:lnTo>
                    <a:pt x="12" y="8"/>
                  </a:lnTo>
                  <a:lnTo>
                    <a:pt x="0" y="20"/>
                  </a:lnTo>
                  <a:lnTo>
                    <a:pt x="0" y="56"/>
                  </a:lnTo>
                  <a:lnTo>
                    <a:pt x="12" y="68"/>
                  </a:lnTo>
                  <a:lnTo>
                    <a:pt x="12" y="88"/>
                  </a:lnTo>
                  <a:lnTo>
                    <a:pt x="0" y="112"/>
                  </a:lnTo>
                  <a:lnTo>
                    <a:pt x="0" y="179"/>
                  </a:lnTo>
                  <a:lnTo>
                    <a:pt x="12" y="191"/>
                  </a:lnTo>
                  <a:lnTo>
                    <a:pt x="59" y="191"/>
                  </a:lnTo>
                  <a:lnTo>
                    <a:pt x="67" y="203"/>
                  </a:lnTo>
                  <a:lnTo>
                    <a:pt x="79" y="235"/>
                  </a:lnTo>
                  <a:lnTo>
                    <a:pt x="91" y="247"/>
                  </a:lnTo>
                  <a:lnTo>
                    <a:pt x="115" y="247"/>
                  </a:lnTo>
                  <a:lnTo>
                    <a:pt x="115" y="235"/>
                  </a:lnTo>
                  <a:lnTo>
                    <a:pt x="135" y="203"/>
                  </a:lnTo>
                  <a:lnTo>
                    <a:pt x="147" y="191"/>
                  </a:lnTo>
                  <a:lnTo>
                    <a:pt x="183" y="156"/>
                  </a:lnTo>
                  <a:lnTo>
                    <a:pt x="202" y="124"/>
                  </a:lnTo>
                  <a:lnTo>
                    <a:pt x="226" y="88"/>
                  </a:lnTo>
                  <a:lnTo>
                    <a:pt x="226" y="68"/>
                  </a:lnTo>
                  <a:lnTo>
                    <a:pt x="202" y="68"/>
                  </a:lnTo>
                  <a:lnTo>
                    <a:pt x="159" y="32"/>
                  </a:lnTo>
                  <a:lnTo>
                    <a:pt x="135" y="20"/>
                  </a:lnTo>
                  <a:lnTo>
                    <a:pt x="135" y="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BE45AFF4-8566-D076-1EF2-01113750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" y="2331"/>
              <a:ext cx="782" cy="806"/>
            </a:xfrm>
            <a:custGeom>
              <a:avLst/>
              <a:gdLst>
                <a:gd name="T0" fmla="*/ 3277 w 382"/>
                <a:gd name="T1" fmla="*/ 753 h 394"/>
                <a:gd name="T2" fmla="*/ 1533 w 382"/>
                <a:gd name="T3" fmla="*/ 685 h 394"/>
                <a:gd name="T4" fmla="*/ 1337 w 382"/>
                <a:gd name="T5" fmla="*/ 581 h 394"/>
                <a:gd name="T6" fmla="*/ 1269 w 382"/>
                <a:gd name="T7" fmla="*/ 481 h 394"/>
                <a:gd name="T8" fmla="*/ 1165 w 382"/>
                <a:gd name="T9" fmla="*/ 272 h 394"/>
                <a:gd name="T10" fmla="*/ 960 w 382"/>
                <a:gd name="T11" fmla="*/ 0 h 394"/>
                <a:gd name="T12" fmla="*/ 960 w 382"/>
                <a:gd name="T13" fmla="*/ 172 h 394"/>
                <a:gd name="T14" fmla="*/ 860 w 382"/>
                <a:gd name="T15" fmla="*/ 376 h 394"/>
                <a:gd name="T16" fmla="*/ 860 w 382"/>
                <a:gd name="T17" fmla="*/ 581 h 394"/>
                <a:gd name="T18" fmla="*/ 68 w 382"/>
                <a:gd name="T19" fmla="*/ 581 h 394"/>
                <a:gd name="T20" fmla="*/ 0 w 382"/>
                <a:gd name="T21" fmla="*/ 753 h 394"/>
                <a:gd name="T22" fmla="*/ 0 w 382"/>
                <a:gd name="T23" fmla="*/ 1268 h 394"/>
                <a:gd name="T24" fmla="*/ 481 w 382"/>
                <a:gd name="T25" fmla="*/ 1336 h 394"/>
                <a:gd name="T26" fmla="*/ 481 w 382"/>
                <a:gd name="T27" fmla="*/ 1737 h 394"/>
                <a:gd name="T28" fmla="*/ 276 w 382"/>
                <a:gd name="T29" fmla="*/ 2113 h 394"/>
                <a:gd name="T30" fmla="*/ 377 w 382"/>
                <a:gd name="T31" fmla="*/ 2422 h 394"/>
                <a:gd name="T32" fmla="*/ 276 w 382"/>
                <a:gd name="T33" fmla="*/ 2524 h 394"/>
                <a:gd name="T34" fmla="*/ 377 w 382"/>
                <a:gd name="T35" fmla="*/ 2694 h 394"/>
                <a:gd name="T36" fmla="*/ 377 w 382"/>
                <a:gd name="T37" fmla="*/ 2901 h 394"/>
                <a:gd name="T38" fmla="*/ 860 w 382"/>
                <a:gd name="T39" fmla="*/ 2997 h 394"/>
                <a:gd name="T40" fmla="*/ 1065 w 382"/>
                <a:gd name="T41" fmla="*/ 2997 h 394"/>
                <a:gd name="T42" fmla="*/ 1065 w 382"/>
                <a:gd name="T43" fmla="*/ 3101 h 394"/>
                <a:gd name="T44" fmla="*/ 1165 w 382"/>
                <a:gd name="T45" fmla="*/ 3269 h 394"/>
                <a:gd name="T46" fmla="*/ 1337 w 382"/>
                <a:gd name="T47" fmla="*/ 3373 h 394"/>
                <a:gd name="T48" fmla="*/ 1337 w 382"/>
                <a:gd name="T49" fmla="*/ 3269 h 394"/>
                <a:gd name="T50" fmla="*/ 1441 w 382"/>
                <a:gd name="T51" fmla="*/ 3169 h 394"/>
                <a:gd name="T52" fmla="*/ 1638 w 382"/>
                <a:gd name="T53" fmla="*/ 3169 h 394"/>
                <a:gd name="T54" fmla="*/ 1916 w 382"/>
                <a:gd name="T55" fmla="*/ 3269 h 394"/>
                <a:gd name="T56" fmla="*/ 2121 w 382"/>
                <a:gd name="T57" fmla="*/ 3169 h 394"/>
                <a:gd name="T58" fmla="*/ 2221 w 382"/>
                <a:gd name="T59" fmla="*/ 3101 h 394"/>
                <a:gd name="T60" fmla="*/ 2326 w 382"/>
                <a:gd name="T61" fmla="*/ 3101 h 394"/>
                <a:gd name="T62" fmla="*/ 2426 w 382"/>
                <a:gd name="T63" fmla="*/ 3169 h 394"/>
                <a:gd name="T64" fmla="*/ 2497 w 382"/>
                <a:gd name="T65" fmla="*/ 3169 h 394"/>
                <a:gd name="T66" fmla="*/ 2497 w 382"/>
                <a:gd name="T67" fmla="*/ 3101 h 394"/>
                <a:gd name="T68" fmla="*/ 2598 w 382"/>
                <a:gd name="T69" fmla="*/ 2801 h 394"/>
                <a:gd name="T70" fmla="*/ 2805 w 382"/>
                <a:gd name="T71" fmla="*/ 2594 h 394"/>
                <a:gd name="T72" fmla="*/ 2909 w 382"/>
                <a:gd name="T73" fmla="*/ 2422 h 394"/>
                <a:gd name="T74" fmla="*/ 3073 w 382"/>
                <a:gd name="T75" fmla="*/ 2318 h 394"/>
                <a:gd name="T76" fmla="*/ 3173 w 382"/>
                <a:gd name="T77" fmla="*/ 2113 h 394"/>
                <a:gd name="T78" fmla="*/ 3173 w 382"/>
                <a:gd name="T79" fmla="*/ 1909 h 394"/>
                <a:gd name="T80" fmla="*/ 3277 w 382"/>
                <a:gd name="T81" fmla="*/ 1637 h 394"/>
                <a:gd name="T82" fmla="*/ 3173 w 382"/>
                <a:gd name="T83" fmla="*/ 1336 h 394"/>
                <a:gd name="T84" fmla="*/ 3173 w 382"/>
                <a:gd name="T85" fmla="*/ 1064 h 394"/>
                <a:gd name="T86" fmla="*/ 3277 w 382"/>
                <a:gd name="T87" fmla="*/ 753 h 39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82"/>
                <a:gd name="T133" fmla="*/ 0 h 394"/>
                <a:gd name="T134" fmla="*/ 382 w 382"/>
                <a:gd name="T135" fmla="*/ 394 h 39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82" h="394">
                  <a:moveTo>
                    <a:pt x="382" y="88"/>
                  </a:moveTo>
                  <a:lnTo>
                    <a:pt x="179" y="80"/>
                  </a:lnTo>
                  <a:lnTo>
                    <a:pt x="156" y="68"/>
                  </a:lnTo>
                  <a:lnTo>
                    <a:pt x="148" y="56"/>
                  </a:lnTo>
                  <a:lnTo>
                    <a:pt x="136" y="32"/>
                  </a:lnTo>
                  <a:lnTo>
                    <a:pt x="112" y="0"/>
                  </a:lnTo>
                  <a:lnTo>
                    <a:pt x="112" y="20"/>
                  </a:lnTo>
                  <a:lnTo>
                    <a:pt x="100" y="44"/>
                  </a:lnTo>
                  <a:lnTo>
                    <a:pt x="100" y="68"/>
                  </a:lnTo>
                  <a:lnTo>
                    <a:pt x="8" y="68"/>
                  </a:lnTo>
                  <a:lnTo>
                    <a:pt x="0" y="88"/>
                  </a:lnTo>
                  <a:lnTo>
                    <a:pt x="0" y="148"/>
                  </a:lnTo>
                  <a:lnTo>
                    <a:pt x="56" y="156"/>
                  </a:lnTo>
                  <a:lnTo>
                    <a:pt x="56" y="203"/>
                  </a:lnTo>
                  <a:lnTo>
                    <a:pt x="32" y="247"/>
                  </a:lnTo>
                  <a:lnTo>
                    <a:pt x="44" y="283"/>
                  </a:lnTo>
                  <a:lnTo>
                    <a:pt x="32" y="295"/>
                  </a:lnTo>
                  <a:lnTo>
                    <a:pt x="44" y="315"/>
                  </a:lnTo>
                  <a:lnTo>
                    <a:pt x="44" y="339"/>
                  </a:lnTo>
                  <a:lnTo>
                    <a:pt x="100" y="350"/>
                  </a:lnTo>
                  <a:lnTo>
                    <a:pt x="124" y="350"/>
                  </a:lnTo>
                  <a:lnTo>
                    <a:pt x="124" y="362"/>
                  </a:lnTo>
                  <a:lnTo>
                    <a:pt x="136" y="382"/>
                  </a:lnTo>
                  <a:lnTo>
                    <a:pt x="156" y="394"/>
                  </a:lnTo>
                  <a:lnTo>
                    <a:pt x="156" y="382"/>
                  </a:lnTo>
                  <a:lnTo>
                    <a:pt x="168" y="370"/>
                  </a:lnTo>
                  <a:lnTo>
                    <a:pt x="191" y="370"/>
                  </a:lnTo>
                  <a:lnTo>
                    <a:pt x="223" y="382"/>
                  </a:lnTo>
                  <a:lnTo>
                    <a:pt x="247" y="370"/>
                  </a:lnTo>
                  <a:lnTo>
                    <a:pt x="259" y="362"/>
                  </a:lnTo>
                  <a:lnTo>
                    <a:pt x="271" y="362"/>
                  </a:lnTo>
                  <a:lnTo>
                    <a:pt x="283" y="370"/>
                  </a:lnTo>
                  <a:lnTo>
                    <a:pt x="291" y="370"/>
                  </a:lnTo>
                  <a:lnTo>
                    <a:pt x="291" y="362"/>
                  </a:lnTo>
                  <a:lnTo>
                    <a:pt x="303" y="327"/>
                  </a:lnTo>
                  <a:lnTo>
                    <a:pt x="327" y="303"/>
                  </a:lnTo>
                  <a:lnTo>
                    <a:pt x="339" y="283"/>
                  </a:lnTo>
                  <a:lnTo>
                    <a:pt x="358" y="271"/>
                  </a:lnTo>
                  <a:lnTo>
                    <a:pt x="370" y="247"/>
                  </a:lnTo>
                  <a:lnTo>
                    <a:pt x="370" y="223"/>
                  </a:lnTo>
                  <a:lnTo>
                    <a:pt x="382" y="191"/>
                  </a:lnTo>
                  <a:lnTo>
                    <a:pt x="370" y="156"/>
                  </a:lnTo>
                  <a:lnTo>
                    <a:pt x="370" y="124"/>
                  </a:lnTo>
                  <a:lnTo>
                    <a:pt x="382" y="8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FDB01AA9-E3DD-C555-8F4D-E92DB5A5B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" y="2396"/>
              <a:ext cx="512" cy="440"/>
            </a:xfrm>
            <a:custGeom>
              <a:avLst/>
              <a:gdLst>
                <a:gd name="T0" fmla="*/ 1737 w 250"/>
                <a:gd name="T1" fmla="*/ 309 h 215"/>
                <a:gd name="T2" fmla="*/ 1573 w 250"/>
                <a:gd name="T3" fmla="*/ 309 h 215"/>
                <a:gd name="T4" fmla="*/ 1468 w 250"/>
                <a:gd name="T5" fmla="*/ 411 h 215"/>
                <a:gd name="T6" fmla="*/ 1368 w 250"/>
                <a:gd name="T7" fmla="*/ 411 h 215"/>
                <a:gd name="T8" fmla="*/ 1368 w 250"/>
                <a:gd name="T9" fmla="*/ 205 h 215"/>
                <a:gd name="T10" fmla="*/ 1262 w 250"/>
                <a:gd name="T11" fmla="*/ 104 h 215"/>
                <a:gd name="T12" fmla="*/ 1157 w 250"/>
                <a:gd name="T13" fmla="*/ 104 h 215"/>
                <a:gd name="T14" fmla="*/ 989 w 250"/>
                <a:gd name="T15" fmla="*/ 0 h 215"/>
                <a:gd name="T16" fmla="*/ 780 w 250"/>
                <a:gd name="T17" fmla="*/ 104 h 215"/>
                <a:gd name="T18" fmla="*/ 780 w 250"/>
                <a:gd name="T19" fmla="*/ 205 h 215"/>
                <a:gd name="T20" fmla="*/ 680 w 250"/>
                <a:gd name="T21" fmla="*/ 309 h 215"/>
                <a:gd name="T22" fmla="*/ 508 w 250"/>
                <a:gd name="T23" fmla="*/ 411 h 215"/>
                <a:gd name="T24" fmla="*/ 508 w 250"/>
                <a:gd name="T25" fmla="*/ 481 h 215"/>
                <a:gd name="T26" fmla="*/ 197 w 250"/>
                <a:gd name="T27" fmla="*/ 581 h 215"/>
                <a:gd name="T28" fmla="*/ 0 w 250"/>
                <a:gd name="T29" fmla="*/ 788 h 215"/>
                <a:gd name="T30" fmla="*/ 104 w 250"/>
                <a:gd name="T31" fmla="*/ 892 h 215"/>
                <a:gd name="T32" fmla="*/ 301 w 250"/>
                <a:gd name="T33" fmla="*/ 788 h 215"/>
                <a:gd name="T34" fmla="*/ 403 w 250"/>
                <a:gd name="T35" fmla="*/ 788 h 215"/>
                <a:gd name="T36" fmla="*/ 508 w 250"/>
                <a:gd name="T37" fmla="*/ 892 h 215"/>
                <a:gd name="T38" fmla="*/ 508 w 250"/>
                <a:gd name="T39" fmla="*/ 1156 h 215"/>
                <a:gd name="T40" fmla="*/ 680 w 250"/>
                <a:gd name="T41" fmla="*/ 1465 h 215"/>
                <a:gd name="T42" fmla="*/ 1090 w 250"/>
                <a:gd name="T43" fmla="*/ 1570 h 215"/>
                <a:gd name="T44" fmla="*/ 1262 w 250"/>
                <a:gd name="T45" fmla="*/ 1637 h 215"/>
                <a:gd name="T46" fmla="*/ 1737 w 250"/>
                <a:gd name="T47" fmla="*/ 1737 h 215"/>
                <a:gd name="T48" fmla="*/ 1942 w 250"/>
                <a:gd name="T49" fmla="*/ 1842 h 215"/>
                <a:gd name="T50" fmla="*/ 2148 w 250"/>
                <a:gd name="T51" fmla="*/ 1465 h 215"/>
                <a:gd name="T52" fmla="*/ 2148 w 250"/>
                <a:gd name="T53" fmla="*/ 1064 h 215"/>
                <a:gd name="T54" fmla="*/ 1665 w 250"/>
                <a:gd name="T55" fmla="*/ 993 h 215"/>
                <a:gd name="T56" fmla="*/ 1665 w 250"/>
                <a:gd name="T57" fmla="*/ 481 h 215"/>
                <a:gd name="T58" fmla="*/ 1737 w 250"/>
                <a:gd name="T59" fmla="*/ 309 h 215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50"/>
                <a:gd name="T91" fmla="*/ 0 h 215"/>
                <a:gd name="T92" fmla="*/ 250 w 250"/>
                <a:gd name="T93" fmla="*/ 215 h 215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50" h="215">
                  <a:moveTo>
                    <a:pt x="202" y="36"/>
                  </a:moveTo>
                  <a:lnTo>
                    <a:pt x="183" y="36"/>
                  </a:lnTo>
                  <a:lnTo>
                    <a:pt x="171" y="48"/>
                  </a:lnTo>
                  <a:lnTo>
                    <a:pt x="159" y="48"/>
                  </a:lnTo>
                  <a:lnTo>
                    <a:pt x="159" y="24"/>
                  </a:lnTo>
                  <a:lnTo>
                    <a:pt x="147" y="12"/>
                  </a:lnTo>
                  <a:lnTo>
                    <a:pt x="135" y="12"/>
                  </a:lnTo>
                  <a:lnTo>
                    <a:pt x="115" y="0"/>
                  </a:lnTo>
                  <a:lnTo>
                    <a:pt x="91" y="12"/>
                  </a:lnTo>
                  <a:lnTo>
                    <a:pt x="91" y="24"/>
                  </a:lnTo>
                  <a:lnTo>
                    <a:pt x="79" y="36"/>
                  </a:lnTo>
                  <a:lnTo>
                    <a:pt x="59" y="48"/>
                  </a:lnTo>
                  <a:lnTo>
                    <a:pt x="59" y="56"/>
                  </a:lnTo>
                  <a:lnTo>
                    <a:pt x="23" y="68"/>
                  </a:lnTo>
                  <a:lnTo>
                    <a:pt x="0" y="92"/>
                  </a:lnTo>
                  <a:lnTo>
                    <a:pt x="12" y="104"/>
                  </a:lnTo>
                  <a:lnTo>
                    <a:pt x="35" y="92"/>
                  </a:lnTo>
                  <a:lnTo>
                    <a:pt x="47" y="92"/>
                  </a:lnTo>
                  <a:lnTo>
                    <a:pt x="59" y="104"/>
                  </a:lnTo>
                  <a:lnTo>
                    <a:pt x="59" y="135"/>
                  </a:lnTo>
                  <a:lnTo>
                    <a:pt x="79" y="171"/>
                  </a:lnTo>
                  <a:lnTo>
                    <a:pt x="127" y="183"/>
                  </a:lnTo>
                  <a:lnTo>
                    <a:pt x="147" y="191"/>
                  </a:lnTo>
                  <a:lnTo>
                    <a:pt x="202" y="203"/>
                  </a:lnTo>
                  <a:lnTo>
                    <a:pt x="226" y="215"/>
                  </a:lnTo>
                  <a:lnTo>
                    <a:pt x="250" y="171"/>
                  </a:lnTo>
                  <a:lnTo>
                    <a:pt x="250" y="124"/>
                  </a:lnTo>
                  <a:lnTo>
                    <a:pt x="194" y="116"/>
                  </a:lnTo>
                  <a:lnTo>
                    <a:pt x="194" y="56"/>
                  </a:lnTo>
                  <a:lnTo>
                    <a:pt x="202" y="36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B0FD3A6F-DA30-5A65-F94A-96AE4BDD2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" y="2396"/>
              <a:ext cx="530" cy="277"/>
            </a:xfrm>
            <a:custGeom>
              <a:avLst/>
              <a:gdLst>
                <a:gd name="T0" fmla="*/ 0 w 259"/>
                <a:gd name="T1" fmla="*/ 0 h 135"/>
                <a:gd name="T2" fmla="*/ 205 w 259"/>
                <a:gd name="T3" fmla="*/ 105 h 135"/>
                <a:gd name="T4" fmla="*/ 481 w 259"/>
                <a:gd name="T5" fmla="*/ 207 h 135"/>
                <a:gd name="T6" fmla="*/ 780 w 259"/>
                <a:gd name="T7" fmla="*/ 207 h 135"/>
                <a:gd name="T8" fmla="*/ 1056 w 259"/>
                <a:gd name="T9" fmla="*/ 312 h 135"/>
                <a:gd name="T10" fmla="*/ 1465 w 259"/>
                <a:gd name="T11" fmla="*/ 484 h 135"/>
                <a:gd name="T12" fmla="*/ 1737 w 259"/>
                <a:gd name="T13" fmla="*/ 691 h 135"/>
                <a:gd name="T14" fmla="*/ 2114 w 259"/>
                <a:gd name="T15" fmla="*/ 796 h 135"/>
                <a:gd name="T16" fmla="*/ 2220 w 259"/>
                <a:gd name="T17" fmla="*/ 897 h 135"/>
                <a:gd name="T18" fmla="*/ 1948 w 259"/>
                <a:gd name="T19" fmla="*/ 1069 h 135"/>
                <a:gd name="T20" fmla="*/ 1533 w 259"/>
                <a:gd name="T21" fmla="*/ 1165 h 135"/>
                <a:gd name="T22" fmla="*/ 1056 w 259"/>
                <a:gd name="T23" fmla="*/ 1165 h 135"/>
                <a:gd name="T24" fmla="*/ 952 w 259"/>
                <a:gd name="T25" fmla="*/ 1069 h 135"/>
                <a:gd name="T26" fmla="*/ 952 w 259"/>
                <a:gd name="T27" fmla="*/ 796 h 135"/>
                <a:gd name="T28" fmla="*/ 780 w 259"/>
                <a:gd name="T29" fmla="*/ 1001 h 135"/>
                <a:gd name="T30" fmla="*/ 581 w 259"/>
                <a:gd name="T31" fmla="*/ 1001 h 135"/>
                <a:gd name="T32" fmla="*/ 481 w 259"/>
                <a:gd name="T33" fmla="*/ 897 h 135"/>
                <a:gd name="T34" fmla="*/ 377 w 259"/>
                <a:gd name="T35" fmla="*/ 897 h 135"/>
                <a:gd name="T36" fmla="*/ 309 w 259"/>
                <a:gd name="T37" fmla="*/ 691 h 135"/>
                <a:gd name="T38" fmla="*/ 104 w 259"/>
                <a:gd name="T39" fmla="*/ 484 h 135"/>
                <a:gd name="T40" fmla="*/ 0 w 259"/>
                <a:gd name="T41" fmla="*/ 312 h 135"/>
                <a:gd name="T42" fmla="*/ 0 w 259"/>
                <a:gd name="T43" fmla="*/ 0 h 13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59"/>
                <a:gd name="T67" fmla="*/ 0 h 135"/>
                <a:gd name="T68" fmla="*/ 259 w 259"/>
                <a:gd name="T69" fmla="*/ 135 h 13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59" h="135">
                  <a:moveTo>
                    <a:pt x="0" y="0"/>
                  </a:moveTo>
                  <a:lnTo>
                    <a:pt x="24" y="12"/>
                  </a:lnTo>
                  <a:lnTo>
                    <a:pt x="56" y="24"/>
                  </a:lnTo>
                  <a:lnTo>
                    <a:pt x="91" y="24"/>
                  </a:lnTo>
                  <a:lnTo>
                    <a:pt x="123" y="36"/>
                  </a:lnTo>
                  <a:lnTo>
                    <a:pt x="171" y="56"/>
                  </a:lnTo>
                  <a:lnTo>
                    <a:pt x="203" y="80"/>
                  </a:lnTo>
                  <a:lnTo>
                    <a:pt x="247" y="92"/>
                  </a:lnTo>
                  <a:lnTo>
                    <a:pt x="259" y="104"/>
                  </a:lnTo>
                  <a:lnTo>
                    <a:pt x="227" y="124"/>
                  </a:lnTo>
                  <a:lnTo>
                    <a:pt x="179" y="135"/>
                  </a:lnTo>
                  <a:lnTo>
                    <a:pt x="123" y="135"/>
                  </a:lnTo>
                  <a:lnTo>
                    <a:pt x="111" y="124"/>
                  </a:lnTo>
                  <a:lnTo>
                    <a:pt x="111" y="92"/>
                  </a:lnTo>
                  <a:lnTo>
                    <a:pt x="91" y="116"/>
                  </a:lnTo>
                  <a:lnTo>
                    <a:pt x="68" y="116"/>
                  </a:lnTo>
                  <a:lnTo>
                    <a:pt x="56" y="104"/>
                  </a:lnTo>
                  <a:lnTo>
                    <a:pt x="44" y="104"/>
                  </a:lnTo>
                  <a:lnTo>
                    <a:pt x="36" y="80"/>
                  </a:lnTo>
                  <a:lnTo>
                    <a:pt x="12" y="56"/>
                  </a:lnTo>
                  <a:lnTo>
                    <a:pt x="0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BF732512-F01D-31D5-306E-646A03697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" y="1590"/>
              <a:ext cx="967" cy="921"/>
            </a:xfrm>
            <a:custGeom>
              <a:avLst/>
              <a:gdLst>
                <a:gd name="T0" fmla="*/ 0 w 473"/>
                <a:gd name="T1" fmla="*/ 377 h 450"/>
                <a:gd name="T2" fmla="*/ 104 w 473"/>
                <a:gd name="T3" fmla="*/ 688 h 450"/>
                <a:gd name="T4" fmla="*/ 104 w 473"/>
                <a:gd name="T5" fmla="*/ 892 h 450"/>
                <a:gd name="T6" fmla="*/ 272 w 473"/>
                <a:gd name="T7" fmla="*/ 1269 h 450"/>
                <a:gd name="T8" fmla="*/ 376 w 473"/>
                <a:gd name="T9" fmla="*/ 1369 h 450"/>
                <a:gd name="T10" fmla="*/ 581 w 473"/>
                <a:gd name="T11" fmla="*/ 1369 h 450"/>
                <a:gd name="T12" fmla="*/ 785 w 473"/>
                <a:gd name="T13" fmla="*/ 1465 h 450"/>
                <a:gd name="T14" fmla="*/ 785 w 473"/>
                <a:gd name="T15" fmla="*/ 1637 h 450"/>
                <a:gd name="T16" fmla="*/ 853 w 473"/>
                <a:gd name="T17" fmla="*/ 1738 h 450"/>
                <a:gd name="T18" fmla="*/ 476 w 473"/>
                <a:gd name="T19" fmla="*/ 2802 h 450"/>
                <a:gd name="T20" fmla="*/ 476 w 473"/>
                <a:gd name="T21" fmla="*/ 3105 h 450"/>
                <a:gd name="T22" fmla="*/ 685 w 473"/>
                <a:gd name="T23" fmla="*/ 3377 h 450"/>
                <a:gd name="T24" fmla="*/ 785 w 473"/>
                <a:gd name="T25" fmla="*/ 3586 h 450"/>
                <a:gd name="T26" fmla="*/ 853 w 473"/>
                <a:gd name="T27" fmla="*/ 3686 h 450"/>
                <a:gd name="T28" fmla="*/ 1049 w 473"/>
                <a:gd name="T29" fmla="*/ 3790 h 450"/>
                <a:gd name="T30" fmla="*/ 2784 w 473"/>
                <a:gd name="T31" fmla="*/ 3858 h 450"/>
                <a:gd name="T32" fmla="*/ 2993 w 473"/>
                <a:gd name="T33" fmla="*/ 3586 h 450"/>
                <a:gd name="T34" fmla="*/ 3093 w 473"/>
                <a:gd name="T35" fmla="*/ 3377 h 450"/>
                <a:gd name="T36" fmla="*/ 3093 w 473"/>
                <a:gd name="T37" fmla="*/ 3105 h 450"/>
                <a:gd name="T38" fmla="*/ 3161 w 473"/>
                <a:gd name="T39" fmla="*/ 2906 h 450"/>
                <a:gd name="T40" fmla="*/ 3469 w 473"/>
                <a:gd name="T41" fmla="*/ 2630 h 450"/>
                <a:gd name="T42" fmla="*/ 3469 w 473"/>
                <a:gd name="T43" fmla="*/ 2530 h 450"/>
                <a:gd name="T44" fmla="*/ 3365 w 473"/>
                <a:gd name="T45" fmla="*/ 2425 h 450"/>
                <a:gd name="T46" fmla="*/ 3469 w 473"/>
                <a:gd name="T47" fmla="*/ 2325 h 450"/>
                <a:gd name="T48" fmla="*/ 3674 w 473"/>
                <a:gd name="T49" fmla="*/ 2221 h 450"/>
                <a:gd name="T50" fmla="*/ 3846 w 473"/>
                <a:gd name="T51" fmla="*/ 2049 h 450"/>
                <a:gd name="T52" fmla="*/ 3950 w 473"/>
                <a:gd name="T53" fmla="*/ 1738 h 450"/>
                <a:gd name="T54" fmla="*/ 4042 w 473"/>
                <a:gd name="T55" fmla="*/ 1369 h 450"/>
                <a:gd name="T56" fmla="*/ 4042 w 473"/>
                <a:gd name="T57" fmla="*/ 1064 h 450"/>
                <a:gd name="T58" fmla="*/ 3950 w 473"/>
                <a:gd name="T59" fmla="*/ 960 h 450"/>
                <a:gd name="T60" fmla="*/ 3574 w 473"/>
                <a:gd name="T61" fmla="*/ 892 h 450"/>
                <a:gd name="T62" fmla="*/ 3469 w 473"/>
                <a:gd name="T63" fmla="*/ 1064 h 450"/>
                <a:gd name="T64" fmla="*/ 3265 w 473"/>
                <a:gd name="T65" fmla="*/ 1269 h 450"/>
                <a:gd name="T66" fmla="*/ 3161 w 473"/>
                <a:gd name="T67" fmla="*/ 1465 h 450"/>
                <a:gd name="T68" fmla="*/ 3093 w 473"/>
                <a:gd name="T69" fmla="*/ 1738 h 450"/>
                <a:gd name="T70" fmla="*/ 3093 w 473"/>
                <a:gd name="T71" fmla="*/ 1465 h 450"/>
                <a:gd name="T72" fmla="*/ 2684 w 473"/>
                <a:gd name="T73" fmla="*/ 1369 h 450"/>
                <a:gd name="T74" fmla="*/ 2513 w 473"/>
                <a:gd name="T75" fmla="*/ 1165 h 450"/>
                <a:gd name="T76" fmla="*/ 2316 w 473"/>
                <a:gd name="T77" fmla="*/ 1165 h 450"/>
                <a:gd name="T78" fmla="*/ 2110 w 473"/>
                <a:gd name="T79" fmla="*/ 960 h 450"/>
                <a:gd name="T80" fmla="*/ 2006 w 473"/>
                <a:gd name="T81" fmla="*/ 688 h 450"/>
                <a:gd name="T82" fmla="*/ 1840 w 473"/>
                <a:gd name="T83" fmla="*/ 377 h 450"/>
                <a:gd name="T84" fmla="*/ 1629 w 473"/>
                <a:gd name="T85" fmla="*/ 309 h 450"/>
                <a:gd name="T86" fmla="*/ 1529 w 473"/>
                <a:gd name="T87" fmla="*/ 309 h 450"/>
                <a:gd name="T88" fmla="*/ 1357 w 473"/>
                <a:gd name="T89" fmla="*/ 205 h 450"/>
                <a:gd name="T90" fmla="*/ 1357 w 473"/>
                <a:gd name="T91" fmla="*/ 0 h 450"/>
                <a:gd name="T92" fmla="*/ 1049 w 473"/>
                <a:gd name="T93" fmla="*/ 0 h 450"/>
                <a:gd name="T94" fmla="*/ 957 w 473"/>
                <a:gd name="T95" fmla="*/ 104 h 450"/>
                <a:gd name="T96" fmla="*/ 1049 w 473"/>
                <a:gd name="T97" fmla="*/ 104 h 450"/>
                <a:gd name="T98" fmla="*/ 957 w 473"/>
                <a:gd name="T99" fmla="*/ 205 h 450"/>
                <a:gd name="T100" fmla="*/ 685 w 473"/>
                <a:gd name="T101" fmla="*/ 205 h 450"/>
                <a:gd name="T102" fmla="*/ 376 w 473"/>
                <a:gd name="T103" fmla="*/ 309 h 450"/>
                <a:gd name="T104" fmla="*/ 104 w 473"/>
                <a:gd name="T105" fmla="*/ 377 h 450"/>
                <a:gd name="T106" fmla="*/ 0 w 473"/>
                <a:gd name="T107" fmla="*/ 377 h 45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473"/>
                <a:gd name="T163" fmla="*/ 0 h 450"/>
                <a:gd name="T164" fmla="*/ 473 w 473"/>
                <a:gd name="T165" fmla="*/ 450 h 45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473" h="450">
                  <a:moveTo>
                    <a:pt x="0" y="44"/>
                  </a:moveTo>
                  <a:lnTo>
                    <a:pt x="12" y="80"/>
                  </a:lnTo>
                  <a:lnTo>
                    <a:pt x="12" y="104"/>
                  </a:lnTo>
                  <a:lnTo>
                    <a:pt x="32" y="148"/>
                  </a:lnTo>
                  <a:lnTo>
                    <a:pt x="44" y="160"/>
                  </a:lnTo>
                  <a:lnTo>
                    <a:pt x="68" y="160"/>
                  </a:lnTo>
                  <a:lnTo>
                    <a:pt x="92" y="171"/>
                  </a:lnTo>
                  <a:lnTo>
                    <a:pt x="92" y="191"/>
                  </a:lnTo>
                  <a:lnTo>
                    <a:pt x="100" y="203"/>
                  </a:lnTo>
                  <a:lnTo>
                    <a:pt x="56" y="327"/>
                  </a:lnTo>
                  <a:lnTo>
                    <a:pt x="56" y="362"/>
                  </a:lnTo>
                  <a:lnTo>
                    <a:pt x="80" y="394"/>
                  </a:lnTo>
                  <a:lnTo>
                    <a:pt x="92" y="418"/>
                  </a:lnTo>
                  <a:lnTo>
                    <a:pt x="100" y="430"/>
                  </a:lnTo>
                  <a:lnTo>
                    <a:pt x="123" y="442"/>
                  </a:lnTo>
                  <a:lnTo>
                    <a:pt x="326" y="450"/>
                  </a:lnTo>
                  <a:lnTo>
                    <a:pt x="350" y="418"/>
                  </a:lnTo>
                  <a:lnTo>
                    <a:pt x="362" y="394"/>
                  </a:lnTo>
                  <a:lnTo>
                    <a:pt x="362" y="362"/>
                  </a:lnTo>
                  <a:lnTo>
                    <a:pt x="370" y="339"/>
                  </a:lnTo>
                  <a:lnTo>
                    <a:pt x="406" y="307"/>
                  </a:lnTo>
                  <a:lnTo>
                    <a:pt x="406" y="295"/>
                  </a:lnTo>
                  <a:lnTo>
                    <a:pt x="394" y="283"/>
                  </a:lnTo>
                  <a:lnTo>
                    <a:pt x="406" y="271"/>
                  </a:lnTo>
                  <a:lnTo>
                    <a:pt x="430" y="259"/>
                  </a:lnTo>
                  <a:lnTo>
                    <a:pt x="450" y="239"/>
                  </a:lnTo>
                  <a:lnTo>
                    <a:pt x="462" y="203"/>
                  </a:lnTo>
                  <a:lnTo>
                    <a:pt x="473" y="160"/>
                  </a:lnTo>
                  <a:lnTo>
                    <a:pt x="473" y="124"/>
                  </a:lnTo>
                  <a:lnTo>
                    <a:pt x="462" y="112"/>
                  </a:lnTo>
                  <a:lnTo>
                    <a:pt x="418" y="104"/>
                  </a:lnTo>
                  <a:lnTo>
                    <a:pt x="406" y="124"/>
                  </a:lnTo>
                  <a:lnTo>
                    <a:pt x="382" y="148"/>
                  </a:lnTo>
                  <a:lnTo>
                    <a:pt x="370" y="171"/>
                  </a:lnTo>
                  <a:lnTo>
                    <a:pt x="362" y="203"/>
                  </a:lnTo>
                  <a:lnTo>
                    <a:pt x="362" y="171"/>
                  </a:lnTo>
                  <a:lnTo>
                    <a:pt x="314" y="160"/>
                  </a:lnTo>
                  <a:lnTo>
                    <a:pt x="294" y="136"/>
                  </a:lnTo>
                  <a:lnTo>
                    <a:pt x="271" y="136"/>
                  </a:lnTo>
                  <a:lnTo>
                    <a:pt x="247" y="112"/>
                  </a:lnTo>
                  <a:lnTo>
                    <a:pt x="235" y="80"/>
                  </a:lnTo>
                  <a:lnTo>
                    <a:pt x="215" y="44"/>
                  </a:lnTo>
                  <a:lnTo>
                    <a:pt x="191" y="36"/>
                  </a:lnTo>
                  <a:lnTo>
                    <a:pt x="179" y="36"/>
                  </a:lnTo>
                  <a:lnTo>
                    <a:pt x="159" y="24"/>
                  </a:lnTo>
                  <a:lnTo>
                    <a:pt x="159" y="0"/>
                  </a:lnTo>
                  <a:lnTo>
                    <a:pt x="123" y="0"/>
                  </a:lnTo>
                  <a:lnTo>
                    <a:pt x="112" y="12"/>
                  </a:lnTo>
                  <a:lnTo>
                    <a:pt x="123" y="12"/>
                  </a:lnTo>
                  <a:lnTo>
                    <a:pt x="112" y="24"/>
                  </a:lnTo>
                  <a:lnTo>
                    <a:pt x="80" y="24"/>
                  </a:lnTo>
                  <a:lnTo>
                    <a:pt x="44" y="36"/>
                  </a:lnTo>
                  <a:lnTo>
                    <a:pt x="12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CC763DE7-11DC-414C-9A94-06ED5655D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1478"/>
              <a:ext cx="366" cy="391"/>
            </a:xfrm>
            <a:custGeom>
              <a:avLst/>
              <a:gdLst>
                <a:gd name="T0" fmla="*/ 1153 w 179"/>
                <a:gd name="T1" fmla="*/ 1638 h 191"/>
                <a:gd name="T2" fmla="*/ 957 w 179"/>
                <a:gd name="T3" fmla="*/ 1638 h 191"/>
                <a:gd name="T4" fmla="*/ 752 w 179"/>
                <a:gd name="T5" fmla="*/ 1433 h 191"/>
                <a:gd name="T6" fmla="*/ 648 w 179"/>
                <a:gd name="T7" fmla="*/ 1157 h 191"/>
                <a:gd name="T8" fmla="*/ 481 w 179"/>
                <a:gd name="T9" fmla="*/ 852 h 191"/>
                <a:gd name="T10" fmla="*/ 272 w 179"/>
                <a:gd name="T11" fmla="*/ 780 h 191"/>
                <a:gd name="T12" fmla="*/ 172 w 179"/>
                <a:gd name="T13" fmla="*/ 780 h 191"/>
                <a:gd name="T14" fmla="*/ 0 w 179"/>
                <a:gd name="T15" fmla="*/ 680 h 191"/>
                <a:gd name="T16" fmla="*/ 0 w 179"/>
                <a:gd name="T17" fmla="*/ 473 h 191"/>
                <a:gd name="T18" fmla="*/ 272 w 179"/>
                <a:gd name="T19" fmla="*/ 573 h 191"/>
                <a:gd name="T20" fmla="*/ 581 w 179"/>
                <a:gd name="T21" fmla="*/ 573 h 191"/>
                <a:gd name="T22" fmla="*/ 853 w 179"/>
                <a:gd name="T23" fmla="*/ 368 h 191"/>
                <a:gd name="T24" fmla="*/ 1061 w 179"/>
                <a:gd name="T25" fmla="*/ 104 h 191"/>
                <a:gd name="T26" fmla="*/ 1153 w 179"/>
                <a:gd name="T27" fmla="*/ 0 h 191"/>
                <a:gd name="T28" fmla="*/ 1221 w 179"/>
                <a:gd name="T29" fmla="*/ 0 h 191"/>
                <a:gd name="T30" fmla="*/ 1221 w 179"/>
                <a:gd name="T31" fmla="*/ 276 h 191"/>
                <a:gd name="T32" fmla="*/ 1325 w 179"/>
                <a:gd name="T33" fmla="*/ 573 h 191"/>
                <a:gd name="T34" fmla="*/ 1425 w 179"/>
                <a:gd name="T35" fmla="*/ 780 h 191"/>
                <a:gd name="T36" fmla="*/ 1529 w 179"/>
                <a:gd name="T37" fmla="*/ 852 h 191"/>
                <a:gd name="T38" fmla="*/ 1529 w 179"/>
                <a:gd name="T39" fmla="*/ 952 h 191"/>
                <a:gd name="T40" fmla="*/ 1425 w 179"/>
                <a:gd name="T41" fmla="*/ 1056 h 191"/>
                <a:gd name="T42" fmla="*/ 1221 w 179"/>
                <a:gd name="T43" fmla="*/ 1261 h 191"/>
                <a:gd name="T44" fmla="*/ 1153 w 179"/>
                <a:gd name="T45" fmla="*/ 1533 h 191"/>
                <a:gd name="T46" fmla="*/ 1153 w 179"/>
                <a:gd name="T47" fmla="*/ 1638 h 19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79"/>
                <a:gd name="T73" fmla="*/ 0 h 191"/>
                <a:gd name="T74" fmla="*/ 179 w 179"/>
                <a:gd name="T75" fmla="*/ 191 h 19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79" h="191">
                  <a:moveTo>
                    <a:pt x="135" y="191"/>
                  </a:moveTo>
                  <a:lnTo>
                    <a:pt x="112" y="191"/>
                  </a:lnTo>
                  <a:lnTo>
                    <a:pt x="88" y="167"/>
                  </a:lnTo>
                  <a:lnTo>
                    <a:pt x="76" y="135"/>
                  </a:lnTo>
                  <a:lnTo>
                    <a:pt x="56" y="99"/>
                  </a:lnTo>
                  <a:lnTo>
                    <a:pt x="32" y="91"/>
                  </a:lnTo>
                  <a:lnTo>
                    <a:pt x="20" y="91"/>
                  </a:lnTo>
                  <a:lnTo>
                    <a:pt x="0" y="79"/>
                  </a:lnTo>
                  <a:lnTo>
                    <a:pt x="0" y="55"/>
                  </a:lnTo>
                  <a:lnTo>
                    <a:pt x="32" y="67"/>
                  </a:lnTo>
                  <a:lnTo>
                    <a:pt x="68" y="67"/>
                  </a:lnTo>
                  <a:lnTo>
                    <a:pt x="100" y="43"/>
                  </a:lnTo>
                  <a:lnTo>
                    <a:pt x="124" y="12"/>
                  </a:lnTo>
                  <a:lnTo>
                    <a:pt x="135" y="0"/>
                  </a:lnTo>
                  <a:lnTo>
                    <a:pt x="143" y="0"/>
                  </a:lnTo>
                  <a:lnTo>
                    <a:pt x="143" y="32"/>
                  </a:lnTo>
                  <a:lnTo>
                    <a:pt x="155" y="67"/>
                  </a:lnTo>
                  <a:lnTo>
                    <a:pt x="167" y="91"/>
                  </a:lnTo>
                  <a:lnTo>
                    <a:pt x="179" y="99"/>
                  </a:lnTo>
                  <a:lnTo>
                    <a:pt x="179" y="111"/>
                  </a:lnTo>
                  <a:lnTo>
                    <a:pt x="167" y="123"/>
                  </a:lnTo>
                  <a:lnTo>
                    <a:pt x="143" y="147"/>
                  </a:lnTo>
                  <a:lnTo>
                    <a:pt x="135" y="179"/>
                  </a:lnTo>
                  <a:lnTo>
                    <a:pt x="135" y="191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07943A69-6FD1-B2B2-1351-6199F8284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1388"/>
              <a:ext cx="415" cy="505"/>
            </a:xfrm>
            <a:custGeom>
              <a:avLst/>
              <a:gdLst>
                <a:gd name="T0" fmla="*/ 1734 w 203"/>
                <a:gd name="T1" fmla="*/ 1734 h 247"/>
                <a:gd name="T2" fmla="*/ 1425 w 203"/>
                <a:gd name="T3" fmla="*/ 1734 h 247"/>
                <a:gd name="T4" fmla="*/ 1325 w 203"/>
                <a:gd name="T5" fmla="*/ 1801 h 247"/>
                <a:gd name="T6" fmla="*/ 1325 w 203"/>
                <a:gd name="T7" fmla="*/ 1906 h 247"/>
                <a:gd name="T8" fmla="*/ 1220 w 203"/>
                <a:gd name="T9" fmla="*/ 2006 h 247"/>
                <a:gd name="T10" fmla="*/ 1153 w 203"/>
                <a:gd name="T11" fmla="*/ 2006 h 247"/>
                <a:gd name="T12" fmla="*/ 1057 w 203"/>
                <a:gd name="T13" fmla="*/ 1906 h 247"/>
                <a:gd name="T14" fmla="*/ 957 w 203"/>
                <a:gd name="T15" fmla="*/ 1906 h 247"/>
                <a:gd name="T16" fmla="*/ 852 w 203"/>
                <a:gd name="T17" fmla="*/ 2110 h 247"/>
                <a:gd name="T18" fmla="*/ 648 w 203"/>
                <a:gd name="T19" fmla="*/ 2006 h 247"/>
                <a:gd name="T20" fmla="*/ 581 w 203"/>
                <a:gd name="T21" fmla="*/ 1906 h 247"/>
                <a:gd name="T22" fmla="*/ 648 w 203"/>
                <a:gd name="T23" fmla="*/ 1801 h 247"/>
                <a:gd name="T24" fmla="*/ 648 w 203"/>
                <a:gd name="T25" fmla="*/ 1529 h 247"/>
                <a:gd name="T26" fmla="*/ 581 w 203"/>
                <a:gd name="T27" fmla="*/ 1325 h 247"/>
                <a:gd name="T28" fmla="*/ 581 w 203"/>
                <a:gd name="T29" fmla="*/ 1153 h 247"/>
                <a:gd name="T30" fmla="*/ 476 w 203"/>
                <a:gd name="T31" fmla="*/ 1049 h 247"/>
                <a:gd name="T32" fmla="*/ 272 w 203"/>
                <a:gd name="T33" fmla="*/ 949 h 247"/>
                <a:gd name="T34" fmla="*/ 172 w 203"/>
                <a:gd name="T35" fmla="*/ 744 h 247"/>
                <a:gd name="T36" fmla="*/ 172 w 203"/>
                <a:gd name="T37" fmla="*/ 581 h 247"/>
                <a:gd name="T38" fmla="*/ 0 w 203"/>
                <a:gd name="T39" fmla="*/ 476 h 247"/>
                <a:gd name="T40" fmla="*/ 67 w 203"/>
                <a:gd name="T41" fmla="*/ 376 h 247"/>
                <a:gd name="T42" fmla="*/ 476 w 203"/>
                <a:gd name="T43" fmla="*/ 476 h 247"/>
                <a:gd name="T44" fmla="*/ 581 w 203"/>
                <a:gd name="T45" fmla="*/ 476 h 247"/>
                <a:gd name="T46" fmla="*/ 648 w 203"/>
                <a:gd name="T47" fmla="*/ 581 h 247"/>
                <a:gd name="T48" fmla="*/ 752 w 203"/>
                <a:gd name="T49" fmla="*/ 376 h 247"/>
                <a:gd name="T50" fmla="*/ 1153 w 203"/>
                <a:gd name="T51" fmla="*/ 172 h 247"/>
                <a:gd name="T52" fmla="*/ 1153 w 203"/>
                <a:gd name="T53" fmla="*/ 0 h 247"/>
                <a:gd name="T54" fmla="*/ 1325 w 203"/>
                <a:gd name="T55" fmla="*/ 67 h 247"/>
                <a:gd name="T56" fmla="*/ 1325 w 203"/>
                <a:gd name="T57" fmla="*/ 272 h 247"/>
                <a:gd name="T58" fmla="*/ 1425 w 203"/>
                <a:gd name="T59" fmla="*/ 272 h 247"/>
                <a:gd name="T60" fmla="*/ 1529 w 203"/>
                <a:gd name="T61" fmla="*/ 476 h 247"/>
                <a:gd name="T62" fmla="*/ 1425 w 203"/>
                <a:gd name="T63" fmla="*/ 744 h 247"/>
                <a:gd name="T64" fmla="*/ 1529 w 203"/>
                <a:gd name="T65" fmla="*/ 1153 h 247"/>
                <a:gd name="T66" fmla="*/ 1629 w 203"/>
                <a:gd name="T67" fmla="*/ 1221 h 247"/>
                <a:gd name="T68" fmla="*/ 1734 w 203"/>
                <a:gd name="T69" fmla="*/ 1529 h 247"/>
                <a:gd name="T70" fmla="*/ 1734 w 203"/>
                <a:gd name="T71" fmla="*/ 1734 h 24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03"/>
                <a:gd name="T109" fmla="*/ 0 h 247"/>
                <a:gd name="T110" fmla="*/ 203 w 203"/>
                <a:gd name="T111" fmla="*/ 247 h 247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03" h="247">
                  <a:moveTo>
                    <a:pt x="203" y="203"/>
                  </a:moveTo>
                  <a:lnTo>
                    <a:pt x="167" y="203"/>
                  </a:lnTo>
                  <a:lnTo>
                    <a:pt x="155" y="211"/>
                  </a:lnTo>
                  <a:lnTo>
                    <a:pt x="155" y="223"/>
                  </a:lnTo>
                  <a:lnTo>
                    <a:pt x="143" y="235"/>
                  </a:lnTo>
                  <a:lnTo>
                    <a:pt x="135" y="235"/>
                  </a:lnTo>
                  <a:lnTo>
                    <a:pt x="124" y="223"/>
                  </a:lnTo>
                  <a:lnTo>
                    <a:pt x="112" y="223"/>
                  </a:lnTo>
                  <a:lnTo>
                    <a:pt x="100" y="247"/>
                  </a:lnTo>
                  <a:lnTo>
                    <a:pt x="76" y="235"/>
                  </a:lnTo>
                  <a:lnTo>
                    <a:pt x="68" y="223"/>
                  </a:lnTo>
                  <a:lnTo>
                    <a:pt x="76" y="211"/>
                  </a:lnTo>
                  <a:lnTo>
                    <a:pt x="76" y="179"/>
                  </a:lnTo>
                  <a:lnTo>
                    <a:pt x="68" y="155"/>
                  </a:lnTo>
                  <a:lnTo>
                    <a:pt x="68" y="135"/>
                  </a:lnTo>
                  <a:lnTo>
                    <a:pt x="56" y="123"/>
                  </a:lnTo>
                  <a:lnTo>
                    <a:pt x="32" y="111"/>
                  </a:lnTo>
                  <a:lnTo>
                    <a:pt x="20" y="87"/>
                  </a:lnTo>
                  <a:lnTo>
                    <a:pt x="20" y="68"/>
                  </a:lnTo>
                  <a:lnTo>
                    <a:pt x="0" y="56"/>
                  </a:lnTo>
                  <a:lnTo>
                    <a:pt x="8" y="44"/>
                  </a:lnTo>
                  <a:lnTo>
                    <a:pt x="56" y="56"/>
                  </a:lnTo>
                  <a:lnTo>
                    <a:pt x="68" y="56"/>
                  </a:lnTo>
                  <a:lnTo>
                    <a:pt x="76" y="68"/>
                  </a:lnTo>
                  <a:lnTo>
                    <a:pt x="88" y="44"/>
                  </a:lnTo>
                  <a:lnTo>
                    <a:pt x="135" y="20"/>
                  </a:lnTo>
                  <a:lnTo>
                    <a:pt x="135" y="0"/>
                  </a:lnTo>
                  <a:lnTo>
                    <a:pt x="155" y="8"/>
                  </a:lnTo>
                  <a:lnTo>
                    <a:pt x="155" y="32"/>
                  </a:lnTo>
                  <a:lnTo>
                    <a:pt x="167" y="32"/>
                  </a:lnTo>
                  <a:lnTo>
                    <a:pt x="179" y="56"/>
                  </a:lnTo>
                  <a:lnTo>
                    <a:pt x="167" y="87"/>
                  </a:lnTo>
                  <a:lnTo>
                    <a:pt x="179" y="135"/>
                  </a:lnTo>
                  <a:lnTo>
                    <a:pt x="191" y="143"/>
                  </a:lnTo>
                  <a:lnTo>
                    <a:pt x="203" y="179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C04BCC92-C696-6E40-E70C-E137D5B93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" y="1640"/>
              <a:ext cx="1221" cy="945"/>
            </a:xfrm>
            <a:custGeom>
              <a:avLst/>
              <a:gdLst>
                <a:gd name="T0" fmla="*/ 3201 w 597"/>
                <a:gd name="T1" fmla="*/ 104 h 462"/>
                <a:gd name="T2" fmla="*/ 3266 w 597"/>
                <a:gd name="T3" fmla="*/ 481 h 462"/>
                <a:gd name="T4" fmla="*/ 3201 w 597"/>
                <a:gd name="T5" fmla="*/ 857 h 462"/>
                <a:gd name="T6" fmla="*/ 3473 w 597"/>
                <a:gd name="T7" fmla="*/ 1064 h 462"/>
                <a:gd name="T8" fmla="*/ 3677 w 597"/>
                <a:gd name="T9" fmla="*/ 857 h 462"/>
                <a:gd name="T10" fmla="*/ 3841 w 597"/>
                <a:gd name="T11" fmla="*/ 957 h 462"/>
                <a:gd name="T12" fmla="*/ 3945 w 597"/>
                <a:gd name="T13" fmla="*/ 753 h 462"/>
                <a:gd name="T14" fmla="*/ 4354 w 597"/>
                <a:gd name="T15" fmla="*/ 685 h 462"/>
                <a:gd name="T16" fmla="*/ 4626 w 597"/>
                <a:gd name="T17" fmla="*/ 1164 h 462"/>
                <a:gd name="T18" fmla="*/ 5039 w 597"/>
                <a:gd name="T19" fmla="*/ 1260 h 462"/>
                <a:gd name="T20" fmla="*/ 5107 w 597"/>
                <a:gd name="T21" fmla="*/ 1532 h 462"/>
                <a:gd name="T22" fmla="*/ 4731 w 597"/>
                <a:gd name="T23" fmla="*/ 3062 h 462"/>
                <a:gd name="T24" fmla="*/ 4626 w 597"/>
                <a:gd name="T25" fmla="*/ 3473 h 462"/>
                <a:gd name="T26" fmla="*/ 3677 w 597"/>
                <a:gd name="T27" fmla="*/ 3473 h 462"/>
                <a:gd name="T28" fmla="*/ 3473 w 597"/>
                <a:gd name="T29" fmla="*/ 3578 h 462"/>
                <a:gd name="T30" fmla="*/ 3371 w 597"/>
                <a:gd name="T31" fmla="*/ 3269 h 462"/>
                <a:gd name="T32" fmla="*/ 3094 w 597"/>
                <a:gd name="T33" fmla="*/ 3166 h 462"/>
                <a:gd name="T34" fmla="*/ 2890 w 597"/>
                <a:gd name="T35" fmla="*/ 3373 h 462"/>
                <a:gd name="T36" fmla="*/ 2618 w 597"/>
                <a:gd name="T37" fmla="*/ 3578 h 462"/>
                <a:gd name="T38" fmla="*/ 2309 w 597"/>
                <a:gd name="T39" fmla="*/ 3749 h 462"/>
                <a:gd name="T40" fmla="*/ 1736 w 597"/>
                <a:gd name="T41" fmla="*/ 3850 h 462"/>
                <a:gd name="T42" fmla="*/ 1053 w 597"/>
                <a:gd name="T43" fmla="*/ 3473 h 462"/>
                <a:gd name="T44" fmla="*/ 481 w 597"/>
                <a:gd name="T45" fmla="*/ 3373 h 462"/>
                <a:gd name="T46" fmla="*/ 0 w 597"/>
                <a:gd name="T47" fmla="*/ 3166 h 462"/>
                <a:gd name="T48" fmla="*/ 205 w 597"/>
                <a:gd name="T49" fmla="*/ 2890 h 462"/>
                <a:gd name="T50" fmla="*/ 309 w 597"/>
                <a:gd name="T51" fmla="*/ 2594 h 462"/>
                <a:gd name="T52" fmla="*/ 949 w 597"/>
                <a:gd name="T53" fmla="*/ 2217 h 462"/>
                <a:gd name="T54" fmla="*/ 1154 w 597"/>
                <a:gd name="T55" fmla="*/ 1841 h 462"/>
                <a:gd name="T56" fmla="*/ 1053 w 597"/>
                <a:gd name="T57" fmla="*/ 1064 h 462"/>
                <a:gd name="T58" fmla="*/ 1053 w 597"/>
                <a:gd name="T59" fmla="*/ 581 h 462"/>
                <a:gd name="T60" fmla="*/ 1260 w 597"/>
                <a:gd name="T61" fmla="*/ 481 h 462"/>
                <a:gd name="T62" fmla="*/ 1053 w 597"/>
                <a:gd name="T63" fmla="*/ 272 h 462"/>
                <a:gd name="T64" fmla="*/ 1841 w 597"/>
                <a:gd name="T65" fmla="*/ 172 h 462"/>
                <a:gd name="T66" fmla="*/ 2045 w 597"/>
                <a:gd name="T67" fmla="*/ 481 h 462"/>
                <a:gd name="T68" fmla="*/ 2618 w 597"/>
                <a:gd name="T69" fmla="*/ 481 h 462"/>
                <a:gd name="T70" fmla="*/ 3094 w 597"/>
                <a:gd name="T71" fmla="*/ 104 h 4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97"/>
                <a:gd name="T109" fmla="*/ 0 h 462"/>
                <a:gd name="T110" fmla="*/ 597 w 597"/>
                <a:gd name="T111" fmla="*/ 462 h 46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97" h="462">
                  <a:moveTo>
                    <a:pt x="362" y="0"/>
                  </a:moveTo>
                  <a:lnTo>
                    <a:pt x="374" y="12"/>
                  </a:lnTo>
                  <a:lnTo>
                    <a:pt x="374" y="32"/>
                  </a:lnTo>
                  <a:lnTo>
                    <a:pt x="382" y="56"/>
                  </a:lnTo>
                  <a:lnTo>
                    <a:pt x="382" y="88"/>
                  </a:lnTo>
                  <a:lnTo>
                    <a:pt x="374" y="100"/>
                  </a:lnTo>
                  <a:lnTo>
                    <a:pt x="382" y="112"/>
                  </a:lnTo>
                  <a:lnTo>
                    <a:pt x="406" y="124"/>
                  </a:lnTo>
                  <a:lnTo>
                    <a:pt x="418" y="100"/>
                  </a:lnTo>
                  <a:lnTo>
                    <a:pt x="430" y="100"/>
                  </a:lnTo>
                  <a:lnTo>
                    <a:pt x="441" y="112"/>
                  </a:lnTo>
                  <a:lnTo>
                    <a:pt x="449" y="112"/>
                  </a:lnTo>
                  <a:lnTo>
                    <a:pt x="461" y="100"/>
                  </a:lnTo>
                  <a:lnTo>
                    <a:pt x="461" y="88"/>
                  </a:lnTo>
                  <a:lnTo>
                    <a:pt x="473" y="80"/>
                  </a:lnTo>
                  <a:lnTo>
                    <a:pt x="509" y="80"/>
                  </a:lnTo>
                  <a:lnTo>
                    <a:pt x="529" y="124"/>
                  </a:lnTo>
                  <a:lnTo>
                    <a:pt x="541" y="136"/>
                  </a:lnTo>
                  <a:lnTo>
                    <a:pt x="565" y="136"/>
                  </a:lnTo>
                  <a:lnTo>
                    <a:pt x="589" y="147"/>
                  </a:lnTo>
                  <a:lnTo>
                    <a:pt x="589" y="167"/>
                  </a:lnTo>
                  <a:lnTo>
                    <a:pt x="597" y="179"/>
                  </a:lnTo>
                  <a:lnTo>
                    <a:pt x="553" y="303"/>
                  </a:lnTo>
                  <a:lnTo>
                    <a:pt x="553" y="358"/>
                  </a:lnTo>
                  <a:lnTo>
                    <a:pt x="541" y="382"/>
                  </a:lnTo>
                  <a:lnTo>
                    <a:pt x="541" y="406"/>
                  </a:lnTo>
                  <a:lnTo>
                    <a:pt x="449" y="406"/>
                  </a:lnTo>
                  <a:lnTo>
                    <a:pt x="430" y="406"/>
                  </a:lnTo>
                  <a:lnTo>
                    <a:pt x="418" y="418"/>
                  </a:lnTo>
                  <a:lnTo>
                    <a:pt x="406" y="418"/>
                  </a:lnTo>
                  <a:lnTo>
                    <a:pt x="406" y="394"/>
                  </a:lnTo>
                  <a:lnTo>
                    <a:pt x="394" y="382"/>
                  </a:lnTo>
                  <a:lnTo>
                    <a:pt x="382" y="382"/>
                  </a:lnTo>
                  <a:lnTo>
                    <a:pt x="362" y="370"/>
                  </a:lnTo>
                  <a:lnTo>
                    <a:pt x="338" y="382"/>
                  </a:lnTo>
                  <a:lnTo>
                    <a:pt x="338" y="394"/>
                  </a:lnTo>
                  <a:lnTo>
                    <a:pt x="326" y="406"/>
                  </a:lnTo>
                  <a:lnTo>
                    <a:pt x="306" y="418"/>
                  </a:lnTo>
                  <a:lnTo>
                    <a:pt x="306" y="426"/>
                  </a:lnTo>
                  <a:lnTo>
                    <a:pt x="270" y="438"/>
                  </a:lnTo>
                  <a:lnTo>
                    <a:pt x="247" y="462"/>
                  </a:lnTo>
                  <a:lnTo>
                    <a:pt x="203" y="450"/>
                  </a:lnTo>
                  <a:lnTo>
                    <a:pt x="171" y="426"/>
                  </a:lnTo>
                  <a:lnTo>
                    <a:pt x="123" y="406"/>
                  </a:lnTo>
                  <a:lnTo>
                    <a:pt x="91" y="394"/>
                  </a:lnTo>
                  <a:lnTo>
                    <a:pt x="56" y="394"/>
                  </a:lnTo>
                  <a:lnTo>
                    <a:pt x="24" y="382"/>
                  </a:lnTo>
                  <a:lnTo>
                    <a:pt x="0" y="370"/>
                  </a:lnTo>
                  <a:lnTo>
                    <a:pt x="12" y="350"/>
                  </a:lnTo>
                  <a:lnTo>
                    <a:pt x="24" y="338"/>
                  </a:lnTo>
                  <a:lnTo>
                    <a:pt x="24" y="326"/>
                  </a:lnTo>
                  <a:lnTo>
                    <a:pt x="36" y="303"/>
                  </a:lnTo>
                  <a:lnTo>
                    <a:pt x="56" y="283"/>
                  </a:lnTo>
                  <a:lnTo>
                    <a:pt x="111" y="259"/>
                  </a:lnTo>
                  <a:lnTo>
                    <a:pt x="123" y="259"/>
                  </a:lnTo>
                  <a:lnTo>
                    <a:pt x="135" y="215"/>
                  </a:lnTo>
                  <a:lnTo>
                    <a:pt x="147" y="147"/>
                  </a:lnTo>
                  <a:lnTo>
                    <a:pt x="123" y="124"/>
                  </a:lnTo>
                  <a:lnTo>
                    <a:pt x="111" y="80"/>
                  </a:lnTo>
                  <a:lnTo>
                    <a:pt x="123" y="68"/>
                  </a:lnTo>
                  <a:lnTo>
                    <a:pt x="147" y="68"/>
                  </a:lnTo>
                  <a:lnTo>
                    <a:pt x="147" y="56"/>
                  </a:lnTo>
                  <a:lnTo>
                    <a:pt x="123" y="44"/>
                  </a:lnTo>
                  <a:lnTo>
                    <a:pt x="123" y="32"/>
                  </a:lnTo>
                  <a:lnTo>
                    <a:pt x="179" y="20"/>
                  </a:lnTo>
                  <a:lnTo>
                    <a:pt x="215" y="20"/>
                  </a:lnTo>
                  <a:lnTo>
                    <a:pt x="227" y="32"/>
                  </a:lnTo>
                  <a:lnTo>
                    <a:pt x="239" y="56"/>
                  </a:lnTo>
                  <a:lnTo>
                    <a:pt x="259" y="68"/>
                  </a:lnTo>
                  <a:lnTo>
                    <a:pt x="306" y="56"/>
                  </a:lnTo>
                  <a:lnTo>
                    <a:pt x="326" y="32"/>
                  </a:lnTo>
                  <a:lnTo>
                    <a:pt x="362" y="12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2E8BFE3B-DA86-3B79-411F-193E4B7AC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1770"/>
              <a:ext cx="204" cy="140"/>
            </a:xfrm>
            <a:custGeom>
              <a:avLst/>
              <a:gdLst>
                <a:gd name="T0" fmla="*/ 849 w 100"/>
                <a:gd name="T1" fmla="*/ 105 h 68"/>
                <a:gd name="T2" fmla="*/ 783 w 100"/>
                <a:gd name="T3" fmla="*/ 313 h 68"/>
                <a:gd name="T4" fmla="*/ 579 w 100"/>
                <a:gd name="T5" fmla="*/ 488 h 68"/>
                <a:gd name="T6" fmla="*/ 375 w 100"/>
                <a:gd name="T7" fmla="*/ 593 h 68"/>
                <a:gd name="T8" fmla="*/ 204 w 100"/>
                <a:gd name="T9" fmla="*/ 488 h 68"/>
                <a:gd name="T10" fmla="*/ 0 w 100"/>
                <a:gd name="T11" fmla="*/ 420 h 68"/>
                <a:gd name="T12" fmla="*/ 100 w 100"/>
                <a:gd name="T13" fmla="*/ 105 h 68"/>
                <a:gd name="T14" fmla="*/ 271 w 100"/>
                <a:gd name="T15" fmla="*/ 0 h 68"/>
                <a:gd name="T16" fmla="*/ 375 w 100"/>
                <a:gd name="T17" fmla="*/ 0 h 68"/>
                <a:gd name="T18" fmla="*/ 579 w 100"/>
                <a:gd name="T19" fmla="*/ 105 h 68"/>
                <a:gd name="T20" fmla="*/ 783 w 100"/>
                <a:gd name="T21" fmla="*/ 0 h 68"/>
                <a:gd name="T22" fmla="*/ 849 w 100"/>
                <a:gd name="T23" fmla="*/ 105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0"/>
                <a:gd name="T37" fmla="*/ 0 h 68"/>
                <a:gd name="T38" fmla="*/ 100 w 100"/>
                <a:gd name="T39" fmla="*/ 68 h 6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0" h="68">
                  <a:moveTo>
                    <a:pt x="100" y="12"/>
                  </a:moveTo>
                  <a:lnTo>
                    <a:pt x="92" y="36"/>
                  </a:lnTo>
                  <a:lnTo>
                    <a:pt x="68" y="56"/>
                  </a:lnTo>
                  <a:lnTo>
                    <a:pt x="44" y="68"/>
                  </a:lnTo>
                  <a:lnTo>
                    <a:pt x="24" y="56"/>
                  </a:lnTo>
                  <a:lnTo>
                    <a:pt x="0" y="48"/>
                  </a:lnTo>
                  <a:lnTo>
                    <a:pt x="12" y="12"/>
                  </a:lnTo>
                  <a:lnTo>
                    <a:pt x="32" y="0"/>
                  </a:lnTo>
                  <a:lnTo>
                    <a:pt x="44" y="0"/>
                  </a:lnTo>
                  <a:lnTo>
                    <a:pt x="68" y="12"/>
                  </a:lnTo>
                  <a:lnTo>
                    <a:pt x="92" y="0"/>
                  </a:lnTo>
                  <a:lnTo>
                    <a:pt x="100" y="12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097CAD36-305B-168A-F545-8309B783D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1730"/>
              <a:ext cx="65" cy="16"/>
            </a:xfrm>
            <a:custGeom>
              <a:avLst/>
              <a:gdLst>
                <a:gd name="T0" fmla="*/ 0 w 32"/>
                <a:gd name="T1" fmla="*/ 64 h 8"/>
                <a:gd name="T2" fmla="*/ 67 w 32"/>
                <a:gd name="T3" fmla="*/ 0 h 8"/>
                <a:gd name="T4" fmla="*/ 169 w 32"/>
                <a:gd name="T5" fmla="*/ 0 h 8"/>
                <a:gd name="T6" fmla="*/ 268 w 32"/>
                <a:gd name="T7" fmla="*/ 64 h 8"/>
                <a:gd name="T8" fmla="*/ 0 w 32"/>
                <a:gd name="T9" fmla="*/ 64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8"/>
                <a:gd name="T17" fmla="*/ 32 w 32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8">
                  <a:moveTo>
                    <a:pt x="0" y="8"/>
                  </a:moveTo>
                  <a:lnTo>
                    <a:pt x="8" y="0"/>
                  </a:lnTo>
                  <a:lnTo>
                    <a:pt x="20" y="0"/>
                  </a:lnTo>
                  <a:lnTo>
                    <a:pt x="32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48" name="Picture 33">
            <a:extLst>
              <a:ext uri="{FF2B5EF4-FFF2-40B4-BE49-F238E27FC236}">
                <a16:creationId xmlns:a16="http://schemas.microsoft.com/office/drawing/2014/main" id="{0EF86EFC-EB66-DE04-5063-3AE67AABD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2517" y="3631406"/>
            <a:ext cx="123825" cy="74613"/>
          </a:xfrm>
          <a:prstGeom prst="rect">
            <a:avLst/>
          </a:prstGeom>
          <a:solidFill>
            <a:schemeClr val="bg2"/>
          </a:solidFill>
          <a:ln w="12700">
            <a:solidFill>
              <a:srgbClr val="5C6867"/>
            </a:solidFill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</p:pic>
      <p:sp>
        <p:nvSpPr>
          <p:cNvPr id="49" name="Text Box 34">
            <a:extLst>
              <a:ext uri="{FF2B5EF4-FFF2-40B4-BE49-F238E27FC236}">
                <a16:creationId xmlns:a16="http://schemas.microsoft.com/office/drawing/2014/main" id="{7F4BD310-9527-703D-E9D0-BC5006A0A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6480" y="2874169"/>
            <a:ext cx="41116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Acre</a:t>
            </a:r>
          </a:p>
        </p:txBody>
      </p:sp>
      <p:sp>
        <p:nvSpPr>
          <p:cNvPr id="50" name="Text Box 35">
            <a:extLst>
              <a:ext uri="{FF2B5EF4-FFF2-40B4-BE49-F238E27FC236}">
                <a16:creationId xmlns:a16="http://schemas.microsoft.com/office/drawing/2014/main" id="{357F1647-45DE-0BEC-9B4B-098029EF6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6542" y="2264569"/>
            <a:ext cx="693738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Amazonas</a:t>
            </a:r>
          </a:p>
        </p:txBody>
      </p:sp>
      <p:sp>
        <p:nvSpPr>
          <p:cNvPr id="51" name="Text Box 36">
            <a:extLst>
              <a:ext uri="{FF2B5EF4-FFF2-40B4-BE49-F238E27FC236}">
                <a16:creationId xmlns:a16="http://schemas.microsoft.com/office/drawing/2014/main" id="{196FACBC-A08C-D6CF-11DE-CEDDB5C66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7292" y="3293269"/>
            <a:ext cx="80645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Mato Grosso</a:t>
            </a:r>
          </a:p>
        </p:txBody>
      </p:sp>
      <p:sp>
        <p:nvSpPr>
          <p:cNvPr id="52" name="Text Box 37">
            <a:extLst>
              <a:ext uri="{FF2B5EF4-FFF2-40B4-BE49-F238E27FC236}">
                <a16:creationId xmlns:a16="http://schemas.microsoft.com/office/drawing/2014/main" id="{1B8894A5-E31E-0DF4-CB37-DC0A3F049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117" y="4006056"/>
            <a:ext cx="592138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800"/>
              <a:t>Mato Grosso</a:t>
            </a:r>
            <a:br>
              <a:rPr lang="en-US" altLang="en-US" sz="800"/>
            </a:br>
            <a:r>
              <a:rPr lang="en-US" altLang="en-US" sz="800"/>
              <a:t>do Sul</a:t>
            </a:r>
          </a:p>
        </p:txBody>
      </p:sp>
      <p:sp>
        <p:nvSpPr>
          <p:cNvPr id="53" name="Text Box 38">
            <a:extLst>
              <a:ext uri="{FF2B5EF4-FFF2-40B4-BE49-F238E27FC236}">
                <a16:creationId xmlns:a16="http://schemas.microsoft.com/office/drawing/2014/main" id="{8DB21CBE-98BD-E2DF-537D-FAFD06308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005" y="5101431"/>
            <a:ext cx="546100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800"/>
              <a:t>Rio Grande do Sul</a:t>
            </a:r>
          </a:p>
        </p:txBody>
      </p:sp>
      <p:sp>
        <p:nvSpPr>
          <p:cNvPr id="54" name="Text Box 39">
            <a:extLst>
              <a:ext uri="{FF2B5EF4-FFF2-40B4-BE49-F238E27FC236}">
                <a16:creationId xmlns:a16="http://schemas.microsoft.com/office/drawing/2014/main" id="{B6A6872B-3BC1-D788-412F-C2B035EC8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7555" y="4856956"/>
            <a:ext cx="36195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Paraná</a:t>
            </a:r>
          </a:p>
        </p:txBody>
      </p:sp>
      <p:sp>
        <p:nvSpPr>
          <p:cNvPr id="55" name="Text Box 40">
            <a:extLst>
              <a:ext uri="{FF2B5EF4-FFF2-40B4-BE49-F238E27FC236}">
                <a16:creationId xmlns:a16="http://schemas.microsoft.com/office/drawing/2014/main" id="{D27E9625-7058-6175-1FE9-719C46C3E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142" y="4485481"/>
            <a:ext cx="6143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Santa Catarina</a:t>
            </a:r>
          </a:p>
        </p:txBody>
      </p:sp>
      <p:sp>
        <p:nvSpPr>
          <p:cNvPr id="56" name="Text Box 41">
            <a:extLst>
              <a:ext uri="{FF2B5EF4-FFF2-40B4-BE49-F238E27FC236}">
                <a16:creationId xmlns:a16="http://schemas.microsoft.com/office/drawing/2014/main" id="{BB5C69B8-3797-CB33-5EA3-ADCA24097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0405" y="4255294"/>
            <a:ext cx="67786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São Paulo</a:t>
            </a:r>
          </a:p>
        </p:txBody>
      </p:sp>
      <p:sp>
        <p:nvSpPr>
          <p:cNvPr id="57" name="Text Box 42">
            <a:extLst>
              <a:ext uri="{FF2B5EF4-FFF2-40B4-BE49-F238E27FC236}">
                <a16:creationId xmlns:a16="http://schemas.microsoft.com/office/drawing/2014/main" id="{A8CE891A-861F-649A-AB95-25D93B703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7617" y="3802856"/>
            <a:ext cx="561975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Minas Gerais</a:t>
            </a:r>
          </a:p>
        </p:txBody>
      </p:sp>
      <p:sp>
        <p:nvSpPr>
          <p:cNvPr id="58" name="Text Box 43">
            <a:extLst>
              <a:ext uri="{FF2B5EF4-FFF2-40B4-BE49-F238E27FC236}">
                <a16:creationId xmlns:a16="http://schemas.microsoft.com/office/drawing/2014/main" id="{42252926-6D74-20B6-87BE-B80EA2C9B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980" y="4382294"/>
            <a:ext cx="88741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Rio de Janeiro</a:t>
            </a:r>
          </a:p>
        </p:txBody>
      </p:sp>
      <p:sp>
        <p:nvSpPr>
          <p:cNvPr id="59" name="Text Box 44">
            <a:extLst>
              <a:ext uri="{FF2B5EF4-FFF2-40B4-BE49-F238E27FC236}">
                <a16:creationId xmlns:a16="http://schemas.microsoft.com/office/drawing/2014/main" id="{B6B48793-ADE6-095D-497F-904C35EB0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1830" y="4026694"/>
            <a:ext cx="87471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Espírito Santo</a:t>
            </a:r>
          </a:p>
        </p:txBody>
      </p:sp>
      <p:sp>
        <p:nvSpPr>
          <p:cNvPr id="60" name="Text Box 45">
            <a:extLst>
              <a:ext uri="{FF2B5EF4-FFF2-40B4-BE49-F238E27FC236}">
                <a16:creationId xmlns:a16="http://schemas.microsoft.com/office/drawing/2014/main" id="{7C2552D2-3980-66AA-4E54-6E332013D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855" y="3712369"/>
            <a:ext cx="46831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Goiás</a:t>
            </a:r>
          </a:p>
        </p:txBody>
      </p:sp>
      <p:sp>
        <p:nvSpPr>
          <p:cNvPr id="61" name="Text Box 46">
            <a:extLst>
              <a:ext uri="{FF2B5EF4-FFF2-40B4-BE49-F238E27FC236}">
                <a16:creationId xmlns:a16="http://schemas.microsoft.com/office/drawing/2014/main" id="{835395B0-FCF3-F4E6-A988-FCB314D81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8142" y="2245519"/>
            <a:ext cx="4064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Pará</a:t>
            </a:r>
          </a:p>
        </p:txBody>
      </p:sp>
      <p:sp>
        <p:nvSpPr>
          <p:cNvPr id="62" name="Text Box 47">
            <a:extLst>
              <a:ext uri="{FF2B5EF4-FFF2-40B4-BE49-F238E27FC236}">
                <a16:creationId xmlns:a16="http://schemas.microsoft.com/office/drawing/2014/main" id="{AC78A90B-8A90-192A-AB9A-42DC1D8DC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7367" y="1494631"/>
            <a:ext cx="3810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Amapá</a:t>
            </a:r>
          </a:p>
        </p:txBody>
      </p:sp>
      <p:sp>
        <p:nvSpPr>
          <p:cNvPr id="63" name="Text Box 48">
            <a:extLst>
              <a:ext uri="{FF2B5EF4-FFF2-40B4-BE49-F238E27FC236}">
                <a16:creationId xmlns:a16="http://schemas.microsoft.com/office/drawing/2014/main" id="{D0D48BCB-44FB-B3A5-0AC8-A36431607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230" y="1342231"/>
            <a:ext cx="422275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Roraima</a:t>
            </a:r>
          </a:p>
        </p:txBody>
      </p:sp>
      <p:sp>
        <p:nvSpPr>
          <p:cNvPr id="64" name="Text Box 49">
            <a:extLst>
              <a:ext uri="{FF2B5EF4-FFF2-40B4-BE49-F238E27FC236}">
                <a16:creationId xmlns:a16="http://schemas.microsoft.com/office/drawing/2014/main" id="{4380BC74-9AEF-B721-D5AF-137EA85DF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730" y="3150394"/>
            <a:ext cx="46196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Bahia</a:t>
            </a:r>
          </a:p>
        </p:txBody>
      </p:sp>
      <p:sp>
        <p:nvSpPr>
          <p:cNvPr id="65" name="Text Box 50">
            <a:extLst>
              <a:ext uri="{FF2B5EF4-FFF2-40B4-BE49-F238E27FC236}">
                <a16:creationId xmlns:a16="http://schemas.microsoft.com/office/drawing/2014/main" id="{83520148-5560-4D72-E675-58695EE1F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1905" y="2601119"/>
            <a:ext cx="801687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Pernambuco</a:t>
            </a:r>
          </a:p>
        </p:txBody>
      </p:sp>
      <p:sp>
        <p:nvSpPr>
          <p:cNvPr id="66" name="Text Box 51">
            <a:extLst>
              <a:ext uri="{FF2B5EF4-FFF2-40B4-BE49-F238E27FC236}">
                <a16:creationId xmlns:a16="http://schemas.microsoft.com/office/drawing/2014/main" id="{61BF735D-DE61-AE61-9FA8-6770AD025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3880" y="2210594"/>
            <a:ext cx="468312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Ceará</a:t>
            </a:r>
          </a:p>
        </p:txBody>
      </p:sp>
      <p:sp>
        <p:nvSpPr>
          <p:cNvPr id="67" name="Text Box 52">
            <a:extLst>
              <a:ext uri="{FF2B5EF4-FFF2-40B4-BE49-F238E27FC236}">
                <a16:creationId xmlns:a16="http://schemas.microsoft.com/office/drawing/2014/main" id="{29C80563-49BA-CC2A-7723-4AD700505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7292" y="2218531"/>
            <a:ext cx="519113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Maranhão</a:t>
            </a:r>
          </a:p>
        </p:txBody>
      </p:sp>
      <p:sp>
        <p:nvSpPr>
          <p:cNvPr id="68" name="Text Box 53">
            <a:extLst>
              <a:ext uri="{FF2B5EF4-FFF2-40B4-BE49-F238E27FC236}">
                <a16:creationId xmlns:a16="http://schemas.microsoft.com/office/drawing/2014/main" id="{71AA9A74-1C53-B00D-805D-788D316CB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9667" y="2820194"/>
            <a:ext cx="581025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Alagoas</a:t>
            </a:r>
          </a:p>
        </p:txBody>
      </p:sp>
      <p:sp>
        <p:nvSpPr>
          <p:cNvPr id="69" name="Text Box 54">
            <a:extLst>
              <a:ext uri="{FF2B5EF4-FFF2-40B4-BE49-F238E27FC236}">
                <a16:creationId xmlns:a16="http://schemas.microsoft.com/office/drawing/2014/main" id="{42C596E1-EFE4-9EAB-2148-FC3E0E840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3842" y="2529681"/>
            <a:ext cx="428625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Piauí</a:t>
            </a:r>
          </a:p>
        </p:txBody>
      </p:sp>
      <p:sp>
        <p:nvSpPr>
          <p:cNvPr id="70" name="Text Box 55">
            <a:extLst>
              <a:ext uri="{FF2B5EF4-FFF2-40B4-BE49-F238E27FC236}">
                <a16:creationId xmlns:a16="http://schemas.microsoft.com/office/drawing/2014/main" id="{EF98B658-F613-4252-E53C-E3DF5F023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6667" y="2421731"/>
            <a:ext cx="554038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Paraíba</a:t>
            </a:r>
          </a:p>
        </p:txBody>
      </p:sp>
      <p:sp>
        <p:nvSpPr>
          <p:cNvPr id="71" name="Text Box 56">
            <a:extLst>
              <a:ext uri="{FF2B5EF4-FFF2-40B4-BE49-F238E27FC236}">
                <a16:creationId xmlns:a16="http://schemas.microsoft.com/office/drawing/2014/main" id="{708952CC-29F4-4D96-7708-7C87F6BED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6342" y="2205831"/>
            <a:ext cx="1235075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800"/>
              <a:t>Rio Grande do Norte</a:t>
            </a:r>
          </a:p>
        </p:txBody>
      </p:sp>
      <p:sp>
        <p:nvSpPr>
          <p:cNvPr id="72" name="Text Box 57">
            <a:extLst>
              <a:ext uri="{FF2B5EF4-FFF2-40B4-BE49-F238E27FC236}">
                <a16:creationId xmlns:a16="http://schemas.microsoft.com/office/drawing/2014/main" id="{3DAE3FD6-BC04-0E35-542C-89B40BD27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1342" y="3128169"/>
            <a:ext cx="652463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Rondônia</a:t>
            </a:r>
          </a:p>
        </p:txBody>
      </p:sp>
      <p:sp>
        <p:nvSpPr>
          <p:cNvPr id="73" name="Text Box 58">
            <a:extLst>
              <a:ext uri="{FF2B5EF4-FFF2-40B4-BE49-F238E27FC236}">
                <a16:creationId xmlns:a16="http://schemas.microsoft.com/office/drawing/2014/main" id="{0108BFE3-BDDB-676E-857F-25D5FB08E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2480" y="3420269"/>
            <a:ext cx="601662" cy="19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n-US" sz="800"/>
              <a:t>Distrito Federal</a:t>
            </a:r>
          </a:p>
        </p:txBody>
      </p:sp>
      <p:sp>
        <p:nvSpPr>
          <p:cNvPr id="74" name="Text Box 59">
            <a:extLst>
              <a:ext uri="{FF2B5EF4-FFF2-40B4-BE49-F238E27FC236}">
                <a16:creationId xmlns:a16="http://schemas.microsoft.com/office/drawing/2014/main" id="{7D462614-EF75-DC59-4237-6EDD701EB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3780" y="3012281"/>
            <a:ext cx="5588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Sergipe</a:t>
            </a:r>
          </a:p>
        </p:txBody>
      </p:sp>
      <p:sp>
        <p:nvSpPr>
          <p:cNvPr id="75" name="Text Box 60">
            <a:extLst>
              <a:ext uri="{FF2B5EF4-FFF2-40B4-BE49-F238E27FC236}">
                <a16:creationId xmlns:a16="http://schemas.microsoft.com/office/drawing/2014/main" id="{2B243B87-62E2-05F1-7E9C-F2D4396D0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6617" y="2904331"/>
            <a:ext cx="48260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0"/>
              <a:t>Tocantins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F05ED8B6-E958-8585-B1DE-A35528EC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Quantitativo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97DB3EB-6F36-78E2-0F0C-C9C2783A04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</a:t>
            </a:r>
          </a:p>
        </p:txBody>
      </p:sp>
    </p:spTree>
    <p:extLst>
      <p:ext uri="{BB962C8B-B14F-4D97-AF65-F5344CB8AC3E}">
        <p14:creationId xmlns:p14="http://schemas.microsoft.com/office/powerpoint/2010/main" val="26897502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D742C0A-C8B2-EF2C-F520-188A0CD56A2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3" imgH="476" progId="TCLayout.ActiveDocument.1">
                  <p:embed/>
                </p:oleObj>
              </mc:Choice>
              <mc:Fallback>
                <p:oleObj name="Slide do think-cell" r:id="rId3" imgW="473" imgH="47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D742C0A-C8B2-EF2C-F520-188A0CD56A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5EACB937-0208-6735-3B7C-7081B7C5763F}"/>
              </a:ext>
            </a:extLst>
          </p:cNvPr>
          <p:cNvGrpSpPr>
            <a:grpSpLocks/>
          </p:cNvGrpSpPr>
          <p:nvPr/>
        </p:nvGrpSpPr>
        <p:grpSpPr bwMode="auto">
          <a:xfrm>
            <a:off x="4001230" y="1104106"/>
            <a:ext cx="4198937" cy="4649788"/>
            <a:chOff x="582" y="1388"/>
            <a:chExt cx="2864" cy="2929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E510566-65FB-B54C-3954-D85F4DDA4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" y="3804"/>
              <a:ext cx="481" cy="513"/>
            </a:xfrm>
            <a:custGeom>
              <a:avLst/>
              <a:gdLst>
                <a:gd name="T0" fmla="*/ 1064 w 235"/>
                <a:gd name="T1" fmla="*/ 2142 h 251"/>
                <a:gd name="T2" fmla="*/ 1269 w 235"/>
                <a:gd name="T3" fmla="*/ 2038 h 251"/>
                <a:gd name="T4" fmla="*/ 1433 w 235"/>
                <a:gd name="T5" fmla="*/ 1629 h 251"/>
                <a:gd name="T6" fmla="*/ 1637 w 235"/>
                <a:gd name="T7" fmla="*/ 1457 h 251"/>
                <a:gd name="T8" fmla="*/ 1844 w 235"/>
                <a:gd name="T9" fmla="*/ 989 h 251"/>
                <a:gd name="T10" fmla="*/ 2016 w 235"/>
                <a:gd name="T11" fmla="*/ 685 h 251"/>
                <a:gd name="T12" fmla="*/ 1949 w 235"/>
                <a:gd name="T13" fmla="*/ 580 h 251"/>
                <a:gd name="T14" fmla="*/ 1949 w 235"/>
                <a:gd name="T15" fmla="*/ 409 h 251"/>
                <a:gd name="T16" fmla="*/ 1844 w 235"/>
                <a:gd name="T17" fmla="*/ 409 h 251"/>
                <a:gd name="T18" fmla="*/ 1742 w 235"/>
                <a:gd name="T19" fmla="*/ 309 h 251"/>
                <a:gd name="T20" fmla="*/ 1533 w 235"/>
                <a:gd name="T21" fmla="*/ 204 h 251"/>
                <a:gd name="T22" fmla="*/ 1433 w 235"/>
                <a:gd name="T23" fmla="*/ 104 h 251"/>
                <a:gd name="T24" fmla="*/ 1165 w 235"/>
                <a:gd name="T25" fmla="*/ 0 h 251"/>
                <a:gd name="T26" fmla="*/ 860 w 235"/>
                <a:gd name="T27" fmla="*/ 0 h 251"/>
                <a:gd name="T28" fmla="*/ 583 w 235"/>
                <a:gd name="T29" fmla="*/ 204 h 251"/>
                <a:gd name="T30" fmla="*/ 0 w 235"/>
                <a:gd name="T31" fmla="*/ 1057 h 251"/>
                <a:gd name="T32" fmla="*/ 0 w 235"/>
                <a:gd name="T33" fmla="*/ 1161 h 251"/>
                <a:gd name="T34" fmla="*/ 205 w 235"/>
                <a:gd name="T35" fmla="*/ 1161 h 251"/>
                <a:gd name="T36" fmla="*/ 583 w 235"/>
                <a:gd name="T37" fmla="*/ 1365 h 251"/>
                <a:gd name="T38" fmla="*/ 688 w 235"/>
                <a:gd name="T39" fmla="*/ 1365 h 251"/>
                <a:gd name="T40" fmla="*/ 1064 w 235"/>
                <a:gd name="T41" fmla="*/ 1733 h 251"/>
                <a:gd name="T42" fmla="*/ 1165 w 235"/>
                <a:gd name="T43" fmla="*/ 1629 h 251"/>
                <a:gd name="T44" fmla="*/ 1165 w 235"/>
                <a:gd name="T45" fmla="*/ 1833 h 251"/>
                <a:gd name="T46" fmla="*/ 1064 w 235"/>
                <a:gd name="T47" fmla="*/ 1938 h 251"/>
                <a:gd name="T48" fmla="*/ 1064 w 235"/>
                <a:gd name="T49" fmla="*/ 2142 h 2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235"/>
                <a:gd name="T76" fmla="*/ 0 h 251"/>
                <a:gd name="T77" fmla="*/ 235 w 235"/>
                <a:gd name="T78" fmla="*/ 251 h 25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235" h="251">
                  <a:moveTo>
                    <a:pt x="124" y="251"/>
                  </a:moveTo>
                  <a:lnTo>
                    <a:pt x="148" y="239"/>
                  </a:lnTo>
                  <a:lnTo>
                    <a:pt x="167" y="191"/>
                  </a:lnTo>
                  <a:lnTo>
                    <a:pt x="191" y="171"/>
                  </a:lnTo>
                  <a:lnTo>
                    <a:pt x="215" y="116"/>
                  </a:lnTo>
                  <a:lnTo>
                    <a:pt x="235" y="80"/>
                  </a:lnTo>
                  <a:lnTo>
                    <a:pt x="227" y="68"/>
                  </a:lnTo>
                  <a:lnTo>
                    <a:pt x="227" y="48"/>
                  </a:lnTo>
                  <a:lnTo>
                    <a:pt x="215" y="48"/>
                  </a:lnTo>
                  <a:lnTo>
                    <a:pt x="203" y="36"/>
                  </a:lnTo>
                  <a:lnTo>
                    <a:pt x="179" y="24"/>
                  </a:lnTo>
                  <a:lnTo>
                    <a:pt x="167" y="12"/>
                  </a:lnTo>
                  <a:lnTo>
                    <a:pt x="136" y="0"/>
                  </a:lnTo>
                  <a:lnTo>
                    <a:pt x="100" y="0"/>
                  </a:lnTo>
                  <a:lnTo>
                    <a:pt x="68" y="24"/>
                  </a:lnTo>
                  <a:lnTo>
                    <a:pt x="0" y="124"/>
                  </a:lnTo>
                  <a:lnTo>
                    <a:pt x="0" y="136"/>
                  </a:lnTo>
                  <a:lnTo>
                    <a:pt x="24" y="136"/>
                  </a:lnTo>
                  <a:lnTo>
                    <a:pt x="68" y="160"/>
                  </a:lnTo>
                  <a:lnTo>
                    <a:pt x="80" y="160"/>
                  </a:lnTo>
                  <a:lnTo>
                    <a:pt x="124" y="203"/>
                  </a:lnTo>
                  <a:lnTo>
                    <a:pt x="136" y="191"/>
                  </a:lnTo>
                  <a:lnTo>
                    <a:pt x="136" y="215"/>
                  </a:lnTo>
                  <a:lnTo>
                    <a:pt x="124" y="227"/>
                  </a:lnTo>
                  <a:lnTo>
                    <a:pt x="124" y="251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418E15FF-B8FF-D11C-80F9-0119F1856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3716"/>
              <a:ext cx="350" cy="251"/>
            </a:xfrm>
            <a:custGeom>
              <a:avLst/>
              <a:gdLst>
                <a:gd name="T0" fmla="*/ 1156 w 171"/>
                <a:gd name="T1" fmla="*/ 1045 h 123"/>
                <a:gd name="T2" fmla="*/ 1361 w 171"/>
                <a:gd name="T3" fmla="*/ 775 h 123"/>
                <a:gd name="T4" fmla="*/ 1465 w 171"/>
                <a:gd name="T5" fmla="*/ 367 h 123"/>
                <a:gd name="T6" fmla="*/ 1465 w 171"/>
                <a:gd name="T7" fmla="*/ 100 h 123"/>
                <a:gd name="T8" fmla="*/ 1361 w 171"/>
                <a:gd name="T9" fmla="*/ 100 h 123"/>
                <a:gd name="T10" fmla="*/ 1156 w 171"/>
                <a:gd name="T11" fmla="*/ 0 h 123"/>
                <a:gd name="T12" fmla="*/ 985 w 171"/>
                <a:gd name="T13" fmla="*/ 0 h 123"/>
                <a:gd name="T14" fmla="*/ 780 w 171"/>
                <a:gd name="T15" fmla="*/ 100 h 123"/>
                <a:gd name="T16" fmla="*/ 680 w 171"/>
                <a:gd name="T17" fmla="*/ 204 h 123"/>
                <a:gd name="T18" fmla="*/ 309 w 171"/>
                <a:gd name="T19" fmla="*/ 100 h 123"/>
                <a:gd name="T20" fmla="*/ 0 w 171"/>
                <a:gd name="T21" fmla="*/ 100 h 123"/>
                <a:gd name="T22" fmla="*/ 0 w 171"/>
                <a:gd name="T23" fmla="*/ 367 h 123"/>
                <a:gd name="T24" fmla="*/ 309 w 171"/>
                <a:gd name="T25" fmla="*/ 367 h 123"/>
                <a:gd name="T26" fmla="*/ 573 w 171"/>
                <a:gd name="T27" fmla="*/ 467 h 123"/>
                <a:gd name="T28" fmla="*/ 680 w 171"/>
                <a:gd name="T29" fmla="*/ 571 h 123"/>
                <a:gd name="T30" fmla="*/ 884 w 171"/>
                <a:gd name="T31" fmla="*/ 671 h 123"/>
                <a:gd name="T32" fmla="*/ 985 w 171"/>
                <a:gd name="T33" fmla="*/ 775 h 123"/>
                <a:gd name="T34" fmla="*/ 1089 w 171"/>
                <a:gd name="T35" fmla="*/ 775 h 123"/>
                <a:gd name="T36" fmla="*/ 1089 w 171"/>
                <a:gd name="T37" fmla="*/ 945 h 123"/>
                <a:gd name="T38" fmla="*/ 1156 w 171"/>
                <a:gd name="T39" fmla="*/ 1045 h 12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71"/>
                <a:gd name="T61" fmla="*/ 0 h 123"/>
                <a:gd name="T62" fmla="*/ 171 w 171"/>
                <a:gd name="T63" fmla="*/ 123 h 12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71" h="123">
                  <a:moveTo>
                    <a:pt x="135" y="123"/>
                  </a:moveTo>
                  <a:lnTo>
                    <a:pt x="159" y="91"/>
                  </a:lnTo>
                  <a:lnTo>
                    <a:pt x="171" y="43"/>
                  </a:lnTo>
                  <a:lnTo>
                    <a:pt x="171" y="12"/>
                  </a:lnTo>
                  <a:lnTo>
                    <a:pt x="159" y="12"/>
                  </a:lnTo>
                  <a:lnTo>
                    <a:pt x="135" y="0"/>
                  </a:lnTo>
                  <a:lnTo>
                    <a:pt x="115" y="0"/>
                  </a:lnTo>
                  <a:lnTo>
                    <a:pt x="91" y="12"/>
                  </a:lnTo>
                  <a:lnTo>
                    <a:pt x="79" y="24"/>
                  </a:lnTo>
                  <a:lnTo>
                    <a:pt x="36" y="12"/>
                  </a:lnTo>
                  <a:lnTo>
                    <a:pt x="0" y="12"/>
                  </a:lnTo>
                  <a:lnTo>
                    <a:pt x="0" y="43"/>
                  </a:lnTo>
                  <a:lnTo>
                    <a:pt x="36" y="43"/>
                  </a:lnTo>
                  <a:lnTo>
                    <a:pt x="67" y="55"/>
                  </a:lnTo>
                  <a:lnTo>
                    <a:pt x="79" y="67"/>
                  </a:lnTo>
                  <a:lnTo>
                    <a:pt x="103" y="79"/>
                  </a:lnTo>
                  <a:lnTo>
                    <a:pt x="115" y="91"/>
                  </a:lnTo>
                  <a:lnTo>
                    <a:pt x="127" y="91"/>
                  </a:lnTo>
                  <a:lnTo>
                    <a:pt x="127" y="111"/>
                  </a:lnTo>
                  <a:lnTo>
                    <a:pt x="135" y="123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6C5BE45D-84FE-887C-836A-833B2098E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3462"/>
              <a:ext cx="464" cy="303"/>
            </a:xfrm>
            <a:custGeom>
              <a:avLst/>
              <a:gdLst>
                <a:gd name="T0" fmla="*/ 272 w 227"/>
                <a:gd name="T1" fmla="*/ 1165 h 148"/>
                <a:gd name="T2" fmla="*/ 581 w 227"/>
                <a:gd name="T3" fmla="*/ 1165 h 148"/>
                <a:gd name="T4" fmla="*/ 948 w 227"/>
                <a:gd name="T5" fmla="*/ 1269 h 148"/>
                <a:gd name="T6" fmla="*/ 1049 w 227"/>
                <a:gd name="T7" fmla="*/ 1165 h 148"/>
                <a:gd name="T8" fmla="*/ 1253 w 227"/>
                <a:gd name="T9" fmla="*/ 1065 h 148"/>
                <a:gd name="T10" fmla="*/ 1425 w 227"/>
                <a:gd name="T11" fmla="*/ 1065 h 148"/>
                <a:gd name="T12" fmla="*/ 1629 w 227"/>
                <a:gd name="T13" fmla="*/ 1165 h 148"/>
                <a:gd name="T14" fmla="*/ 1733 w 227"/>
                <a:gd name="T15" fmla="*/ 1165 h 148"/>
                <a:gd name="T16" fmla="*/ 1733 w 227"/>
                <a:gd name="T17" fmla="*/ 960 h 148"/>
                <a:gd name="T18" fmla="*/ 1938 w 227"/>
                <a:gd name="T19" fmla="*/ 755 h 148"/>
                <a:gd name="T20" fmla="*/ 1834 w 227"/>
                <a:gd name="T21" fmla="*/ 755 h 148"/>
                <a:gd name="T22" fmla="*/ 1629 w 227"/>
                <a:gd name="T23" fmla="*/ 583 h 148"/>
                <a:gd name="T24" fmla="*/ 1529 w 227"/>
                <a:gd name="T25" fmla="*/ 583 h 148"/>
                <a:gd name="T26" fmla="*/ 1357 w 227"/>
                <a:gd name="T27" fmla="*/ 276 h 148"/>
                <a:gd name="T28" fmla="*/ 1253 w 227"/>
                <a:gd name="T29" fmla="*/ 172 h 148"/>
                <a:gd name="T30" fmla="*/ 1153 w 227"/>
                <a:gd name="T31" fmla="*/ 104 h 148"/>
                <a:gd name="T32" fmla="*/ 844 w 227"/>
                <a:gd name="T33" fmla="*/ 104 h 148"/>
                <a:gd name="T34" fmla="*/ 581 w 227"/>
                <a:gd name="T35" fmla="*/ 0 h 148"/>
                <a:gd name="T36" fmla="*/ 376 w 227"/>
                <a:gd name="T37" fmla="*/ 0 h 148"/>
                <a:gd name="T38" fmla="*/ 272 w 227"/>
                <a:gd name="T39" fmla="*/ 104 h 148"/>
                <a:gd name="T40" fmla="*/ 104 w 227"/>
                <a:gd name="T41" fmla="*/ 377 h 148"/>
                <a:gd name="T42" fmla="*/ 104 w 227"/>
                <a:gd name="T43" fmla="*/ 583 h 148"/>
                <a:gd name="T44" fmla="*/ 104 w 227"/>
                <a:gd name="T45" fmla="*/ 755 h 148"/>
                <a:gd name="T46" fmla="*/ 0 w 227"/>
                <a:gd name="T47" fmla="*/ 860 h 148"/>
                <a:gd name="T48" fmla="*/ 0 w 227"/>
                <a:gd name="T49" fmla="*/ 960 h 148"/>
                <a:gd name="T50" fmla="*/ 204 w 227"/>
                <a:gd name="T51" fmla="*/ 1065 h 148"/>
                <a:gd name="T52" fmla="*/ 272 w 227"/>
                <a:gd name="T53" fmla="*/ 1165 h 1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227"/>
                <a:gd name="T82" fmla="*/ 0 h 148"/>
                <a:gd name="T83" fmla="*/ 227 w 227"/>
                <a:gd name="T84" fmla="*/ 148 h 14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227" h="148">
                  <a:moveTo>
                    <a:pt x="32" y="136"/>
                  </a:moveTo>
                  <a:lnTo>
                    <a:pt x="68" y="136"/>
                  </a:lnTo>
                  <a:lnTo>
                    <a:pt x="111" y="148"/>
                  </a:lnTo>
                  <a:lnTo>
                    <a:pt x="123" y="136"/>
                  </a:lnTo>
                  <a:lnTo>
                    <a:pt x="147" y="124"/>
                  </a:lnTo>
                  <a:lnTo>
                    <a:pt x="167" y="124"/>
                  </a:lnTo>
                  <a:lnTo>
                    <a:pt x="191" y="136"/>
                  </a:lnTo>
                  <a:lnTo>
                    <a:pt x="203" y="136"/>
                  </a:lnTo>
                  <a:lnTo>
                    <a:pt x="203" y="112"/>
                  </a:lnTo>
                  <a:lnTo>
                    <a:pt x="227" y="88"/>
                  </a:lnTo>
                  <a:lnTo>
                    <a:pt x="215" y="88"/>
                  </a:lnTo>
                  <a:lnTo>
                    <a:pt x="191" y="68"/>
                  </a:lnTo>
                  <a:lnTo>
                    <a:pt x="179" y="68"/>
                  </a:lnTo>
                  <a:lnTo>
                    <a:pt x="159" y="32"/>
                  </a:lnTo>
                  <a:lnTo>
                    <a:pt x="147" y="20"/>
                  </a:lnTo>
                  <a:lnTo>
                    <a:pt x="135" y="12"/>
                  </a:lnTo>
                  <a:lnTo>
                    <a:pt x="99" y="12"/>
                  </a:lnTo>
                  <a:lnTo>
                    <a:pt x="68" y="0"/>
                  </a:lnTo>
                  <a:lnTo>
                    <a:pt x="44" y="0"/>
                  </a:lnTo>
                  <a:lnTo>
                    <a:pt x="32" y="12"/>
                  </a:lnTo>
                  <a:lnTo>
                    <a:pt x="12" y="44"/>
                  </a:lnTo>
                  <a:lnTo>
                    <a:pt x="12" y="68"/>
                  </a:lnTo>
                  <a:lnTo>
                    <a:pt x="12" y="88"/>
                  </a:lnTo>
                  <a:lnTo>
                    <a:pt x="0" y="100"/>
                  </a:lnTo>
                  <a:lnTo>
                    <a:pt x="0" y="112"/>
                  </a:lnTo>
                  <a:lnTo>
                    <a:pt x="24" y="124"/>
                  </a:lnTo>
                  <a:lnTo>
                    <a:pt x="32" y="136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7F34F49-F4FE-9FF7-5110-1327A1098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3251"/>
              <a:ext cx="601" cy="391"/>
            </a:xfrm>
            <a:custGeom>
              <a:avLst/>
              <a:gdLst>
                <a:gd name="T0" fmla="*/ 2406 w 294"/>
                <a:gd name="T1" fmla="*/ 1056 h 191"/>
                <a:gd name="T2" fmla="*/ 2406 w 294"/>
                <a:gd name="T3" fmla="*/ 985 h 191"/>
                <a:gd name="T4" fmla="*/ 2512 w 294"/>
                <a:gd name="T5" fmla="*/ 884 h 191"/>
                <a:gd name="T6" fmla="*/ 2306 w 294"/>
                <a:gd name="T7" fmla="*/ 884 h 191"/>
                <a:gd name="T8" fmla="*/ 2136 w 294"/>
                <a:gd name="T9" fmla="*/ 884 h 191"/>
                <a:gd name="T10" fmla="*/ 1930 w 294"/>
                <a:gd name="T11" fmla="*/ 780 h 191"/>
                <a:gd name="T12" fmla="*/ 1838 w 294"/>
                <a:gd name="T13" fmla="*/ 583 h 191"/>
                <a:gd name="T14" fmla="*/ 1838 w 294"/>
                <a:gd name="T15" fmla="*/ 481 h 191"/>
                <a:gd name="T16" fmla="*/ 1733 w 294"/>
                <a:gd name="T17" fmla="*/ 411 h 191"/>
                <a:gd name="T18" fmla="*/ 1733 w 294"/>
                <a:gd name="T19" fmla="*/ 205 h 191"/>
                <a:gd name="T20" fmla="*/ 1629 w 294"/>
                <a:gd name="T21" fmla="*/ 104 h 191"/>
                <a:gd name="T22" fmla="*/ 1462 w 294"/>
                <a:gd name="T23" fmla="*/ 0 h 191"/>
                <a:gd name="T24" fmla="*/ 1153 w 294"/>
                <a:gd name="T25" fmla="*/ 104 h 191"/>
                <a:gd name="T26" fmla="*/ 981 w 294"/>
                <a:gd name="T27" fmla="*/ 0 h 191"/>
                <a:gd name="T28" fmla="*/ 673 w 294"/>
                <a:gd name="T29" fmla="*/ 0 h 191"/>
                <a:gd name="T30" fmla="*/ 468 w 294"/>
                <a:gd name="T31" fmla="*/ 309 h 191"/>
                <a:gd name="T32" fmla="*/ 309 w 294"/>
                <a:gd name="T33" fmla="*/ 583 h 191"/>
                <a:gd name="T34" fmla="*/ 104 w 294"/>
                <a:gd name="T35" fmla="*/ 780 h 191"/>
                <a:gd name="T36" fmla="*/ 0 w 294"/>
                <a:gd name="T37" fmla="*/ 884 h 191"/>
                <a:gd name="T38" fmla="*/ 204 w 294"/>
                <a:gd name="T39" fmla="*/ 884 h 191"/>
                <a:gd name="T40" fmla="*/ 468 w 294"/>
                <a:gd name="T41" fmla="*/ 985 h 191"/>
                <a:gd name="T42" fmla="*/ 777 w 294"/>
                <a:gd name="T43" fmla="*/ 985 h 191"/>
                <a:gd name="T44" fmla="*/ 881 w 294"/>
                <a:gd name="T45" fmla="*/ 1056 h 191"/>
                <a:gd name="T46" fmla="*/ 981 w 294"/>
                <a:gd name="T47" fmla="*/ 1157 h 191"/>
                <a:gd name="T48" fmla="*/ 1153 w 294"/>
                <a:gd name="T49" fmla="*/ 1466 h 191"/>
                <a:gd name="T50" fmla="*/ 1257 w 294"/>
                <a:gd name="T51" fmla="*/ 1466 h 191"/>
                <a:gd name="T52" fmla="*/ 1462 w 294"/>
                <a:gd name="T53" fmla="*/ 1638 h 191"/>
                <a:gd name="T54" fmla="*/ 1564 w 294"/>
                <a:gd name="T55" fmla="*/ 1638 h 191"/>
                <a:gd name="T56" fmla="*/ 1629 w 294"/>
                <a:gd name="T57" fmla="*/ 1572 h 191"/>
                <a:gd name="T58" fmla="*/ 1930 w 294"/>
                <a:gd name="T59" fmla="*/ 1361 h 191"/>
                <a:gd name="T60" fmla="*/ 2202 w 294"/>
                <a:gd name="T61" fmla="*/ 1157 h 191"/>
                <a:gd name="T62" fmla="*/ 2406 w 294"/>
                <a:gd name="T63" fmla="*/ 1056 h 19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94"/>
                <a:gd name="T97" fmla="*/ 0 h 191"/>
                <a:gd name="T98" fmla="*/ 294 w 294"/>
                <a:gd name="T99" fmla="*/ 191 h 191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94" h="191">
                  <a:moveTo>
                    <a:pt x="282" y="123"/>
                  </a:moveTo>
                  <a:lnTo>
                    <a:pt x="282" y="115"/>
                  </a:lnTo>
                  <a:lnTo>
                    <a:pt x="294" y="103"/>
                  </a:lnTo>
                  <a:lnTo>
                    <a:pt x="270" y="103"/>
                  </a:lnTo>
                  <a:lnTo>
                    <a:pt x="250" y="103"/>
                  </a:lnTo>
                  <a:lnTo>
                    <a:pt x="226" y="91"/>
                  </a:lnTo>
                  <a:lnTo>
                    <a:pt x="215" y="68"/>
                  </a:lnTo>
                  <a:lnTo>
                    <a:pt x="215" y="56"/>
                  </a:lnTo>
                  <a:lnTo>
                    <a:pt x="203" y="48"/>
                  </a:lnTo>
                  <a:lnTo>
                    <a:pt x="203" y="24"/>
                  </a:lnTo>
                  <a:lnTo>
                    <a:pt x="191" y="12"/>
                  </a:lnTo>
                  <a:lnTo>
                    <a:pt x="171" y="0"/>
                  </a:lnTo>
                  <a:lnTo>
                    <a:pt x="135" y="12"/>
                  </a:lnTo>
                  <a:lnTo>
                    <a:pt x="115" y="0"/>
                  </a:lnTo>
                  <a:lnTo>
                    <a:pt x="79" y="0"/>
                  </a:lnTo>
                  <a:lnTo>
                    <a:pt x="55" y="36"/>
                  </a:lnTo>
                  <a:lnTo>
                    <a:pt x="36" y="68"/>
                  </a:lnTo>
                  <a:lnTo>
                    <a:pt x="12" y="91"/>
                  </a:lnTo>
                  <a:lnTo>
                    <a:pt x="0" y="103"/>
                  </a:lnTo>
                  <a:lnTo>
                    <a:pt x="24" y="103"/>
                  </a:lnTo>
                  <a:lnTo>
                    <a:pt x="55" y="115"/>
                  </a:lnTo>
                  <a:lnTo>
                    <a:pt x="91" y="115"/>
                  </a:lnTo>
                  <a:lnTo>
                    <a:pt x="103" y="123"/>
                  </a:lnTo>
                  <a:lnTo>
                    <a:pt x="115" y="135"/>
                  </a:lnTo>
                  <a:lnTo>
                    <a:pt x="135" y="171"/>
                  </a:lnTo>
                  <a:lnTo>
                    <a:pt x="147" y="171"/>
                  </a:lnTo>
                  <a:lnTo>
                    <a:pt x="171" y="191"/>
                  </a:lnTo>
                  <a:lnTo>
                    <a:pt x="183" y="191"/>
                  </a:lnTo>
                  <a:lnTo>
                    <a:pt x="191" y="183"/>
                  </a:lnTo>
                  <a:lnTo>
                    <a:pt x="226" y="159"/>
                  </a:lnTo>
                  <a:lnTo>
                    <a:pt x="258" y="135"/>
                  </a:lnTo>
                  <a:lnTo>
                    <a:pt x="282" y="123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CD885543-454E-38BC-3E8C-DE95AE123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6" y="3325"/>
              <a:ext cx="326" cy="178"/>
            </a:xfrm>
            <a:custGeom>
              <a:avLst/>
              <a:gdLst>
                <a:gd name="T0" fmla="*/ 105 w 159"/>
                <a:gd name="T1" fmla="*/ 745 h 87"/>
                <a:gd name="T2" fmla="*/ 105 w 159"/>
                <a:gd name="T3" fmla="*/ 677 h 87"/>
                <a:gd name="T4" fmla="*/ 205 w 159"/>
                <a:gd name="T5" fmla="*/ 573 h 87"/>
                <a:gd name="T6" fmla="*/ 0 w 159"/>
                <a:gd name="T7" fmla="*/ 573 h 87"/>
                <a:gd name="T8" fmla="*/ 205 w 159"/>
                <a:gd name="T9" fmla="*/ 473 h 87"/>
                <a:gd name="T10" fmla="*/ 412 w 159"/>
                <a:gd name="T11" fmla="*/ 368 h 87"/>
                <a:gd name="T12" fmla="*/ 584 w 159"/>
                <a:gd name="T13" fmla="*/ 368 h 87"/>
                <a:gd name="T14" fmla="*/ 796 w 159"/>
                <a:gd name="T15" fmla="*/ 272 h 87"/>
                <a:gd name="T16" fmla="*/ 896 w 159"/>
                <a:gd name="T17" fmla="*/ 104 h 87"/>
                <a:gd name="T18" fmla="*/ 1001 w 159"/>
                <a:gd name="T19" fmla="*/ 0 h 87"/>
                <a:gd name="T20" fmla="*/ 1068 w 159"/>
                <a:gd name="T21" fmla="*/ 172 h 87"/>
                <a:gd name="T22" fmla="*/ 1370 w 159"/>
                <a:gd name="T23" fmla="*/ 172 h 87"/>
                <a:gd name="T24" fmla="*/ 1265 w 159"/>
                <a:gd name="T25" fmla="*/ 272 h 87"/>
                <a:gd name="T26" fmla="*/ 1265 w 159"/>
                <a:gd name="T27" fmla="*/ 368 h 87"/>
                <a:gd name="T28" fmla="*/ 1068 w 159"/>
                <a:gd name="T29" fmla="*/ 473 h 87"/>
                <a:gd name="T30" fmla="*/ 1001 w 159"/>
                <a:gd name="T31" fmla="*/ 677 h 87"/>
                <a:gd name="T32" fmla="*/ 484 w 159"/>
                <a:gd name="T33" fmla="*/ 677 h 87"/>
                <a:gd name="T34" fmla="*/ 105 w 159"/>
                <a:gd name="T35" fmla="*/ 745 h 8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59"/>
                <a:gd name="T55" fmla="*/ 0 h 87"/>
                <a:gd name="T56" fmla="*/ 159 w 159"/>
                <a:gd name="T57" fmla="*/ 87 h 8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59" h="87">
                  <a:moveTo>
                    <a:pt x="12" y="87"/>
                  </a:moveTo>
                  <a:lnTo>
                    <a:pt x="12" y="79"/>
                  </a:lnTo>
                  <a:lnTo>
                    <a:pt x="24" y="67"/>
                  </a:lnTo>
                  <a:lnTo>
                    <a:pt x="0" y="67"/>
                  </a:lnTo>
                  <a:lnTo>
                    <a:pt x="24" y="55"/>
                  </a:lnTo>
                  <a:lnTo>
                    <a:pt x="48" y="43"/>
                  </a:lnTo>
                  <a:lnTo>
                    <a:pt x="68" y="43"/>
                  </a:lnTo>
                  <a:lnTo>
                    <a:pt x="92" y="32"/>
                  </a:lnTo>
                  <a:lnTo>
                    <a:pt x="104" y="12"/>
                  </a:lnTo>
                  <a:lnTo>
                    <a:pt x="116" y="0"/>
                  </a:lnTo>
                  <a:lnTo>
                    <a:pt x="124" y="20"/>
                  </a:lnTo>
                  <a:lnTo>
                    <a:pt x="159" y="20"/>
                  </a:lnTo>
                  <a:lnTo>
                    <a:pt x="147" y="32"/>
                  </a:lnTo>
                  <a:lnTo>
                    <a:pt x="147" y="43"/>
                  </a:lnTo>
                  <a:lnTo>
                    <a:pt x="124" y="55"/>
                  </a:lnTo>
                  <a:lnTo>
                    <a:pt x="116" y="79"/>
                  </a:lnTo>
                  <a:lnTo>
                    <a:pt x="56" y="79"/>
                  </a:lnTo>
                  <a:lnTo>
                    <a:pt x="12" y="87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66B0782-4285-E902-D131-DB6E9B835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3112"/>
              <a:ext cx="178" cy="254"/>
            </a:xfrm>
            <a:custGeom>
              <a:avLst/>
              <a:gdLst>
                <a:gd name="T0" fmla="*/ 368 w 87"/>
                <a:gd name="T1" fmla="*/ 1065 h 124"/>
                <a:gd name="T2" fmla="*/ 573 w 87"/>
                <a:gd name="T3" fmla="*/ 688 h 124"/>
                <a:gd name="T4" fmla="*/ 640 w 87"/>
                <a:gd name="T5" fmla="*/ 311 h 124"/>
                <a:gd name="T6" fmla="*/ 745 w 87"/>
                <a:gd name="T7" fmla="*/ 104 h 124"/>
                <a:gd name="T8" fmla="*/ 640 w 87"/>
                <a:gd name="T9" fmla="*/ 0 h 124"/>
                <a:gd name="T10" fmla="*/ 473 w 87"/>
                <a:gd name="T11" fmla="*/ 0 h 124"/>
                <a:gd name="T12" fmla="*/ 368 w 87"/>
                <a:gd name="T13" fmla="*/ 104 h 124"/>
                <a:gd name="T14" fmla="*/ 368 w 87"/>
                <a:gd name="T15" fmla="*/ 205 h 124"/>
                <a:gd name="T16" fmla="*/ 264 w 87"/>
                <a:gd name="T17" fmla="*/ 412 h 124"/>
                <a:gd name="T18" fmla="*/ 264 w 87"/>
                <a:gd name="T19" fmla="*/ 483 h 124"/>
                <a:gd name="T20" fmla="*/ 68 w 87"/>
                <a:gd name="T21" fmla="*/ 688 h 124"/>
                <a:gd name="T22" fmla="*/ 0 w 87"/>
                <a:gd name="T23" fmla="*/ 893 h 124"/>
                <a:gd name="T24" fmla="*/ 68 w 87"/>
                <a:gd name="T25" fmla="*/ 1065 h 124"/>
                <a:gd name="T26" fmla="*/ 368 w 87"/>
                <a:gd name="T27" fmla="*/ 1065 h 1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87"/>
                <a:gd name="T43" fmla="*/ 0 h 124"/>
                <a:gd name="T44" fmla="*/ 87 w 87"/>
                <a:gd name="T45" fmla="*/ 124 h 12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87" h="124">
                  <a:moveTo>
                    <a:pt x="43" y="124"/>
                  </a:moveTo>
                  <a:lnTo>
                    <a:pt x="67" y="80"/>
                  </a:lnTo>
                  <a:lnTo>
                    <a:pt x="75" y="36"/>
                  </a:lnTo>
                  <a:lnTo>
                    <a:pt x="87" y="12"/>
                  </a:lnTo>
                  <a:lnTo>
                    <a:pt x="75" y="0"/>
                  </a:lnTo>
                  <a:lnTo>
                    <a:pt x="55" y="0"/>
                  </a:lnTo>
                  <a:lnTo>
                    <a:pt x="43" y="12"/>
                  </a:lnTo>
                  <a:lnTo>
                    <a:pt x="43" y="24"/>
                  </a:lnTo>
                  <a:lnTo>
                    <a:pt x="31" y="48"/>
                  </a:lnTo>
                  <a:lnTo>
                    <a:pt x="31" y="56"/>
                  </a:lnTo>
                  <a:lnTo>
                    <a:pt x="8" y="80"/>
                  </a:lnTo>
                  <a:lnTo>
                    <a:pt x="0" y="104"/>
                  </a:lnTo>
                  <a:lnTo>
                    <a:pt x="8" y="124"/>
                  </a:lnTo>
                  <a:lnTo>
                    <a:pt x="43" y="124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1AF00C3A-8D5D-7807-8DED-0096B8A5F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2861"/>
              <a:ext cx="806" cy="601"/>
            </a:xfrm>
            <a:custGeom>
              <a:avLst/>
              <a:gdLst>
                <a:gd name="T0" fmla="*/ 3269 w 394"/>
                <a:gd name="T1" fmla="*/ 949 h 294"/>
                <a:gd name="T2" fmla="*/ 3201 w 394"/>
                <a:gd name="T3" fmla="*/ 881 h 294"/>
                <a:gd name="T4" fmla="*/ 3269 w 394"/>
                <a:gd name="T5" fmla="*/ 685 h 294"/>
                <a:gd name="T6" fmla="*/ 3373 w 394"/>
                <a:gd name="T7" fmla="*/ 581 h 294"/>
                <a:gd name="T8" fmla="*/ 3373 w 394"/>
                <a:gd name="T9" fmla="*/ 476 h 294"/>
                <a:gd name="T10" fmla="*/ 3101 w 394"/>
                <a:gd name="T11" fmla="*/ 376 h 294"/>
                <a:gd name="T12" fmla="*/ 2997 w 394"/>
                <a:gd name="T13" fmla="*/ 376 h 294"/>
                <a:gd name="T14" fmla="*/ 2790 w 394"/>
                <a:gd name="T15" fmla="*/ 204 h 294"/>
                <a:gd name="T16" fmla="*/ 2629 w 394"/>
                <a:gd name="T17" fmla="*/ 204 h 294"/>
                <a:gd name="T18" fmla="*/ 2422 w 394"/>
                <a:gd name="T19" fmla="*/ 104 h 294"/>
                <a:gd name="T20" fmla="*/ 2218 w 394"/>
                <a:gd name="T21" fmla="*/ 104 h 294"/>
                <a:gd name="T22" fmla="*/ 2046 w 394"/>
                <a:gd name="T23" fmla="*/ 0 h 294"/>
                <a:gd name="T24" fmla="*/ 1737 w 394"/>
                <a:gd name="T25" fmla="*/ 0 h 294"/>
                <a:gd name="T26" fmla="*/ 1637 w 394"/>
                <a:gd name="T27" fmla="*/ 104 h 294"/>
                <a:gd name="T28" fmla="*/ 1465 w 394"/>
                <a:gd name="T29" fmla="*/ 204 h 294"/>
                <a:gd name="T30" fmla="*/ 1260 w 394"/>
                <a:gd name="T31" fmla="*/ 104 h 294"/>
                <a:gd name="T32" fmla="*/ 1164 w 394"/>
                <a:gd name="T33" fmla="*/ 309 h 294"/>
                <a:gd name="T34" fmla="*/ 1064 w 394"/>
                <a:gd name="T35" fmla="*/ 376 h 294"/>
                <a:gd name="T36" fmla="*/ 1064 w 394"/>
                <a:gd name="T37" fmla="*/ 581 h 294"/>
                <a:gd name="T38" fmla="*/ 957 w 394"/>
                <a:gd name="T39" fmla="*/ 685 h 294"/>
                <a:gd name="T40" fmla="*/ 1064 w 394"/>
                <a:gd name="T41" fmla="*/ 881 h 294"/>
                <a:gd name="T42" fmla="*/ 1064 w 394"/>
                <a:gd name="T43" fmla="*/ 949 h 294"/>
                <a:gd name="T44" fmla="*/ 892 w 394"/>
                <a:gd name="T45" fmla="*/ 1153 h 294"/>
                <a:gd name="T46" fmla="*/ 481 w 394"/>
                <a:gd name="T47" fmla="*/ 1153 h 294"/>
                <a:gd name="T48" fmla="*/ 205 w 394"/>
                <a:gd name="T49" fmla="*/ 1257 h 294"/>
                <a:gd name="T50" fmla="*/ 0 w 394"/>
                <a:gd name="T51" fmla="*/ 1462 h 294"/>
                <a:gd name="T52" fmla="*/ 0 w 394"/>
                <a:gd name="T53" fmla="*/ 1629 h 294"/>
                <a:gd name="T54" fmla="*/ 309 w 394"/>
                <a:gd name="T55" fmla="*/ 1629 h 294"/>
                <a:gd name="T56" fmla="*/ 481 w 394"/>
                <a:gd name="T57" fmla="*/ 1733 h 294"/>
                <a:gd name="T58" fmla="*/ 788 w 394"/>
                <a:gd name="T59" fmla="*/ 1629 h 294"/>
                <a:gd name="T60" fmla="*/ 957 w 394"/>
                <a:gd name="T61" fmla="*/ 1733 h 294"/>
                <a:gd name="T62" fmla="*/ 1064 w 394"/>
                <a:gd name="T63" fmla="*/ 1838 h 294"/>
                <a:gd name="T64" fmla="*/ 1064 w 394"/>
                <a:gd name="T65" fmla="*/ 2044 h 294"/>
                <a:gd name="T66" fmla="*/ 1164 w 394"/>
                <a:gd name="T67" fmla="*/ 2110 h 294"/>
                <a:gd name="T68" fmla="*/ 1164 w 394"/>
                <a:gd name="T69" fmla="*/ 2210 h 294"/>
                <a:gd name="T70" fmla="*/ 1260 w 394"/>
                <a:gd name="T71" fmla="*/ 2406 h 294"/>
                <a:gd name="T72" fmla="*/ 1465 w 394"/>
                <a:gd name="T73" fmla="*/ 2512 h 294"/>
                <a:gd name="T74" fmla="*/ 1637 w 394"/>
                <a:gd name="T75" fmla="*/ 2512 h 294"/>
                <a:gd name="T76" fmla="*/ 1841 w 394"/>
                <a:gd name="T77" fmla="*/ 2406 h 294"/>
                <a:gd name="T78" fmla="*/ 2046 w 394"/>
                <a:gd name="T79" fmla="*/ 2306 h 294"/>
                <a:gd name="T80" fmla="*/ 2218 w 394"/>
                <a:gd name="T81" fmla="*/ 2306 h 294"/>
                <a:gd name="T82" fmla="*/ 2422 w 394"/>
                <a:gd name="T83" fmla="*/ 2210 h 294"/>
                <a:gd name="T84" fmla="*/ 2524 w 394"/>
                <a:gd name="T85" fmla="*/ 2044 h 294"/>
                <a:gd name="T86" fmla="*/ 2629 w 394"/>
                <a:gd name="T87" fmla="*/ 1940 h 294"/>
                <a:gd name="T88" fmla="*/ 2694 w 394"/>
                <a:gd name="T89" fmla="*/ 1733 h 294"/>
                <a:gd name="T90" fmla="*/ 2893 w 394"/>
                <a:gd name="T91" fmla="*/ 1529 h 294"/>
                <a:gd name="T92" fmla="*/ 2893 w 394"/>
                <a:gd name="T93" fmla="*/ 1462 h 294"/>
                <a:gd name="T94" fmla="*/ 2997 w 394"/>
                <a:gd name="T95" fmla="*/ 1257 h 294"/>
                <a:gd name="T96" fmla="*/ 2997 w 394"/>
                <a:gd name="T97" fmla="*/ 1153 h 294"/>
                <a:gd name="T98" fmla="*/ 3101 w 394"/>
                <a:gd name="T99" fmla="*/ 1049 h 294"/>
                <a:gd name="T100" fmla="*/ 3269 w 394"/>
                <a:gd name="T101" fmla="*/ 1049 h 294"/>
                <a:gd name="T102" fmla="*/ 3269 w 394"/>
                <a:gd name="T103" fmla="*/ 949 h 29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394"/>
                <a:gd name="T157" fmla="*/ 0 h 294"/>
                <a:gd name="T158" fmla="*/ 394 w 394"/>
                <a:gd name="T159" fmla="*/ 294 h 29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394" h="294">
                  <a:moveTo>
                    <a:pt x="382" y="111"/>
                  </a:moveTo>
                  <a:lnTo>
                    <a:pt x="374" y="103"/>
                  </a:lnTo>
                  <a:lnTo>
                    <a:pt x="382" y="80"/>
                  </a:lnTo>
                  <a:lnTo>
                    <a:pt x="394" y="68"/>
                  </a:lnTo>
                  <a:lnTo>
                    <a:pt x="394" y="56"/>
                  </a:lnTo>
                  <a:lnTo>
                    <a:pt x="362" y="44"/>
                  </a:lnTo>
                  <a:lnTo>
                    <a:pt x="350" y="44"/>
                  </a:lnTo>
                  <a:lnTo>
                    <a:pt x="326" y="24"/>
                  </a:lnTo>
                  <a:lnTo>
                    <a:pt x="307" y="24"/>
                  </a:lnTo>
                  <a:lnTo>
                    <a:pt x="283" y="12"/>
                  </a:lnTo>
                  <a:lnTo>
                    <a:pt x="259" y="12"/>
                  </a:lnTo>
                  <a:lnTo>
                    <a:pt x="239" y="0"/>
                  </a:lnTo>
                  <a:lnTo>
                    <a:pt x="203" y="0"/>
                  </a:lnTo>
                  <a:lnTo>
                    <a:pt x="191" y="12"/>
                  </a:lnTo>
                  <a:lnTo>
                    <a:pt x="171" y="24"/>
                  </a:lnTo>
                  <a:lnTo>
                    <a:pt x="147" y="12"/>
                  </a:lnTo>
                  <a:lnTo>
                    <a:pt x="136" y="36"/>
                  </a:lnTo>
                  <a:lnTo>
                    <a:pt x="124" y="44"/>
                  </a:lnTo>
                  <a:lnTo>
                    <a:pt x="124" y="68"/>
                  </a:lnTo>
                  <a:lnTo>
                    <a:pt x="112" y="80"/>
                  </a:lnTo>
                  <a:lnTo>
                    <a:pt x="124" y="103"/>
                  </a:lnTo>
                  <a:lnTo>
                    <a:pt x="124" y="111"/>
                  </a:lnTo>
                  <a:lnTo>
                    <a:pt x="104" y="135"/>
                  </a:lnTo>
                  <a:lnTo>
                    <a:pt x="56" y="135"/>
                  </a:lnTo>
                  <a:lnTo>
                    <a:pt x="24" y="147"/>
                  </a:lnTo>
                  <a:lnTo>
                    <a:pt x="0" y="171"/>
                  </a:lnTo>
                  <a:lnTo>
                    <a:pt x="0" y="191"/>
                  </a:lnTo>
                  <a:lnTo>
                    <a:pt x="36" y="191"/>
                  </a:lnTo>
                  <a:lnTo>
                    <a:pt x="56" y="203"/>
                  </a:lnTo>
                  <a:lnTo>
                    <a:pt x="92" y="191"/>
                  </a:lnTo>
                  <a:lnTo>
                    <a:pt x="112" y="203"/>
                  </a:lnTo>
                  <a:lnTo>
                    <a:pt x="124" y="215"/>
                  </a:lnTo>
                  <a:lnTo>
                    <a:pt x="124" y="239"/>
                  </a:lnTo>
                  <a:lnTo>
                    <a:pt x="136" y="247"/>
                  </a:lnTo>
                  <a:lnTo>
                    <a:pt x="136" y="259"/>
                  </a:lnTo>
                  <a:lnTo>
                    <a:pt x="147" y="282"/>
                  </a:lnTo>
                  <a:lnTo>
                    <a:pt x="171" y="294"/>
                  </a:lnTo>
                  <a:lnTo>
                    <a:pt x="191" y="294"/>
                  </a:lnTo>
                  <a:lnTo>
                    <a:pt x="215" y="282"/>
                  </a:lnTo>
                  <a:lnTo>
                    <a:pt x="239" y="270"/>
                  </a:lnTo>
                  <a:lnTo>
                    <a:pt x="259" y="270"/>
                  </a:lnTo>
                  <a:lnTo>
                    <a:pt x="283" y="259"/>
                  </a:lnTo>
                  <a:lnTo>
                    <a:pt x="295" y="239"/>
                  </a:lnTo>
                  <a:lnTo>
                    <a:pt x="307" y="227"/>
                  </a:lnTo>
                  <a:lnTo>
                    <a:pt x="315" y="203"/>
                  </a:lnTo>
                  <a:lnTo>
                    <a:pt x="338" y="179"/>
                  </a:lnTo>
                  <a:lnTo>
                    <a:pt x="338" y="171"/>
                  </a:lnTo>
                  <a:lnTo>
                    <a:pt x="350" y="147"/>
                  </a:lnTo>
                  <a:lnTo>
                    <a:pt x="350" y="135"/>
                  </a:lnTo>
                  <a:lnTo>
                    <a:pt x="362" y="123"/>
                  </a:lnTo>
                  <a:lnTo>
                    <a:pt x="382" y="123"/>
                  </a:lnTo>
                  <a:lnTo>
                    <a:pt x="382" y="111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A094F999-D209-8CE5-30D6-BDFE9A6E0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396"/>
              <a:ext cx="694" cy="741"/>
            </a:xfrm>
            <a:custGeom>
              <a:avLst/>
              <a:gdLst>
                <a:gd name="T0" fmla="*/ 205 w 339"/>
                <a:gd name="T1" fmla="*/ 2153 h 362"/>
                <a:gd name="T2" fmla="*/ 377 w 339"/>
                <a:gd name="T3" fmla="*/ 2049 h 362"/>
                <a:gd name="T4" fmla="*/ 481 w 339"/>
                <a:gd name="T5" fmla="*/ 1949 h 362"/>
                <a:gd name="T6" fmla="*/ 788 w 339"/>
                <a:gd name="T7" fmla="*/ 1949 h 362"/>
                <a:gd name="T8" fmla="*/ 960 w 339"/>
                <a:gd name="T9" fmla="*/ 2049 h 362"/>
                <a:gd name="T10" fmla="*/ 1165 w 339"/>
                <a:gd name="T11" fmla="*/ 2049 h 362"/>
                <a:gd name="T12" fmla="*/ 1374 w 339"/>
                <a:gd name="T13" fmla="*/ 2153 h 362"/>
                <a:gd name="T14" fmla="*/ 1533 w 339"/>
                <a:gd name="T15" fmla="*/ 2153 h 362"/>
                <a:gd name="T16" fmla="*/ 1744 w 339"/>
                <a:gd name="T17" fmla="*/ 2325 h 362"/>
                <a:gd name="T18" fmla="*/ 1845 w 339"/>
                <a:gd name="T19" fmla="*/ 2325 h 362"/>
                <a:gd name="T20" fmla="*/ 2121 w 339"/>
                <a:gd name="T21" fmla="*/ 2426 h 362"/>
                <a:gd name="T22" fmla="*/ 2121 w 339"/>
                <a:gd name="T23" fmla="*/ 2530 h 362"/>
                <a:gd name="T24" fmla="*/ 2016 w 339"/>
                <a:gd name="T25" fmla="*/ 2630 h 362"/>
                <a:gd name="T26" fmla="*/ 1949 w 339"/>
                <a:gd name="T27" fmla="*/ 2829 h 362"/>
                <a:gd name="T28" fmla="*/ 2016 w 339"/>
                <a:gd name="T29" fmla="*/ 2898 h 362"/>
                <a:gd name="T30" fmla="*/ 2016 w 339"/>
                <a:gd name="T31" fmla="*/ 3001 h 362"/>
                <a:gd name="T32" fmla="*/ 2121 w 339"/>
                <a:gd name="T33" fmla="*/ 3105 h 362"/>
                <a:gd name="T34" fmla="*/ 2221 w 339"/>
                <a:gd name="T35" fmla="*/ 3001 h 362"/>
                <a:gd name="T36" fmla="*/ 2326 w 339"/>
                <a:gd name="T37" fmla="*/ 2829 h 362"/>
                <a:gd name="T38" fmla="*/ 2326 w 339"/>
                <a:gd name="T39" fmla="*/ 2530 h 362"/>
                <a:gd name="T40" fmla="*/ 2426 w 339"/>
                <a:gd name="T41" fmla="*/ 2325 h 362"/>
                <a:gd name="T42" fmla="*/ 2426 w 339"/>
                <a:gd name="T43" fmla="*/ 1638 h 362"/>
                <a:gd name="T44" fmla="*/ 2532 w 339"/>
                <a:gd name="T45" fmla="*/ 1466 h 362"/>
                <a:gd name="T46" fmla="*/ 2532 w 339"/>
                <a:gd name="T47" fmla="*/ 1572 h 362"/>
                <a:gd name="T48" fmla="*/ 2598 w 339"/>
                <a:gd name="T49" fmla="*/ 1572 h 362"/>
                <a:gd name="T50" fmla="*/ 2805 w 339"/>
                <a:gd name="T51" fmla="*/ 1157 h 362"/>
                <a:gd name="T52" fmla="*/ 2909 w 339"/>
                <a:gd name="T53" fmla="*/ 1064 h 362"/>
                <a:gd name="T54" fmla="*/ 2598 w 339"/>
                <a:gd name="T55" fmla="*/ 993 h 362"/>
                <a:gd name="T56" fmla="*/ 2598 w 339"/>
                <a:gd name="T57" fmla="*/ 892 h 362"/>
                <a:gd name="T58" fmla="*/ 2532 w 339"/>
                <a:gd name="T59" fmla="*/ 788 h 362"/>
                <a:gd name="T60" fmla="*/ 2532 w 339"/>
                <a:gd name="T61" fmla="*/ 688 h 362"/>
                <a:gd name="T62" fmla="*/ 2598 w 339"/>
                <a:gd name="T63" fmla="*/ 688 h 362"/>
                <a:gd name="T64" fmla="*/ 2702 w 339"/>
                <a:gd name="T65" fmla="*/ 583 h 362"/>
                <a:gd name="T66" fmla="*/ 2702 w 339"/>
                <a:gd name="T67" fmla="*/ 411 h 362"/>
                <a:gd name="T68" fmla="*/ 2598 w 339"/>
                <a:gd name="T69" fmla="*/ 205 h 362"/>
                <a:gd name="T70" fmla="*/ 2532 w 339"/>
                <a:gd name="T71" fmla="*/ 205 h 362"/>
                <a:gd name="T72" fmla="*/ 2532 w 339"/>
                <a:gd name="T73" fmla="*/ 104 h 362"/>
                <a:gd name="T74" fmla="*/ 2121 w 339"/>
                <a:gd name="T75" fmla="*/ 0 h 362"/>
                <a:gd name="T76" fmla="*/ 1949 w 339"/>
                <a:gd name="T77" fmla="*/ 205 h 362"/>
                <a:gd name="T78" fmla="*/ 1744 w 339"/>
                <a:gd name="T79" fmla="*/ 205 h 362"/>
                <a:gd name="T80" fmla="*/ 1744 w 339"/>
                <a:gd name="T81" fmla="*/ 104 h 362"/>
                <a:gd name="T82" fmla="*/ 1638 w 339"/>
                <a:gd name="T83" fmla="*/ 0 h 362"/>
                <a:gd name="T84" fmla="*/ 1441 w 339"/>
                <a:gd name="T85" fmla="*/ 205 h 362"/>
                <a:gd name="T86" fmla="*/ 1065 w 339"/>
                <a:gd name="T87" fmla="*/ 309 h 362"/>
                <a:gd name="T88" fmla="*/ 860 w 339"/>
                <a:gd name="T89" fmla="*/ 205 h 362"/>
                <a:gd name="T90" fmla="*/ 788 w 339"/>
                <a:gd name="T91" fmla="*/ 309 h 362"/>
                <a:gd name="T92" fmla="*/ 788 w 339"/>
                <a:gd name="T93" fmla="*/ 411 h 362"/>
                <a:gd name="T94" fmla="*/ 860 w 339"/>
                <a:gd name="T95" fmla="*/ 481 h 362"/>
                <a:gd name="T96" fmla="*/ 860 w 339"/>
                <a:gd name="T97" fmla="*/ 583 h 362"/>
                <a:gd name="T98" fmla="*/ 688 w 339"/>
                <a:gd name="T99" fmla="*/ 788 h 362"/>
                <a:gd name="T100" fmla="*/ 481 w 339"/>
                <a:gd name="T101" fmla="*/ 788 h 362"/>
                <a:gd name="T102" fmla="*/ 276 w 339"/>
                <a:gd name="T103" fmla="*/ 688 h 362"/>
                <a:gd name="T104" fmla="*/ 205 w 339"/>
                <a:gd name="T105" fmla="*/ 688 h 362"/>
                <a:gd name="T106" fmla="*/ 104 w 339"/>
                <a:gd name="T107" fmla="*/ 788 h 362"/>
                <a:gd name="T108" fmla="*/ 0 w 339"/>
                <a:gd name="T109" fmla="*/ 993 h 362"/>
                <a:gd name="T110" fmla="*/ 104 w 339"/>
                <a:gd name="T111" fmla="*/ 1261 h 362"/>
                <a:gd name="T112" fmla="*/ 104 w 339"/>
                <a:gd name="T113" fmla="*/ 1638 h 362"/>
                <a:gd name="T114" fmla="*/ 205 w 339"/>
                <a:gd name="T115" fmla="*/ 1844 h 362"/>
                <a:gd name="T116" fmla="*/ 205 w 339"/>
                <a:gd name="T117" fmla="*/ 2153 h 36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39"/>
                <a:gd name="T178" fmla="*/ 0 h 362"/>
                <a:gd name="T179" fmla="*/ 339 w 339"/>
                <a:gd name="T180" fmla="*/ 362 h 36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39" h="362">
                  <a:moveTo>
                    <a:pt x="24" y="251"/>
                  </a:moveTo>
                  <a:lnTo>
                    <a:pt x="44" y="239"/>
                  </a:lnTo>
                  <a:lnTo>
                    <a:pt x="56" y="227"/>
                  </a:lnTo>
                  <a:lnTo>
                    <a:pt x="92" y="227"/>
                  </a:lnTo>
                  <a:lnTo>
                    <a:pt x="112" y="239"/>
                  </a:lnTo>
                  <a:lnTo>
                    <a:pt x="136" y="239"/>
                  </a:lnTo>
                  <a:lnTo>
                    <a:pt x="160" y="251"/>
                  </a:lnTo>
                  <a:lnTo>
                    <a:pt x="179" y="251"/>
                  </a:lnTo>
                  <a:lnTo>
                    <a:pt x="203" y="271"/>
                  </a:lnTo>
                  <a:lnTo>
                    <a:pt x="215" y="271"/>
                  </a:lnTo>
                  <a:lnTo>
                    <a:pt x="247" y="283"/>
                  </a:lnTo>
                  <a:lnTo>
                    <a:pt x="247" y="295"/>
                  </a:lnTo>
                  <a:lnTo>
                    <a:pt x="235" y="307"/>
                  </a:lnTo>
                  <a:lnTo>
                    <a:pt x="227" y="330"/>
                  </a:lnTo>
                  <a:lnTo>
                    <a:pt x="235" y="338"/>
                  </a:lnTo>
                  <a:lnTo>
                    <a:pt x="235" y="350"/>
                  </a:lnTo>
                  <a:lnTo>
                    <a:pt x="247" y="362"/>
                  </a:lnTo>
                  <a:lnTo>
                    <a:pt x="259" y="350"/>
                  </a:lnTo>
                  <a:lnTo>
                    <a:pt x="271" y="330"/>
                  </a:lnTo>
                  <a:lnTo>
                    <a:pt x="271" y="295"/>
                  </a:lnTo>
                  <a:lnTo>
                    <a:pt x="283" y="271"/>
                  </a:lnTo>
                  <a:lnTo>
                    <a:pt x="283" y="191"/>
                  </a:lnTo>
                  <a:lnTo>
                    <a:pt x="295" y="171"/>
                  </a:lnTo>
                  <a:lnTo>
                    <a:pt x="295" y="183"/>
                  </a:lnTo>
                  <a:lnTo>
                    <a:pt x="303" y="183"/>
                  </a:lnTo>
                  <a:lnTo>
                    <a:pt x="327" y="135"/>
                  </a:lnTo>
                  <a:lnTo>
                    <a:pt x="339" y="124"/>
                  </a:lnTo>
                  <a:lnTo>
                    <a:pt x="303" y="116"/>
                  </a:lnTo>
                  <a:lnTo>
                    <a:pt x="303" y="104"/>
                  </a:lnTo>
                  <a:lnTo>
                    <a:pt x="295" y="92"/>
                  </a:lnTo>
                  <a:lnTo>
                    <a:pt x="295" y="80"/>
                  </a:lnTo>
                  <a:lnTo>
                    <a:pt x="303" y="80"/>
                  </a:lnTo>
                  <a:lnTo>
                    <a:pt x="315" y="68"/>
                  </a:lnTo>
                  <a:lnTo>
                    <a:pt x="315" y="48"/>
                  </a:lnTo>
                  <a:lnTo>
                    <a:pt x="303" y="24"/>
                  </a:lnTo>
                  <a:lnTo>
                    <a:pt x="295" y="24"/>
                  </a:lnTo>
                  <a:lnTo>
                    <a:pt x="295" y="12"/>
                  </a:lnTo>
                  <a:lnTo>
                    <a:pt x="247" y="0"/>
                  </a:lnTo>
                  <a:lnTo>
                    <a:pt x="227" y="24"/>
                  </a:lnTo>
                  <a:lnTo>
                    <a:pt x="203" y="24"/>
                  </a:lnTo>
                  <a:lnTo>
                    <a:pt x="203" y="12"/>
                  </a:lnTo>
                  <a:lnTo>
                    <a:pt x="191" y="0"/>
                  </a:lnTo>
                  <a:lnTo>
                    <a:pt x="168" y="24"/>
                  </a:lnTo>
                  <a:lnTo>
                    <a:pt x="124" y="36"/>
                  </a:lnTo>
                  <a:lnTo>
                    <a:pt x="100" y="24"/>
                  </a:lnTo>
                  <a:lnTo>
                    <a:pt x="92" y="36"/>
                  </a:lnTo>
                  <a:lnTo>
                    <a:pt x="92" y="48"/>
                  </a:lnTo>
                  <a:lnTo>
                    <a:pt x="100" y="56"/>
                  </a:lnTo>
                  <a:lnTo>
                    <a:pt x="100" y="68"/>
                  </a:lnTo>
                  <a:lnTo>
                    <a:pt x="80" y="92"/>
                  </a:lnTo>
                  <a:lnTo>
                    <a:pt x="56" y="92"/>
                  </a:lnTo>
                  <a:lnTo>
                    <a:pt x="32" y="80"/>
                  </a:lnTo>
                  <a:lnTo>
                    <a:pt x="24" y="80"/>
                  </a:lnTo>
                  <a:lnTo>
                    <a:pt x="12" y="92"/>
                  </a:lnTo>
                  <a:lnTo>
                    <a:pt x="0" y="116"/>
                  </a:lnTo>
                  <a:lnTo>
                    <a:pt x="12" y="147"/>
                  </a:lnTo>
                  <a:lnTo>
                    <a:pt x="12" y="191"/>
                  </a:lnTo>
                  <a:lnTo>
                    <a:pt x="24" y="215"/>
                  </a:lnTo>
                  <a:lnTo>
                    <a:pt x="24" y="251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D6BEE467-F80C-3055-6187-F3FDA2325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495"/>
              <a:ext cx="137" cy="155"/>
            </a:xfrm>
            <a:custGeom>
              <a:avLst/>
              <a:gdLst>
                <a:gd name="T0" fmla="*/ 376 w 67"/>
                <a:gd name="T1" fmla="*/ 644 h 76"/>
                <a:gd name="T2" fmla="*/ 573 w 67"/>
                <a:gd name="T3" fmla="*/ 271 h 76"/>
                <a:gd name="T4" fmla="*/ 468 w 67"/>
                <a:gd name="T5" fmla="*/ 171 h 76"/>
                <a:gd name="T6" fmla="*/ 272 w 67"/>
                <a:gd name="T7" fmla="*/ 0 h 76"/>
                <a:gd name="T8" fmla="*/ 172 w 67"/>
                <a:gd name="T9" fmla="*/ 0 h 76"/>
                <a:gd name="T10" fmla="*/ 172 w 67"/>
                <a:gd name="T11" fmla="*/ 171 h 76"/>
                <a:gd name="T12" fmla="*/ 67 w 67"/>
                <a:gd name="T13" fmla="*/ 271 h 76"/>
                <a:gd name="T14" fmla="*/ 0 w 67"/>
                <a:gd name="T15" fmla="*/ 271 h 76"/>
                <a:gd name="T16" fmla="*/ 0 w 67"/>
                <a:gd name="T17" fmla="*/ 375 h 76"/>
                <a:gd name="T18" fmla="*/ 67 w 67"/>
                <a:gd name="T19" fmla="*/ 473 h 76"/>
                <a:gd name="T20" fmla="*/ 67 w 67"/>
                <a:gd name="T21" fmla="*/ 577 h 76"/>
                <a:gd name="T22" fmla="*/ 376 w 67"/>
                <a:gd name="T23" fmla="*/ 644 h 7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7"/>
                <a:gd name="T37" fmla="*/ 0 h 76"/>
                <a:gd name="T38" fmla="*/ 67 w 67"/>
                <a:gd name="T39" fmla="*/ 76 h 7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7" h="76">
                  <a:moveTo>
                    <a:pt x="44" y="76"/>
                  </a:moveTo>
                  <a:lnTo>
                    <a:pt x="67" y="32"/>
                  </a:lnTo>
                  <a:lnTo>
                    <a:pt x="55" y="20"/>
                  </a:lnTo>
                  <a:lnTo>
                    <a:pt x="32" y="0"/>
                  </a:lnTo>
                  <a:lnTo>
                    <a:pt x="20" y="0"/>
                  </a:lnTo>
                  <a:lnTo>
                    <a:pt x="20" y="20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44"/>
                  </a:lnTo>
                  <a:lnTo>
                    <a:pt x="8" y="56"/>
                  </a:lnTo>
                  <a:lnTo>
                    <a:pt x="8" y="68"/>
                  </a:lnTo>
                  <a:lnTo>
                    <a:pt x="44" y="76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698971B8-D969-4371-BD0A-7CEC72610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6" y="2421"/>
              <a:ext cx="235" cy="139"/>
            </a:xfrm>
            <a:custGeom>
              <a:avLst/>
              <a:gdLst>
                <a:gd name="T0" fmla="*/ 505 w 115"/>
                <a:gd name="T1" fmla="*/ 581 h 68"/>
                <a:gd name="T2" fmla="*/ 672 w 115"/>
                <a:gd name="T3" fmla="*/ 476 h 68"/>
                <a:gd name="T4" fmla="*/ 777 w 115"/>
                <a:gd name="T5" fmla="*/ 309 h 68"/>
                <a:gd name="T6" fmla="*/ 981 w 115"/>
                <a:gd name="T7" fmla="*/ 0 h 68"/>
                <a:gd name="T8" fmla="*/ 672 w 115"/>
                <a:gd name="T9" fmla="*/ 0 h 68"/>
                <a:gd name="T10" fmla="*/ 572 w 115"/>
                <a:gd name="T11" fmla="*/ 104 h 68"/>
                <a:gd name="T12" fmla="*/ 505 w 115"/>
                <a:gd name="T13" fmla="*/ 104 h 68"/>
                <a:gd name="T14" fmla="*/ 309 w 115"/>
                <a:gd name="T15" fmla="*/ 0 h 68"/>
                <a:gd name="T16" fmla="*/ 104 w 115"/>
                <a:gd name="T17" fmla="*/ 0 h 68"/>
                <a:gd name="T18" fmla="*/ 0 w 115"/>
                <a:gd name="T19" fmla="*/ 104 h 68"/>
                <a:gd name="T20" fmla="*/ 104 w 115"/>
                <a:gd name="T21" fmla="*/ 309 h 68"/>
                <a:gd name="T22" fmla="*/ 204 w 115"/>
                <a:gd name="T23" fmla="*/ 309 h 68"/>
                <a:gd name="T24" fmla="*/ 401 w 115"/>
                <a:gd name="T25" fmla="*/ 476 h 68"/>
                <a:gd name="T26" fmla="*/ 505 w 115"/>
                <a:gd name="T27" fmla="*/ 581 h 6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15"/>
                <a:gd name="T43" fmla="*/ 0 h 68"/>
                <a:gd name="T44" fmla="*/ 115 w 115"/>
                <a:gd name="T45" fmla="*/ 68 h 6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15" h="68">
                  <a:moveTo>
                    <a:pt x="59" y="68"/>
                  </a:moveTo>
                  <a:lnTo>
                    <a:pt x="79" y="56"/>
                  </a:lnTo>
                  <a:lnTo>
                    <a:pt x="91" y="36"/>
                  </a:lnTo>
                  <a:lnTo>
                    <a:pt x="115" y="0"/>
                  </a:lnTo>
                  <a:lnTo>
                    <a:pt x="79" y="0"/>
                  </a:lnTo>
                  <a:lnTo>
                    <a:pt x="67" y="12"/>
                  </a:lnTo>
                  <a:lnTo>
                    <a:pt x="59" y="12"/>
                  </a:lnTo>
                  <a:lnTo>
                    <a:pt x="36" y="0"/>
                  </a:lnTo>
                  <a:lnTo>
                    <a:pt x="12" y="0"/>
                  </a:lnTo>
                  <a:lnTo>
                    <a:pt x="0" y="12"/>
                  </a:lnTo>
                  <a:lnTo>
                    <a:pt x="12" y="36"/>
                  </a:lnTo>
                  <a:lnTo>
                    <a:pt x="24" y="36"/>
                  </a:lnTo>
                  <a:lnTo>
                    <a:pt x="47" y="56"/>
                  </a:lnTo>
                  <a:lnTo>
                    <a:pt x="59" y="6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A3760A28-DB2F-FE7D-40B3-F3B031803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2284"/>
              <a:ext cx="489" cy="161"/>
            </a:xfrm>
            <a:custGeom>
              <a:avLst/>
              <a:gdLst>
                <a:gd name="T0" fmla="*/ 2048 w 239"/>
                <a:gd name="T1" fmla="*/ 0 h 79"/>
                <a:gd name="T2" fmla="*/ 1942 w 239"/>
                <a:gd name="T3" fmla="*/ 0 h 79"/>
                <a:gd name="T4" fmla="*/ 1737 w 239"/>
                <a:gd name="T5" fmla="*/ 196 h 79"/>
                <a:gd name="T6" fmla="*/ 1532 w 239"/>
                <a:gd name="T7" fmla="*/ 196 h 79"/>
                <a:gd name="T8" fmla="*/ 1465 w 239"/>
                <a:gd name="T9" fmla="*/ 196 h 79"/>
                <a:gd name="T10" fmla="*/ 1361 w 239"/>
                <a:gd name="T11" fmla="*/ 296 h 79"/>
                <a:gd name="T12" fmla="*/ 1164 w 239"/>
                <a:gd name="T13" fmla="*/ 296 h 79"/>
                <a:gd name="T14" fmla="*/ 1269 w 239"/>
                <a:gd name="T15" fmla="*/ 92 h 79"/>
                <a:gd name="T16" fmla="*/ 1164 w 239"/>
                <a:gd name="T17" fmla="*/ 92 h 79"/>
                <a:gd name="T18" fmla="*/ 960 w 239"/>
                <a:gd name="T19" fmla="*/ 196 h 79"/>
                <a:gd name="T20" fmla="*/ 892 w 239"/>
                <a:gd name="T21" fmla="*/ 296 h 79"/>
                <a:gd name="T22" fmla="*/ 581 w 239"/>
                <a:gd name="T23" fmla="*/ 196 h 79"/>
                <a:gd name="T24" fmla="*/ 481 w 239"/>
                <a:gd name="T25" fmla="*/ 196 h 79"/>
                <a:gd name="T26" fmla="*/ 376 w 239"/>
                <a:gd name="T27" fmla="*/ 92 h 79"/>
                <a:gd name="T28" fmla="*/ 205 w 239"/>
                <a:gd name="T29" fmla="*/ 92 h 79"/>
                <a:gd name="T30" fmla="*/ 104 w 239"/>
                <a:gd name="T31" fmla="*/ 196 h 79"/>
                <a:gd name="T32" fmla="*/ 104 w 239"/>
                <a:gd name="T33" fmla="*/ 365 h 79"/>
                <a:gd name="T34" fmla="*/ 0 w 239"/>
                <a:gd name="T35" fmla="*/ 465 h 79"/>
                <a:gd name="T36" fmla="*/ 104 w 239"/>
                <a:gd name="T37" fmla="*/ 569 h 79"/>
                <a:gd name="T38" fmla="*/ 104 w 239"/>
                <a:gd name="T39" fmla="*/ 668 h 79"/>
                <a:gd name="T40" fmla="*/ 309 w 239"/>
                <a:gd name="T41" fmla="*/ 668 h 79"/>
                <a:gd name="T42" fmla="*/ 481 w 239"/>
                <a:gd name="T43" fmla="*/ 465 h 79"/>
                <a:gd name="T44" fmla="*/ 892 w 239"/>
                <a:gd name="T45" fmla="*/ 569 h 79"/>
                <a:gd name="T46" fmla="*/ 892 w 239"/>
                <a:gd name="T47" fmla="*/ 668 h 79"/>
                <a:gd name="T48" fmla="*/ 960 w 239"/>
                <a:gd name="T49" fmla="*/ 668 h 79"/>
                <a:gd name="T50" fmla="*/ 1064 w 239"/>
                <a:gd name="T51" fmla="*/ 569 h 79"/>
                <a:gd name="T52" fmla="*/ 1269 w 239"/>
                <a:gd name="T53" fmla="*/ 569 h 79"/>
                <a:gd name="T54" fmla="*/ 1465 w 239"/>
                <a:gd name="T55" fmla="*/ 668 h 79"/>
                <a:gd name="T56" fmla="*/ 1532 w 239"/>
                <a:gd name="T57" fmla="*/ 668 h 79"/>
                <a:gd name="T58" fmla="*/ 1637 w 239"/>
                <a:gd name="T59" fmla="*/ 569 h 79"/>
                <a:gd name="T60" fmla="*/ 1942 w 239"/>
                <a:gd name="T61" fmla="*/ 569 h 79"/>
                <a:gd name="T62" fmla="*/ 2048 w 239"/>
                <a:gd name="T63" fmla="*/ 296 h 79"/>
                <a:gd name="T64" fmla="*/ 2048 w 239"/>
                <a:gd name="T65" fmla="*/ 0 h 7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39"/>
                <a:gd name="T100" fmla="*/ 0 h 79"/>
                <a:gd name="T101" fmla="*/ 239 w 239"/>
                <a:gd name="T102" fmla="*/ 79 h 7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39" h="79">
                  <a:moveTo>
                    <a:pt x="239" y="0"/>
                  </a:moveTo>
                  <a:lnTo>
                    <a:pt x="227" y="0"/>
                  </a:lnTo>
                  <a:lnTo>
                    <a:pt x="203" y="23"/>
                  </a:lnTo>
                  <a:lnTo>
                    <a:pt x="179" y="23"/>
                  </a:lnTo>
                  <a:lnTo>
                    <a:pt x="171" y="23"/>
                  </a:lnTo>
                  <a:lnTo>
                    <a:pt x="159" y="35"/>
                  </a:lnTo>
                  <a:lnTo>
                    <a:pt x="136" y="35"/>
                  </a:lnTo>
                  <a:lnTo>
                    <a:pt x="148" y="11"/>
                  </a:lnTo>
                  <a:lnTo>
                    <a:pt x="136" y="11"/>
                  </a:lnTo>
                  <a:lnTo>
                    <a:pt x="112" y="23"/>
                  </a:lnTo>
                  <a:lnTo>
                    <a:pt x="104" y="35"/>
                  </a:lnTo>
                  <a:lnTo>
                    <a:pt x="68" y="23"/>
                  </a:lnTo>
                  <a:lnTo>
                    <a:pt x="56" y="23"/>
                  </a:lnTo>
                  <a:lnTo>
                    <a:pt x="44" y="11"/>
                  </a:lnTo>
                  <a:lnTo>
                    <a:pt x="24" y="11"/>
                  </a:lnTo>
                  <a:lnTo>
                    <a:pt x="12" y="23"/>
                  </a:lnTo>
                  <a:lnTo>
                    <a:pt x="12" y="43"/>
                  </a:lnTo>
                  <a:lnTo>
                    <a:pt x="0" y="55"/>
                  </a:lnTo>
                  <a:lnTo>
                    <a:pt x="12" y="67"/>
                  </a:lnTo>
                  <a:lnTo>
                    <a:pt x="12" y="79"/>
                  </a:lnTo>
                  <a:lnTo>
                    <a:pt x="36" y="79"/>
                  </a:lnTo>
                  <a:lnTo>
                    <a:pt x="56" y="55"/>
                  </a:lnTo>
                  <a:lnTo>
                    <a:pt x="104" y="67"/>
                  </a:lnTo>
                  <a:lnTo>
                    <a:pt x="104" y="79"/>
                  </a:lnTo>
                  <a:lnTo>
                    <a:pt x="112" y="79"/>
                  </a:lnTo>
                  <a:lnTo>
                    <a:pt x="124" y="67"/>
                  </a:lnTo>
                  <a:lnTo>
                    <a:pt x="148" y="67"/>
                  </a:lnTo>
                  <a:lnTo>
                    <a:pt x="171" y="79"/>
                  </a:lnTo>
                  <a:lnTo>
                    <a:pt x="179" y="79"/>
                  </a:lnTo>
                  <a:lnTo>
                    <a:pt x="191" y="67"/>
                  </a:lnTo>
                  <a:lnTo>
                    <a:pt x="227" y="67"/>
                  </a:lnTo>
                  <a:lnTo>
                    <a:pt x="239" y="35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3AAECE04-E85E-2B4E-1C33-CFB9CBC15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194"/>
              <a:ext cx="350" cy="161"/>
            </a:xfrm>
            <a:custGeom>
              <a:avLst/>
              <a:gdLst>
                <a:gd name="T0" fmla="*/ 1465 w 171"/>
                <a:gd name="T1" fmla="*/ 373 h 79"/>
                <a:gd name="T2" fmla="*/ 1361 w 171"/>
                <a:gd name="T3" fmla="*/ 171 h 79"/>
                <a:gd name="T4" fmla="*/ 1056 w 171"/>
                <a:gd name="T5" fmla="*/ 171 h 79"/>
                <a:gd name="T6" fmla="*/ 952 w 171"/>
                <a:gd name="T7" fmla="*/ 100 h 79"/>
                <a:gd name="T8" fmla="*/ 884 w 171"/>
                <a:gd name="T9" fmla="*/ 100 h 79"/>
                <a:gd name="T10" fmla="*/ 884 w 171"/>
                <a:gd name="T11" fmla="*/ 171 h 79"/>
                <a:gd name="T12" fmla="*/ 884 w 171"/>
                <a:gd name="T13" fmla="*/ 269 h 79"/>
                <a:gd name="T14" fmla="*/ 481 w 171"/>
                <a:gd name="T15" fmla="*/ 269 h 79"/>
                <a:gd name="T16" fmla="*/ 688 w 171"/>
                <a:gd name="T17" fmla="*/ 100 h 79"/>
                <a:gd name="T18" fmla="*/ 583 w 171"/>
                <a:gd name="T19" fmla="*/ 0 h 79"/>
                <a:gd name="T20" fmla="*/ 481 w 171"/>
                <a:gd name="T21" fmla="*/ 100 h 79"/>
                <a:gd name="T22" fmla="*/ 309 w 171"/>
                <a:gd name="T23" fmla="*/ 171 h 79"/>
                <a:gd name="T24" fmla="*/ 205 w 171"/>
                <a:gd name="T25" fmla="*/ 171 h 79"/>
                <a:gd name="T26" fmla="*/ 104 w 171"/>
                <a:gd name="T27" fmla="*/ 465 h 79"/>
                <a:gd name="T28" fmla="*/ 0 w 171"/>
                <a:gd name="T29" fmla="*/ 569 h 79"/>
                <a:gd name="T30" fmla="*/ 309 w 171"/>
                <a:gd name="T31" fmla="*/ 668 h 79"/>
                <a:gd name="T32" fmla="*/ 377 w 171"/>
                <a:gd name="T33" fmla="*/ 569 h 79"/>
                <a:gd name="T34" fmla="*/ 583 w 171"/>
                <a:gd name="T35" fmla="*/ 465 h 79"/>
                <a:gd name="T36" fmla="*/ 688 w 171"/>
                <a:gd name="T37" fmla="*/ 465 h 79"/>
                <a:gd name="T38" fmla="*/ 583 w 171"/>
                <a:gd name="T39" fmla="*/ 668 h 79"/>
                <a:gd name="T40" fmla="*/ 780 w 171"/>
                <a:gd name="T41" fmla="*/ 668 h 79"/>
                <a:gd name="T42" fmla="*/ 884 w 171"/>
                <a:gd name="T43" fmla="*/ 569 h 79"/>
                <a:gd name="T44" fmla="*/ 1156 w 171"/>
                <a:gd name="T45" fmla="*/ 569 h 79"/>
                <a:gd name="T46" fmla="*/ 1361 w 171"/>
                <a:gd name="T47" fmla="*/ 373 h 79"/>
                <a:gd name="T48" fmla="*/ 1465 w 171"/>
                <a:gd name="T49" fmla="*/ 373 h 7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71"/>
                <a:gd name="T76" fmla="*/ 0 h 79"/>
                <a:gd name="T77" fmla="*/ 171 w 171"/>
                <a:gd name="T78" fmla="*/ 79 h 7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71" h="79">
                  <a:moveTo>
                    <a:pt x="171" y="44"/>
                  </a:moveTo>
                  <a:lnTo>
                    <a:pt x="159" y="20"/>
                  </a:lnTo>
                  <a:lnTo>
                    <a:pt x="123" y="20"/>
                  </a:lnTo>
                  <a:lnTo>
                    <a:pt x="111" y="12"/>
                  </a:lnTo>
                  <a:lnTo>
                    <a:pt x="103" y="12"/>
                  </a:lnTo>
                  <a:lnTo>
                    <a:pt x="103" y="20"/>
                  </a:lnTo>
                  <a:lnTo>
                    <a:pt x="103" y="32"/>
                  </a:lnTo>
                  <a:lnTo>
                    <a:pt x="56" y="32"/>
                  </a:lnTo>
                  <a:lnTo>
                    <a:pt x="80" y="12"/>
                  </a:lnTo>
                  <a:lnTo>
                    <a:pt x="68" y="0"/>
                  </a:lnTo>
                  <a:lnTo>
                    <a:pt x="56" y="12"/>
                  </a:lnTo>
                  <a:lnTo>
                    <a:pt x="36" y="20"/>
                  </a:lnTo>
                  <a:lnTo>
                    <a:pt x="24" y="20"/>
                  </a:lnTo>
                  <a:lnTo>
                    <a:pt x="12" y="55"/>
                  </a:lnTo>
                  <a:lnTo>
                    <a:pt x="0" y="67"/>
                  </a:lnTo>
                  <a:lnTo>
                    <a:pt x="36" y="79"/>
                  </a:lnTo>
                  <a:lnTo>
                    <a:pt x="44" y="67"/>
                  </a:lnTo>
                  <a:lnTo>
                    <a:pt x="68" y="55"/>
                  </a:lnTo>
                  <a:lnTo>
                    <a:pt x="80" y="55"/>
                  </a:lnTo>
                  <a:lnTo>
                    <a:pt x="68" y="79"/>
                  </a:lnTo>
                  <a:lnTo>
                    <a:pt x="91" y="79"/>
                  </a:lnTo>
                  <a:lnTo>
                    <a:pt x="103" y="67"/>
                  </a:lnTo>
                  <a:lnTo>
                    <a:pt x="135" y="67"/>
                  </a:lnTo>
                  <a:lnTo>
                    <a:pt x="159" y="44"/>
                  </a:lnTo>
                  <a:lnTo>
                    <a:pt x="171" y="44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5F44E2CC-4205-82DF-0BD6-747F9F5CD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2096"/>
              <a:ext cx="276" cy="163"/>
            </a:xfrm>
            <a:custGeom>
              <a:avLst/>
              <a:gdLst>
                <a:gd name="T0" fmla="*/ 1153 w 135"/>
                <a:gd name="T1" fmla="*/ 577 h 80"/>
                <a:gd name="T2" fmla="*/ 1049 w 135"/>
                <a:gd name="T3" fmla="*/ 204 h 80"/>
                <a:gd name="T4" fmla="*/ 949 w 135"/>
                <a:gd name="T5" fmla="*/ 100 h 80"/>
                <a:gd name="T6" fmla="*/ 744 w 135"/>
                <a:gd name="T7" fmla="*/ 100 h 80"/>
                <a:gd name="T8" fmla="*/ 476 w 135"/>
                <a:gd name="T9" fmla="*/ 0 h 80"/>
                <a:gd name="T10" fmla="*/ 376 w 135"/>
                <a:gd name="T11" fmla="*/ 0 h 80"/>
                <a:gd name="T12" fmla="*/ 272 w 135"/>
                <a:gd name="T13" fmla="*/ 100 h 80"/>
                <a:gd name="T14" fmla="*/ 172 w 135"/>
                <a:gd name="T15" fmla="*/ 304 h 80"/>
                <a:gd name="T16" fmla="*/ 0 w 135"/>
                <a:gd name="T17" fmla="*/ 577 h 80"/>
                <a:gd name="T18" fmla="*/ 104 w 135"/>
                <a:gd name="T19" fmla="*/ 577 h 80"/>
                <a:gd name="T20" fmla="*/ 272 w 135"/>
                <a:gd name="T21" fmla="*/ 507 h 80"/>
                <a:gd name="T22" fmla="*/ 376 w 135"/>
                <a:gd name="T23" fmla="*/ 408 h 80"/>
                <a:gd name="T24" fmla="*/ 476 w 135"/>
                <a:gd name="T25" fmla="*/ 507 h 80"/>
                <a:gd name="T26" fmla="*/ 272 w 135"/>
                <a:gd name="T27" fmla="*/ 676 h 80"/>
                <a:gd name="T28" fmla="*/ 677 w 135"/>
                <a:gd name="T29" fmla="*/ 676 h 80"/>
                <a:gd name="T30" fmla="*/ 677 w 135"/>
                <a:gd name="T31" fmla="*/ 507 h 80"/>
                <a:gd name="T32" fmla="*/ 744 w 135"/>
                <a:gd name="T33" fmla="*/ 507 h 80"/>
                <a:gd name="T34" fmla="*/ 844 w 135"/>
                <a:gd name="T35" fmla="*/ 577 h 80"/>
                <a:gd name="T36" fmla="*/ 1153 w 135"/>
                <a:gd name="T37" fmla="*/ 577 h 8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35"/>
                <a:gd name="T58" fmla="*/ 0 h 80"/>
                <a:gd name="T59" fmla="*/ 135 w 135"/>
                <a:gd name="T60" fmla="*/ 80 h 80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35" h="80">
                  <a:moveTo>
                    <a:pt x="135" y="68"/>
                  </a:moveTo>
                  <a:lnTo>
                    <a:pt x="123" y="24"/>
                  </a:lnTo>
                  <a:lnTo>
                    <a:pt x="111" y="12"/>
                  </a:lnTo>
                  <a:lnTo>
                    <a:pt x="87" y="12"/>
                  </a:lnTo>
                  <a:lnTo>
                    <a:pt x="56" y="0"/>
                  </a:lnTo>
                  <a:lnTo>
                    <a:pt x="44" y="0"/>
                  </a:lnTo>
                  <a:lnTo>
                    <a:pt x="32" y="12"/>
                  </a:lnTo>
                  <a:lnTo>
                    <a:pt x="20" y="36"/>
                  </a:lnTo>
                  <a:lnTo>
                    <a:pt x="0" y="68"/>
                  </a:lnTo>
                  <a:lnTo>
                    <a:pt x="12" y="68"/>
                  </a:lnTo>
                  <a:lnTo>
                    <a:pt x="32" y="60"/>
                  </a:lnTo>
                  <a:lnTo>
                    <a:pt x="44" y="48"/>
                  </a:lnTo>
                  <a:lnTo>
                    <a:pt x="56" y="60"/>
                  </a:lnTo>
                  <a:lnTo>
                    <a:pt x="32" y="80"/>
                  </a:lnTo>
                  <a:lnTo>
                    <a:pt x="79" y="80"/>
                  </a:lnTo>
                  <a:lnTo>
                    <a:pt x="79" y="60"/>
                  </a:lnTo>
                  <a:lnTo>
                    <a:pt x="87" y="60"/>
                  </a:lnTo>
                  <a:lnTo>
                    <a:pt x="99" y="68"/>
                  </a:lnTo>
                  <a:lnTo>
                    <a:pt x="135" y="6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A57EECE3-F59A-5914-AE31-FC51732AE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1981"/>
              <a:ext cx="327" cy="350"/>
            </a:xfrm>
            <a:custGeom>
              <a:avLst/>
              <a:gdLst>
                <a:gd name="T0" fmla="*/ 1365 w 160"/>
                <a:gd name="T1" fmla="*/ 481 h 171"/>
                <a:gd name="T2" fmla="*/ 1057 w 160"/>
                <a:gd name="T3" fmla="*/ 309 h 171"/>
                <a:gd name="T4" fmla="*/ 989 w 160"/>
                <a:gd name="T5" fmla="*/ 309 h 171"/>
                <a:gd name="T6" fmla="*/ 785 w 160"/>
                <a:gd name="T7" fmla="*/ 104 h 171"/>
                <a:gd name="T8" fmla="*/ 476 w 160"/>
                <a:gd name="T9" fmla="*/ 0 h 171"/>
                <a:gd name="T10" fmla="*/ 0 w 160"/>
                <a:gd name="T11" fmla="*/ 0 h 171"/>
                <a:gd name="T12" fmla="*/ 0 w 160"/>
                <a:gd name="T13" fmla="*/ 205 h 171"/>
                <a:gd name="T14" fmla="*/ 0 w 160"/>
                <a:gd name="T15" fmla="*/ 411 h 171"/>
                <a:gd name="T16" fmla="*/ 104 w 160"/>
                <a:gd name="T17" fmla="*/ 788 h 171"/>
                <a:gd name="T18" fmla="*/ 104 w 160"/>
                <a:gd name="T19" fmla="*/ 993 h 171"/>
                <a:gd name="T20" fmla="*/ 309 w 160"/>
                <a:gd name="T21" fmla="*/ 1269 h 171"/>
                <a:gd name="T22" fmla="*/ 309 w 160"/>
                <a:gd name="T23" fmla="*/ 1361 h 171"/>
                <a:gd name="T24" fmla="*/ 476 w 160"/>
                <a:gd name="T25" fmla="*/ 1361 h 171"/>
                <a:gd name="T26" fmla="*/ 580 w 160"/>
                <a:gd name="T27" fmla="*/ 1465 h 171"/>
                <a:gd name="T28" fmla="*/ 685 w 160"/>
                <a:gd name="T29" fmla="*/ 1465 h 171"/>
                <a:gd name="T30" fmla="*/ 785 w 160"/>
                <a:gd name="T31" fmla="*/ 1361 h 171"/>
                <a:gd name="T32" fmla="*/ 889 w 160"/>
                <a:gd name="T33" fmla="*/ 1064 h 171"/>
                <a:gd name="T34" fmla="*/ 1057 w 160"/>
                <a:gd name="T35" fmla="*/ 788 h 171"/>
                <a:gd name="T36" fmla="*/ 1161 w 160"/>
                <a:gd name="T37" fmla="*/ 583 h 171"/>
                <a:gd name="T38" fmla="*/ 1261 w 160"/>
                <a:gd name="T39" fmla="*/ 481 h 171"/>
                <a:gd name="T40" fmla="*/ 1365 w 160"/>
                <a:gd name="T41" fmla="*/ 481 h 17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60"/>
                <a:gd name="T64" fmla="*/ 0 h 171"/>
                <a:gd name="T65" fmla="*/ 160 w 160"/>
                <a:gd name="T66" fmla="*/ 171 h 17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60" h="171">
                  <a:moveTo>
                    <a:pt x="160" y="56"/>
                  </a:moveTo>
                  <a:lnTo>
                    <a:pt x="124" y="36"/>
                  </a:lnTo>
                  <a:lnTo>
                    <a:pt x="116" y="36"/>
                  </a:lnTo>
                  <a:lnTo>
                    <a:pt x="92" y="12"/>
                  </a:lnTo>
                  <a:lnTo>
                    <a:pt x="56" y="0"/>
                  </a:lnTo>
                  <a:lnTo>
                    <a:pt x="0" y="0"/>
                  </a:lnTo>
                  <a:lnTo>
                    <a:pt x="0" y="24"/>
                  </a:lnTo>
                  <a:lnTo>
                    <a:pt x="0" y="48"/>
                  </a:lnTo>
                  <a:lnTo>
                    <a:pt x="12" y="92"/>
                  </a:lnTo>
                  <a:lnTo>
                    <a:pt x="12" y="116"/>
                  </a:lnTo>
                  <a:lnTo>
                    <a:pt x="36" y="148"/>
                  </a:lnTo>
                  <a:lnTo>
                    <a:pt x="36" y="159"/>
                  </a:lnTo>
                  <a:lnTo>
                    <a:pt x="56" y="159"/>
                  </a:lnTo>
                  <a:lnTo>
                    <a:pt x="68" y="171"/>
                  </a:lnTo>
                  <a:lnTo>
                    <a:pt x="80" y="171"/>
                  </a:lnTo>
                  <a:lnTo>
                    <a:pt x="92" y="159"/>
                  </a:lnTo>
                  <a:lnTo>
                    <a:pt x="104" y="124"/>
                  </a:lnTo>
                  <a:lnTo>
                    <a:pt x="124" y="92"/>
                  </a:lnTo>
                  <a:lnTo>
                    <a:pt x="136" y="68"/>
                  </a:lnTo>
                  <a:lnTo>
                    <a:pt x="148" y="56"/>
                  </a:lnTo>
                  <a:lnTo>
                    <a:pt x="160" y="56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BFEE27D2-A485-18E9-0E8B-7F4DB0E9F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" y="1981"/>
              <a:ext cx="415" cy="604"/>
            </a:xfrm>
            <a:custGeom>
              <a:avLst/>
              <a:gdLst>
                <a:gd name="T0" fmla="*/ 1333 w 203"/>
                <a:gd name="T1" fmla="*/ 0 h 295"/>
                <a:gd name="T2" fmla="*/ 1265 w 203"/>
                <a:gd name="T3" fmla="*/ 104 h 295"/>
                <a:gd name="T4" fmla="*/ 1161 w 203"/>
                <a:gd name="T5" fmla="*/ 104 h 295"/>
                <a:gd name="T6" fmla="*/ 1057 w 203"/>
                <a:gd name="T7" fmla="*/ 205 h 295"/>
                <a:gd name="T8" fmla="*/ 957 w 203"/>
                <a:gd name="T9" fmla="*/ 412 h 295"/>
                <a:gd name="T10" fmla="*/ 957 w 203"/>
                <a:gd name="T11" fmla="*/ 584 h 295"/>
                <a:gd name="T12" fmla="*/ 852 w 203"/>
                <a:gd name="T13" fmla="*/ 893 h 295"/>
                <a:gd name="T14" fmla="*/ 852 w 203"/>
                <a:gd name="T15" fmla="*/ 1065 h 295"/>
                <a:gd name="T16" fmla="*/ 752 w 203"/>
                <a:gd name="T17" fmla="*/ 1165 h 295"/>
                <a:gd name="T18" fmla="*/ 476 w 203"/>
                <a:gd name="T19" fmla="*/ 1269 h 295"/>
                <a:gd name="T20" fmla="*/ 272 w 203"/>
                <a:gd name="T21" fmla="*/ 1366 h 295"/>
                <a:gd name="T22" fmla="*/ 104 w 203"/>
                <a:gd name="T23" fmla="*/ 1572 h 295"/>
                <a:gd name="T24" fmla="*/ 0 w 203"/>
                <a:gd name="T25" fmla="*/ 1949 h 295"/>
                <a:gd name="T26" fmla="*/ 104 w 203"/>
                <a:gd name="T27" fmla="*/ 2326 h 295"/>
                <a:gd name="T28" fmla="*/ 104 w 203"/>
                <a:gd name="T29" fmla="*/ 2426 h 295"/>
                <a:gd name="T30" fmla="*/ 172 w 203"/>
                <a:gd name="T31" fmla="*/ 2426 h 295"/>
                <a:gd name="T32" fmla="*/ 376 w 203"/>
                <a:gd name="T33" fmla="*/ 2533 h 295"/>
                <a:gd name="T34" fmla="*/ 581 w 203"/>
                <a:gd name="T35" fmla="*/ 2533 h 295"/>
                <a:gd name="T36" fmla="*/ 752 w 203"/>
                <a:gd name="T37" fmla="*/ 2326 h 295"/>
                <a:gd name="T38" fmla="*/ 752 w 203"/>
                <a:gd name="T39" fmla="*/ 2221 h 295"/>
                <a:gd name="T40" fmla="*/ 685 w 203"/>
                <a:gd name="T41" fmla="*/ 2154 h 295"/>
                <a:gd name="T42" fmla="*/ 685 w 203"/>
                <a:gd name="T43" fmla="*/ 2050 h 295"/>
                <a:gd name="T44" fmla="*/ 752 w 203"/>
                <a:gd name="T45" fmla="*/ 1949 h 295"/>
                <a:gd name="T46" fmla="*/ 957 w 203"/>
                <a:gd name="T47" fmla="*/ 2050 h 295"/>
                <a:gd name="T48" fmla="*/ 1333 w 203"/>
                <a:gd name="T49" fmla="*/ 1949 h 295"/>
                <a:gd name="T50" fmla="*/ 1529 w 203"/>
                <a:gd name="T51" fmla="*/ 1744 h 295"/>
                <a:gd name="T52" fmla="*/ 1629 w 203"/>
                <a:gd name="T53" fmla="*/ 1640 h 295"/>
                <a:gd name="T54" fmla="*/ 1629 w 203"/>
                <a:gd name="T55" fmla="*/ 1468 h 295"/>
                <a:gd name="T56" fmla="*/ 1734 w 203"/>
                <a:gd name="T57" fmla="*/ 1366 h 295"/>
                <a:gd name="T58" fmla="*/ 1734 w 203"/>
                <a:gd name="T59" fmla="*/ 1269 h 295"/>
                <a:gd name="T60" fmla="*/ 1529 w 203"/>
                <a:gd name="T61" fmla="*/ 997 h 295"/>
                <a:gd name="T62" fmla="*/ 1529 w 203"/>
                <a:gd name="T63" fmla="*/ 788 h 295"/>
                <a:gd name="T64" fmla="*/ 1425 w 203"/>
                <a:gd name="T65" fmla="*/ 412 h 295"/>
                <a:gd name="T66" fmla="*/ 1425 w 203"/>
                <a:gd name="T67" fmla="*/ 205 h 295"/>
                <a:gd name="T68" fmla="*/ 1425 w 203"/>
                <a:gd name="T69" fmla="*/ 0 h 295"/>
                <a:gd name="T70" fmla="*/ 1333 w 203"/>
                <a:gd name="T71" fmla="*/ 0 h 295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03"/>
                <a:gd name="T109" fmla="*/ 0 h 295"/>
                <a:gd name="T110" fmla="*/ 203 w 203"/>
                <a:gd name="T111" fmla="*/ 295 h 295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03" h="295">
                  <a:moveTo>
                    <a:pt x="156" y="0"/>
                  </a:moveTo>
                  <a:lnTo>
                    <a:pt x="148" y="12"/>
                  </a:lnTo>
                  <a:lnTo>
                    <a:pt x="136" y="12"/>
                  </a:lnTo>
                  <a:lnTo>
                    <a:pt x="124" y="24"/>
                  </a:lnTo>
                  <a:lnTo>
                    <a:pt x="112" y="48"/>
                  </a:lnTo>
                  <a:lnTo>
                    <a:pt x="112" y="68"/>
                  </a:lnTo>
                  <a:lnTo>
                    <a:pt x="100" y="104"/>
                  </a:lnTo>
                  <a:lnTo>
                    <a:pt x="100" y="124"/>
                  </a:lnTo>
                  <a:lnTo>
                    <a:pt x="88" y="136"/>
                  </a:lnTo>
                  <a:lnTo>
                    <a:pt x="56" y="148"/>
                  </a:lnTo>
                  <a:lnTo>
                    <a:pt x="32" y="159"/>
                  </a:lnTo>
                  <a:lnTo>
                    <a:pt x="12" y="183"/>
                  </a:lnTo>
                  <a:lnTo>
                    <a:pt x="0" y="227"/>
                  </a:lnTo>
                  <a:lnTo>
                    <a:pt x="12" y="271"/>
                  </a:lnTo>
                  <a:lnTo>
                    <a:pt x="12" y="283"/>
                  </a:lnTo>
                  <a:lnTo>
                    <a:pt x="20" y="283"/>
                  </a:lnTo>
                  <a:lnTo>
                    <a:pt x="44" y="295"/>
                  </a:lnTo>
                  <a:lnTo>
                    <a:pt x="68" y="295"/>
                  </a:lnTo>
                  <a:lnTo>
                    <a:pt x="88" y="271"/>
                  </a:lnTo>
                  <a:lnTo>
                    <a:pt x="88" y="259"/>
                  </a:lnTo>
                  <a:lnTo>
                    <a:pt x="80" y="251"/>
                  </a:lnTo>
                  <a:lnTo>
                    <a:pt x="80" y="239"/>
                  </a:lnTo>
                  <a:lnTo>
                    <a:pt x="88" y="227"/>
                  </a:lnTo>
                  <a:lnTo>
                    <a:pt x="112" y="239"/>
                  </a:lnTo>
                  <a:lnTo>
                    <a:pt x="156" y="227"/>
                  </a:lnTo>
                  <a:lnTo>
                    <a:pt x="179" y="203"/>
                  </a:lnTo>
                  <a:lnTo>
                    <a:pt x="191" y="191"/>
                  </a:lnTo>
                  <a:lnTo>
                    <a:pt x="191" y="171"/>
                  </a:lnTo>
                  <a:lnTo>
                    <a:pt x="203" y="159"/>
                  </a:lnTo>
                  <a:lnTo>
                    <a:pt x="203" y="148"/>
                  </a:lnTo>
                  <a:lnTo>
                    <a:pt x="179" y="116"/>
                  </a:lnTo>
                  <a:lnTo>
                    <a:pt x="179" y="92"/>
                  </a:lnTo>
                  <a:lnTo>
                    <a:pt x="167" y="48"/>
                  </a:lnTo>
                  <a:lnTo>
                    <a:pt x="167" y="24"/>
                  </a:lnTo>
                  <a:lnTo>
                    <a:pt x="167" y="0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EF3DEC68-F7C1-3992-D0E6-B7644042F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844"/>
              <a:ext cx="505" cy="691"/>
            </a:xfrm>
            <a:custGeom>
              <a:avLst/>
              <a:gdLst>
                <a:gd name="T0" fmla="*/ 677 w 247"/>
                <a:gd name="T1" fmla="*/ 0 h 338"/>
                <a:gd name="T2" fmla="*/ 677 w 247"/>
                <a:gd name="T3" fmla="*/ 309 h 338"/>
                <a:gd name="T4" fmla="*/ 581 w 247"/>
                <a:gd name="T5" fmla="*/ 677 h 338"/>
                <a:gd name="T6" fmla="*/ 476 w 247"/>
                <a:gd name="T7" fmla="*/ 981 h 338"/>
                <a:gd name="T8" fmla="*/ 309 w 247"/>
                <a:gd name="T9" fmla="*/ 1153 h 338"/>
                <a:gd name="T10" fmla="*/ 104 w 247"/>
                <a:gd name="T11" fmla="*/ 1257 h 338"/>
                <a:gd name="T12" fmla="*/ 0 w 247"/>
                <a:gd name="T13" fmla="*/ 1357 h 338"/>
                <a:gd name="T14" fmla="*/ 204 w 247"/>
                <a:gd name="T15" fmla="*/ 1357 h 338"/>
                <a:gd name="T16" fmla="*/ 309 w 247"/>
                <a:gd name="T17" fmla="*/ 1464 h 338"/>
                <a:gd name="T18" fmla="*/ 309 w 247"/>
                <a:gd name="T19" fmla="*/ 1564 h 338"/>
                <a:gd name="T20" fmla="*/ 204 w 247"/>
                <a:gd name="T21" fmla="*/ 1734 h 338"/>
                <a:gd name="T22" fmla="*/ 309 w 247"/>
                <a:gd name="T23" fmla="*/ 2036 h 338"/>
                <a:gd name="T24" fmla="*/ 476 w 247"/>
                <a:gd name="T25" fmla="*/ 2136 h 338"/>
                <a:gd name="T26" fmla="*/ 581 w 247"/>
                <a:gd name="T27" fmla="*/ 2036 h 338"/>
                <a:gd name="T28" fmla="*/ 677 w 247"/>
                <a:gd name="T29" fmla="*/ 2136 h 338"/>
                <a:gd name="T30" fmla="*/ 677 w 247"/>
                <a:gd name="T31" fmla="*/ 2202 h 338"/>
                <a:gd name="T32" fmla="*/ 581 w 247"/>
                <a:gd name="T33" fmla="*/ 2306 h 338"/>
                <a:gd name="T34" fmla="*/ 476 w 247"/>
                <a:gd name="T35" fmla="*/ 2513 h 338"/>
                <a:gd name="T36" fmla="*/ 581 w 247"/>
                <a:gd name="T37" fmla="*/ 2717 h 338"/>
                <a:gd name="T38" fmla="*/ 777 w 247"/>
                <a:gd name="T39" fmla="*/ 2889 h 338"/>
                <a:gd name="T40" fmla="*/ 881 w 247"/>
                <a:gd name="T41" fmla="*/ 2889 h 338"/>
                <a:gd name="T42" fmla="*/ 777 w 247"/>
                <a:gd name="T43" fmla="*/ 2513 h 338"/>
                <a:gd name="T44" fmla="*/ 881 w 247"/>
                <a:gd name="T45" fmla="*/ 2136 h 338"/>
                <a:gd name="T46" fmla="*/ 1049 w 247"/>
                <a:gd name="T47" fmla="*/ 1932 h 338"/>
                <a:gd name="T48" fmla="*/ 1257 w 247"/>
                <a:gd name="T49" fmla="*/ 1840 h 338"/>
                <a:gd name="T50" fmla="*/ 1529 w 247"/>
                <a:gd name="T51" fmla="*/ 1734 h 338"/>
                <a:gd name="T52" fmla="*/ 1634 w 247"/>
                <a:gd name="T53" fmla="*/ 1629 h 338"/>
                <a:gd name="T54" fmla="*/ 1634 w 247"/>
                <a:gd name="T55" fmla="*/ 1464 h 338"/>
                <a:gd name="T56" fmla="*/ 1734 w 247"/>
                <a:gd name="T57" fmla="*/ 1153 h 338"/>
                <a:gd name="T58" fmla="*/ 1734 w 247"/>
                <a:gd name="T59" fmla="*/ 981 h 338"/>
                <a:gd name="T60" fmla="*/ 1840 w 247"/>
                <a:gd name="T61" fmla="*/ 777 h 338"/>
                <a:gd name="T62" fmla="*/ 1940 w 247"/>
                <a:gd name="T63" fmla="*/ 677 h 338"/>
                <a:gd name="T64" fmla="*/ 2045 w 247"/>
                <a:gd name="T65" fmla="*/ 677 h 338"/>
                <a:gd name="T66" fmla="*/ 2110 w 247"/>
                <a:gd name="T67" fmla="*/ 572 h 338"/>
                <a:gd name="T68" fmla="*/ 2045 w 247"/>
                <a:gd name="T69" fmla="*/ 572 h 338"/>
                <a:gd name="T70" fmla="*/ 1840 w 247"/>
                <a:gd name="T71" fmla="*/ 468 h 338"/>
                <a:gd name="T72" fmla="*/ 1529 w 247"/>
                <a:gd name="T73" fmla="*/ 401 h 338"/>
                <a:gd name="T74" fmla="*/ 1358 w 247"/>
                <a:gd name="T75" fmla="*/ 309 h 338"/>
                <a:gd name="T76" fmla="*/ 1257 w 247"/>
                <a:gd name="T77" fmla="*/ 468 h 338"/>
                <a:gd name="T78" fmla="*/ 1257 w 247"/>
                <a:gd name="T79" fmla="*/ 309 h 338"/>
                <a:gd name="T80" fmla="*/ 1049 w 247"/>
                <a:gd name="T81" fmla="*/ 204 h 338"/>
                <a:gd name="T82" fmla="*/ 949 w 247"/>
                <a:gd name="T83" fmla="*/ 104 h 338"/>
                <a:gd name="T84" fmla="*/ 677 w 247"/>
                <a:gd name="T85" fmla="*/ 0 h 33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7"/>
                <a:gd name="T130" fmla="*/ 0 h 338"/>
                <a:gd name="T131" fmla="*/ 247 w 247"/>
                <a:gd name="T132" fmla="*/ 338 h 33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7" h="338">
                  <a:moveTo>
                    <a:pt x="79" y="0"/>
                  </a:moveTo>
                  <a:lnTo>
                    <a:pt x="79" y="36"/>
                  </a:lnTo>
                  <a:lnTo>
                    <a:pt x="68" y="79"/>
                  </a:lnTo>
                  <a:lnTo>
                    <a:pt x="56" y="115"/>
                  </a:lnTo>
                  <a:lnTo>
                    <a:pt x="36" y="135"/>
                  </a:lnTo>
                  <a:lnTo>
                    <a:pt x="12" y="147"/>
                  </a:lnTo>
                  <a:lnTo>
                    <a:pt x="0" y="159"/>
                  </a:lnTo>
                  <a:lnTo>
                    <a:pt x="24" y="159"/>
                  </a:lnTo>
                  <a:lnTo>
                    <a:pt x="36" y="171"/>
                  </a:lnTo>
                  <a:lnTo>
                    <a:pt x="36" y="183"/>
                  </a:lnTo>
                  <a:lnTo>
                    <a:pt x="24" y="203"/>
                  </a:lnTo>
                  <a:lnTo>
                    <a:pt x="36" y="238"/>
                  </a:lnTo>
                  <a:lnTo>
                    <a:pt x="56" y="250"/>
                  </a:lnTo>
                  <a:lnTo>
                    <a:pt x="68" y="238"/>
                  </a:lnTo>
                  <a:lnTo>
                    <a:pt x="79" y="250"/>
                  </a:lnTo>
                  <a:lnTo>
                    <a:pt x="79" y="258"/>
                  </a:lnTo>
                  <a:lnTo>
                    <a:pt x="68" y="270"/>
                  </a:lnTo>
                  <a:lnTo>
                    <a:pt x="56" y="294"/>
                  </a:lnTo>
                  <a:lnTo>
                    <a:pt x="68" y="318"/>
                  </a:lnTo>
                  <a:lnTo>
                    <a:pt x="91" y="338"/>
                  </a:lnTo>
                  <a:lnTo>
                    <a:pt x="103" y="338"/>
                  </a:lnTo>
                  <a:lnTo>
                    <a:pt x="91" y="294"/>
                  </a:lnTo>
                  <a:lnTo>
                    <a:pt x="103" y="250"/>
                  </a:lnTo>
                  <a:lnTo>
                    <a:pt x="123" y="226"/>
                  </a:lnTo>
                  <a:lnTo>
                    <a:pt x="147" y="215"/>
                  </a:lnTo>
                  <a:lnTo>
                    <a:pt x="179" y="203"/>
                  </a:lnTo>
                  <a:lnTo>
                    <a:pt x="191" y="191"/>
                  </a:lnTo>
                  <a:lnTo>
                    <a:pt x="191" y="171"/>
                  </a:lnTo>
                  <a:lnTo>
                    <a:pt x="203" y="135"/>
                  </a:lnTo>
                  <a:lnTo>
                    <a:pt x="203" y="115"/>
                  </a:lnTo>
                  <a:lnTo>
                    <a:pt x="215" y="91"/>
                  </a:lnTo>
                  <a:lnTo>
                    <a:pt x="227" y="79"/>
                  </a:lnTo>
                  <a:lnTo>
                    <a:pt x="239" y="79"/>
                  </a:lnTo>
                  <a:lnTo>
                    <a:pt x="247" y="67"/>
                  </a:lnTo>
                  <a:lnTo>
                    <a:pt x="239" y="67"/>
                  </a:lnTo>
                  <a:lnTo>
                    <a:pt x="215" y="55"/>
                  </a:lnTo>
                  <a:lnTo>
                    <a:pt x="179" y="47"/>
                  </a:lnTo>
                  <a:lnTo>
                    <a:pt x="159" y="36"/>
                  </a:lnTo>
                  <a:lnTo>
                    <a:pt x="147" y="55"/>
                  </a:lnTo>
                  <a:lnTo>
                    <a:pt x="147" y="36"/>
                  </a:lnTo>
                  <a:lnTo>
                    <a:pt x="123" y="24"/>
                  </a:lnTo>
                  <a:lnTo>
                    <a:pt x="111" y="12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5EE56C5C-FCEE-365C-4EBB-84D45A924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2169"/>
              <a:ext cx="374" cy="643"/>
            </a:xfrm>
            <a:custGeom>
              <a:avLst/>
              <a:gdLst>
                <a:gd name="T0" fmla="*/ 681 w 183"/>
                <a:gd name="T1" fmla="*/ 0 h 314"/>
                <a:gd name="T2" fmla="*/ 785 w 183"/>
                <a:gd name="T3" fmla="*/ 104 h 314"/>
                <a:gd name="T4" fmla="*/ 785 w 183"/>
                <a:gd name="T5" fmla="*/ 205 h 314"/>
                <a:gd name="T6" fmla="*/ 476 w 183"/>
                <a:gd name="T7" fmla="*/ 481 h 314"/>
                <a:gd name="T8" fmla="*/ 409 w 183"/>
                <a:gd name="T9" fmla="*/ 680 h 314"/>
                <a:gd name="T10" fmla="*/ 409 w 183"/>
                <a:gd name="T11" fmla="*/ 952 h 314"/>
                <a:gd name="T12" fmla="*/ 309 w 183"/>
                <a:gd name="T13" fmla="*/ 1157 h 314"/>
                <a:gd name="T14" fmla="*/ 104 w 183"/>
                <a:gd name="T15" fmla="*/ 1433 h 314"/>
                <a:gd name="T16" fmla="*/ 0 w 183"/>
                <a:gd name="T17" fmla="*/ 1745 h 314"/>
                <a:gd name="T18" fmla="*/ 0 w 183"/>
                <a:gd name="T19" fmla="*/ 2017 h 314"/>
                <a:gd name="T20" fmla="*/ 104 w 183"/>
                <a:gd name="T21" fmla="*/ 2318 h 314"/>
                <a:gd name="T22" fmla="*/ 0 w 183"/>
                <a:gd name="T23" fmla="*/ 2592 h 314"/>
                <a:gd name="T24" fmla="*/ 104 w 183"/>
                <a:gd name="T25" fmla="*/ 2592 h 314"/>
                <a:gd name="T26" fmla="*/ 309 w 183"/>
                <a:gd name="T27" fmla="*/ 2525 h 314"/>
                <a:gd name="T28" fmla="*/ 476 w 183"/>
                <a:gd name="T29" fmla="*/ 2525 h 314"/>
                <a:gd name="T30" fmla="*/ 580 w 183"/>
                <a:gd name="T31" fmla="*/ 2592 h 314"/>
                <a:gd name="T32" fmla="*/ 785 w 183"/>
                <a:gd name="T33" fmla="*/ 2697 h 314"/>
                <a:gd name="T34" fmla="*/ 889 w 183"/>
                <a:gd name="T35" fmla="*/ 2592 h 314"/>
                <a:gd name="T36" fmla="*/ 1057 w 183"/>
                <a:gd name="T37" fmla="*/ 2525 h 314"/>
                <a:gd name="T38" fmla="*/ 1457 w 183"/>
                <a:gd name="T39" fmla="*/ 2592 h 314"/>
                <a:gd name="T40" fmla="*/ 1457 w 183"/>
                <a:gd name="T41" fmla="*/ 2214 h 314"/>
                <a:gd name="T42" fmla="*/ 1357 w 183"/>
                <a:gd name="T43" fmla="*/ 1949 h 314"/>
                <a:gd name="T44" fmla="*/ 1457 w 183"/>
                <a:gd name="T45" fmla="*/ 1745 h 314"/>
                <a:gd name="T46" fmla="*/ 1561 w 183"/>
                <a:gd name="T47" fmla="*/ 1640 h 314"/>
                <a:gd name="T48" fmla="*/ 1561 w 183"/>
                <a:gd name="T49" fmla="*/ 1540 h 314"/>
                <a:gd name="T50" fmla="*/ 1457 w 183"/>
                <a:gd name="T51" fmla="*/ 1540 h 314"/>
                <a:gd name="T52" fmla="*/ 1261 w 183"/>
                <a:gd name="T53" fmla="*/ 1368 h 314"/>
                <a:gd name="T54" fmla="*/ 1161 w 183"/>
                <a:gd name="T55" fmla="*/ 1157 h 314"/>
                <a:gd name="T56" fmla="*/ 1261 w 183"/>
                <a:gd name="T57" fmla="*/ 952 h 314"/>
                <a:gd name="T58" fmla="*/ 1357 w 183"/>
                <a:gd name="T59" fmla="*/ 852 h 314"/>
                <a:gd name="T60" fmla="*/ 1357 w 183"/>
                <a:gd name="T61" fmla="*/ 780 h 314"/>
                <a:gd name="T62" fmla="*/ 1261 w 183"/>
                <a:gd name="T63" fmla="*/ 680 h 314"/>
                <a:gd name="T64" fmla="*/ 1161 w 183"/>
                <a:gd name="T65" fmla="*/ 780 h 314"/>
                <a:gd name="T66" fmla="*/ 989 w 183"/>
                <a:gd name="T67" fmla="*/ 680 h 314"/>
                <a:gd name="T68" fmla="*/ 889 w 183"/>
                <a:gd name="T69" fmla="*/ 377 h 314"/>
                <a:gd name="T70" fmla="*/ 989 w 183"/>
                <a:gd name="T71" fmla="*/ 205 h 314"/>
                <a:gd name="T72" fmla="*/ 989 w 183"/>
                <a:gd name="T73" fmla="*/ 104 h 314"/>
                <a:gd name="T74" fmla="*/ 889 w 183"/>
                <a:gd name="T75" fmla="*/ 0 h 314"/>
                <a:gd name="T76" fmla="*/ 681 w 183"/>
                <a:gd name="T77" fmla="*/ 0 h 31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83"/>
                <a:gd name="T118" fmla="*/ 0 h 314"/>
                <a:gd name="T119" fmla="*/ 183 w 183"/>
                <a:gd name="T120" fmla="*/ 314 h 314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83" h="314">
                  <a:moveTo>
                    <a:pt x="80" y="0"/>
                  </a:moveTo>
                  <a:lnTo>
                    <a:pt x="92" y="12"/>
                  </a:lnTo>
                  <a:lnTo>
                    <a:pt x="92" y="24"/>
                  </a:lnTo>
                  <a:lnTo>
                    <a:pt x="56" y="56"/>
                  </a:lnTo>
                  <a:lnTo>
                    <a:pt x="48" y="79"/>
                  </a:lnTo>
                  <a:lnTo>
                    <a:pt x="48" y="111"/>
                  </a:lnTo>
                  <a:lnTo>
                    <a:pt x="36" y="135"/>
                  </a:lnTo>
                  <a:lnTo>
                    <a:pt x="12" y="167"/>
                  </a:lnTo>
                  <a:lnTo>
                    <a:pt x="0" y="203"/>
                  </a:lnTo>
                  <a:lnTo>
                    <a:pt x="0" y="235"/>
                  </a:lnTo>
                  <a:lnTo>
                    <a:pt x="12" y="270"/>
                  </a:lnTo>
                  <a:lnTo>
                    <a:pt x="0" y="302"/>
                  </a:lnTo>
                  <a:lnTo>
                    <a:pt x="12" y="302"/>
                  </a:lnTo>
                  <a:lnTo>
                    <a:pt x="36" y="294"/>
                  </a:lnTo>
                  <a:lnTo>
                    <a:pt x="56" y="294"/>
                  </a:lnTo>
                  <a:lnTo>
                    <a:pt x="68" y="302"/>
                  </a:lnTo>
                  <a:lnTo>
                    <a:pt x="92" y="314"/>
                  </a:lnTo>
                  <a:lnTo>
                    <a:pt x="104" y="302"/>
                  </a:lnTo>
                  <a:lnTo>
                    <a:pt x="124" y="294"/>
                  </a:lnTo>
                  <a:lnTo>
                    <a:pt x="171" y="302"/>
                  </a:lnTo>
                  <a:lnTo>
                    <a:pt x="171" y="258"/>
                  </a:lnTo>
                  <a:lnTo>
                    <a:pt x="159" y="227"/>
                  </a:lnTo>
                  <a:lnTo>
                    <a:pt x="171" y="203"/>
                  </a:lnTo>
                  <a:lnTo>
                    <a:pt x="183" y="191"/>
                  </a:lnTo>
                  <a:lnTo>
                    <a:pt x="183" y="179"/>
                  </a:lnTo>
                  <a:lnTo>
                    <a:pt x="171" y="179"/>
                  </a:lnTo>
                  <a:lnTo>
                    <a:pt x="148" y="159"/>
                  </a:lnTo>
                  <a:lnTo>
                    <a:pt x="136" y="135"/>
                  </a:lnTo>
                  <a:lnTo>
                    <a:pt x="148" y="111"/>
                  </a:lnTo>
                  <a:lnTo>
                    <a:pt x="159" y="99"/>
                  </a:lnTo>
                  <a:lnTo>
                    <a:pt x="159" y="91"/>
                  </a:lnTo>
                  <a:lnTo>
                    <a:pt x="148" y="79"/>
                  </a:lnTo>
                  <a:lnTo>
                    <a:pt x="136" y="91"/>
                  </a:lnTo>
                  <a:lnTo>
                    <a:pt x="116" y="79"/>
                  </a:lnTo>
                  <a:lnTo>
                    <a:pt x="104" y="44"/>
                  </a:lnTo>
                  <a:lnTo>
                    <a:pt x="116" y="24"/>
                  </a:lnTo>
                  <a:lnTo>
                    <a:pt x="116" y="12"/>
                  </a:lnTo>
                  <a:lnTo>
                    <a:pt x="104" y="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780D1513-6F0A-0306-A7A9-C474F3A55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2771"/>
              <a:ext cx="536" cy="439"/>
            </a:xfrm>
            <a:custGeom>
              <a:avLst/>
              <a:gdLst>
                <a:gd name="T0" fmla="*/ 677 w 262"/>
                <a:gd name="T1" fmla="*/ 67 h 215"/>
                <a:gd name="T2" fmla="*/ 677 w 262"/>
                <a:gd name="T3" fmla="*/ 272 h 215"/>
                <a:gd name="T4" fmla="*/ 573 w 262"/>
                <a:gd name="T5" fmla="*/ 476 h 215"/>
                <a:gd name="T6" fmla="*/ 409 w 262"/>
                <a:gd name="T7" fmla="*/ 580 h 215"/>
                <a:gd name="T8" fmla="*/ 309 w 262"/>
                <a:gd name="T9" fmla="*/ 751 h 215"/>
                <a:gd name="T10" fmla="*/ 104 w 262"/>
                <a:gd name="T11" fmla="*/ 956 h 215"/>
                <a:gd name="T12" fmla="*/ 0 w 262"/>
                <a:gd name="T13" fmla="*/ 1252 h 215"/>
                <a:gd name="T14" fmla="*/ 0 w 262"/>
                <a:gd name="T15" fmla="*/ 1421 h 215"/>
                <a:gd name="T16" fmla="*/ 205 w 262"/>
                <a:gd name="T17" fmla="*/ 1521 h 215"/>
                <a:gd name="T18" fmla="*/ 573 w 262"/>
                <a:gd name="T19" fmla="*/ 1830 h 215"/>
                <a:gd name="T20" fmla="*/ 779 w 262"/>
                <a:gd name="T21" fmla="*/ 1830 h 215"/>
                <a:gd name="T22" fmla="*/ 984 w 262"/>
                <a:gd name="T23" fmla="*/ 1625 h 215"/>
                <a:gd name="T24" fmla="*/ 1260 w 262"/>
                <a:gd name="T25" fmla="*/ 1521 h 215"/>
                <a:gd name="T26" fmla="*/ 1669 w 262"/>
                <a:gd name="T27" fmla="*/ 1521 h 215"/>
                <a:gd name="T28" fmla="*/ 1841 w 262"/>
                <a:gd name="T29" fmla="*/ 1317 h 215"/>
                <a:gd name="T30" fmla="*/ 1841 w 262"/>
                <a:gd name="T31" fmla="*/ 1252 h 215"/>
                <a:gd name="T32" fmla="*/ 1737 w 262"/>
                <a:gd name="T33" fmla="*/ 1056 h 215"/>
                <a:gd name="T34" fmla="*/ 1841 w 262"/>
                <a:gd name="T35" fmla="*/ 956 h 215"/>
                <a:gd name="T36" fmla="*/ 1841 w 262"/>
                <a:gd name="T37" fmla="*/ 751 h 215"/>
                <a:gd name="T38" fmla="*/ 1941 w 262"/>
                <a:gd name="T39" fmla="*/ 680 h 215"/>
                <a:gd name="T40" fmla="*/ 2038 w 262"/>
                <a:gd name="T41" fmla="*/ 476 h 215"/>
                <a:gd name="T42" fmla="*/ 2244 w 262"/>
                <a:gd name="T43" fmla="*/ 580 h 215"/>
                <a:gd name="T44" fmla="*/ 2244 w 262"/>
                <a:gd name="T45" fmla="*/ 272 h 215"/>
                <a:gd name="T46" fmla="*/ 2138 w 262"/>
                <a:gd name="T47" fmla="*/ 67 h 215"/>
                <a:gd name="T48" fmla="*/ 1737 w 262"/>
                <a:gd name="T49" fmla="*/ 0 h 215"/>
                <a:gd name="T50" fmla="*/ 1565 w 262"/>
                <a:gd name="T51" fmla="*/ 67 h 215"/>
                <a:gd name="T52" fmla="*/ 1465 w 262"/>
                <a:gd name="T53" fmla="*/ 172 h 215"/>
                <a:gd name="T54" fmla="*/ 1260 w 262"/>
                <a:gd name="T55" fmla="*/ 67 h 215"/>
                <a:gd name="T56" fmla="*/ 1156 w 262"/>
                <a:gd name="T57" fmla="*/ 0 h 215"/>
                <a:gd name="T58" fmla="*/ 984 w 262"/>
                <a:gd name="T59" fmla="*/ 0 h 215"/>
                <a:gd name="T60" fmla="*/ 779 w 262"/>
                <a:gd name="T61" fmla="*/ 67 h 215"/>
                <a:gd name="T62" fmla="*/ 677 w 262"/>
                <a:gd name="T63" fmla="*/ 67 h 21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62"/>
                <a:gd name="T97" fmla="*/ 0 h 215"/>
                <a:gd name="T98" fmla="*/ 262 w 262"/>
                <a:gd name="T99" fmla="*/ 215 h 21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62" h="215">
                  <a:moveTo>
                    <a:pt x="79" y="8"/>
                  </a:moveTo>
                  <a:lnTo>
                    <a:pt x="79" y="32"/>
                  </a:lnTo>
                  <a:lnTo>
                    <a:pt x="67" y="56"/>
                  </a:lnTo>
                  <a:lnTo>
                    <a:pt x="48" y="68"/>
                  </a:lnTo>
                  <a:lnTo>
                    <a:pt x="36" y="88"/>
                  </a:lnTo>
                  <a:lnTo>
                    <a:pt x="12" y="112"/>
                  </a:lnTo>
                  <a:lnTo>
                    <a:pt x="0" y="147"/>
                  </a:lnTo>
                  <a:lnTo>
                    <a:pt x="0" y="167"/>
                  </a:lnTo>
                  <a:lnTo>
                    <a:pt x="24" y="179"/>
                  </a:lnTo>
                  <a:lnTo>
                    <a:pt x="67" y="215"/>
                  </a:lnTo>
                  <a:lnTo>
                    <a:pt x="91" y="215"/>
                  </a:lnTo>
                  <a:lnTo>
                    <a:pt x="115" y="191"/>
                  </a:lnTo>
                  <a:lnTo>
                    <a:pt x="147" y="179"/>
                  </a:lnTo>
                  <a:lnTo>
                    <a:pt x="195" y="179"/>
                  </a:lnTo>
                  <a:lnTo>
                    <a:pt x="215" y="155"/>
                  </a:lnTo>
                  <a:lnTo>
                    <a:pt x="215" y="147"/>
                  </a:lnTo>
                  <a:lnTo>
                    <a:pt x="203" y="124"/>
                  </a:lnTo>
                  <a:lnTo>
                    <a:pt x="215" y="112"/>
                  </a:lnTo>
                  <a:lnTo>
                    <a:pt x="215" y="88"/>
                  </a:lnTo>
                  <a:lnTo>
                    <a:pt x="227" y="80"/>
                  </a:lnTo>
                  <a:lnTo>
                    <a:pt x="238" y="56"/>
                  </a:lnTo>
                  <a:lnTo>
                    <a:pt x="262" y="68"/>
                  </a:lnTo>
                  <a:lnTo>
                    <a:pt x="262" y="32"/>
                  </a:lnTo>
                  <a:lnTo>
                    <a:pt x="250" y="8"/>
                  </a:lnTo>
                  <a:lnTo>
                    <a:pt x="203" y="0"/>
                  </a:lnTo>
                  <a:lnTo>
                    <a:pt x="183" y="8"/>
                  </a:lnTo>
                  <a:lnTo>
                    <a:pt x="171" y="20"/>
                  </a:lnTo>
                  <a:lnTo>
                    <a:pt x="147" y="8"/>
                  </a:lnTo>
                  <a:lnTo>
                    <a:pt x="135" y="0"/>
                  </a:lnTo>
                  <a:lnTo>
                    <a:pt x="115" y="0"/>
                  </a:lnTo>
                  <a:lnTo>
                    <a:pt x="91" y="8"/>
                  </a:lnTo>
                  <a:lnTo>
                    <a:pt x="79" y="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56C63B66-0041-8806-C3A1-37432E633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3" y="3071"/>
              <a:ext cx="463" cy="506"/>
            </a:xfrm>
            <a:custGeom>
              <a:avLst/>
              <a:gdLst>
                <a:gd name="T0" fmla="*/ 1162 w 226"/>
                <a:gd name="T1" fmla="*/ 68 h 247"/>
                <a:gd name="T2" fmla="*/ 1092 w 226"/>
                <a:gd name="T3" fmla="*/ 68 h 247"/>
                <a:gd name="T4" fmla="*/ 990 w 226"/>
                <a:gd name="T5" fmla="*/ 0 h 247"/>
                <a:gd name="T6" fmla="*/ 885 w 226"/>
                <a:gd name="T7" fmla="*/ 0 h 247"/>
                <a:gd name="T8" fmla="*/ 781 w 226"/>
                <a:gd name="T9" fmla="*/ 68 h 247"/>
                <a:gd name="T10" fmla="*/ 576 w 226"/>
                <a:gd name="T11" fmla="*/ 172 h 247"/>
                <a:gd name="T12" fmla="*/ 303 w 226"/>
                <a:gd name="T13" fmla="*/ 68 h 247"/>
                <a:gd name="T14" fmla="*/ 104 w 226"/>
                <a:gd name="T15" fmla="*/ 68 h 247"/>
                <a:gd name="T16" fmla="*/ 0 w 226"/>
                <a:gd name="T17" fmla="*/ 172 h 247"/>
                <a:gd name="T18" fmla="*/ 0 w 226"/>
                <a:gd name="T19" fmla="*/ 483 h 247"/>
                <a:gd name="T20" fmla="*/ 104 w 226"/>
                <a:gd name="T21" fmla="*/ 584 h 247"/>
                <a:gd name="T22" fmla="*/ 104 w 226"/>
                <a:gd name="T23" fmla="*/ 756 h 247"/>
                <a:gd name="T24" fmla="*/ 0 w 226"/>
                <a:gd name="T25" fmla="*/ 961 h 247"/>
                <a:gd name="T26" fmla="*/ 0 w 226"/>
                <a:gd name="T27" fmla="*/ 1541 h 247"/>
                <a:gd name="T28" fmla="*/ 104 w 226"/>
                <a:gd name="T29" fmla="*/ 1641 h 247"/>
                <a:gd name="T30" fmla="*/ 508 w 226"/>
                <a:gd name="T31" fmla="*/ 1641 h 247"/>
                <a:gd name="T32" fmla="*/ 576 w 226"/>
                <a:gd name="T33" fmla="*/ 1745 h 247"/>
                <a:gd name="T34" fmla="*/ 680 w 226"/>
                <a:gd name="T35" fmla="*/ 2018 h 247"/>
                <a:gd name="T36" fmla="*/ 781 w 226"/>
                <a:gd name="T37" fmla="*/ 2124 h 247"/>
                <a:gd name="T38" fmla="*/ 990 w 226"/>
                <a:gd name="T39" fmla="*/ 2124 h 247"/>
                <a:gd name="T40" fmla="*/ 990 w 226"/>
                <a:gd name="T41" fmla="*/ 2018 h 247"/>
                <a:gd name="T42" fmla="*/ 1162 w 226"/>
                <a:gd name="T43" fmla="*/ 1745 h 247"/>
                <a:gd name="T44" fmla="*/ 1264 w 226"/>
                <a:gd name="T45" fmla="*/ 1641 h 247"/>
                <a:gd name="T46" fmla="*/ 1573 w 226"/>
                <a:gd name="T47" fmla="*/ 1344 h 247"/>
                <a:gd name="T48" fmla="*/ 1737 w 226"/>
                <a:gd name="T49" fmla="*/ 1065 h 247"/>
                <a:gd name="T50" fmla="*/ 1944 w 226"/>
                <a:gd name="T51" fmla="*/ 756 h 247"/>
                <a:gd name="T52" fmla="*/ 1944 w 226"/>
                <a:gd name="T53" fmla="*/ 584 h 247"/>
                <a:gd name="T54" fmla="*/ 1737 w 226"/>
                <a:gd name="T55" fmla="*/ 584 h 247"/>
                <a:gd name="T56" fmla="*/ 1369 w 226"/>
                <a:gd name="T57" fmla="*/ 277 h 247"/>
                <a:gd name="T58" fmla="*/ 1162 w 226"/>
                <a:gd name="T59" fmla="*/ 172 h 247"/>
                <a:gd name="T60" fmla="*/ 1162 w 226"/>
                <a:gd name="T61" fmla="*/ 68 h 247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226"/>
                <a:gd name="T94" fmla="*/ 0 h 247"/>
                <a:gd name="T95" fmla="*/ 226 w 226"/>
                <a:gd name="T96" fmla="*/ 247 h 247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226" h="247">
                  <a:moveTo>
                    <a:pt x="135" y="8"/>
                  </a:moveTo>
                  <a:lnTo>
                    <a:pt x="127" y="8"/>
                  </a:lnTo>
                  <a:lnTo>
                    <a:pt x="115" y="0"/>
                  </a:lnTo>
                  <a:lnTo>
                    <a:pt x="103" y="0"/>
                  </a:lnTo>
                  <a:lnTo>
                    <a:pt x="91" y="8"/>
                  </a:lnTo>
                  <a:lnTo>
                    <a:pt x="67" y="20"/>
                  </a:lnTo>
                  <a:lnTo>
                    <a:pt x="35" y="8"/>
                  </a:lnTo>
                  <a:lnTo>
                    <a:pt x="12" y="8"/>
                  </a:lnTo>
                  <a:lnTo>
                    <a:pt x="0" y="20"/>
                  </a:lnTo>
                  <a:lnTo>
                    <a:pt x="0" y="56"/>
                  </a:lnTo>
                  <a:lnTo>
                    <a:pt x="12" y="68"/>
                  </a:lnTo>
                  <a:lnTo>
                    <a:pt x="12" y="88"/>
                  </a:lnTo>
                  <a:lnTo>
                    <a:pt x="0" y="112"/>
                  </a:lnTo>
                  <a:lnTo>
                    <a:pt x="0" y="179"/>
                  </a:lnTo>
                  <a:lnTo>
                    <a:pt x="12" y="191"/>
                  </a:lnTo>
                  <a:lnTo>
                    <a:pt x="59" y="191"/>
                  </a:lnTo>
                  <a:lnTo>
                    <a:pt x="67" y="203"/>
                  </a:lnTo>
                  <a:lnTo>
                    <a:pt x="79" y="235"/>
                  </a:lnTo>
                  <a:lnTo>
                    <a:pt x="91" y="247"/>
                  </a:lnTo>
                  <a:lnTo>
                    <a:pt x="115" y="247"/>
                  </a:lnTo>
                  <a:lnTo>
                    <a:pt x="115" y="235"/>
                  </a:lnTo>
                  <a:lnTo>
                    <a:pt x="135" y="203"/>
                  </a:lnTo>
                  <a:lnTo>
                    <a:pt x="147" y="191"/>
                  </a:lnTo>
                  <a:lnTo>
                    <a:pt x="183" y="156"/>
                  </a:lnTo>
                  <a:lnTo>
                    <a:pt x="202" y="124"/>
                  </a:lnTo>
                  <a:lnTo>
                    <a:pt x="226" y="88"/>
                  </a:lnTo>
                  <a:lnTo>
                    <a:pt x="226" y="68"/>
                  </a:lnTo>
                  <a:lnTo>
                    <a:pt x="202" y="68"/>
                  </a:lnTo>
                  <a:lnTo>
                    <a:pt x="159" y="32"/>
                  </a:lnTo>
                  <a:lnTo>
                    <a:pt x="135" y="20"/>
                  </a:lnTo>
                  <a:lnTo>
                    <a:pt x="135" y="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BE45AFF4-8566-D076-1EF2-01113750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" y="2331"/>
              <a:ext cx="782" cy="806"/>
            </a:xfrm>
            <a:custGeom>
              <a:avLst/>
              <a:gdLst>
                <a:gd name="T0" fmla="*/ 3277 w 382"/>
                <a:gd name="T1" fmla="*/ 753 h 394"/>
                <a:gd name="T2" fmla="*/ 1533 w 382"/>
                <a:gd name="T3" fmla="*/ 685 h 394"/>
                <a:gd name="T4" fmla="*/ 1337 w 382"/>
                <a:gd name="T5" fmla="*/ 581 h 394"/>
                <a:gd name="T6" fmla="*/ 1269 w 382"/>
                <a:gd name="T7" fmla="*/ 481 h 394"/>
                <a:gd name="T8" fmla="*/ 1165 w 382"/>
                <a:gd name="T9" fmla="*/ 272 h 394"/>
                <a:gd name="T10" fmla="*/ 960 w 382"/>
                <a:gd name="T11" fmla="*/ 0 h 394"/>
                <a:gd name="T12" fmla="*/ 960 w 382"/>
                <a:gd name="T13" fmla="*/ 172 h 394"/>
                <a:gd name="T14" fmla="*/ 860 w 382"/>
                <a:gd name="T15" fmla="*/ 376 h 394"/>
                <a:gd name="T16" fmla="*/ 860 w 382"/>
                <a:gd name="T17" fmla="*/ 581 h 394"/>
                <a:gd name="T18" fmla="*/ 68 w 382"/>
                <a:gd name="T19" fmla="*/ 581 h 394"/>
                <a:gd name="T20" fmla="*/ 0 w 382"/>
                <a:gd name="T21" fmla="*/ 753 h 394"/>
                <a:gd name="T22" fmla="*/ 0 w 382"/>
                <a:gd name="T23" fmla="*/ 1268 h 394"/>
                <a:gd name="T24" fmla="*/ 481 w 382"/>
                <a:gd name="T25" fmla="*/ 1336 h 394"/>
                <a:gd name="T26" fmla="*/ 481 w 382"/>
                <a:gd name="T27" fmla="*/ 1737 h 394"/>
                <a:gd name="T28" fmla="*/ 276 w 382"/>
                <a:gd name="T29" fmla="*/ 2113 h 394"/>
                <a:gd name="T30" fmla="*/ 377 w 382"/>
                <a:gd name="T31" fmla="*/ 2422 h 394"/>
                <a:gd name="T32" fmla="*/ 276 w 382"/>
                <a:gd name="T33" fmla="*/ 2524 h 394"/>
                <a:gd name="T34" fmla="*/ 377 w 382"/>
                <a:gd name="T35" fmla="*/ 2694 h 394"/>
                <a:gd name="T36" fmla="*/ 377 w 382"/>
                <a:gd name="T37" fmla="*/ 2901 h 394"/>
                <a:gd name="T38" fmla="*/ 860 w 382"/>
                <a:gd name="T39" fmla="*/ 2997 h 394"/>
                <a:gd name="T40" fmla="*/ 1065 w 382"/>
                <a:gd name="T41" fmla="*/ 2997 h 394"/>
                <a:gd name="T42" fmla="*/ 1065 w 382"/>
                <a:gd name="T43" fmla="*/ 3101 h 394"/>
                <a:gd name="T44" fmla="*/ 1165 w 382"/>
                <a:gd name="T45" fmla="*/ 3269 h 394"/>
                <a:gd name="T46" fmla="*/ 1337 w 382"/>
                <a:gd name="T47" fmla="*/ 3373 h 394"/>
                <a:gd name="T48" fmla="*/ 1337 w 382"/>
                <a:gd name="T49" fmla="*/ 3269 h 394"/>
                <a:gd name="T50" fmla="*/ 1441 w 382"/>
                <a:gd name="T51" fmla="*/ 3169 h 394"/>
                <a:gd name="T52" fmla="*/ 1638 w 382"/>
                <a:gd name="T53" fmla="*/ 3169 h 394"/>
                <a:gd name="T54" fmla="*/ 1916 w 382"/>
                <a:gd name="T55" fmla="*/ 3269 h 394"/>
                <a:gd name="T56" fmla="*/ 2121 w 382"/>
                <a:gd name="T57" fmla="*/ 3169 h 394"/>
                <a:gd name="T58" fmla="*/ 2221 w 382"/>
                <a:gd name="T59" fmla="*/ 3101 h 394"/>
                <a:gd name="T60" fmla="*/ 2326 w 382"/>
                <a:gd name="T61" fmla="*/ 3101 h 394"/>
                <a:gd name="T62" fmla="*/ 2426 w 382"/>
                <a:gd name="T63" fmla="*/ 3169 h 394"/>
                <a:gd name="T64" fmla="*/ 2497 w 382"/>
                <a:gd name="T65" fmla="*/ 3169 h 394"/>
                <a:gd name="T66" fmla="*/ 2497 w 382"/>
                <a:gd name="T67" fmla="*/ 3101 h 394"/>
                <a:gd name="T68" fmla="*/ 2598 w 382"/>
                <a:gd name="T69" fmla="*/ 2801 h 394"/>
                <a:gd name="T70" fmla="*/ 2805 w 382"/>
                <a:gd name="T71" fmla="*/ 2594 h 394"/>
                <a:gd name="T72" fmla="*/ 2909 w 382"/>
                <a:gd name="T73" fmla="*/ 2422 h 394"/>
                <a:gd name="T74" fmla="*/ 3073 w 382"/>
                <a:gd name="T75" fmla="*/ 2318 h 394"/>
                <a:gd name="T76" fmla="*/ 3173 w 382"/>
                <a:gd name="T77" fmla="*/ 2113 h 394"/>
                <a:gd name="T78" fmla="*/ 3173 w 382"/>
                <a:gd name="T79" fmla="*/ 1909 h 394"/>
                <a:gd name="T80" fmla="*/ 3277 w 382"/>
                <a:gd name="T81" fmla="*/ 1637 h 394"/>
                <a:gd name="T82" fmla="*/ 3173 w 382"/>
                <a:gd name="T83" fmla="*/ 1336 h 394"/>
                <a:gd name="T84" fmla="*/ 3173 w 382"/>
                <a:gd name="T85" fmla="*/ 1064 h 394"/>
                <a:gd name="T86" fmla="*/ 3277 w 382"/>
                <a:gd name="T87" fmla="*/ 753 h 39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82"/>
                <a:gd name="T133" fmla="*/ 0 h 394"/>
                <a:gd name="T134" fmla="*/ 382 w 382"/>
                <a:gd name="T135" fmla="*/ 394 h 39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82" h="394">
                  <a:moveTo>
                    <a:pt x="382" y="88"/>
                  </a:moveTo>
                  <a:lnTo>
                    <a:pt x="179" y="80"/>
                  </a:lnTo>
                  <a:lnTo>
                    <a:pt x="156" y="68"/>
                  </a:lnTo>
                  <a:lnTo>
                    <a:pt x="148" y="56"/>
                  </a:lnTo>
                  <a:lnTo>
                    <a:pt x="136" y="32"/>
                  </a:lnTo>
                  <a:lnTo>
                    <a:pt x="112" y="0"/>
                  </a:lnTo>
                  <a:lnTo>
                    <a:pt x="112" y="20"/>
                  </a:lnTo>
                  <a:lnTo>
                    <a:pt x="100" y="44"/>
                  </a:lnTo>
                  <a:lnTo>
                    <a:pt x="100" y="68"/>
                  </a:lnTo>
                  <a:lnTo>
                    <a:pt x="8" y="68"/>
                  </a:lnTo>
                  <a:lnTo>
                    <a:pt x="0" y="88"/>
                  </a:lnTo>
                  <a:lnTo>
                    <a:pt x="0" y="148"/>
                  </a:lnTo>
                  <a:lnTo>
                    <a:pt x="56" y="156"/>
                  </a:lnTo>
                  <a:lnTo>
                    <a:pt x="56" y="203"/>
                  </a:lnTo>
                  <a:lnTo>
                    <a:pt x="32" y="247"/>
                  </a:lnTo>
                  <a:lnTo>
                    <a:pt x="44" y="283"/>
                  </a:lnTo>
                  <a:lnTo>
                    <a:pt x="32" y="295"/>
                  </a:lnTo>
                  <a:lnTo>
                    <a:pt x="44" y="315"/>
                  </a:lnTo>
                  <a:lnTo>
                    <a:pt x="44" y="339"/>
                  </a:lnTo>
                  <a:lnTo>
                    <a:pt x="100" y="350"/>
                  </a:lnTo>
                  <a:lnTo>
                    <a:pt x="124" y="350"/>
                  </a:lnTo>
                  <a:lnTo>
                    <a:pt x="124" y="362"/>
                  </a:lnTo>
                  <a:lnTo>
                    <a:pt x="136" y="382"/>
                  </a:lnTo>
                  <a:lnTo>
                    <a:pt x="156" y="394"/>
                  </a:lnTo>
                  <a:lnTo>
                    <a:pt x="156" y="382"/>
                  </a:lnTo>
                  <a:lnTo>
                    <a:pt x="168" y="370"/>
                  </a:lnTo>
                  <a:lnTo>
                    <a:pt x="191" y="370"/>
                  </a:lnTo>
                  <a:lnTo>
                    <a:pt x="223" y="382"/>
                  </a:lnTo>
                  <a:lnTo>
                    <a:pt x="247" y="370"/>
                  </a:lnTo>
                  <a:lnTo>
                    <a:pt x="259" y="362"/>
                  </a:lnTo>
                  <a:lnTo>
                    <a:pt x="271" y="362"/>
                  </a:lnTo>
                  <a:lnTo>
                    <a:pt x="283" y="370"/>
                  </a:lnTo>
                  <a:lnTo>
                    <a:pt x="291" y="370"/>
                  </a:lnTo>
                  <a:lnTo>
                    <a:pt x="291" y="362"/>
                  </a:lnTo>
                  <a:lnTo>
                    <a:pt x="303" y="327"/>
                  </a:lnTo>
                  <a:lnTo>
                    <a:pt x="327" y="303"/>
                  </a:lnTo>
                  <a:lnTo>
                    <a:pt x="339" y="283"/>
                  </a:lnTo>
                  <a:lnTo>
                    <a:pt x="358" y="271"/>
                  </a:lnTo>
                  <a:lnTo>
                    <a:pt x="370" y="247"/>
                  </a:lnTo>
                  <a:lnTo>
                    <a:pt x="370" y="223"/>
                  </a:lnTo>
                  <a:lnTo>
                    <a:pt x="382" y="191"/>
                  </a:lnTo>
                  <a:lnTo>
                    <a:pt x="370" y="156"/>
                  </a:lnTo>
                  <a:lnTo>
                    <a:pt x="370" y="124"/>
                  </a:lnTo>
                  <a:lnTo>
                    <a:pt x="382" y="8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FDB01AA9-E3DD-C555-8F4D-E92DB5A5B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" y="2396"/>
              <a:ext cx="512" cy="440"/>
            </a:xfrm>
            <a:custGeom>
              <a:avLst/>
              <a:gdLst>
                <a:gd name="T0" fmla="*/ 1737 w 250"/>
                <a:gd name="T1" fmla="*/ 309 h 215"/>
                <a:gd name="T2" fmla="*/ 1573 w 250"/>
                <a:gd name="T3" fmla="*/ 309 h 215"/>
                <a:gd name="T4" fmla="*/ 1468 w 250"/>
                <a:gd name="T5" fmla="*/ 411 h 215"/>
                <a:gd name="T6" fmla="*/ 1368 w 250"/>
                <a:gd name="T7" fmla="*/ 411 h 215"/>
                <a:gd name="T8" fmla="*/ 1368 w 250"/>
                <a:gd name="T9" fmla="*/ 205 h 215"/>
                <a:gd name="T10" fmla="*/ 1262 w 250"/>
                <a:gd name="T11" fmla="*/ 104 h 215"/>
                <a:gd name="T12" fmla="*/ 1157 w 250"/>
                <a:gd name="T13" fmla="*/ 104 h 215"/>
                <a:gd name="T14" fmla="*/ 989 w 250"/>
                <a:gd name="T15" fmla="*/ 0 h 215"/>
                <a:gd name="T16" fmla="*/ 780 w 250"/>
                <a:gd name="T17" fmla="*/ 104 h 215"/>
                <a:gd name="T18" fmla="*/ 780 w 250"/>
                <a:gd name="T19" fmla="*/ 205 h 215"/>
                <a:gd name="T20" fmla="*/ 680 w 250"/>
                <a:gd name="T21" fmla="*/ 309 h 215"/>
                <a:gd name="T22" fmla="*/ 508 w 250"/>
                <a:gd name="T23" fmla="*/ 411 h 215"/>
                <a:gd name="T24" fmla="*/ 508 w 250"/>
                <a:gd name="T25" fmla="*/ 481 h 215"/>
                <a:gd name="T26" fmla="*/ 197 w 250"/>
                <a:gd name="T27" fmla="*/ 581 h 215"/>
                <a:gd name="T28" fmla="*/ 0 w 250"/>
                <a:gd name="T29" fmla="*/ 788 h 215"/>
                <a:gd name="T30" fmla="*/ 104 w 250"/>
                <a:gd name="T31" fmla="*/ 892 h 215"/>
                <a:gd name="T32" fmla="*/ 301 w 250"/>
                <a:gd name="T33" fmla="*/ 788 h 215"/>
                <a:gd name="T34" fmla="*/ 403 w 250"/>
                <a:gd name="T35" fmla="*/ 788 h 215"/>
                <a:gd name="T36" fmla="*/ 508 w 250"/>
                <a:gd name="T37" fmla="*/ 892 h 215"/>
                <a:gd name="T38" fmla="*/ 508 w 250"/>
                <a:gd name="T39" fmla="*/ 1156 h 215"/>
                <a:gd name="T40" fmla="*/ 680 w 250"/>
                <a:gd name="T41" fmla="*/ 1465 h 215"/>
                <a:gd name="T42" fmla="*/ 1090 w 250"/>
                <a:gd name="T43" fmla="*/ 1570 h 215"/>
                <a:gd name="T44" fmla="*/ 1262 w 250"/>
                <a:gd name="T45" fmla="*/ 1637 h 215"/>
                <a:gd name="T46" fmla="*/ 1737 w 250"/>
                <a:gd name="T47" fmla="*/ 1737 h 215"/>
                <a:gd name="T48" fmla="*/ 1942 w 250"/>
                <a:gd name="T49" fmla="*/ 1842 h 215"/>
                <a:gd name="T50" fmla="*/ 2148 w 250"/>
                <a:gd name="T51" fmla="*/ 1465 h 215"/>
                <a:gd name="T52" fmla="*/ 2148 w 250"/>
                <a:gd name="T53" fmla="*/ 1064 h 215"/>
                <a:gd name="T54" fmla="*/ 1665 w 250"/>
                <a:gd name="T55" fmla="*/ 993 h 215"/>
                <a:gd name="T56" fmla="*/ 1665 w 250"/>
                <a:gd name="T57" fmla="*/ 481 h 215"/>
                <a:gd name="T58" fmla="*/ 1737 w 250"/>
                <a:gd name="T59" fmla="*/ 309 h 215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50"/>
                <a:gd name="T91" fmla="*/ 0 h 215"/>
                <a:gd name="T92" fmla="*/ 250 w 250"/>
                <a:gd name="T93" fmla="*/ 215 h 215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50" h="215">
                  <a:moveTo>
                    <a:pt x="202" y="36"/>
                  </a:moveTo>
                  <a:lnTo>
                    <a:pt x="183" y="36"/>
                  </a:lnTo>
                  <a:lnTo>
                    <a:pt x="171" y="48"/>
                  </a:lnTo>
                  <a:lnTo>
                    <a:pt x="159" y="48"/>
                  </a:lnTo>
                  <a:lnTo>
                    <a:pt x="159" y="24"/>
                  </a:lnTo>
                  <a:lnTo>
                    <a:pt x="147" y="12"/>
                  </a:lnTo>
                  <a:lnTo>
                    <a:pt x="135" y="12"/>
                  </a:lnTo>
                  <a:lnTo>
                    <a:pt x="115" y="0"/>
                  </a:lnTo>
                  <a:lnTo>
                    <a:pt x="91" y="12"/>
                  </a:lnTo>
                  <a:lnTo>
                    <a:pt x="91" y="24"/>
                  </a:lnTo>
                  <a:lnTo>
                    <a:pt x="79" y="36"/>
                  </a:lnTo>
                  <a:lnTo>
                    <a:pt x="59" y="48"/>
                  </a:lnTo>
                  <a:lnTo>
                    <a:pt x="59" y="56"/>
                  </a:lnTo>
                  <a:lnTo>
                    <a:pt x="23" y="68"/>
                  </a:lnTo>
                  <a:lnTo>
                    <a:pt x="0" y="92"/>
                  </a:lnTo>
                  <a:lnTo>
                    <a:pt x="12" y="104"/>
                  </a:lnTo>
                  <a:lnTo>
                    <a:pt x="35" y="92"/>
                  </a:lnTo>
                  <a:lnTo>
                    <a:pt x="47" y="92"/>
                  </a:lnTo>
                  <a:lnTo>
                    <a:pt x="59" y="104"/>
                  </a:lnTo>
                  <a:lnTo>
                    <a:pt x="59" y="135"/>
                  </a:lnTo>
                  <a:lnTo>
                    <a:pt x="79" y="171"/>
                  </a:lnTo>
                  <a:lnTo>
                    <a:pt x="127" y="183"/>
                  </a:lnTo>
                  <a:lnTo>
                    <a:pt x="147" y="191"/>
                  </a:lnTo>
                  <a:lnTo>
                    <a:pt x="202" y="203"/>
                  </a:lnTo>
                  <a:lnTo>
                    <a:pt x="226" y="215"/>
                  </a:lnTo>
                  <a:lnTo>
                    <a:pt x="250" y="171"/>
                  </a:lnTo>
                  <a:lnTo>
                    <a:pt x="250" y="124"/>
                  </a:lnTo>
                  <a:lnTo>
                    <a:pt x="194" y="116"/>
                  </a:lnTo>
                  <a:lnTo>
                    <a:pt x="194" y="56"/>
                  </a:lnTo>
                  <a:lnTo>
                    <a:pt x="202" y="36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B0FD3A6F-DA30-5A65-F94A-96AE4BDD2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" y="2396"/>
              <a:ext cx="530" cy="277"/>
            </a:xfrm>
            <a:custGeom>
              <a:avLst/>
              <a:gdLst>
                <a:gd name="T0" fmla="*/ 0 w 259"/>
                <a:gd name="T1" fmla="*/ 0 h 135"/>
                <a:gd name="T2" fmla="*/ 205 w 259"/>
                <a:gd name="T3" fmla="*/ 105 h 135"/>
                <a:gd name="T4" fmla="*/ 481 w 259"/>
                <a:gd name="T5" fmla="*/ 207 h 135"/>
                <a:gd name="T6" fmla="*/ 780 w 259"/>
                <a:gd name="T7" fmla="*/ 207 h 135"/>
                <a:gd name="T8" fmla="*/ 1056 w 259"/>
                <a:gd name="T9" fmla="*/ 312 h 135"/>
                <a:gd name="T10" fmla="*/ 1465 w 259"/>
                <a:gd name="T11" fmla="*/ 484 h 135"/>
                <a:gd name="T12" fmla="*/ 1737 w 259"/>
                <a:gd name="T13" fmla="*/ 691 h 135"/>
                <a:gd name="T14" fmla="*/ 2114 w 259"/>
                <a:gd name="T15" fmla="*/ 796 h 135"/>
                <a:gd name="T16" fmla="*/ 2220 w 259"/>
                <a:gd name="T17" fmla="*/ 897 h 135"/>
                <a:gd name="T18" fmla="*/ 1948 w 259"/>
                <a:gd name="T19" fmla="*/ 1069 h 135"/>
                <a:gd name="T20" fmla="*/ 1533 w 259"/>
                <a:gd name="T21" fmla="*/ 1165 h 135"/>
                <a:gd name="T22" fmla="*/ 1056 w 259"/>
                <a:gd name="T23" fmla="*/ 1165 h 135"/>
                <a:gd name="T24" fmla="*/ 952 w 259"/>
                <a:gd name="T25" fmla="*/ 1069 h 135"/>
                <a:gd name="T26" fmla="*/ 952 w 259"/>
                <a:gd name="T27" fmla="*/ 796 h 135"/>
                <a:gd name="T28" fmla="*/ 780 w 259"/>
                <a:gd name="T29" fmla="*/ 1001 h 135"/>
                <a:gd name="T30" fmla="*/ 581 w 259"/>
                <a:gd name="T31" fmla="*/ 1001 h 135"/>
                <a:gd name="T32" fmla="*/ 481 w 259"/>
                <a:gd name="T33" fmla="*/ 897 h 135"/>
                <a:gd name="T34" fmla="*/ 377 w 259"/>
                <a:gd name="T35" fmla="*/ 897 h 135"/>
                <a:gd name="T36" fmla="*/ 309 w 259"/>
                <a:gd name="T37" fmla="*/ 691 h 135"/>
                <a:gd name="T38" fmla="*/ 104 w 259"/>
                <a:gd name="T39" fmla="*/ 484 h 135"/>
                <a:gd name="T40" fmla="*/ 0 w 259"/>
                <a:gd name="T41" fmla="*/ 312 h 135"/>
                <a:gd name="T42" fmla="*/ 0 w 259"/>
                <a:gd name="T43" fmla="*/ 0 h 13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259"/>
                <a:gd name="T67" fmla="*/ 0 h 135"/>
                <a:gd name="T68" fmla="*/ 259 w 259"/>
                <a:gd name="T69" fmla="*/ 135 h 135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259" h="135">
                  <a:moveTo>
                    <a:pt x="0" y="0"/>
                  </a:moveTo>
                  <a:lnTo>
                    <a:pt x="24" y="12"/>
                  </a:lnTo>
                  <a:lnTo>
                    <a:pt x="56" y="24"/>
                  </a:lnTo>
                  <a:lnTo>
                    <a:pt x="91" y="24"/>
                  </a:lnTo>
                  <a:lnTo>
                    <a:pt x="123" y="36"/>
                  </a:lnTo>
                  <a:lnTo>
                    <a:pt x="171" y="56"/>
                  </a:lnTo>
                  <a:lnTo>
                    <a:pt x="203" y="80"/>
                  </a:lnTo>
                  <a:lnTo>
                    <a:pt x="247" y="92"/>
                  </a:lnTo>
                  <a:lnTo>
                    <a:pt x="259" y="104"/>
                  </a:lnTo>
                  <a:lnTo>
                    <a:pt x="227" y="124"/>
                  </a:lnTo>
                  <a:lnTo>
                    <a:pt x="179" y="135"/>
                  </a:lnTo>
                  <a:lnTo>
                    <a:pt x="123" y="135"/>
                  </a:lnTo>
                  <a:lnTo>
                    <a:pt x="111" y="124"/>
                  </a:lnTo>
                  <a:lnTo>
                    <a:pt x="111" y="92"/>
                  </a:lnTo>
                  <a:lnTo>
                    <a:pt x="91" y="116"/>
                  </a:lnTo>
                  <a:lnTo>
                    <a:pt x="68" y="116"/>
                  </a:lnTo>
                  <a:lnTo>
                    <a:pt x="56" y="104"/>
                  </a:lnTo>
                  <a:lnTo>
                    <a:pt x="44" y="104"/>
                  </a:lnTo>
                  <a:lnTo>
                    <a:pt x="36" y="80"/>
                  </a:lnTo>
                  <a:lnTo>
                    <a:pt x="12" y="56"/>
                  </a:lnTo>
                  <a:lnTo>
                    <a:pt x="0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BF732512-F01D-31D5-306E-646A03697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" y="1590"/>
              <a:ext cx="967" cy="921"/>
            </a:xfrm>
            <a:custGeom>
              <a:avLst/>
              <a:gdLst>
                <a:gd name="T0" fmla="*/ 0 w 473"/>
                <a:gd name="T1" fmla="*/ 377 h 450"/>
                <a:gd name="T2" fmla="*/ 104 w 473"/>
                <a:gd name="T3" fmla="*/ 688 h 450"/>
                <a:gd name="T4" fmla="*/ 104 w 473"/>
                <a:gd name="T5" fmla="*/ 892 h 450"/>
                <a:gd name="T6" fmla="*/ 272 w 473"/>
                <a:gd name="T7" fmla="*/ 1269 h 450"/>
                <a:gd name="T8" fmla="*/ 376 w 473"/>
                <a:gd name="T9" fmla="*/ 1369 h 450"/>
                <a:gd name="T10" fmla="*/ 581 w 473"/>
                <a:gd name="T11" fmla="*/ 1369 h 450"/>
                <a:gd name="T12" fmla="*/ 785 w 473"/>
                <a:gd name="T13" fmla="*/ 1465 h 450"/>
                <a:gd name="T14" fmla="*/ 785 w 473"/>
                <a:gd name="T15" fmla="*/ 1637 h 450"/>
                <a:gd name="T16" fmla="*/ 853 w 473"/>
                <a:gd name="T17" fmla="*/ 1738 h 450"/>
                <a:gd name="T18" fmla="*/ 476 w 473"/>
                <a:gd name="T19" fmla="*/ 2802 h 450"/>
                <a:gd name="T20" fmla="*/ 476 w 473"/>
                <a:gd name="T21" fmla="*/ 3105 h 450"/>
                <a:gd name="T22" fmla="*/ 685 w 473"/>
                <a:gd name="T23" fmla="*/ 3377 h 450"/>
                <a:gd name="T24" fmla="*/ 785 w 473"/>
                <a:gd name="T25" fmla="*/ 3586 h 450"/>
                <a:gd name="T26" fmla="*/ 853 w 473"/>
                <a:gd name="T27" fmla="*/ 3686 h 450"/>
                <a:gd name="T28" fmla="*/ 1049 w 473"/>
                <a:gd name="T29" fmla="*/ 3790 h 450"/>
                <a:gd name="T30" fmla="*/ 2784 w 473"/>
                <a:gd name="T31" fmla="*/ 3858 h 450"/>
                <a:gd name="T32" fmla="*/ 2993 w 473"/>
                <a:gd name="T33" fmla="*/ 3586 h 450"/>
                <a:gd name="T34" fmla="*/ 3093 w 473"/>
                <a:gd name="T35" fmla="*/ 3377 h 450"/>
                <a:gd name="T36" fmla="*/ 3093 w 473"/>
                <a:gd name="T37" fmla="*/ 3105 h 450"/>
                <a:gd name="T38" fmla="*/ 3161 w 473"/>
                <a:gd name="T39" fmla="*/ 2906 h 450"/>
                <a:gd name="T40" fmla="*/ 3469 w 473"/>
                <a:gd name="T41" fmla="*/ 2630 h 450"/>
                <a:gd name="T42" fmla="*/ 3469 w 473"/>
                <a:gd name="T43" fmla="*/ 2530 h 450"/>
                <a:gd name="T44" fmla="*/ 3365 w 473"/>
                <a:gd name="T45" fmla="*/ 2425 h 450"/>
                <a:gd name="T46" fmla="*/ 3469 w 473"/>
                <a:gd name="T47" fmla="*/ 2325 h 450"/>
                <a:gd name="T48" fmla="*/ 3674 w 473"/>
                <a:gd name="T49" fmla="*/ 2221 h 450"/>
                <a:gd name="T50" fmla="*/ 3846 w 473"/>
                <a:gd name="T51" fmla="*/ 2049 h 450"/>
                <a:gd name="T52" fmla="*/ 3950 w 473"/>
                <a:gd name="T53" fmla="*/ 1738 h 450"/>
                <a:gd name="T54" fmla="*/ 4042 w 473"/>
                <a:gd name="T55" fmla="*/ 1369 h 450"/>
                <a:gd name="T56" fmla="*/ 4042 w 473"/>
                <a:gd name="T57" fmla="*/ 1064 h 450"/>
                <a:gd name="T58" fmla="*/ 3950 w 473"/>
                <a:gd name="T59" fmla="*/ 960 h 450"/>
                <a:gd name="T60" fmla="*/ 3574 w 473"/>
                <a:gd name="T61" fmla="*/ 892 h 450"/>
                <a:gd name="T62" fmla="*/ 3469 w 473"/>
                <a:gd name="T63" fmla="*/ 1064 h 450"/>
                <a:gd name="T64" fmla="*/ 3265 w 473"/>
                <a:gd name="T65" fmla="*/ 1269 h 450"/>
                <a:gd name="T66" fmla="*/ 3161 w 473"/>
                <a:gd name="T67" fmla="*/ 1465 h 450"/>
                <a:gd name="T68" fmla="*/ 3093 w 473"/>
                <a:gd name="T69" fmla="*/ 1738 h 450"/>
                <a:gd name="T70" fmla="*/ 3093 w 473"/>
                <a:gd name="T71" fmla="*/ 1465 h 450"/>
                <a:gd name="T72" fmla="*/ 2684 w 473"/>
                <a:gd name="T73" fmla="*/ 1369 h 450"/>
                <a:gd name="T74" fmla="*/ 2513 w 473"/>
                <a:gd name="T75" fmla="*/ 1165 h 450"/>
                <a:gd name="T76" fmla="*/ 2316 w 473"/>
                <a:gd name="T77" fmla="*/ 1165 h 450"/>
                <a:gd name="T78" fmla="*/ 2110 w 473"/>
                <a:gd name="T79" fmla="*/ 960 h 450"/>
                <a:gd name="T80" fmla="*/ 2006 w 473"/>
                <a:gd name="T81" fmla="*/ 688 h 450"/>
                <a:gd name="T82" fmla="*/ 1840 w 473"/>
                <a:gd name="T83" fmla="*/ 377 h 450"/>
                <a:gd name="T84" fmla="*/ 1629 w 473"/>
                <a:gd name="T85" fmla="*/ 309 h 450"/>
                <a:gd name="T86" fmla="*/ 1529 w 473"/>
                <a:gd name="T87" fmla="*/ 309 h 450"/>
                <a:gd name="T88" fmla="*/ 1357 w 473"/>
                <a:gd name="T89" fmla="*/ 205 h 450"/>
                <a:gd name="T90" fmla="*/ 1357 w 473"/>
                <a:gd name="T91" fmla="*/ 0 h 450"/>
                <a:gd name="T92" fmla="*/ 1049 w 473"/>
                <a:gd name="T93" fmla="*/ 0 h 450"/>
                <a:gd name="T94" fmla="*/ 957 w 473"/>
                <a:gd name="T95" fmla="*/ 104 h 450"/>
                <a:gd name="T96" fmla="*/ 1049 w 473"/>
                <a:gd name="T97" fmla="*/ 104 h 450"/>
                <a:gd name="T98" fmla="*/ 957 w 473"/>
                <a:gd name="T99" fmla="*/ 205 h 450"/>
                <a:gd name="T100" fmla="*/ 685 w 473"/>
                <a:gd name="T101" fmla="*/ 205 h 450"/>
                <a:gd name="T102" fmla="*/ 376 w 473"/>
                <a:gd name="T103" fmla="*/ 309 h 450"/>
                <a:gd name="T104" fmla="*/ 104 w 473"/>
                <a:gd name="T105" fmla="*/ 377 h 450"/>
                <a:gd name="T106" fmla="*/ 0 w 473"/>
                <a:gd name="T107" fmla="*/ 377 h 45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473"/>
                <a:gd name="T163" fmla="*/ 0 h 450"/>
                <a:gd name="T164" fmla="*/ 473 w 473"/>
                <a:gd name="T165" fmla="*/ 450 h 450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473" h="450">
                  <a:moveTo>
                    <a:pt x="0" y="44"/>
                  </a:moveTo>
                  <a:lnTo>
                    <a:pt x="12" y="80"/>
                  </a:lnTo>
                  <a:lnTo>
                    <a:pt x="12" y="104"/>
                  </a:lnTo>
                  <a:lnTo>
                    <a:pt x="32" y="148"/>
                  </a:lnTo>
                  <a:lnTo>
                    <a:pt x="44" y="160"/>
                  </a:lnTo>
                  <a:lnTo>
                    <a:pt x="68" y="160"/>
                  </a:lnTo>
                  <a:lnTo>
                    <a:pt x="92" y="171"/>
                  </a:lnTo>
                  <a:lnTo>
                    <a:pt x="92" y="191"/>
                  </a:lnTo>
                  <a:lnTo>
                    <a:pt x="100" y="203"/>
                  </a:lnTo>
                  <a:lnTo>
                    <a:pt x="56" y="327"/>
                  </a:lnTo>
                  <a:lnTo>
                    <a:pt x="56" y="362"/>
                  </a:lnTo>
                  <a:lnTo>
                    <a:pt x="80" y="394"/>
                  </a:lnTo>
                  <a:lnTo>
                    <a:pt x="92" y="418"/>
                  </a:lnTo>
                  <a:lnTo>
                    <a:pt x="100" y="430"/>
                  </a:lnTo>
                  <a:lnTo>
                    <a:pt x="123" y="442"/>
                  </a:lnTo>
                  <a:lnTo>
                    <a:pt x="326" y="450"/>
                  </a:lnTo>
                  <a:lnTo>
                    <a:pt x="350" y="418"/>
                  </a:lnTo>
                  <a:lnTo>
                    <a:pt x="362" y="394"/>
                  </a:lnTo>
                  <a:lnTo>
                    <a:pt x="362" y="362"/>
                  </a:lnTo>
                  <a:lnTo>
                    <a:pt x="370" y="339"/>
                  </a:lnTo>
                  <a:lnTo>
                    <a:pt x="406" y="307"/>
                  </a:lnTo>
                  <a:lnTo>
                    <a:pt x="406" y="295"/>
                  </a:lnTo>
                  <a:lnTo>
                    <a:pt x="394" y="283"/>
                  </a:lnTo>
                  <a:lnTo>
                    <a:pt x="406" y="271"/>
                  </a:lnTo>
                  <a:lnTo>
                    <a:pt x="430" y="259"/>
                  </a:lnTo>
                  <a:lnTo>
                    <a:pt x="450" y="239"/>
                  </a:lnTo>
                  <a:lnTo>
                    <a:pt x="462" y="203"/>
                  </a:lnTo>
                  <a:lnTo>
                    <a:pt x="473" y="160"/>
                  </a:lnTo>
                  <a:lnTo>
                    <a:pt x="473" y="124"/>
                  </a:lnTo>
                  <a:lnTo>
                    <a:pt x="462" y="112"/>
                  </a:lnTo>
                  <a:lnTo>
                    <a:pt x="418" y="104"/>
                  </a:lnTo>
                  <a:lnTo>
                    <a:pt x="406" y="124"/>
                  </a:lnTo>
                  <a:lnTo>
                    <a:pt x="382" y="148"/>
                  </a:lnTo>
                  <a:lnTo>
                    <a:pt x="370" y="171"/>
                  </a:lnTo>
                  <a:lnTo>
                    <a:pt x="362" y="203"/>
                  </a:lnTo>
                  <a:lnTo>
                    <a:pt x="362" y="171"/>
                  </a:lnTo>
                  <a:lnTo>
                    <a:pt x="314" y="160"/>
                  </a:lnTo>
                  <a:lnTo>
                    <a:pt x="294" y="136"/>
                  </a:lnTo>
                  <a:lnTo>
                    <a:pt x="271" y="136"/>
                  </a:lnTo>
                  <a:lnTo>
                    <a:pt x="247" y="112"/>
                  </a:lnTo>
                  <a:lnTo>
                    <a:pt x="235" y="80"/>
                  </a:lnTo>
                  <a:lnTo>
                    <a:pt x="215" y="44"/>
                  </a:lnTo>
                  <a:lnTo>
                    <a:pt x="191" y="36"/>
                  </a:lnTo>
                  <a:lnTo>
                    <a:pt x="179" y="36"/>
                  </a:lnTo>
                  <a:lnTo>
                    <a:pt x="159" y="24"/>
                  </a:lnTo>
                  <a:lnTo>
                    <a:pt x="159" y="0"/>
                  </a:lnTo>
                  <a:lnTo>
                    <a:pt x="123" y="0"/>
                  </a:lnTo>
                  <a:lnTo>
                    <a:pt x="112" y="12"/>
                  </a:lnTo>
                  <a:lnTo>
                    <a:pt x="123" y="12"/>
                  </a:lnTo>
                  <a:lnTo>
                    <a:pt x="112" y="24"/>
                  </a:lnTo>
                  <a:lnTo>
                    <a:pt x="80" y="24"/>
                  </a:lnTo>
                  <a:lnTo>
                    <a:pt x="44" y="36"/>
                  </a:lnTo>
                  <a:lnTo>
                    <a:pt x="12" y="4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CC763DE7-11DC-414C-9A94-06ED5655D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1478"/>
              <a:ext cx="366" cy="391"/>
            </a:xfrm>
            <a:custGeom>
              <a:avLst/>
              <a:gdLst>
                <a:gd name="T0" fmla="*/ 1153 w 179"/>
                <a:gd name="T1" fmla="*/ 1638 h 191"/>
                <a:gd name="T2" fmla="*/ 957 w 179"/>
                <a:gd name="T3" fmla="*/ 1638 h 191"/>
                <a:gd name="T4" fmla="*/ 752 w 179"/>
                <a:gd name="T5" fmla="*/ 1433 h 191"/>
                <a:gd name="T6" fmla="*/ 648 w 179"/>
                <a:gd name="T7" fmla="*/ 1157 h 191"/>
                <a:gd name="T8" fmla="*/ 481 w 179"/>
                <a:gd name="T9" fmla="*/ 852 h 191"/>
                <a:gd name="T10" fmla="*/ 272 w 179"/>
                <a:gd name="T11" fmla="*/ 780 h 191"/>
                <a:gd name="T12" fmla="*/ 172 w 179"/>
                <a:gd name="T13" fmla="*/ 780 h 191"/>
                <a:gd name="T14" fmla="*/ 0 w 179"/>
                <a:gd name="T15" fmla="*/ 680 h 191"/>
                <a:gd name="T16" fmla="*/ 0 w 179"/>
                <a:gd name="T17" fmla="*/ 473 h 191"/>
                <a:gd name="T18" fmla="*/ 272 w 179"/>
                <a:gd name="T19" fmla="*/ 573 h 191"/>
                <a:gd name="T20" fmla="*/ 581 w 179"/>
                <a:gd name="T21" fmla="*/ 573 h 191"/>
                <a:gd name="T22" fmla="*/ 853 w 179"/>
                <a:gd name="T23" fmla="*/ 368 h 191"/>
                <a:gd name="T24" fmla="*/ 1061 w 179"/>
                <a:gd name="T25" fmla="*/ 104 h 191"/>
                <a:gd name="T26" fmla="*/ 1153 w 179"/>
                <a:gd name="T27" fmla="*/ 0 h 191"/>
                <a:gd name="T28" fmla="*/ 1221 w 179"/>
                <a:gd name="T29" fmla="*/ 0 h 191"/>
                <a:gd name="T30" fmla="*/ 1221 w 179"/>
                <a:gd name="T31" fmla="*/ 276 h 191"/>
                <a:gd name="T32" fmla="*/ 1325 w 179"/>
                <a:gd name="T33" fmla="*/ 573 h 191"/>
                <a:gd name="T34" fmla="*/ 1425 w 179"/>
                <a:gd name="T35" fmla="*/ 780 h 191"/>
                <a:gd name="T36" fmla="*/ 1529 w 179"/>
                <a:gd name="T37" fmla="*/ 852 h 191"/>
                <a:gd name="T38" fmla="*/ 1529 w 179"/>
                <a:gd name="T39" fmla="*/ 952 h 191"/>
                <a:gd name="T40" fmla="*/ 1425 w 179"/>
                <a:gd name="T41" fmla="*/ 1056 h 191"/>
                <a:gd name="T42" fmla="*/ 1221 w 179"/>
                <a:gd name="T43" fmla="*/ 1261 h 191"/>
                <a:gd name="T44" fmla="*/ 1153 w 179"/>
                <a:gd name="T45" fmla="*/ 1533 h 191"/>
                <a:gd name="T46" fmla="*/ 1153 w 179"/>
                <a:gd name="T47" fmla="*/ 1638 h 19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79"/>
                <a:gd name="T73" fmla="*/ 0 h 191"/>
                <a:gd name="T74" fmla="*/ 179 w 179"/>
                <a:gd name="T75" fmla="*/ 191 h 19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79" h="191">
                  <a:moveTo>
                    <a:pt x="135" y="191"/>
                  </a:moveTo>
                  <a:lnTo>
                    <a:pt x="112" y="191"/>
                  </a:lnTo>
                  <a:lnTo>
                    <a:pt x="88" y="167"/>
                  </a:lnTo>
                  <a:lnTo>
                    <a:pt x="76" y="135"/>
                  </a:lnTo>
                  <a:lnTo>
                    <a:pt x="56" y="99"/>
                  </a:lnTo>
                  <a:lnTo>
                    <a:pt x="32" y="91"/>
                  </a:lnTo>
                  <a:lnTo>
                    <a:pt x="20" y="91"/>
                  </a:lnTo>
                  <a:lnTo>
                    <a:pt x="0" y="79"/>
                  </a:lnTo>
                  <a:lnTo>
                    <a:pt x="0" y="55"/>
                  </a:lnTo>
                  <a:lnTo>
                    <a:pt x="32" y="67"/>
                  </a:lnTo>
                  <a:lnTo>
                    <a:pt x="68" y="67"/>
                  </a:lnTo>
                  <a:lnTo>
                    <a:pt x="100" y="43"/>
                  </a:lnTo>
                  <a:lnTo>
                    <a:pt x="124" y="12"/>
                  </a:lnTo>
                  <a:lnTo>
                    <a:pt x="135" y="0"/>
                  </a:lnTo>
                  <a:lnTo>
                    <a:pt x="143" y="0"/>
                  </a:lnTo>
                  <a:lnTo>
                    <a:pt x="143" y="32"/>
                  </a:lnTo>
                  <a:lnTo>
                    <a:pt x="155" y="67"/>
                  </a:lnTo>
                  <a:lnTo>
                    <a:pt x="167" y="91"/>
                  </a:lnTo>
                  <a:lnTo>
                    <a:pt x="179" y="99"/>
                  </a:lnTo>
                  <a:lnTo>
                    <a:pt x="179" y="111"/>
                  </a:lnTo>
                  <a:lnTo>
                    <a:pt x="167" y="123"/>
                  </a:lnTo>
                  <a:lnTo>
                    <a:pt x="143" y="147"/>
                  </a:lnTo>
                  <a:lnTo>
                    <a:pt x="135" y="179"/>
                  </a:lnTo>
                  <a:lnTo>
                    <a:pt x="135" y="191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07943A69-6FD1-B2B2-1351-6199F8284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1388"/>
              <a:ext cx="415" cy="505"/>
            </a:xfrm>
            <a:custGeom>
              <a:avLst/>
              <a:gdLst>
                <a:gd name="T0" fmla="*/ 1734 w 203"/>
                <a:gd name="T1" fmla="*/ 1734 h 247"/>
                <a:gd name="T2" fmla="*/ 1425 w 203"/>
                <a:gd name="T3" fmla="*/ 1734 h 247"/>
                <a:gd name="T4" fmla="*/ 1325 w 203"/>
                <a:gd name="T5" fmla="*/ 1801 h 247"/>
                <a:gd name="T6" fmla="*/ 1325 w 203"/>
                <a:gd name="T7" fmla="*/ 1906 h 247"/>
                <a:gd name="T8" fmla="*/ 1220 w 203"/>
                <a:gd name="T9" fmla="*/ 2006 h 247"/>
                <a:gd name="T10" fmla="*/ 1153 w 203"/>
                <a:gd name="T11" fmla="*/ 2006 h 247"/>
                <a:gd name="T12" fmla="*/ 1057 w 203"/>
                <a:gd name="T13" fmla="*/ 1906 h 247"/>
                <a:gd name="T14" fmla="*/ 957 w 203"/>
                <a:gd name="T15" fmla="*/ 1906 h 247"/>
                <a:gd name="T16" fmla="*/ 852 w 203"/>
                <a:gd name="T17" fmla="*/ 2110 h 247"/>
                <a:gd name="T18" fmla="*/ 648 w 203"/>
                <a:gd name="T19" fmla="*/ 2006 h 247"/>
                <a:gd name="T20" fmla="*/ 581 w 203"/>
                <a:gd name="T21" fmla="*/ 1906 h 247"/>
                <a:gd name="T22" fmla="*/ 648 w 203"/>
                <a:gd name="T23" fmla="*/ 1801 h 247"/>
                <a:gd name="T24" fmla="*/ 648 w 203"/>
                <a:gd name="T25" fmla="*/ 1529 h 247"/>
                <a:gd name="T26" fmla="*/ 581 w 203"/>
                <a:gd name="T27" fmla="*/ 1325 h 247"/>
                <a:gd name="T28" fmla="*/ 581 w 203"/>
                <a:gd name="T29" fmla="*/ 1153 h 247"/>
                <a:gd name="T30" fmla="*/ 476 w 203"/>
                <a:gd name="T31" fmla="*/ 1049 h 247"/>
                <a:gd name="T32" fmla="*/ 272 w 203"/>
                <a:gd name="T33" fmla="*/ 949 h 247"/>
                <a:gd name="T34" fmla="*/ 172 w 203"/>
                <a:gd name="T35" fmla="*/ 744 h 247"/>
                <a:gd name="T36" fmla="*/ 172 w 203"/>
                <a:gd name="T37" fmla="*/ 581 h 247"/>
                <a:gd name="T38" fmla="*/ 0 w 203"/>
                <a:gd name="T39" fmla="*/ 476 h 247"/>
                <a:gd name="T40" fmla="*/ 67 w 203"/>
                <a:gd name="T41" fmla="*/ 376 h 247"/>
                <a:gd name="T42" fmla="*/ 476 w 203"/>
                <a:gd name="T43" fmla="*/ 476 h 247"/>
                <a:gd name="T44" fmla="*/ 581 w 203"/>
                <a:gd name="T45" fmla="*/ 476 h 247"/>
                <a:gd name="T46" fmla="*/ 648 w 203"/>
                <a:gd name="T47" fmla="*/ 581 h 247"/>
                <a:gd name="T48" fmla="*/ 752 w 203"/>
                <a:gd name="T49" fmla="*/ 376 h 247"/>
                <a:gd name="T50" fmla="*/ 1153 w 203"/>
                <a:gd name="T51" fmla="*/ 172 h 247"/>
                <a:gd name="T52" fmla="*/ 1153 w 203"/>
                <a:gd name="T53" fmla="*/ 0 h 247"/>
                <a:gd name="T54" fmla="*/ 1325 w 203"/>
                <a:gd name="T55" fmla="*/ 67 h 247"/>
                <a:gd name="T56" fmla="*/ 1325 w 203"/>
                <a:gd name="T57" fmla="*/ 272 h 247"/>
                <a:gd name="T58" fmla="*/ 1425 w 203"/>
                <a:gd name="T59" fmla="*/ 272 h 247"/>
                <a:gd name="T60" fmla="*/ 1529 w 203"/>
                <a:gd name="T61" fmla="*/ 476 h 247"/>
                <a:gd name="T62" fmla="*/ 1425 w 203"/>
                <a:gd name="T63" fmla="*/ 744 h 247"/>
                <a:gd name="T64" fmla="*/ 1529 w 203"/>
                <a:gd name="T65" fmla="*/ 1153 h 247"/>
                <a:gd name="T66" fmla="*/ 1629 w 203"/>
                <a:gd name="T67" fmla="*/ 1221 h 247"/>
                <a:gd name="T68" fmla="*/ 1734 w 203"/>
                <a:gd name="T69" fmla="*/ 1529 h 247"/>
                <a:gd name="T70" fmla="*/ 1734 w 203"/>
                <a:gd name="T71" fmla="*/ 1734 h 24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03"/>
                <a:gd name="T109" fmla="*/ 0 h 247"/>
                <a:gd name="T110" fmla="*/ 203 w 203"/>
                <a:gd name="T111" fmla="*/ 247 h 247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03" h="247">
                  <a:moveTo>
                    <a:pt x="203" y="203"/>
                  </a:moveTo>
                  <a:lnTo>
                    <a:pt x="167" y="203"/>
                  </a:lnTo>
                  <a:lnTo>
                    <a:pt x="155" y="211"/>
                  </a:lnTo>
                  <a:lnTo>
                    <a:pt x="155" y="223"/>
                  </a:lnTo>
                  <a:lnTo>
                    <a:pt x="143" y="235"/>
                  </a:lnTo>
                  <a:lnTo>
                    <a:pt x="135" y="235"/>
                  </a:lnTo>
                  <a:lnTo>
                    <a:pt x="124" y="223"/>
                  </a:lnTo>
                  <a:lnTo>
                    <a:pt x="112" y="223"/>
                  </a:lnTo>
                  <a:lnTo>
                    <a:pt x="100" y="247"/>
                  </a:lnTo>
                  <a:lnTo>
                    <a:pt x="76" y="235"/>
                  </a:lnTo>
                  <a:lnTo>
                    <a:pt x="68" y="223"/>
                  </a:lnTo>
                  <a:lnTo>
                    <a:pt x="76" y="211"/>
                  </a:lnTo>
                  <a:lnTo>
                    <a:pt x="76" y="179"/>
                  </a:lnTo>
                  <a:lnTo>
                    <a:pt x="68" y="155"/>
                  </a:lnTo>
                  <a:lnTo>
                    <a:pt x="68" y="135"/>
                  </a:lnTo>
                  <a:lnTo>
                    <a:pt x="56" y="123"/>
                  </a:lnTo>
                  <a:lnTo>
                    <a:pt x="32" y="111"/>
                  </a:lnTo>
                  <a:lnTo>
                    <a:pt x="20" y="87"/>
                  </a:lnTo>
                  <a:lnTo>
                    <a:pt x="20" y="68"/>
                  </a:lnTo>
                  <a:lnTo>
                    <a:pt x="0" y="56"/>
                  </a:lnTo>
                  <a:lnTo>
                    <a:pt x="8" y="44"/>
                  </a:lnTo>
                  <a:lnTo>
                    <a:pt x="56" y="56"/>
                  </a:lnTo>
                  <a:lnTo>
                    <a:pt x="68" y="56"/>
                  </a:lnTo>
                  <a:lnTo>
                    <a:pt x="76" y="68"/>
                  </a:lnTo>
                  <a:lnTo>
                    <a:pt x="88" y="44"/>
                  </a:lnTo>
                  <a:lnTo>
                    <a:pt x="135" y="20"/>
                  </a:lnTo>
                  <a:lnTo>
                    <a:pt x="135" y="0"/>
                  </a:lnTo>
                  <a:lnTo>
                    <a:pt x="155" y="8"/>
                  </a:lnTo>
                  <a:lnTo>
                    <a:pt x="155" y="32"/>
                  </a:lnTo>
                  <a:lnTo>
                    <a:pt x="167" y="32"/>
                  </a:lnTo>
                  <a:lnTo>
                    <a:pt x="179" y="56"/>
                  </a:lnTo>
                  <a:lnTo>
                    <a:pt x="167" y="87"/>
                  </a:lnTo>
                  <a:lnTo>
                    <a:pt x="179" y="135"/>
                  </a:lnTo>
                  <a:lnTo>
                    <a:pt x="191" y="143"/>
                  </a:lnTo>
                  <a:lnTo>
                    <a:pt x="203" y="179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C04BCC92-C696-6E40-E70C-E137D5B93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" y="1640"/>
              <a:ext cx="1221" cy="945"/>
            </a:xfrm>
            <a:custGeom>
              <a:avLst/>
              <a:gdLst>
                <a:gd name="T0" fmla="*/ 3201 w 597"/>
                <a:gd name="T1" fmla="*/ 104 h 462"/>
                <a:gd name="T2" fmla="*/ 3266 w 597"/>
                <a:gd name="T3" fmla="*/ 481 h 462"/>
                <a:gd name="T4" fmla="*/ 3201 w 597"/>
                <a:gd name="T5" fmla="*/ 857 h 462"/>
                <a:gd name="T6" fmla="*/ 3473 w 597"/>
                <a:gd name="T7" fmla="*/ 1064 h 462"/>
                <a:gd name="T8" fmla="*/ 3677 w 597"/>
                <a:gd name="T9" fmla="*/ 857 h 462"/>
                <a:gd name="T10" fmla="*/ 3841 w 597"/>
                <a:gd name="T11" fmla="*/ 957 h 462"/>
                <a:gd name="T12" fmla="*/ 3945 w 597"/>
                <a:gd name="T13" fmla="*/ 753 h 462"/>
                <a:gd name="T14" fmla="*/ 4354 w 597"/>
                <a:gd name="T15" fmla="*/ 685 h 462"/>
                <a:gd name="T16" fmla="*/ 4626 w 597"/>
                <a:gd name="T17" fmla="*/ 1164 h 462"/>
                <a:gd name="T18" fmla="*/ 5039 w 597"/>
                <a:gd name="T19" fmla="*/ 1260 h 462"/>
                <a:gd name="T20" fmla="*/ 5107 w 597"/>
                <a:gd name="T21" fmla="*/ 1532 h 462"/>
                <a:gd name="T22" fmla="*/ 4731 w 597"/>
                <a:gd name="T23" fmla="*/ 3062 h 462"/>
                <a:gd name="T24" fmla="*/ 4626 w 597"/>
                <a:gd name="T25" fmla="*/ 3473 h 462"/>
                <a:gd name="T26" fmla="*/ 3677 w 597"/>
                <a:gd name="T27" fmla="*/ 3473 h 462"/>
                <a:gd name="T28" fmla="*/ 3473 w 597"/>
                <a:gd name="T29" fmla="*/ 3578 h 462"/>
                <a:gd name="T30" fmla="*/ 3371 w 597"/>
                <a:gd name="T31" fmla="*/ 3269 h 462"/>
                <a:gd name="T32" fmla="*/ 3094 w 597"/>
                <a:gd name="T33" fmla="*/ 3166 h 462"/>
                <a:gd name="T34" fmla="*/ 2890 w 597"/>
                <a:gd name="T35" fmla="*/ 3373 h 462"/>
                <a:gd name="T36" fmla="*/ 2618 w 597"/>
                <a:gd name="T37" fmla="*/ 3578 h 462"/>
                <a:gd name="T38" fmla="*/ 2309 w 597"/>
                <a:gd name="T39" fmla="*/ 3749 h 462"/>
                <a:gd name="T40" fmla="*/ 1736 w 597"/>
                <a:gd name="T41" fmla="*/ 3850 h 462"/>
                <a:gd name="T42" fmla="*/ 1053 w 597"/>
                <a:gd name="T43" fmla="*/ 3473 h 462"/>
                <a:gd name="T44" fmla="*/ 481 w 597"/>
                <a:gd name="T45" fmla="*/ 3373 h 462"/>
                <a:gd name="T46" fmla="*/ 0 w 597"/>
                <a:gd name="T47" fmla="*/ 3166 h 462"/>
                <a:gd name="T48" fmla="*/ 205 w 597"/>
                <a:gd name="T49" fmla="*/ 2890 h 462"/>
                <a:gd name="T50" fmla="*/ 309 w 597"/>
                <a:gd name="T51" fmla="*/ 2594 h 462"/>
                <a:gd name="T52" fmla="*/ 949 w 597"/>
                <a:gd name="T53" fmla="*/ 2217 h 462"/>
                <a:gd name="T54" fmla="*/ 1154 w 597"/>
                <a:gd name="T55" fmla="*/ 1841 h 462"/>
                <a:gd name="T56" fmla="*/ 1053 w 597"/>
                <a:gd name="T57" fmla="*/ 1064 h 462"/>
                <a:gd name="T58" fmla="*/ 1053 w 597"/>
                <a:gd name="T59" fmla="*/ 581 h 462"/>
                <a:gd name="T60" fmla="*/ 1260 w 597"/>
                <a:gd name="T61" fmla="*/ 481 h 462"/>
                <a:gd name="T62" fmla="*/ 1053 w 597"/>
                <a:gd name="T63" fmla="*/ 272 h 462"/>
                <a:gd name="T64" fmla="*/ 1841 w 597"/>
                <a:gd name="T65" fmla="*/ 172 h 462"/>
                <a:gd name="T66" fmla="*/ 2045 w 597"/>
                <a:gd name="T67" fmla="*/ 481 h 462"/>
                <a:gd name="T68" fmla="*/ 2618 w 597"/>
                <a:gd name="T69" fmla="*/ 481 h 462"/>
                <a:gd name="T70" fmla="*/ 3094 w 597"/>
                <a:gd name="T71" fmla="*/ 104 h 4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597"/>
                <a:gd name="T109" fmla="*/ 0 h 462"/>
                <a:gd name="T110" fmla="*/ 597 w 597"/>
                <a:gd name="T111" fmla="*/ 462 h 46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597" h="462">
                  <a:moveTo>
                    <a:pt x="362" y="0"/>
                  </a:moveTo>
                  <a:lnTo>
                    <a:pt x="374" y="12"/>
                  </a:lnTo>
                  <a:lnTo>
                    <a:pt x="374" y="32"/>
                  </a:lnTo>
                  <a:lnTo>
                    <a:pt x="382" y="56"/>
                  </a:lnTo>
                  <a:lnTo>
                    <a:pt x="382" y="88"/>
                  </a:lnTo>
                  <a:lnTo>
                    <a:pt x="374" y="100"/>
                  </a:lnTo>
                  <a:lnTo>
                    <a:pt x="382" y="112"/>
                  </a:lnTo>
                  <a:lnTo>
                    <a:pt x="406" y="124"/>
                  </a:lnTo>
                  <a:lnTo>
                    <a:pt x="418" y="100"/>
                  </a:lnTo>
                  <a:lnTo>
                    <a:pt x="430" y="100"/>
                  </a:lnTo>
                  <a:lnTo>
                    <a:pt x="441" y="112"/>
                  </a:lnTo>
                  <a:lnTo>
                    <a:pt x="449" y="112"/>
                  </a:lnTo>
                  <a:lnTo>
                    <a:pt x="461" y="100"/>
                  </a:lnTo>
                  <a:lnTo>
                    <a:pt x="461" y="88"/>
                  </a:lnTo>
                  <a:lnTo>
                    <a:pt x="473" y="80"/>
                  </a:lnTo>
                  <a:lnTo>
                    <a:pt x="509" y="80"/>
                  </a:lnTo>
                  <a:lnTo>
                    <a:pt x="529" y="124"/>
                  </a:lnTo>
                  <a:lnTo>
                    <a:pt x="541" y="136"/>
                  </a:lnTo>
                  <a:lnTo>
                    <a:pt x="565" y="136"/>
                  </a:lnTo>
                  <a:lnTo>
                    <a:pt x="589" y="147"/>
                  </a:lnTo>
                  <a:lnTo>
                    <a:pt x="589" y="167"/>
                  </a:lnTo>
                  <a:lnTo>
                    <a:pt x="597" y="179"/>
                  </a:lnTo>
                  <a:lnTo>
                    <a:pt x="553" y="303"/>
                  </a:lnTo>
                  <a:lnTo>
                    <a:pt x="553" y="358"/>
                  </a:lnTo>
                  <a:lnTo>
                    <a:pt x="541" y="382"/>
                  </a:lnTo>
                  <a:lnTo>
                    <a:pt x="541" y="406"/>
                  </a:lnTo>
                  <a:lnTo>
                    <a:pt x="449" y="406"/>
                  </a:lnTo>
                  <a:lnTo>
                    <a:pt x="430" y="406"/>
                  </a:lnTo>
                  <a:lnTo>
                    <a:pt x="418" y="418"/>
                  </a:lnTo>
                  <a:lnTo>
                    <a:pt x="406" y="418"/>
                  </a:lnTo>
                  <a:lnTo>
                    <a:pt x="406" y="394"/>
                  </a:lnTo>
                  <a:lnTo>
                    <a:pt x="394" y="382"/>
                  </a:lnTo>
                  <a:lnTo>
                    <a:pt x="382" y="382"/>
                  </a:lnTo>
                  <a:lnTo>
                    <a:pt x="362" y="370"/>
                  </a:lnTo>
                  <a:lnTo>
                    <a:pt x="338" y="382"/>
                  </a:lnTo>
                  <a:lnTo>
                    <a:pt x="338" y="394"/>
                  </a:lnTo>
                  <a:lnTo>
                    <a:pt x="326" y="406"/>
                  </a:lnTo>
                  <a:lnTo>
                    <a:pt x="306" y="418"/>
                  </a:lnTo>
                  <a:lnTo>
                    <a:pt x="306" y="426"/>
                  </a:lnTo>
                  <a:lnTo>
                    <a:pt x="270" y="438"/>
                  </a:lnTo>
                  <a:lnTo>
                    <a:pt x="247" y="462"/>
                  </a:lnTo>
                  <a:lnTo>
                    <a:pt x="203" y="450"/>
                  </a:lnTo>
                  <a:lnTo>
                    <a:pt x="171" y="426"/>
                  </a:lnTo>
                  <a:lnTo>
                    <a:pt x="123" y="406"/>
                  </a:lnTo>
                  <a:lnTo>
                    <a:pt x="91" y="394"/>
                  </a:lnTo>
                  <a:lnTo>
                    <a:pt x="56" y="394"/>
                  </a:lnTo>
                  <a:lnTo>
                    <a:pt x="24" y="382"/>
                  </a:lnTo>
                  <a:lnTo>
                    <a:pt x="0" y="370"/>
                  </a:lnTo>
                  <a:lnTo>
                    <a:pt x="12" y="350"/>
                  </a:lnTo>
                  <a:lnTo>
                    <a:pt x="24" y="338"/>
                  </a:lnTo>
                  <a:lnTo>
                    <a:pt x="24" y="326"/>
                  </a:lnTo>
                  <a:lnTo>
                    <a:pt x="36" y="303"/>
                  </a:lnTo>
                  <a:lnTo>
                    <a:pt x="56" y="283"/>
                  </a:lnTo>
                  <a:lnTo>
                    <a:pt x="111" y="259"/>
                  </a:lnTo>
                  <a:lnTo>
                    <a:pt x="123" y="259"/>
                  </a:lnTo>
                  <a:lnTo>
                    <a:pt x="135" y="215"/>
                  </a:lnTo>
                  <a:lnTo>
                    <a:pt x="147" y="147"/>
                  </a:lnTo>
                  <a:lnTo>
                    <a:pt x="123" y="124"/>
                  </a:lnTo>
                  <a:lnTo>
                    <a:pt x="111" y="80"/>
                  </a:lnTo>
                  <a:lnTo>
                    <a:pt x="123" y="68"/>
                  </a:lnTo>
                  <a:lnTo>
                    <a:pt x="147" y="68"/>
                  </a:lnTo>
                  <a:lnTo>
                    <a:pt x="147" y="56"/>
                  </a:lnTo>
                  <a:lnTo>
                    <a:pt x="123" y="44"/>
                  </a:lnTo>
                  <a:lnTo>
                    <a:pt x="123" y="32"/>
                  </a:lnTo>
                  <a:lnTo>
                    <a:pt x="179" y="20"/>
                  </a:lnTo>
                  <a:lnTo>
                    <a:pt x="215" y="20"/>
                  </a:lnTo>
                  <a:lnTo>
                    <a:pt x="227" y="32"/>
                  </a:lnTo>
                  <a:lnTo>
                    <a:pt x="239" y="56"/>
                  </a:lnTo>
                  <a:lnTo>
                    <a:pt x="259" y="68"/>
                  </a:lnTo>
                  <a:lnTo>
                    <a:pt x="306" y="56"/>
                  </a:lnTo>
                  <a:lnTo>
                    <a:pt x="326" y="32"/>
                  </a:lnTo>
                  <a:lnTo>
                    <a:pt x="362" y="12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2E8BFE3B-DA86-3B79-411F-193E4B7AC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1770"/>
              <a:ext cx="204" cy="140"/>
            </a:xfrm>
            <a:custGeom>
              <a:avLst/>
              <a:gdLst>
                <a:gd name="T0" fmla="*/ 849 w 100"/>
                <a:gd name="T1" fmla="*/ 105 h 68"/>
                <a:gd name="T2" fmla="*/ 783 w 100"/>
                <a:gd name="T3" fmla="*/ 313 h 68"/>
                <a:gd name="T4" fmla="*/ 579 w 100"/>
                <a:gd name="T5" fmla="*/ 488 h 68"/>
                <a:gd name="T6" fmla="*/ 375 w 100"/>
                <a:gd name="T7" fmla="*/ 593 h 68"/>
                <a:gd name="T8" fmla="*/ 204 w 100"/>
                <a:gd name="T9" fmla="*/ 488 h 68"/>
                <a:gd name="T10" fmla="*/ 0 w 100"/>
                <a:gd name="T11" fmla="*/ 420 h 68"/>
                <a:gd name="T12" fmla="*/ 100 w 100"/>
                <a:gd name="T13" fmla="*/ 105 h 68"/>
                <a:gd name="T14" fmla="*/ 271 w 100"/>
                <a:gd name="T15" fmla="*/ 0 h 68"/>
                <a:gd name="T16" fmla="*/ 375 w 100"/>
                <a:gd name="T17" fmla="*/ 0 h 68"/>
                <a:gd name="T18" fmla="*/ 579 w 100"/>
                <a:gd name="T19" fmla="*/ 105 h 68"/>
                <a:gd name="T20" fmla="*/ 783 w 100"/>
                <a:gd name="T21" fmla="*/ 0 h 68"/>
                <a:gd name="T22" fmla="*/ 849 w 100"/>
                <a:gd name="T23" fmla="*/ 105 h 6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0"/>
                <a:gd name="T37" fmla="*/ 0 h 68"/>
                <a:gd name="T38" fmla="*/ 100 w 100"/>
                <a:gd name="T39" fmla="*/ 68 h 6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0" h="68">
                  <a:moveTo>
                    <a:pt x="100" y="12"/>
                  </a:moveTo>
                  <a:lnTo>
                    <a:pt x="92" y="36"/>
                  </a:lnTo>
                  <a:lnTo>
                    <a:pt x="68" y="56"/>
                  </a:lnTo>
                  <a:lnTo>
                    <a:pt x="44" y="68"/>
                  </a:lnTo>
                  <a:lnTo>
                    <a:pt x="24" y="56"/>
                  </a:lnTo>
                  <a:lnTo>
                    <a:pt x="0" y="48"/>
                  </a:lnTo>
                  <a:lnTo>
                    <a:pt x="12" y="12"/>
                  </a:lnTo>
                  <a:lnTo>
                    <a:pt x="32" y="0"/>
                  </a:lnTo>
                  <a:lnTo>
                    <a:pt x="44" y="0"/>
                  </a:lnTo>
                  <a:lnTo>
                    <a:pt x="68" y="12"/>
                  </a:lnTo>
                  <a:lnTo>
                    <a:pt x="92" y="0"/>
                  </a:lnTo>
                  <a:lnTo>
                    <a:pt x="100" y="12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097CAD36-305B-168A-F545-8309B783D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1730"/>
              <a:ext cx="65" cy="16"/>
            </a:xfrm>
            <a:custGeom>
              <a:avLst/>
              <a:gdLst>
                <a:gd name="T0" fmla="*/ 0 w 32"/>
                <a:gd name="T1" fmla="*/ 64 h 8"/>
                <a:gd name="T2" fmla="*/ 67 w 32"/>
                <a:gd name="T3" fmla="*/ 0 h 8"/>
                <a:gd name="T4" fmla="*/ 169 w 32"/>
                <a:gd name="T5" fmla="*/ 0 h 8"/>
                <a:gd name="T6" fmla="*/ 268 w 32"/>
                <a:gd name="T7" fmla="*/ 64 h 8"/>
                <a:gd name="T8" fmla="*/ 0 w 32"/>
                <a:gd name="T9" fmla="*/ 64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8"/>
                <a:gd name="T17" fmla="*/ 32 w 32"/>
                <a:gd name="T18" fmla="*/ 8 h 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8">
                  <a:moveTo>
                    <a:pt x="0" y="8"/>
                  </a:moveTo>
                  <a:lnTo>
                    <a:pt x="8" y="0"/>
                  </a:lnTo>
                  <a:lnTo>
                    <a:pt x="20" y="0"/>
                  </a:lnTo>
                  <a:lnTo>
                    <a:pt x="32" y="8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0C0C0"/>
            </a:solidFill>
            <a:ln w="12700">
              <a:solidFill>
                <a:srgbClr val="4D4D4D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ítulo 5">
            <a:extLst>
              <a:ext uri="{FF2B5EF4-FFF2-40B4-BE49-F238E27FC236}">
                <a16:creationId xmlns:a16="http://schemas.microsoft.com/office/drawing/2014/main" id="{F05ED8B6-E958-8585-B1DE-A35528EC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Slide Quantitativo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97DB3EB-6F36-78E2-0F0C-C9C2783A04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5" name="CaixaDeTexto 89">
            <a:extLst>
              <a:ext uri="{FF2B5EF4-FFF2-40B4-BE49-F238E27FC236}">
                <a16:creationId xmlns:a16="http://schemas.microsoft.com/office/drawing/2014/main" id="{0F6A8CBE-FAE5-AFD2-A780-1EC8CE428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7405" y="2223822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MA</a:t>
            </a:r>
          </a:p>
        </p:txBody>
      </p:sp>
      <p:sp>
        <p:nvSpPr>
          <p:cNvPr id="8" name="CaixaDeTexto 90">
            <a:extLst>
              <a:ext uri="{FF2B5EF4-FFF2-40B4-BE49-F238E27FC236}">
                <a16:creationId xmlns:a16="http://schemas.microsoft.com/office/drawing/2014/main" id="{F58027C8-4A12-F817-242D-6A590AC69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545" y="2821509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AC</a:t>
            </a:r>
          </a:p>
        </p:txBody>
      </p:sp>
      <p:sp>
        <p:nvSpPr>
          <p:cNvPr id="9" name="CaixaDeTexto 91">
            <a:extLst>
              <a:ext uri="{FF2B5EF4-FFF2-40B4-BE49-F238E27FC236}">
                <a16:creationId xmlns:a16="http://schemas.microsoft.com/office/drawing/2014/main" id="{61A2393F-2B07-0016-09AD-AE9E5BA12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3827" y="2973087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RO</a:t>
            </a:r>
          </a:p>
        </p:txBody>
      </p:sp>
      <p:sp>
        <p:nvSpPr>
          <p:cNvPr id="10" name="CaixaDeTexto 92">
            <a:extLst>
              <a:ext uri="{FF2B5EF4-FFF2-40B4-BE49-F238E27FC236}">
                <a16:creationId xmlns:a16="http://schemas.microsoft.com/office/drawing/2014/main" id="{3356643A-2813-3AE5-6996-D9B17E8E6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7960" y="1424775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RR</a:t>
            </a:r>
          </a:p>
        </p:txBody>
      </p:sp>
      <p:sp>
        <p:nvSpPr>
          <p:cNvPr id="11" name="CaixaDeTexto 93">
            <a:extLst>
              <a:ext uri="{FF2B5EF4-FFF2-40B4-BE49-F238E27FC236}">
                <a16:creationId xmlns:a16="http://schemas.microsoft.com/office/drawing/2014/main" id="{EA7E1350-312C-1804-CD78-60782A9BE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975" y="2224920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PA</a:t>
            </a:r>
          </a:p>
        </p:txBody>
      </p:sp>
      <p:sp>
        <p:nvSpPr>
          <p:cNvPr id="12" name="CaixaDeTexto 94">
            <a:extLst>
              <a:ext uri="{FF2B5EF4-FFF2-40B4-BE49-F238E27FC236}">
                <a16:creationId xmlns:a16="http://schemas.microsoft.com/office/drawing/2014/main" id="{3B26292B-1C36-273D-D23A-A8422D1A3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4926" y="1449166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AP</a:t>
            </a:r>
          </a:p>
        </p:txBody>
      </p:sp>
      <p:sp>
        <p:nvSpPr>
          <p:cNvPr id="13" name="CaixaDeTexto 95">
            <a:extLst>
              <a:ext uri="{FF2B5EF4-FFF2-40B4-BE49-F238E27FC236}">
                <a16:creationId xmlns:a16="http://schemas.microsoft.com/office/drawing/2014/main" id="{1BC41889-0D39-0B87-A626-1C74D1363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2847" y="3158747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MT</a:t>
            </a:r>
          </a:p>
        </p:txBody>
      </p:sp>
      <p:sp>
        <p:nvSpPr>
          <p:cNvPr id="14" name="CaixaDeTexto 96">
            <a:extLst>
              <a:ext uri="{FF2B5EF4-FFF2-40B4-BE49-F238E27FC236}">
                <a16:creationId xmlns:a16="http://schemas.microsoft.com/office/drawing/2014/main" id="{A13CC0C0-F0D5-52BE-EFC6-BC4620676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8923" y="3945321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MS</a:t>
            </a:r>
          </a:p>
        </p:txBody>
      </p:sp>
      <p:sp>
        <p:nvSpPr>
          <p:cNvPr id="15" name="CaixaDeTexto 97">
            <a:extLst>
              <a:ext uri="{FF2B5EF4-FFF2-40B4-BE49-F238E27FC236}">
                <a16:creationId xmlns:a16="http://schemas.microsoft.com/office/drawing/2014/main" id="{B6B0BEB0-FF55-6700-2937-71CAC88B8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389" y="3483387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GO</a:t>
            </a:r>
          </a:p>
        </p:txBody>
      </p:sp>
      <p:sp>
        <p:nvSpPr>
          <p:cNvPr id="16" name="CaixaDeTexto 98">
            <a:extLst>
              <a:ext uri="{FF2B5EF4-FFF2-40B4-BE49-F238E27FC236}">
                <a16:creationId xmlns:a16="http://schemas.microsoft.com/office/drawing/2014/main" id="{2598E0EF-857E-183F-3C79-C59823587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970" y="3359098"/>
            <a:ext cx="81169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700"/>
              <a:t>DF</a:t>
            </a:r>
          </a:p>
        </p:txBody>
      </p:sp>
      <p:sp>
        <p:nvSpPr>
          <p:cNvPr id="17" name="CaixaDeTexto 99">
            <a:extLst>
              <a:ext uri="{FF2B5EF4-FFF2-40B4-BE49-F238E27FC236}">
                <a16:creationId xmlns:a16="http://schemas.microsoft.com/office/drawing/2014/main" id="{1C342F24-C91D-80CE-058D-82CA9ECF8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5215" y="5099044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RS</a:t>
            </a:r>
          </a:p>
        </p:txBody>
      </p:sp>
      <p:sp>
        <p:nvSpPr>
          <p:cNvPr id="18" name="CaixaDeTexto 100">
            <a:extLst>
              <a:ext uri="{FF2B5EF4-FFF2-40B4-BE49-F238E27FC236}">
                <a16:creationId xmlns:a16="http://schemas.microsoft.com/office/drawing/2014/main" id="{9B23517F-7304-8788-FA31-D194AFEDA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671" y="4824782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SC</a:t>
            </a:r>
          </a:p>
        </p:txBody>
      </p:sp>
      <p:sp>
        <p:nvSpPr>
          <p:cNvPr id="19" name="CaixaDeTexto 101">
            <a:extLst>
              <a:ext uri="{FF2B5EF4-FFF2-40B4-BE49-F238E27FC236}">
                <a16:creationId xmlns:a16="http://schemas.microsoft.com/office/drawing/2014/main" id="{2C766815-0861-9D00-0266-E903D62B4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121" y="4518591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PR</a:t>
            </a:r>
          </a:p>
        </p:txBody>
      </p:sp>
      <p:sp>
        <p:nvSpPr>
          <p:cNvPr id="20" name="CaixaDeTexto 102">
            <a:extLst>
              <a:ext uri="{FF2B5EF4-FFF2-40B4-BE49-F238E27FC236}">
                <a16:creationId xmlns:a16="http://schemas.microsoft.com/office/drawing/2014/main" id="{2EEA81DF-7146-B2DB-D484-DAB6F9461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4111" y="4152270"/>
            <a:ext cx="810021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SP</a:t>
            </a:r>
          </a:p>
        </p:txBody>
      </p:sp>
      <p:sp>
        <p:nvSpPr>
          <p:cNvPr id="76" name="CaixaDeTexto 103">
            <a:extLst>
              <a:ext uri="{FF2B5EF4-FFF2-40B4-BE49-F238E27FC236}">
                <a16:creationId xmlns:a16="http://schemas.microsoft.com/office/drawing/2014/main" id="{58A202CB-7A77-C748-5730-16FDB43B9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6913" y="3770005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MG</a:t>
            </a:r>
          </a:p>
        </p:txBody>
      </p:sp>
      <p:sp>
        <p:nvSpPr>
          <p:cNvPr id="77" name="CaixaDeTexto 104">
            <a:extLst>
              <a:ext uri="{FF2B5EF4-FFF2-40B4-BE49-F238E27FC236}">
                <a16:creationId xmlns:a16="http://schemas.microsoft.com/office/drawing/2014/main" id="{3DE67498-52F0-19A9-0D30-59BCED2EA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733" y="4243590"/>
            <a:ext cx="810020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RJ</a:t>
            </a:r>
          </a:p>
        </p:txBody>
      </p:sp>
      <p:sp>
        <p:nvSpPr>
          <p:cNvPr id="78" name="CaixaDeTexto 105">
            <a:extLst>
              <a:ext uri="{FF2B5EF4-FFF2-40B4-BE49-F238E27FC236}">
                <a16:creationId xmlns:a16="http://schemas.microsoft.com/office/drawing/2014/main" id="{4984A0C9-F682-8FFB-313A-6606007B8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149" y="3972759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ES</a:t>
            </a:r>
          </a:p>
        </p:txBody>
      </p:sp>
      <p:sp>
        <p:nvSpPr>
          <p:cNvPr id="79" name="CaixaDeTexto 106">
            <a:extLst>
              <a:ext uri="{FF2B5EF4-FFF2-40B4-BE49-F238E27FC236}">
                <a16:creationId xmlns:a16="http://schemas.microsoft.com/office/drawing/2014/main" id="{0938BEDD-B2E3-6047-7FA4-42FF389EE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0738" y="3084786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BA</a:t>
            </a:r>
          </a:p>
        </p:txBody>
      </p:sp>
      <p:sp>
        <p:nvSpPr>
          <p:cNvPr id="80" name="CaixaDeTexto 107">
            <a:extLst>
              <a:ext uri="{FF2B5EF4-FFF2-40B4-BE49-F238E27FC236}">
                <a16:creationId xmlns:a16="http://schemas.microsoft.com/office/drawing/2014/main" id="{9A901C58-52F3-B514-783E-3D355B349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626" y="2863708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TO</a:t>
            </a:r>
          </a:p>
        </p:txBody>
      </p:sp>
      <p:sp>
        <p:nvSpPr>
          <p:cNvPr id="81" name="CaixaDeTexto 108">
            <a:extLst>
              <a:ext uri="{FF2B5EF4-FFF2-40B4-BE49-F238E27FC236}">
                <a16:creationId xmlns:a16="http://schemas.microsoft.com/office/drawing/2014/main" id="{969192AF-7017-31BD-257F-0BCE84100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871" y="2214021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MA</a:t>
            </a:r>
          </a:p>
        </p:txBody>
      </p:sp>
      <p:sp>
        <p:nvSpPr>
          <p:cNvPr id="82" name="CaixaDeTexto 109">
            <a:extLst>
              <a:ext uri="{FF2B5EF4-FFF2-40B4-BE49-F238E27FC236}">
                <a16:creationId xmlns:a16="http://schemas.microsoft.com/office/drawing/2014/main" id="{95F29CF7-516E-9E8B-A425-33CB897F5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2663" y="2426240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PI</a:t>
            </a:r>
          </a:p>
        </p:txBody>
      </p:sp>
      <p:sp>
        <p:nvSpPr>
          <p:cNvPr id="83" name="CaixaDeTexto 110">
            <a:extLst>
              <a:ext uri="{FF2B5EF4-FFF2-40B4-BE49-F238E27FC236}">
                <a16:creationId xmlns:a16="http://schemas.microsoft.com/office/drawing/2014/main" id="{B1F37EE2-1E7D-D9B7-10FA-12CCEFD0B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9171" y="2213165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CE</a:t>
            </a:r>
          </a:p>
        </p:txBody>
      </p:sp>
      <p:sp>
        <p:nvSpPr>
          <p:cNvPr id="84" name="CaixaDeTexto 111">
            <a:extLst>
              <a:ext uri="{FF2B5EF4-FFF2-40B4-BE49-F238E27FC236}">
                <a16:creationId xmlns:a16="http://schemas.microsoft.com/office/drawing/2014/main" id="{21473D2D-80F3-9BB4-983E-0E2B2F08D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5453" y="2239033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RN</a:t>
            </a:r>
          </a:p>
        </p:txBody>
      </p:sp>
      <p:sp>
        <p:nvSpPr>
          <p:cNvPr id="85" name="CaixaDeTexto 112">
            <a:extLst>
              <a:ext uri="{FF2B5EF4-FFF2-40B4-BE49-F238E27FC236}">
                <a16:creationId xmlns:a16="http://schemas.microsoft.com/office/drawing/2014/main" id="{C6A8B2C3-B116-E15F-0596-3174D0353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6076" y="2541968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PE</a:t>
            </a:r>
          </a:p>
        </p:txBody>
      </p:sp>
      <p:sp>
        <p:nvSpPr>
          <p:cNvPr id="86" name="CaixaDeTexto 113">
            <a:extLst>
              <a:ext uri="{FF2B5EF4-FFF2-40B4-BE49-F238E27FC236}">
                <a16:creationId xmlns:a16="http://schemas.microsoft.com/office/drawing/2014/main" id="{C12E3DEE-3B3F-1FE5-DE3A-39152CF5F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4165" y="2733837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AL</a:t>
            </a:r>
          </a:p>
        </p:txBody>
      </p:sp>
      <p:sp>
        <p:nvSpPr>
          <p:cNvPr id="87" name="CaixaDeTexto 114">
            <a:extLst>
              <a:ext uri="{FF2B5EF4-FFF2-40B4-BE49-F238E27FC236}">
                <a16:creationId xmlns:a16="http://schemas.microsoft.com/office/drawing/2014/main" id="{A0B6F4F0-99ED-E12D-21C2-CCF79E1CB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868" y="2867822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SE</a:t>
            </a:r>
          </a:p>
        </p:txBody>
      </p:sp>
      <p:sp>
        <p:nvSpPr>
          <p:cNvPr id="88" name="CaixaDeTexto 115">
            <a:extLst>
              <a:ext uri="{FF2B5EF4-FFF2-40B4-BE49-F238E27FC236}">
                <a16:creationId xmlns:a16="http://schemas.microsoft.com/office/drawing/2014/main" id="{6D0CFA5A-7DBA-AB79-AE32-BDA7B6873F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0120" y="2423054"/>
            <a:ext cx="811698" cy="24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900"/>
              <a:t>PB</a:t>
            </a: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1C79E13C-4BA1-BEF3-CE97-2C63AEDE2EB4}"/>
              </a:ext>
            </a:extLst>
          </p:cNvPr>
          <p:cNvSpPr/>
          <p:nvPr/>
        </p:nvSpPr>
        <p:spPr>
          <a:xfrm flipV="1">
            <a:off x="6738980" y="3423309"/>
            <a:ext cx="139895" cy="84866"/>
          </a:xfrm>
          <a:prstGeom prst="rect">
            <a:avLst/>
          </a:prstGeom>
          <a:noFill/>
          <a:ln>
            <a:solidFill>
              <a:srgbClr val="4D4D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00" b="1"/>
          </a:p>
        </p:txBody>
      </p:sp>
    </p:spTree>
    <p:extLst>
      <p:ext uri="{BB962C8B-B14F-4D97-AF65-F5344CB8AC3E}">
        <p14:creationId xmlns:p14="http://schemas.microsoft.com/office/powerpoint/2010/main" val="21850847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B6C989E9-A055-596D-0D56-7C485689B25A}"/>
              </a:ext>
            </a:extLst>
          </p:cNvPr>
          <p:cNvCxnSpPr>
            <a:cxnSpLocks/>
          </p:cNvCxnSpPr>
          <p:nvPr/>
        </p:nvCxnSpPr>
        <p:spPr>
          <a:xfrm>
            <a:off x="595430" y="4849258"/>
            <a:ext cx="109338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F3DF6B78-C41A-DF97-A4AF-EE6B5E05860C}"/>
              </a:ext>
            </a:extLst>
          </p:cNvPr>
          <p:cNvSpPr/>
          <p:nvPr/>
        </p:nvSpPr>
        <p:spPr>
          <a:xfrm>
            <a:off x="1144101" y="4751331"/>
            <a:ext cx="216000" cy="216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E723DDFA-3E5D-7F4E-71AA-8A7B82208081}"/>
              </a:ext>
            </a:extLst>
          </p:cNvPr>
          <p:cNvSpPr/>
          <p:nvPr/>
        </p:nvSpPr>
        <p:spPr>
          <a:xfrm>
            <a:off x="2217001" y="4751331"/>
            <a:ext cx="216000" cy="216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FD4727F5-5683-88EE-DAAF-F6F0D1AE319A}"/>
              </a:ext>
            </a:extLst>
          </p:cNvPr>
          <p:cNvSpPr/>
          <p:nvPr/>
        </p:nvSpPr>
        <p:spPr>
          <a:xfrm>
            <a:off x="3289901" y="4751331"/>
            <a:ext cx="216000" cy="216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1A1AAF8C-4405-F0E7-2BDE-5E9CC685C6DB}"/>
              </a:ext>
            </a:extLst>
          </p:cNvPr>
          <p:cNvSpPr/>
          <p:nvPr/>
        </p:nvSpPr>
        <p:spPr>
          <a:xfrm>
            <a:off x="4362801" y="4751331"/>
            <a:ext cx="216000" cy="216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4CDB68D8-62A1-1CD7-5A9D-611ADE8F2C67}"/>
              </a:ext>
            </a:extLst>
          </p:cNvPr>
          <p:cNvSpPr/>
          <p:nvPr/>
        </p:nvSpPr>
        <p:spPr>
          <a:xfrm>
            <a:off x="5435701" y="4751331"/>
            <a:ext cx="216000" cy="2160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1D05B3CB-7A1B-442E-9693-C2C5CA495DBB}"/>
              </a:ext>
            </a:extLst>
          </p:cNvPr>
          <p:cNvSpPr/>
          <p:nvPr/>
        </p:nvSpPr>
        <p:spPr>
          <a:xfrm>
            <a:off x="10803395" y="4747809"/>
            <a:ext cx="216000" cy="216000"/>
          </a:xfrm>
          <a:prstGeom prst="ellipse">
            <a:avLst/>
          </a:prstGeom>
          <a:solidFill>
            <a:srgbClr val="083763"/>
          </a:solidFill>
          <a:ln>
            <a:solidFill>
              <a:srgbClr val="0837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47D6EBA7-F319-DA40-63B2-7C8259F5DE7F}"/>
              </a:ext>
            </a:extLst>
          </p:cNvPr>
          <p:cNvSpPr/>
          <p:nvPr/>
        </p:nvSpPr>
        <p:spPr>
          <a:xfrm>
            <a:off x="9730495" y="4747809"/>
            <a:ext cx="216000" cy="216000"/>
          </a:xfrm>
          <a:prstGeom prst="ellipse">
            <a:avLst/>
          </a:prstGeom>
          <a:solidFill>
            <a:srgbClr val="083763"/>
          </a:solidFill>
          <a:ln>
            <a:solidFill>
              <a:srgbClr val="0837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807D83FA-7B69-0327-1504-69245D9BF63C}"/>
              </a:ext>
            </a:extLst>
          </p:cNvPr>
          <p:cNvSpPr/>
          <p:nvPr/>
        </p:nvSpPr>
        <p:spPr>
          <a:xfrm>
            <a:off x="8657595" y="4747809"/>
            <a:ext cx="216000" cy="2160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DEC473AC-FE33-E263-9983-B3AACD0CE67E}"/>
              </a:ext>
            </a:extLst>
          </p:cNvPr>
          <p:cNvSpPr/>
          <p:nvPr/>
        </p:nvSpPr>
        <p:spPr>
          <a:xfrm>
            <a:off x="6510198" y="4751331"/>
            <a:ext cx="216000" cy="2160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6697CEE9-EF34-5C82-B1AA-7A4BFD15EDBA}"/>
              </a:ext>
            </a:extLst>
          </p:cNvPr>
          <p:cNvSpPr/>
          <p:nvPr/>
        </p:nvSpPr>
        <p:spPr>
          <a:xfrm>
            <a:off x="7584695" y="4747809"/>
            <a:ext cx="216000" cy="2160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Título 70">
            <a:extLst>
              <a:ext uri="{FF2B5EF4-FFF2-40B4-BE49-F238E27FC236}">
                <a16:creationId xmlns:a16="http://schemas.microsoft.com/office/drawing/2014/main" id="{89536F26-3948-569B-6601-3EEF9769E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Slide Qualitativo</a:t>
            </a:r>
          </a:p>
        </p:txBody>
      </p:sp>
      <p:sp>
        <p:nvSpPr>
          <p:cNvPr id="110" name="Espaço Reservado para Texto 109">
            <a:extLst>
              <a:ext uri="{FF2B5EF4-FFF2-40B4-BE49-F238E27FC236}">
                <a16:creationId xmlns:a16="http://schemas.microsoft.com/office/drawing/2014/main" id="{CE52A4CB-CC76-6405-1B2D-53E65108D1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</a:t>
            </a:r>
            <a:endParaRPr lang="en-US"/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3DC607FA-E574-427E-081A-3491C8682B4D}"/>
              </a:ext>
            </a:extLst>
          </p:cNvPr>
          <p:cNvSpPr txBox="1"/>
          <p:nvPr/>
        </p:nvSpPr>
        <p:spPr>
          <a:xfrm>
            <a:off x="902748" y="5078364"/>
            <a:ext cx="71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2019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579B865F-939A-E6F9-8CC5-A9203F6E6A08}"/>
              </a:ext>
            </a:extLst>
          </p:cNvPr>
          <p:cNvSpPr txBox="1"/>
          <p:nvPr/>
        </p:nvSpPr>
        <p:spPr>
          <a:xfrm>
            <a:off x="1975648" y="5078364"/>
            <a:ext cx="71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2020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F7D76DD9-9C7B-66E8-2482-3B7A90742D64}"/>
              </a:ext>
            </a:extLst>
          </p:cNvPr>
          <p:cNvSpPr txBox="1"/>
          <p:nvPr/>
        </p:nvSpPr>
        <p:spPr>
          <a:xfrm>
            <a:off x="3101296" y="5078364"/>
            <a:ext cx="71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2021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A3954ACF-71A3-30E8-5299-931F25002B54}"/>
              </a:ext>
            </a:extLst>
          </p:cNvPr>
          <p:cNvSpPr txBox="1"/>
          <p:nvPr/>
        </p:nvSpPr>
        <p:spPr>
          <a:xfrm>
            <a:off x="4121448" y="5078034"/>
            <a:ext cx="71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2022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3FA7CCCA-2B21-F761-B69F-4B8DA88E835C}"/>
              </a:ext>
            </a:extLst>
          </p:cNvPr>
          <p:cNvSpPr txBox="1"/>
          <p:nvPr/>
        </p:nvSpPr>
        <p:spPr>
          <a:xfrm>
            <a:off x="5206656" y="5076271"/>
            <a:ext cx="71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2023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757CBB82-6ED0-3F8F-EBCB-68642CD404C6}"/>
              </a:ext>
            </a:extLst>
          </p:cNvPr>
          <p:cNvSpPr txBox="1"/>
          <p:nvPr/>
        </p:nvSpPr>
        <p:spPr>
          <a:xfrm>
            <a:off x="6276418" y="5075891"/>
            <a:ext cx="71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2024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C70009E4-7DB6-5702-0DF5-45241D5E8396}"/>
              </a:ext>
            </a:extLst>
          </p:cNvPr>
          <p:cNvSpPr txBox="1"/>
          <p:nvPr/>
        </p:nvSpPr>
        <p:spPr>
          <a:xfrm>
            <a:off x="7343342" y="5074178"/>
            <a:ext cx="71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2025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B0B69FB0-D303-1540-4583-A3632DA9816A}"/>
              </a:ext>
            </a:extLst>
          </p:cNvPr>
          <p:cNvSpPr txBox="1"/>
          <p:nvPr/>
        </p:nvSpPr>
        <p:spPr>
          <a:xfrm>
            <a:off x="8423829" y="5081881"/>
            <a:ext cx="71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E1558CE0-7DC9-4F9E-75BE-D84DD29AA0EB}"/>
              </a:ext>
            </a:extLst>
          </p:cNvPr>
          <p:cNvSpPr txBox="1"/>
          <p:nvPr/>
        </p:nvSpPr>
        <p:spPr>
          <a:xfrm>
            <a:off x="9552616" y="5081881"/>
            <a:ext cx="71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2027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92F7B7B5-555A-674E-06BB-E56D370F6EBA}"/>
              </a:ext>
            </a:extLst>
          </p:cNvPr>
          <p:cNvSpPr txBox="1"/>
          <p:nvPr/>
        </p:nvSpPr>
        <p:spPr>
          <a:xfrm>
            <a:off x="10622377" y="5081881"/>
            <a:ext cx="71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>
                <a:latin typeface="Segoe UI" panose="020B0502040204020203" pitchFamily="34" charset="0"/>
                <a:cs typeface="Segoe UI" panose="020B0502040204020203" pitchFamily="34" charset="0"/>
              </a:rPr>
              <a:t>2028</a:t>
            </a:r>
          </a:p>
        </p:txBody>
      </p: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24389FB7-D19D-FAF6-D69A-B1CDAC5740D9}"/>
              </a:ext>
            </a:extLst>
          </p:cNvPr>
          <p:cNvCxnSpPr>
            <a:cxnSpLocks/>
          </p:cNvCxnSpPr>
          <p:nvPr/>
        </p:nvCxnSpPr>
        <p:spPr>
          <a:xfrm>
            <a:off x="1261474" y="2614923"/>
            <a:ext cx="0" cy="2062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00062377-8E3F-5CC0-4DC7-230940A3BD9A}"/>
              </a:ext>
            </a:extLst>
          </p:cNvPr>
          <p:cNvSpPr txBox="1"/>
          <p:nvPr/>
        </p:nvSpPr>
        <p:spPr>
          <a:xfrm>
            <a:off x="595430" y="1562530"/>
            <a:ext cx="133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err="1">
                <a:latin typeface="Segoe UI" panose="020B0502040204020203" pitchFamily="34" charset="0"/>
                <a:cs typeface="Segoe UI" panose="020B0502040204020203" pitchFamily="34" charset="0"/>
              </a:rPr>
              <a:t>xxxxxxxxxxxxxxxxxxxxxxxxxxxxxxx</a:t>
            </a:r>
            <a:endParaRPr lang="pt-BR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3AD0F06B-CD32-453C-3545-63AD08489D16}"/>
              </a:ext>
            </a:extLst>
          </p:cNvPr>
          <p:cNvCxnSpPr>
            <a:cxnSpLocks/>
          </p:cNvCxnSpPr>
          <p:nvPr/>
        </p:nvCxnSpPr>
        <p:spPr>
          <a:xfrm>
            <a:off x="2334374" y="3402224"/>
            <a:ext cx="0" cy="1274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B5E13B8F-DEAF-3D1B-1E39-4583B6C38EE3}"/>
              </a:ext>
            </a:extLst>
          </p:cNvPr>
          <p:cNvSpPr txBox="1"/>
          <p:nvPr/>
        </p:nvSpPr>
        <p:spPr>
          <a:xfrm>
            <a:off x="1620201" y="2579982"/>
            <a:ext cx="133208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600">
                <a:latin typeface="Segoe UI" panose="020B0502040204020203" pitchFamily="34" charset="0"/>
                <a:cs typeface="Segoe UI" panose="020B0502040204020203" pitchFamily="34" charset="0"/>
              </a:rPr>
              <a:t>xxxxxxxxxxxxxxxxxxxxxxxxxxxxxxx</a:t>
            </a:r>
          </a:p>
        </p:txBody>
      </p:sp>
      <p:cxnSp>
        <p:nvCxnSpPr>
          <p:cNvPr id="94" name="Conector reto 93">
            <a:extLst>
              <a:ext uri="{FF2B5EF4-FFF2-40B4-BE49-F238E27FC236}">
                <a16:creationId xmlns:a16="http://schemas.microsoft.com/office/drawing/2014/main" id="{7BC7785F-85C7-BEAA-9105-0380387B95D5}"/>
              </a:ext>
            </a:extLst>
          </p:cNvPr>
          <p:cNvCxnSpPr>
            <a:cxnSpLocks/>
          </p:cNvCxnSpPr>
          <p:nvPr/>
        </p:nvCxnSpPr>
        <p:spPr>
          <a:xfrm>
            <a:off x="3400483" y="2623678"/>
            <a:ext cx="0" cy="2062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AC8071AA-715C-BC37-4E9E-DA052E69AA69}"/>
              </a:ext>
            </a:extLst>
          </p:cNvPr>
          <p:cNvSpPr txBox="1"/>
          <p:nvPr/>
        </p:nvSpPr>
        <p:spPr>
          <a:xfrm>
            <a:off x="2734439" y="1571285"/>
            <a:ext cx="133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>
                <a:latin typeface="Segoe UI" panose="020B0502040204020203" pitchFamily="34" charset="0"/>
                <a:cs typeface="Segoe UI" panose="020B0502040204020203" pitchFamily="34" charset="0"/>
              </a:rPr>
              <a:t>xxxxxxxxxxxxxxxxxxxxxxxxxxxxxxx</a:t>
            </a:r>
          </a:p>
        </p:txBody>
      </p:sp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D0617827-28BF-F5AE-F56D-55FD343D077E}"/>
              </a:ext>
            </a:extLst>
          </p:cNvPr>
          <p:cNvCxnSpPr>
            <a:cxnSpLocks/>
          </p:cNvCxnSpPr>
          <p:nvPr/>
        </p:nvCxnSpPr>
        <p:spPr>
          <a:xfrm>
            <a:off x="4473383" y="3410979"/>
            <a:ext cx="0" cy="1274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49E51C54-DAA6-CB12-27EA-0DB9DCAD6FDE}"/>
              </a:ext>
            </a:extLst>
          </p:cNvPr>
          <p:cNvSpPr txBox="1"/>
          <p:nvPr/>
        </p:nvSpPr>
        <p:spPr>
          <a:xfrm>
            <a:off x="3759210" y="2588737"/>
            <a:ext cx="133208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600">
                <a:latin typeface="Segoe UI" panose="020B0502040204020203" pitchFamily="34" charset="0"/>
                <a:cs typeface="Segoe UI" panose="020B0502040204020203" pitchFamily="34" charset="0"/>
              </a:rPr>
              <a:t>xxxxxxxxxxxxxxxxxxxxxxxxxxxxxxx</a:t>
            </a:r>
          </a:p>
        </p:txBody>
      </p:sp>
      <p:cxnSp>
        <p:nvCxnSpPr>
          <p:cNvPr id="98" name="Conector reto 97">
            <a:extLst>
              <a:ext uri="{FF2B5EF4-FFF2-40B4-BE49-F238E27FC236}">
                <a16:creationId xmlns:a16="http://schemas.microsoft.com/office/drawing/2014/main" id="{C6DFE880-6039-4579-9BAF-5B8D6B721CAF}"/>
              </a:ext>
            </a:extLst>
          </p:cNvPr>
          <p:cNvCxnSpPr>
            <a:cxnSpLocks/>
          </p:cNvCxnSpPr>
          <p:nvPr/>
        </p:nvCxnSpPr>
        <p:spPr>
          <a:xfrm>
            <a:off x="5545171" y="2624092"/>
            <a:ext cx="0" cy="2062004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AA47EB6A-9991-638F-26A7-A20340FB90DD}"/>
              </a:ext>
            </a:extLst>
          </p:cNvPr>
          <p:cNvSpPr txBox="1"/>
          <p:nvPr/>
        </p:nvSpPr>
        <p:spPr>
          <a:xfrm>
            <a:off x="4879127" y="1571699"/>
            <a:ext cx="133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>
                <a:latin typeface="Segoe UI" panose="020B0502040204020203" pitchFamily="34" charset="0"/>
                <a:cs typeface="Segoe UI" panose="020B0502040204020203" pitchFamily="34" charset="0"/>
              </a:rPr>
              <a:t>xxxxxxxxxxxxxxxxxxxxxxxxxxxxxxx</a:t>
            </a:r>
          </a:p>
        </p:txBody>
      </p: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3E1495F4-480C-B696-93F8-C1FD2D1F64C5}"/>
              </a:ext>
            </a:extLst>
          </p:cNvPr>
          <p:cNvCxnSpPr>
            <a:cxnSpLocks/>
          </p:cNvCxnSpPr>
          <p:nvPr/>
        </p:nvCxnSpPr>
        <p:spPr>
          <a:xfrm>
            <a:off x="6618071" y="3411393"/>
            <a:ext cx="0" cy="1274703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DFAE83C4-6FD8-63C4-47AF-B2B557BAB9B8}"/>
              </a:ext>
            </a:extLst>
          </p:cNvPr>
          <p:cNvSpPr txBox="1"/>
          <p:nvPr/>
        </p:nvSpPr>
        <p:spPr>
          <a:xfrm>
            <a:off x="5908032" y="2588737"/>
            <a:ext cx="133208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600">
                <a:latin typeface="Segoe UI" panose="020B0502040204020203" pitchFamily="34" charset="0"/>
                <a:cs typeface="Segoe UI" panose="020B0502040204020203" pitchFamily="34" charset="0"/>
              </a:rPr>
              <a:t>xxxxxxxxxxxxxxxxxxxxxxxxxxxxxxx</a:t>
            </a:r>
          </a:p>
        </p:txBody>
      </p: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162AE2BF-4EB5-E941-6C6A-5BC2948821ED}"/>
              </a:ext>
            </a:extLst>
          </p:cNvPr>
          <p:cNvCxnSpPr>
            <a:cxnSpLocks/>
          </p:cNvCxnSpPr>
          <p:nvPr/>
        </p:nvCxnSpPr>
        <p:spPr>
          <a:xfrm>
            <a:off x="7698128" y="2612490"/>
            <a:ext cx="0" cy="2062004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27B3198F-EA65-A280-BB99-6D1CCA7732D5}"/>
              </a:ext>
            </a:extLst>
          </p:cNvPr>
          <p:cNvSpPr txBox="1"/>
          <p:nvPr/>
        </p:nvSpPr>
        <p:spPr>
          <a:xfrm>
            <a:off x="7032084" y="1560097"/>
            <a:ext cx="133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>
                <a:latin typeface="Segoe UI" panose="020B0502040204020203" pitchFamily="34" charset="0"/>
                <a:cs typeface="Segoe UI" panose="020B0502040204020203" pitchFamily="34" charset="0"/>
              </a:rPr>
              <a:t>xxxxxxxxxxxxxxxxxxxxxxxxxxxxxxx</a:t>
            </a:r>
          </a:p>
        </p:txBody>
      </p: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8A2C0AF3-B7D0-5A4F-B4E2-A72C09AC3A8D}"/>
              </a:ext>
            </a:extLst>
          </p:cNvPr>
          <p:cNvCxnSpPr>
            <a:cxnSpLocks/>
          </p:cNvCxnSpPr>
          <p:nvPr/>
        </p:nvCxnSpPr>
        <p:spPr>
          <a:xfrm>
            <a:off x="8771028" y="3399791"/>
            <a:ext cx="0" cy="1274703"/>
          </a:xfrm>
          <a:prstGeom prst="line">
            <a:avLst/>
          </a:prstGeom>
          <a:ln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406541BC-3E3E-61C6-0428-2882871DFEF1}"/>
              </a:ext>
            </a:extLst>
          </p:cNvPr>
          <p:cNvSpPr txBox="1"/>
          <p:nvPr/>
        </p:nvSpPr>
        <p:spPr>
          <a:xfrm>
            <a:off x="8056855" y="2577549"/>
            <a:ext cx="133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>
                <a:latin typeface="Segoe UI" panose="020B0502040204020203" pitchFamily="34" charset="0"/>
                <a:cs typeface="Segoe UI" panose="020B0502040204020203" pitchFamily="34" charset="0"/>
              </a:rPr>
              <a:t>xxxxxxxxxxxxxxxxxxxxxxxxxxxxxxx</a:t>
            </a:r>
          </a:p>
        </p:txBody>
      </p:sp>
      <p:cxnSp>
        <p:nvCxnSpPr>
          <p:cNvPr id="106" name="Conector reto 105">
            <a:extLst>
              <a:ext uri="{FF2B5EF4-FFF2-40B4-BE49-F238E27FC236}">
                <a16:creationId xmlns:a16="http://schemas.microsoft.com/office/drawing/2014/main" id="{FF3FE50A-910F-39E0-3C36-2B0BBD6F3042}"/>
              </a:ext>
            </a:extLst>
          </p:cNvPr>
          <p:cNvCxnSpPr>
            <a:cxnSpLocks/>
          </p:cNvCxnSpPr>
          <p:nvPr/>
        </p:nvCxnSpPr>
        <p:spPr>
          <a:xfrm>
            <a:off x="9838495" y="2641699"/>
            <a:ext cx="0" cy="2062004"/>
          </a:xfrm>
          <a:prstGeom prst="line">
            <a:avLst/>
          </a:prstGeom>
          <a:ln>
            <a:solidFill>
              <a:srgbClr val="08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79EC7B78-0919-DD62-802E-51A6A01DFC76}"/>
              </a:ext>
            </a:extLst>
          </p:cNvPr>
          <p:cNvSpPr txBox="1"/>
          <p:nvPr/>
        </p:nvSpPr>
        <p:spPr>
          <a:xfrm>
            <a:off x="9172451" y="1589306"/>
            <a:ext cx="133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>
                <a:latin typeface="Segoe UI" panose="020B0502040204020203" pitchFamily="34" charset="0"/>
                <a:cs typeface="Segoe UI" panose="020B0502040204020203" pitchFamily="34" charset="0"/>
              </a:rPr>
              <a:t>xxxxxxxxxxxxxxxxxxxxxxxxxxxxxxx</a:t>
            </a:r>
          </a:p>
        </p:txBody>
      </p:sp>
      <p:cxnSp>
        <p:nvCxnSpPr>
          <p:cNvPr id="108" name="Conector reto 107">
            <a:extLst>
              <a:ext uri="{FF2B5EF4-FFF2-40B4-BE49-F238E27FC236}">
                <a16:creationId xmlns:a16="http://schemas.microsoft.com/office/drawing/2014/main" id="{F06D9CBC-3A01-C641-1AD4-F03A41148C09}"/>
              </a:ext>
            </a:extLst>
          </p:cNvPr>
          <p:cNvCxnSpPr>
            <a:cxnSpLocks/>
          </p:cNvCxnSpPr>
          <p:nvPr/>
        </p:nvCxnSpPr>
        <p:spPr>
          <a:xfrm>
            <a:off x="10911395" y="3429000"/>
            <a:ext cx="0" cy="1274703"/>
          </a:xfrm>
          <a:prstGeom prst="line">
            <a:avLst/>
          </a:prstGeom>
          <a:ln>
            <a:solidFill>
              <a:srgbClr val="083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AAE1AFB0-4E1E-3852-BC99-A17D589C8131}"/>
              </a:ext>
            </a:extLst>
          </p:cNvPr>
          <p:cNvSpPr txBox="1"/>
          <p:nvPr/>
        </p:nvSpPr>
        <p:spPr>
          <a:xfrm>
            <a:off x="10197222" y="2606758"/>
            <a:ext cx="133208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600">
                <a:latin typeface="Segoe UI" panose="020B0502040204020203" pitchFamily="34" charset="0"/>
                <a:cs typeface="Segoe UI" panose="020B0502040204020203" pitchFamily="34" charset="0"/>
              </a:rPr>
              <a:t>xxxxxxxxxxxxxxxxxxxxxxxxxxxxxxx</a:t>
            </a:r>
          </a:p>
        </p:txBody>
      </p:sp>
    </p:spTree>
    <p:extLst>
      <p:ext uri="{BB962C8B-B14F-4D97-AF65-F5344CB8AC3E}">
        <p14:creationId xmlns:p14="http://schemas.microsoft.com/office/powerpoint/2010/main" val="820718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7137E683-2169-9B9C-9E89-E61DCB3A2AD0}"/>
              </a:ext>
            </a:extLst>
          </p:cNvPr>
          <p:cNvSpPr/>
          <p:nvPr/>
        </p:nvSpPr>
        <p:spPr>
          <a:xfrm>
            <a:off x="4639564" y="4374082"/>
            <a:ext cx="2912400" cy="572400"/>
          </a:xfrm>
          <a:prstGeom prst="rect">
            <a:avLst/>
          </a:prstGeom>
          <a:solidFill>
            <a:schemeClr val="bg1"/>
          </a:solidFill>
          <a:ln>
            <a:solidFill>
              <a:srgbClr val="0F6FC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b="1">
              <a:solidFill>
                <a:srgbClr val="0F6FC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b="1" dirty="0">
                <a:solidFill>
                  <a:srgbClr val="0F6FC6"/>
                </a:solidFill>
                <a:latin typeface="Segoe UI"/>
                <a:cs typeface="Segoe UI"/>
              </a:rPr>
              <a:t>SLIDE QUANTITATIVO</a:t>
            </a:r>
            <a:r>
              <a:rPr lang="pt-BR" sz="1600" b="1" dirty="0">
                <a:solidFill>
                  <a:srgbClr val="0F6FC6"/>
                </a:solidFill>
                <a:latin typeface="Segoe UI"/>
                <a:cs typeface="Segoe UI"/>
              </a:rPr>
              <a:t>
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C244280-3905-363E-1DD4-FBB87F5DEBBB}"/>
              </a:ext>
            </a:extLst>
          </p:cNvPr>
          <p:cNvSpPr/>
          <p:nvPr/>
        </p:nvSpPr>
        <p:spPr>
          <a:xfrm>
            <a:off x="8420266" y="4374083"/>
            <a:ext cx="2912400" cy="57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b="1" dirty="0">
                <a:solidFill>
                  <a:schemeClr val="tx1"/>
                </a:solidFill>
                <a:latin typeface="Segoe UI"/>
                <a:cs typeface="Segoe UI"/>
              </a:rPr>
              <a:t>SLIDE INTEGRADO</a:t>
            </a:r>
            <a:r>
              <a:rPr lang="pt-BR" sz="1600" b="1" dirty="0">
                <a:solidFill>
                  <a:schemeClr val="tx1"/>
                </a:solidFill>
                <a:latin typeface="Segoe UI"/>
                <a:cs typeface="Segoe UI"/>
              </a:rPr>
              <a:t>
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9DC13EA-0D0D-97DB-5CFF-20A7997B9662}"/>
              </a:ext>
            </a:extLst>
          </p:cNvPr>
          <p:cNvSpPr/>
          <p:nvPr/>
        </p:nvSpPr>
        <p:spPr>
          <a:xfrm>
            <a:off x="859801" y="4374603"/>
            <a:ext cx="2911461" cy="571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b="1" dirty="0">
                <a:solidFill>
                  <a:schemeClr val="tx1"/>
                </a:solidFill>
                <a:latin typeface="Segoe UI"/>
                <a:cs typeface="Segoe UI"/>
              </a:rPr>
              <a:t>SLIDE QUALITATIVO</a:t>
            </a:r>
            <a:r>
              <a:rPr lang="pt-BR" sz="1600" b="1" dirty="0">
                <a:solidFill>
                  <a:schemeClr val="tx1"/>
                </a:solidFill>
                <a:latin typeface="Segoe UI"/>
                <a:cs typeface="Segoe UI"/>
              </a:rPr>
              <a:t>
</a:t>
            </a:r>
          </a:p>
        </p:txBody>
      </p:sp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42</a:t>
            </a:fld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5C1A75B7-8882-FDE9-3064-C587FBB59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Layouts de Slides Quantitativos, Qualitativos e Integrados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Para slides qualitativos, slides quantitativos e slides integrados, os modelos básicos de layout podem ser aproveitados e expandidos
</a:t>
            </a: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845E6637-5AEA-24CF-A2B4-73888F4DE76B}"/>
              </a:ext>
            </a:extLst>
          </p:cNvPr>
          <p:cNvCxnSpPr>
            <a:cxnSpLocks/>
          </p:cNvCxnSpPr>
          <p:nvPr/>
        </p:nvCxnSpPr>
        <p:spPr>
          <a:xfrm>
            <a:off x="609600" y="4087840"/>
            <a:ext cx="3278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30">
            <a:extLst>
              <a:ext uri="{FF2B5EF4-FFF2-40B4-BE49-F238E27FC236}">
                <a16:creationId xmlns:a16="http://schemas.microsoft.com/office/drawing/2014/main" id="{038FE626-43AB-F5DE-DDDC-DD4CB740F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93" y="1784952"/>
            <a:ext cx="3583876" cy="2016126"/>
          </a:xfrm>
          <a:prstGeom prst="rect">
            <a:avLst/>
          </a:prstGeom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3" name="Picture 131">
            <a:extLst>
              <a:ext uri="{FF2B5EF4-FFF2-40B4-BE49-F238E27FC236}">
                <a16:creationId xmlns:a16="http://schemas.microsoft.com/office/drawing/2014/main" id="{E9D67E84-4D5F-9E00-7370-24D40508B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3967" y="1784951"/>
            <a:ext cx="3583873" cy="2016125"/>
          </a:xfrm>
          <a:prstGeom prst="rect">
            <a:avLst/>
          </a:prstGeom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132">
            <a:extLst>
              <a:ext uri="{FF2B5EF4-FFF2-40B4-BE49-F238E27FC236}">
                <a16:creationId xmlns:a16="http://schemas.microsoft.com/office/drawing/2014/main" id="{7F816B2E-868A-569D-BD46-944BF4390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4529" y="1784951"/>
            <a:ext cx="3583875" cy="2016126"/>
          </a:xfrm>
          <a:prstGeom prst="rect">
            <a:avLst/>
          </a:prstGeom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6EE8E13A-C436-2556-69F5-ADFB7B80FD46}"/>
              </a:ext>
            </a:extLst>
          </p:cNvPr>
          <p:cNvCxnSpPr>
            <a:cxnSpLocks/>
          </p:cNvCxnSpPr>
          <p:nvPr/>
        </p:nvCxnSpPr>
        <p:spPr>
          <a:xfrm>
            <a:off x="4456432" y="4088588"/>
            <a:ext cx="3278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4E98E2B-A8B3-A327-9E63-BB97F9D857D2}"/>
              </a:ext>
            </a:extLst>
          </p:cNvPr>
          <p:cNvCxnSpPr>
            <a:cxnSpLocks/>
          </p:cNvCxnSpPr>
          <p:nvPr/>
        </p:nvCxnSpPr>
        <p:spPr>
          <a:xfrm>
            <a:off x="8236995" y="4087840"/>
            <a:ext cx="3278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756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8" imgW="344" imgH="345" progId="TCLayout.ActiveDocument.1">
                  <p:embed/>
                </p:oleObj>
              </mc:Choice>
              <mc:Fallback>
                <p:oleObj name="Slide do think-cell" r:id="rId8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43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Quantitativo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ACC416-7333-E6B1-7C3B-A547A5D3E0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
</a:t>
            </a:r>
          </a:p>
        </p:txBody>
      </p:sp>
      <p:cxnSp>
        <p:nvCxnSpPr>
          <p:cNvPr id="15" name="AutoShape 249">
            <a:extLst>
              <a:ext uri="{FF2B5EF4-FFF2-40B4-BE49-F238E27FC236}">
                <a16:creationId xmlns:a16="http://schemas.microsoft.com/office/drawing/2014/main" id="{BE42FA3C-AE38-435B-8DE8-B3FCC3BEDFAF}"/>
              </a:ext>
            </a:extLst>
          </p:cNvPr>
          <p:cNvCxnSpPr>
            <a:cxnSpLocks noChangeShapeType="1"/>
            <a:stCxn id="16" idx="4"/>
            <a:endCxn id="16" idx="6"/>
          </p:cNvCxnSpPr>
          <p:nvPr/>
        </p:nvCxnSpPr>
        <p:spPr bwMode="auto">
          <a:xfrm>
            <a:off x="3757626" y="1364431"/>
            <a:ext cx="4105240" cy="0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AutoShape 250">
            <a:extLst>
              <a:ext uri="{FF2B5EF4-FFF2-40B4-BE49-F238E27FC236}">
                <a16:creationId xmlns:a16="http://schemas.microsoft.com/office/drawing/2014/main" id="{454D4191-9B7D-4BE5-AEC0-ACE8E732A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26" y="1130529"/>
            <a:ext cx="4105240" cy="233902"/>
          </a:xfrm>
          <a:prstGeom prst="leftRightArrow">
            <a:avLst>
              <a:gd name="adj1" fmla="val 100000"/>
              <a:gd name="adj2" fmla="val 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18280" anchor="b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sz="1400" b="1" dirty="0">
                <a:latin typeface="Segoe UI"/>
                <a:ea typeface="ＭＳ Ｐゴシック"/>
                <a:cs typeface="Segoe UI"/>
              </a:rPr>
              <a:t> Título do gráfico, </a:t>
            </a:r>
            <a:r>
              <a:rPr lang="pt-BR" sz="1400" dirty="0">
                <a:latin typeface="Segoe UI"/>
                <a:ea typeface="ＭＳ Ｐゴシック"/>
                <a:cs typeface="Segoe UI"/>
              </a:rPr>
              <a:t>EUR mm, 2020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CC7181-56E1-4056-8E58-CAB2EDF7180D}"/>
              </a:ext>
            </a:extLst>
          </p:cNvPr>
          <p:cNvGrpSpPr/>
          <p:nvPr/>
        </p:nvGrpSpPr>
        <p:grpSpPr>
          <a:xfrm>
            <a:off x="8504114" y="1140737"/>
            <a:ext cx="3023187" cy="1154751"/>
            <a:chOff x="8373556" y="1558749"/>
            <a:chExt cx="2162175" cy="115475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62F8F0A-37AC-4FF2-8C82-74BF3012FACF}"/>
                </a:ext>
              </a:extLst>
            </p:cNvPr>
            <p:cNvGrpSpPr/>
            <p:nvPr/>
          </p:nvGrpSpPr>
          <p:grpSpPr>
            <a:xfrm>
              <a:off x="8389690" y="1558749"/>
              <a:ext cx="1966745" cy="234442"/>
              <a:chOff x="3254164" y="845266"/>
              <a:chExt cx="1576296" cy="234442"/>
            </a:xfrm>
          </p:grpSpPr>
          <p:cxnSp>
            <p:nvCxnSpPr>
              <p:cNvPr id="18" name="AutoShape 249">
                <a:extLst>
                  <a:ext uri="{FF2B5EF4-FFF2-40B4-BE49-F238E27FC236}">
                    <a16:creationId xmlns:a16="http://schemas.microsoft.com/office/drawing/2014/main" id="{88B7A77A-6521-405F-950A-34D7E2358B5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254164" y="1079708"/>
                <a:ext cx="1559624" cy="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" name="AutoShape 250">
                <a:extLst>
                  <a:ext uri="{FF2B5EF4-FFF2-40B4-BE49-F238E27FC236}">
                    <a16:creationId xmlns:a16="http://schemas.microsoft.com/office/drawing/2014/main" id="{901091F3-126B-4891-B0A6-F86603A81E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0836" y="845266"/>
                <a:ext cx="1559624" cy="234442"/>
              </a:xfrm>
              <a:prstGeom prst="leftRightArrow">
                <a:avLst>
                  <a:gd name="adj1" fmla="val 100000"/>
                  <a:gd name="adj2" fmla="val 0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18280" anchor="b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t-BR" sz="1400" b="1" dirty="0">
                    <a:latin typeface="Segoe UI"/>
                    <a:ea typeface="ＭＳ Ｐゴシック"/>
                    <a:cs typeface="Segoe UI"/>
                  </a:rPr>
                  <a:t>Implicações</a:t>
                </a:r>
                <a:endParaRPr lang="pt-BR" sz="1400" dirty="0">
                  <a:latin typeface="Segoe UI"/>
                  <a:ea typeface="ＭＳ Ｐゴシック"/>
                  <a:cs typeface="Segoe UI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A110B1-7FE0-437E-BE19-C53224DD924B}"/>
                </a:ext>
              </a:extLst>
            </p:cNvPr>
            <p:cNvSpPr txBox="1"/>
            <p:nvPr/>
          </p:nvSpPr>
          <p:spPr>
            <a:xfrm>
              <a:off x="8373556" y="1876348"/>
              <a:ext cx="2162175" cy="83715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980644-468E-44B3-B7DD-98D352571FE2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584701" y="4051300"/>
            <a:ext cx="320675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655044-9656-4049-8098-F45124B9DECB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5710239" y="5078413"/>
            <a:ext cx="320675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73DDCD-190C-430D-873F-E0074E03EB01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6834189" y="1997075"/>
            <a:ext cx="320675" cy="0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04D749FD-14CC-469A-A8D3-CD358AA3DE3A}"/>
              </a:ext>
            </a:extLst>
          </p:cNvPr>
          <p:cNvGraphicFramePr/>
          <p:nvPr>
            <p:custDataLst>
              <p:tags r:id="rId6"/>
            </p:custDataLst>
          </p:nvPr>
        </p:nvGraphicFramePr>
        <p:xfrm>
          <a:off x="3477415" y="1913775"/>
          <a:ext cx="4665663" cy="4273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6A4F5BFC-EA02-EEBC-9033-281063F28A59}"/>
              </a:ext>
            </a:extLst>
          </p:cNvPr>
          <p:cNvSpPr/>
          <p:nvPr/>
        </p:nvSpPr>
        <p:spPr>
          <a:xfrm>
            <a:off x="438634" y="1023707"/>
            <a:ext cx="2908924" cy="5164368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25C5E9D-664E-265F-EAE0-2742205DBC6B}"/>
              </a:ext>
            </a:extLst>
          </p:cNvPr>
          <p:cNvSpPr/>
          <p:nvPr/>
        </p:nvSpPr>
        <p:spPr>
          <a:xfrm>
            <a:off x="3524228" y="1022957"/>
            <a:ext cx="4614083" cy="5164368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8C5748F-E576-B75E-F9B0-EE4567CE660D}"/>
              </a:ext>
            </a:extLst>
          </p:cNvPr>
          <p:cNvSpPr/>
          <p:nvPr/>
        </p:nvSpPr>
        <p:spPr>
          <a:xfrm>
            <a:off x="8327444" y="1023707"/>
            <a:ext cx="3444821" cy="5164368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B5C70E3E-7703-B2E9-F228-4F685C143EA4}"/>
              </a:ext>
            </a:extLst>
          </p:cNvPr>
          <p:cNvGrpSpPr/>
          <p:nvPr/>
        </p:nvGrpSpPr>
        <p:grpSpPr>
          <a:xfrm>
            <a:off x="669911" y="1138790"/>
            <a:ext cx="2484203" cy="1192725"/>
            <a:chOff x="665018" y="1138790"/>
            <a:chExt cx="3090118" cy="1192725"/>
          </a:xfrm>
        </p:grpSpPr>
        <p:cxnSp>
          <p:nvCxnSpPr>
            <p:cNvPr id="12" name="AutoShape 249">
              <a:extLst>
                <a:ext uri="{FF2B5EF4-FFF2-40B4-BE49-F238E27FC236}">
                  <a16:creationId xmlns:a16="http://schemas.microsoft.com/office/drawing/2014/main" id="{58E9FE65-4DE1-4882-99CA-77DE9E4DA3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5018" y="1372692"/>
              <a:ext cx="2590800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C034AF6-10F4-4591-9432-246D58C74B21}"/>
                </a:ext>
              </a:extLst>
            </p:cNvPr>
            <p:cNvSpPr txBox="1"/>
            <p:nvPr/>
          </p:nvSpPr>
          <p:spPr>
            <a:xfrm>
              <a:off x="815148" y="1494363"/>
              <a:ext cx="2929218" cy="83715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sp>
          <p:nvSpPr>
            <p:cNvPr id="43" name="AutoShape 250">
              <a:extLst>
                <a:ext uri="{FF2B5EF4-FFF2-40B4-BE49-F238E27FC236}">
                  <a16:creationId xmlns:a16="http://schemas.microsoft.com/office/drawing/2014/main" id="{B4CF2AE9-308C-E669-B29A-E5DEDBFEB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081" y="1138790"/>
              <a:ext cx="3041055" cy="23390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400" b="1" dirty="0">
                  <a:latin typeface="Segoe UI"/>
                  <a:ea typeface="ＭＳ Ｐゴシック"/>
                  <a:cs typeface="Segoe UI"/>
                </a:rPr>
                <a:t>Metodologia</a:t>
              </a:r>
              <a:endParaRPr lang="pt-BR" sz="1400" dirty="0">
                <a:latin typeface="Segoe UI"/>
                <a:ea typeface="ＭＳ Ｐゴシック"/>
                <a:cs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61098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344" imgH="345" progId="TCLayout.ActiveDocument.1">
                  <p:embed/>
                </p:oleObj>
              </mc:Choice>
              <mc:Fallback>
                <p:oleObj name="Slide do think-cell" r:id="rId5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44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Quantitativo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6AF459-D81E-C9AB-641C-A0B3759285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</a:t>
            </a:r>
            <a:endParaRPr lang="en-US"/>
          </a:p>
          <a:p>
            <a:endParaRPr lang="pt-BR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C54146-6B28-4A81-B098-1C4ECAD10EA7}"/>
              </a:ext>
            </a:extLst>
          </p:cNvPr>
          <p:cNvGrpSpPr/>
          <p:nvPr/>
        </p:nvGrpSpPr>
        <p:grpSpPr>
          <a:xfrm>
            <a:off x="523594" y="1140531"/>
            <a:ext cx="7613932" cy="233945"/>
            <a:chOff x="3167844" y="845763"/>
            <a:chExt cx="1736746" cy="233945"/>
          </a:xfrm>
        </p:grpSpPr>
        <p:cxnSp>
          <p:nvCxnSpPr>
            <p:cNvPr id="15" name="AutoShape 249">
              <a:extLst>
                <a:ext uri="{FF2B5EF4-FFF2-40B4-BE49-F238E27FC236}">
                  <a16:creationId xmlns:a16="http://schemas.microsoft.com/office/drawing/2014/main" id="{BE42FA3C-AE38-435B-8DE8-B3FCC3BEDFAF}"/>
                </a:ext>
              </a:extLst>
            </p:cNvPr>
            <p:cNvCxnSpPr>
              <a:cxnSpLocks noChangeShapeType="1"/>
              <a:stCxn id="16" idx="4"/>
              <a:endCxn id="16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AutoShape 250">
              <a:extLst>
                <a:ext uri="{FF2B5EF4-FFF2-40B4-BE49-F238E27FC236}">
                  <a16:creationId xmlns:a16="http://schemas.microsoft.com/office/drawing/2014/main" id="{454D4191-9B7D-4BE5-AEC0-ACE8E732A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845763"/>
              <a:ext cx="1736746" cy="233945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400" b="1" dirty="0">
                  <a:solidFill>
                    <a:srgbClr val="0F6FC6"/>
                  </a:solidFill>
                  <a:latin typeface="Segoe UI"/>
                  <a:ea typeface="ＭＳ Ｐゴシック"/>
                  <a:cs typeface="Segoe UI"/>
                </a:rPr>
                <a:t>Título do gráfico, </a:t>
              </a:r>
              <a:r>
                <a:rPr lang="pt-BR" sz="1400" dirty="0">
                  <a:solidFill>
                    <a:srgbClr val="0F6FC6"/>
                  </a:solidFill>
                  <a:latin typeface="Segoe UI"/>
                  <a:ea typeface="ＭＳ Ｐゴシック"/>
                  <a:cs typeface="Segoe UI"/>
                </a:rPr>
                <a:t>EUR mm, 2020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4CC7181-56E1-4056-8E58-CAB2EDF7180D}"/>
              </a:ext>
            </a:extLst>
          </p:cNvPr>
          <p:cNvGrpSpPr/>
          <p:nvPr/>
        </p:nvGrpSpPr>
        <p:grpSpPr>
          <a:xfrm>
            <a:off x="8281986" y="1140737"/>
            <a:ext cx="3386419" cy="1188166"/>
            <a:chOff x="8281987" y="1558749"/>
            <a:chExt cx="2166938" cy="118816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62F8F0A-37AC-4FF2-8C82-74BF3012FACF}"/>
                </a:ext>
              </a:extLst>
            </p:cNvPr>
            <p:cNvGrpSpPr/>
            <p:nvPr/>
          </p:nvGrpSpPr>
          <p:grpSpPr>
            <a:xfrm>
              <a:off x="8281987" y="1558749"/>
              <a:ext cx="2166938" cy="234442"/>
              <a:chOff x="3167844" y="845266"/>
              <a:chExt cx="1736746" cy="234442"/>
            </a:xfrm>
          </p:grpSpPr>
          <p:cxnSp>
            <p:nvCxnSpPr>
              <p:cNvPr id="18" name="AutoShape 249">
                <a:extLst>
                  <a:ext uri="{FF2B5EF4-FFF2-40B4-BE49-F238E27FC236}">
                    <a16:creationId xmlns:a16="http://schemas.microsoft.com/office/drawing/2014/main" id="{88B7A77A-6521-405F-950A-34D7E2358B5A}"/>
                  </a:ext>
                </a:extLst>
              </p:cNvPr>
              <p:cNvCxnSpPr>
                <a:cxnSpLocks noChangeShapeType="1"/>
                <a:stCxn id="19" idx="4"/>
                <a:endCxn id="19" idx="6"/>
              </p:cNvCxnSpPr>
              <p:nvPr/>
            </p:nvCxnSpPr>
            <p:spPr bwMode="auto">
              <a:xfrm>
                <a:off x="3167844" y="1079708"/>
                <a:ext cx="1736746" cy="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9" name="AutoShape 250">
                <a:extLst>
                  <a:ext uri="{FF2B5EF4-FFF2-40B4-BE49-F238E27FC236}">
                    <a16:creationId xmlns:a16="http://schemas.microsoft.com/office/drawing/2014/main" id="{901091F3-126B-4891-B0A6-F86603A81E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7844" y="845266"/>
                <a:ext cx="1736746" cy="234442"/>
              </a:xfrm>
              <a:prstGeom prst="leftRightArrow">
                <a:avLst>
                  <a:gd name="adj1" fmla="val 100000"/>
                  <a:gd name="adj2" fmla="val 0"/>
                </a:avLst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18280" anchor="b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t-BR" sz="1400" b="1">
                    <a:solidFill>
                      <a:srgbClr val="0F6FC6"/>
                    </a:solidFill>
                    <a:latin typeface="Segoe UI" panose="020B0502040204020203" pitchFamily="34" charset="0"/>
                    <a:ea typeface="ＭＳ Ｐゴシック"/>
                    <a:cs typeface="Segoe UI" panose="020B0502040204020203" pitchFamily="34" charset="0"/>
                  </a:rPr>
                  <a:t>Implicações</a:t>
                </a:r>
                <a:endParaRPr lang="pt-BR" sz="1400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A110B1-7FE0-437E-BE19-C53224DD924B}"/>
                </a:ext>
              </a:extLst>
            </p:cNvPr>
            <p:cNvSpPr txBox="1"/>
            <p:nvPr/>
          </p:nvSpPr>
          <p:spPr>
            <a:xfrm>
              <a:off x="8286749" y="1909763"/>
              <a:ext cx="2162175" cy="83715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</p:grp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1307A420-FC5A-BCBC-048B-4E694166E8D9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1925841" y="2085394"/>
          <a:ext cx="3646752" cy="3682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2520510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9" imgW="344" imgH="345" progId="TCLayout.ActiveDocument.1">
                  <p:embed/>
                </p:oleObj>
              </mc:Choice>
              <mc:Fallback>
                <p:oleObj name="Slide do think-cell" r:id="rId39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Quantitativo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12B22A-2675-8A4E-F48C-AF5FA35B98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
</a:t>
            </a:r>
          </a:p>
        </p:txBody>
      </p:sp>
      <p:graphicFrame>
        <p:nvGraphicFramePr>
          <p:cNvPr id="87" name="Chart 86">
            <a:extLst>
              <a:ext uri="{FF2B5EF4-FFF2-40B4-BE49-F238E27FC236}">
                <a16:creationId xmlns:a16="http://schemas.microsoft.com/office/drawing/2014/main" id="{0CEE03B8-5A9A-A450-5E2B-882ACED2C3C9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742950" y="1752286"/>
          <a:ext cx="8399463" cy="3732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6265863" y="54463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8ADED665-64C8-4832-8EBD-8315EF46EA79}" type="datetime'''''''''''''''''''''''''''''''''''''''8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8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6951663" y="54463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30A270CE-888E-43D5-AC97-71975B1DFED2}" type="datetime'''9''''''''''''''''''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9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609600" y="3250886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DF36F698-6C34-42FF-9A72-AA0DBDADD79C}" type="datetime'''''''''''8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8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8281988" y="5446399"/>
            <a:ext cx="1841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0F523F1D-48F6-475F-8A21-FAD184506616}" type="datetime'1''''''''''''''''''''''''1''''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11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7589838" y="5446399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E91885D7-2216-4297-8028-398D23059176}" type="datetime'''''''''''''''''''''''''''''''''1''''''''''0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8961438" y="5446399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D051766C-30BD-42C5-8078-B711E065CEEB}" type="datetime'''1''''''''''''''''''''''''''''''''''2''''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12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609600" y="47732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2CC960A3-98DF-426D-96B7-AB2F33110C66}" type="datetime'''''''2''''''''''''''''''''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609600" y="4266886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2B558CB2-6F4D-4097-903C-0BF6D1866C35}" type="datetime'''''''''''''''''''''''''''''''''''''''''''4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3521075" y="54463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C003C272-29AF-4D9D-84BB-2B816CEC59F9}" type="datetime'''''''''''''''''''''4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4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gray">
          <a:xfrm>
            <a:off x="609600" y="3758886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A86A305E-79E8-4C97-9CB1-2204593D0761}" type="datetime'''''''''''''''6''''''''''''''''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6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gray">
          <a:xfrm>
            <a:off x="511175" y="2742886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C7B9AA29-CC90-4995-9865-B9BF7373B496}" type="datetime'''''''''''''''''''1''''''''''''''''0''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10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gray">
          <a:xfrm>
            <a:off x="511175" y="1728474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70AB9015-2978-46C9-8063-B989798096CD}" type="datetime'''''''''''''''1''''''''''''''''''''''4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14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gray">
          <a:xfrm>
            <a:off x="511175" y="2236474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98649DD6-E6DB-487F-A9CB-9ED1B32F0DD5}" type="datetime'''''''''1''''''''''''''2''''''''''''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12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gray">
          <a:xfrm>
            <a:off x="776288" y="54463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1BA6913C-FB8D-4D30-871E-E716721EF9A8}" type="datetime'''''''''''''''''''''''''''''''''0''''''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1462088" y="54463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588B4AB9-8031-49A6-9A64-2AACFA7D4B0A}" type="datetime'''''''''''1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1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2149475" y="54463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2CD7E9EE-3B3B-474A-98B8-AB1E4538A1C0}" type="datetime'''''''''''2''''''''''''''''''''''''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2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2835275" y="54463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E0CCC795-2557-4D4B-B8F7-42C102E79869}" type="datetime'''''''''''''''''''''''''''''''''''3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3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gray">
          <a:xfrm>
            <a:off x="4206875" y="54463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10924332-831C-4F13-8DE8-12BDCB3C7852}" type="datetime'''''''''''''5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5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4894263" y="54463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C92BD267-FD8A-4C6E-9861-8EB6CB1E9C8E}" type="datetime'''''''''''''''''''''''''''''''''6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6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5580063" y="54463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D5E51B1B-6838-4B21-98B0-DF6BC64FF594}" type="datetime'''''''''''''''''''''''''''''''''''''''''''7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7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D3C6E53C-9386-420E-A024-5838D0AAE490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609600" y="5281299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fld id="{39F4167F-932E-40C4-BB02-7C32DC6E4371}" type="datetime'''0'''''''''''''''''''''''''''''''''''''">
              <a:rPr lang="en-US" altLang="en-US" sz="14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pPr marL="0" indent="0" algn="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3DA7FD1-2067-6427-8C1C-3C50206A6ADD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8531225" y="2087249"/>
            <a:ext cx="14288" cy="4762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60">
            <a:extLst>
              <a:ext uri="{FF2B5EF4-FFF2-40B4-BE49-F238E27FC236}">
                <a16:creationId xmlns:a16="http://schemas.microsoft.com/office/drawing/2014/main" id="{A198B704-7FC7-941E-CB63-A33873DF5B94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7204076" y="5717377"/>
            <a:ext cx="1851025" cy="3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1BDC7A5-A8DD-4C4B-B9C1-60DA11E5A153}" type="datetime'C''''''''''''''''AG''''''''''''R'''''''''''''''''''''''''">
              <a:rPr lang="en-US" altLang="en-US" sz="1400" b="1" smtClean="0">
                <a:solidFill>
                  <a:srgbClr val="0F6FC6"/>
                </a:solidFill>
              </a:rPr>
              <a:pPr algn="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CAGR</a:t>
            </a:fld>
            <a:br>
              <a:rPr lang="en-US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</a:b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Percentage, 2013-2014</a:t>
            </a:r>
            <a:endParaRPr lang="de-DE" sz="14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 Placeholder 261">
            <a:extLst>
              <a:ext uri="{FF2B5EF4-FFF2-40B4-BE49-F238E27FC236}">
                <a16:creationId xmlns:a16="http://schemas.microsoft.com/office/drawing/2014/main" id="{406FF682-358D-57FB-E6FA-B466E3D131E6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821531" y="1289749"/>
            <a:ext cx="1477963" cy="3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b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400" b="1">
                <a:solidFill>
                  <a:srgbClr val="0F6FC6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t>Margem operacional</a:t>
            </a:r>
            <a:br>
              <a:rPr lang="pt-BR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</a:br>
            <a:r>
              <a:rPr lang="pt-BR" sz="140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t>Porcentagem</a:t>
            </a:r>
          </a:p>
        </p:txBody>
      </p:sp>
      <p:sp>
        <p:nvSpPr>
          <p:cNvPr id="19" name="Text Placeholder 309">
            <a:extLst>
              <a:ext uri="{FF2B5EF4-FFF2-40B4-BE49-F238E27FC236}">
                <a16:creationId xmlns:a16="http://schemas.microsoft.com/office/drawing/2014/main" id="{3A5D05E9-3A15-E7B3-E935-EED6F336AE5B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gray">
          <a:xfrm>
            <a:off x="4941888" y="3174686"/>
            <a:ext cx="2071688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Europa Central e Oriental</a:t>
            </a:r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3" name="Text Placeholder 276">
            <a:extLst>
              <a:ext uri="{FF2B5EF4-FFF2-40B4-BE49-F238E27FC236}">
                <a16:creationId xmlns:a16="http://schemas.microsoft.com/office/drawing/2014/main" id="{12AAC941-3BC2-AC02-25D1-04198069493F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gray">
          <a:xfrm>
            <a:off x="6922294" y="2763356"/>
            <a:ext cx="1106488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Reino Unido e Irlanda </a:t>
            </a:r>
            <a:endParaRPr lang="pt-BR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2" name="Text Placeholder 277">
            <a:extLst>
              <a:ext uri="{FF2B5EF4-FFF2-40B4-BE49-F238E27FC236}">
                <a16:creationId xmlns:a16="http://schemas.microsoft.com/office/drawing/2014/main" id="{FF870349-E805-C293-7C57-9F4297ABA44A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gray">
          <a:xfrm>
            <a:off x="5068888" y="3504886"/>
            <a:ext cx="779463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Alemanha</a:t>
            </a:r>
            <a:endParaRPr lang="pt-BR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3" name="Text Placeholder 303">
            <a:extLst>
              <a:ext uri="{FF2B5EF4-FFF2-40B4-BE49-F238E27FC236}">
                <a16:creationId xmlns:a16="http://schemas.microsoft.com/office/drawing/2014/main" id="{019BC125-AEDD-DAA4-0BAF-206CCBD89C9C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gray">
          <a:xfrm>
            <a:off x="5976938" y="2384111"/>
            <a:ext cx="160972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t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Benelux e países nórdicos  </a:t>
            </a:r>
            <a:endParaRPr lang="pt-BR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0" name="Text Placeholder 310">
            <a:extLst>
              <a:ext uri="{FF2B5EF4-FFF2-40B4-BE49-F238E27FC236}">
                <a16:creationId xmlns:a16="http://schemas.microsoft.com/office/drawing/2014/main" id="{7AC17110-E8DB-1639-9022-9AF9DC7C2595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gray">
          <a:xfrm>
            <a:off x="7570788" y="3944624"/>
            <a:ext cx="1268413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América do Norte</a:t>
            </a:r>
            <a:endParaRPr lang="de-DE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 Placeholder 311">
            <a:extLst>
              <a:ext uri="{FF2B5EF4-FFF2-40B4-BE49-F238E27FC236}">
                <a16:creationId xmlns:a16="http://schemas.microsoft.com/office/drawing/2014/main" id="{9AADD0AE-843A-A571-908A-7F9BDAFB863B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gray">
          <a:xfrm>
            <a:off x="6500813" y="4336736"/>
            <a:ext cx="493713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Península ibérica</a:t>
            </a:r>
            <a:endParaRPr lang="pt-BR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1" name="Text Placeholder 312">
            <a:extLst>
              <a:ext uri="{FF2B5EF4-FFF2-40B4-BE49-F238E27FC236}">
                <a16:creationId xmlns:a16="http://schemas.microsoft.com/office/drawing/2014/main" id="{AA55CCB4-6A0B-73CB-C02E-8C8FD6C61567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gray">
          <a:xfrm>
            <a:off x="7896499" y="1874524"/>
            <a:ext cx="1112838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Ásia-Pacífico</a:t>
            </a:r>
            <a:r>
              <a:rPr lang="en-US" sz="1400" b="1" baseline="30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 panose="020B0604020202020204" pitchFamily="34" charset="0"/>
              </a:rPr>
              <a:t>1</a:t>
            </a:r>
            <a:endParaRPr lang="de-DE" sz="1400" b="1" baseline="3000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 Placeholder 278">
            <a:extLst>
              <a:ext uri="{FF2B5EF4-FFF2-40B4-BE49-F238E27FC236}">
                <a16:creationId xmlns:a16="http://schemas.microsoft.com/office/drawing/2014/main" id="{741FA1A5-28F4-56CD-E542-8EFD89A2D8C9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gray">
          <a:xfrm>
            <a:off x="1795463" y="4111311"/>
            <a:ext cx="601663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França</a:t>
            </a:r>
            <a:endParaRPr lang="pt-BR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4BBFA7AA-14DC-3C01-E235-5BDF509A6588}"/>
              </a:ext>
            </a:extLst>
          </p:cNvPr>
          <p:cNvGrpSpPr/>
          <p:nvPr/>
        </p:nvGrpSpPr>
        <p:grpSpPr>
          <a:xfrm>
            <a:off x="6429591" y="1149572"/>
            <a:ext cx="2624716" cy="445991"/>
            <a:chOff x="8961438" y="1057642"/>
            <a:chExt cx="2624716" cy="445991"/>
          </a:xfrm>
        </p:grpSpPr>
        <p:sp>
          <p:nvSpPr>
            <p:cNvPr id="8" name="Rectangle 37">
              <a:extLst>
                <a:ext uri="{FF2B5EF4-FFF2-40B4-BE49-F238E27FC236}">
                  <a16:creationId xmlns:a16="http://schemas.microsoft.com/office/drawing/2014/main" id="{5FE2F359-17BA-EED5-8DAA-BFA2E0E8E3EB}"/>
                </a:ext>
              </a:extLst>
            </p:cNvPr>
            <p:cNvSpPr>
              <a:spLocks/>
            </p:cNvSpPr>
            <p:nvPr/>
          </p:nvSpPr>
          <p:spPr>
            <a:xfrm>
              <a:off x="8961438" y="1057642"/>
              <a:ext cx="2624716" cy="445991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ctr"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B9FE032-EF49-0204-AD92-09BF6CFEB1AA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auto">
            <a:xfrm>
              <a:off x="9062655" y="1186975"/>
              <a:ext cx="187200" cy="187325"/>
            </a:xfrm>
            <a:prstGeom prst="ellipse">
              <a:avLst/>
            </a:prstGeom>
            <a:solidFill>
              <a:srgbClr val="D9D9D9"/>
            </a:solidFill>
            <a:ln w="9525" algn="ctr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Text Placeholder 308">
            <a:extLst>
              <a:ext uri="{FF2B5EF4-FFF2-40B4-BE49-F238E27FC236}">
                <a16:creationId xmlns:a16="http://schemas.microsoft.com/office/drawing/2014/main" id="{FAB35AC9-949B-F8B3-8BDB-06D670671FD8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auto">
          <a:xfrm>
            <a:off x="6803619" y="1135488"/>
            <a:ext cx="2064237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sz="12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  <a:sym typeface="+mn-lt"/>
              </a:rPr>
              <a:t>Diâmetro no tamanho mercado
</a:t>
            </a:r>
            <a:r>
              <a:rPr lang="pt-BR" sz="1200">
                <a:solidFill>
                  <a:srgbClr val="0F6FC6"/>
                </a:solidFill>
                <a:latin typeface="Segoe UI" panose="020B0502040204020203" pitchFamily="34" charset="0"/>
                <a:cs typeface="Segoe UI" panose="020B0502040204020203" pitchFamily="34" charset="0"/>
                <a:sym typeface="+mn-lt"/>
              </a:rPr>
              <a:t>EUR milhões, 2014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D89C728-69A5-E4BC-691B-842246442E6F}"/>
              </a:ext>
            </a:extLst>
          </p:cNvPr>
          <p:cNvGrpSpPr/>
          <p:nvPr/>
        </p:nvGrpSpPr>
        <p:grpSpPr>
          <a:xfrm>
            <a:off x="9377363" y="1157640"/>
            <a:ext cx="2282825" cy="4998647"/>
            <a:chOff x="9537700" y="1659905"/>
            <a:chExt cx="2282825" cy="399213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E6ED1D7-CB5C-A204-E906-7F17C293BBC4}"/>
                </a:ext>
              </a:extLst>
            </p:cNvPr>
            <p:cNvSpPr/>
            <p:nvPr/>
          </p:nvSpPr>
          <p:spPr>
            <a:xfrm>
              <a:off x="9537700" y="1659905"/>
              <a:ext cx="2282825" cy="394841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B00D0FF-F8BB-021E-CEA4-7E258DF407EC}"/>
                </a:ext>
              </a:extLst>
            </p:cNvPr>
            <p:cNvSpPr txBox="1"/>
            <p:nvPr/>
          </p:nvSpPr>
          <p:spPr>
            <a:xfrm>
              <a:off x="9673216" y="1797839"/>
              <a:ext cx="2069521" cy="3854196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r>
                <a:rPr lang="pt-BR" sz="1400" b="1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Principais insights</a:t>
              </a:r>
            </a:p>
            <a:p>
              <a:endParaRPr lang="pt-BR" sz="1400" b="1" dirty="0">
                <a:solidFill>
                  <a:schemeClr val="tx1"/>
                </a:solidFill>
                <a:latin typeface="Segoe UI"/>
                <a:cs typeface="Segoe UI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Empresa deve </a:t>
              </a:r>
              <a:r>
                <a:rPr lang="pt-BR" sz="1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concentrar atividades de crescimento </a:t>
              </a:r>
              <a:r>
                <a:rPr lang="pt-BR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em duas regiões:</a:t>
              </a:r>
            </a:p>
            <a:p>
              <a:pPr marL="626745" lvl="1">
                <a:buFont typeface="Symbol" panose="05050102010706020507" pitchFamily="18" charset="2"/>
                <a:buChar char="-"/>
              </a:pPr>
              <a:r>
                <a:rPr lang="pt-BR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América do Norte</a:t>
              </a:r>
            </a:p>
            <a:p>
              <a:pPr marL="626745" lvl="1">
                <a:buFont typeface="Symbol" panose="05050102010706020507" pitchFamily="18" charset="2"/>
                <a:buChar char="-"/>
              </a:pPr>
              <a:r>
                <a:rPr lang="pt-BR" sz="1400" dirty="0">
                  <a:latin typeface="Segoe UI" panose="020B0502040204020203" pitchFamily="34" charset="0"/>
                  <a:cs typeface="Segoe UI" panose="020B0502040204020203" pitchFamily="34" charset="0"/>
                </a:rPr>
                <a:t>Asia-Pacífico</a:t>
              </a:r>
              <a:endParaRPr lang="pt-BR" sz="1400" baseline="30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626745" lvl="1">
                <a:buFont typeface="Symbol" panose="05050102010706020507" pitchFamily="18" charset="2"/>
                <a:buChar char="-"/>
              </a:pPr>
              <a:endParaRPr lang="pt-BR" sz="1400" dirty="0">
                <a:latin typeface="Segoe UI"/>
                <a:cs typeface="Segoe UI"/>
              </a:endParaRPr>
            </a:p>
            <a:p>
              <a:pPr marL="271145" indent="-271145">
                <a:buFont typeface="Arial" panose="020B0604020202020204" pitchFamily="34" charset="0"/>
                <a:buChar char="•"/>
              </a:pPr>
              <a:r>
                <a:rPr lang="pt-BR" sz="1400" dirty="0">
                  <a:latin typeface="Segoe UI"/>
                  <a:cs typeface="Segoe UI"/>
                </a:rPr>
                <a:t>As regiões priorizadas oferecem a melhor combinação de </a:t>
              </a:r>
              <a:r>
                <a:rPr lang="pt-BR" sz="1400" b="1" dirty="0">
                  <a:latin typeface="Segoe UI"/>
                  <a:cs typeface="Segoe UI"/>
                </a:rPr>
                <a:t>margem lucrativa e crescimento </a:t>
              </a:r>
              <a:r>
                <a:rPr lang="pt-BR" sz="1400" dirty="0">
                  <a:latin typeface="Segoe UI"/>
                  <a:cs typeface="Segoe UI"/>
                </a:rPr>
                <a:t>(mais de 10% para ambos)</a:t>
              </a:r>
              <a:r>
                <a:rPr lang="pt-BR" sz="1400">
                  <a:latin typeface="Segoe UI"/>
                  <a:cs typeface="Segoe UI"/>
                </a:rPr>
                <a:t>
</a:t>
              </a:r>
              <a:r>
                <a:rPr lang="pt-BR" sz="1400" dirty="0">
                  <a:latin typeface="Segoe UI"/>
                  <a:cs typeface="Segoe UI"/>
                </a:rPr>
                <a:t>Ambas as regiões também são as maiores regiões no tamanho atual do mercado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88352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20" imgW="344" imgH="345" progId="TCLayout.ActiveDocument.1">
                  <p:embed/>
                </p:oleObj>
              </mc:Choice>
              <mc:Fallback>
                <p:oleObj name="Slide do think-cell" r:id="rId20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Quantitativo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7BF3DF-C775-53C7-5324-72272FAF3D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
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D1A464D-6300-D3C0-69A2-3F8A04057DFD}"/>
              </a:ext>
            </a:extLst>
          </p:cNvPr>
          <p:cNvGrpSpPr/>
          <p:nvPr/>
        </p:nvGrpSpPr>
        <p:grpSpPr>
          <a:xfrm>
            <a:off x="519817" y="1226225"/>
            <a:ext cx="11150778" cy="387798"/>
            <a:chOff x="821678" y="3262801"/>
            <a:chExt cx="11776724" cy="387798"/>
          </a:xfrm>
        </p:grpSpPr>
        <p:sp>
          <p:nvSpPr>
            <p:cNvPr id="58" name="Rectangle 59">
              <a:extLst>
                <a:ext uri="{FF2B5EF4-FFF2-40B4-BE49-F238E27FC236}">
                  <a16:creationId xmlns:a16="http://schemas.microsoft.com/office/drawing/2014/main" id="{FDC6671C-E677-054E-AF16-CBD084CCAEB9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gray">
            <a:xfrm>
              <a:off x="821678" y="3262801"/>
              <a:ext cx="11776724" cy="3877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0" numCol="1" anchor="b" anchorCtr="0" compatLnSpc="1">
              <a:prstTxWarp prst="textNoShape">
                <a:avLst/>
              </a:prstTxWarp>
              <a:spAutoFit/>
            </a:bodyPr>
            <a:lstStyle>
              <a:lvl1pPr marL="0" indent="0" algn="l" defTabSz="89535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defRPr sz="1600" baseline="0">
                  <a:solidFill>
                    <a:schemeClr val="tx1"/>
                  </a:solidFill>
                  <a:latin typeface="+mn-lt"/>
                  <a:ea typeface="Arial Unicode MS" pitchFamily="34" charset="-128"/>
                  <a:cs typeface="Arial Unicode MS" pitchFamily="34" charset="-128"/>
                </a:defRPr>
              </a:lvl1pPr>
              <a:lvl2pPr marL="193675" indent="-192088" algn="l" defTabSz="89535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125000"/>
                <a:buFont typeface="Arial" charset="0"/>
                <a:buChar char="▪"/>
                <a:defRPr sz="1600" baseline="0">
                  <a:solidFill>
                    <a:schemeClr val="tx1"/>
                  </a:solidFill>
                  <a:latin typeface="+mn-lt"/>
                  <a:ea typeface="Arial Unicode MS" pitchFamily="34" charset="-128"/>
                  <a:cs typeface="Arial Unicode MS" pitchFamily="34" charset="-128"/>
                </a:defRPr>
              </a:lvl2pPr>
              <a:lvl3pPr marL="457200" indent="-261938" algn="l" defTabSz="89535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120000"/>
                <a:buFont typeface="Arial" charset="0"/>
                <a:buChar char="–"/>
                <a:defRPr sz="1600" baseline="0">
                  <a:solidFill>
                    <a:schemeClr val="tx1"/>
                  </a:solidFill>
                  <a:latin typeface="+mn-lt"/>
                  <a:ea typeface="Arial Unicode MS" pitchFamily="34" charset="-128"/>
                  <a:cs typeface="Arial Unicode MS" pitchFamily="34" charset="-128"/>
                </a:defRPr>
              </a:lvl3pPr>
              <a:lvl4pPr marL="614363" indent="-155575" algn="l" defTabSz="89535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120000"/>
                <a:buFont typeface="Arial" charset="0"/>
                <a:buChar char="▫"/>
                <a:defRPr sz="1600" baseline="0">
                  <a:solidFill>
                    <a:schemeClr val="tx1"/>
                  </a:solidFill>
                  <a:latin typeface="+mn-lt"/>
                  <a:ea typeface="Arial Unicode MS" pitchFamily="34" charset="-128"/>
                  <a:cs typeface="Arial Unicode MS" pitchFamily="34" charset="-128"/>
                </a:defRPr>
              </a:lvl4pPr>
              <a:lvl5pPr marL="749808" indent="-130175" algn="l" defTabSz="89535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600" baseline="0">
                  <a:solidFill>
                    <a:schemeClr val="tx1"/>
                  </a:solidFill>
                  <a:latin typeface="+mn-lt"/>
                  <a:ea typeface="Arial Unicode MS" pitchFamily="34" charset="-128"/>
                  <a:cs typeface="Arial Unicode MS" pitchFamily="34" charset="-128"/>
                </a:defRPr>
              </a:lvl5pPr>
              <a:lvl6pPr marL="749808" indent="-130175" algn="l" defTabSz="89535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6pPr>
              <a:lvl7pPr marL="749808" indent="-130175" algn="l" defTabSz="89535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7pPr>
              <a:lvl8pPr marL="749808" indent="-130175" algn="l" defTabSz="89535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8pPr>
              <a:lvl9pPr marL="749808" indent="-130175" algn="l" defTabSz="895350" rtl="0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Pct val="89000"/>
                <a:buFont typeface="Arial" charset="0"/>
                <a:buChar char="-"/>
                <a:defRPr sz="1600" baseline="0">
                  <a:solidFill>
                    <a:schemeClr val="tx1"/>
                  </a:solidFill>
                  <a:latin typeface="+mn-lt"/>
                </a:defRPr>
              </a:lvl9pPr>
            </a:lstStyle>
            <a:p>
              <a:pPr lvl="0">
                <a:lnSpc>
                  <a:spcPct val="90000"/>
                </a:lnSpc>
                <a:buClr>
                  <a:srgbClr val="002960"/>
                </a:buClr>
              </a:pPr>
              <a:r>
                <a:rPr lang="de-DE" sz="1400" b="1" kern="0">
                  <a:solidFill>
                    <a:srgbClr val="0F6FC6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Título do gráfico
</a:t>
              </a:r>
              <a:r>
                <a:rPr lang="pt-BR" sz="1400" kern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EUR </a:t>
              </a:r>
              <a:r>
                <a:rPr lang="pt-BR" sz="1400" kern="0" err="1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mn</a:t>
              </a:r>
              <a:r>
                <a:rPr lang="pt-BR" sz="1400" kern="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, unidade de negócio alemã, excluindo a linha de produtos </a:t>
              </a:r>
              <a:r>
                <a:rPr lang="pt-BR" sz="1400" kern="0" err="1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xy</a:t>
              </a:r>
              <a:endParaRPr lang="de-DE" sz="1400" kern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9" name="Line 60">
              <a:extLst>
                <a:ext uri="{FF2B5EF4-FFF2-40B4-BE49-F238E27FC236}">
                  <a16:creationId xmlns:a16="http://schemas.microsoft.com/office/drawing/2014/main" id="{B194930D-F164-44AE-004E-A70CB7D5F757}"/>
                </a:ext>
              </a:extLst>
            </p:cNvPr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821678" y="3650599"/>
              <a:ext cx="11776724" cy="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 hangingPunct="1">
                <a:spcBef>
                  <a:spcPct val="0"/>
                </a:spcBef>
                <a:spcAft>
                  <a:spcPct val="0"/>
                </a:spcAft>
              </a:pPr>
              <a:endParaRPr lang="de-DE" sz="1400" b="1" kern="1200" spc="0">
                <a:solidFill>
                  <a:srgbClr val="000000"/>
                </a:solidFill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8AF70D8-68EA-BC25-F02D-73A1F5B38A2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946650" y="3374554"/>
            <a:ext cx="7064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3FCC5CA-7F76-B007-D6FA-79901CC7E8B9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762125" y="3422179"/>
            <a:ext cx="7064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7F0AA00-23C4-E083-20CC-F0D74385EACE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354388" y="4515967"/>
            <a:ext cx="706437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647FAFD-B506-CC14-368B-87E845A3CE97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537325" y="2671292"/>
            <a:ext cx="7064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15454B5-4992-7C37-4D6D-0345AD53E93C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8129588" y="3687292"/>
            <a:ext cx="7064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7910983-5F48-E3CA-E4C2-410E89B204AB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9721850" y="3296767"/>
            <a:ext cx="7064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3">
            <a:extLst>
              <a:ext uri="{FF2B5EF4-FFF2-40B4-BE49-F238E27FC236}">
                <a16:creationId xmlns:a16="http://schemas.microsoft.com/office/drawing/2014/main" id="{828DB5DD-566D-76F7-3E3E-65A0C8D8044B}"/>
              </a:ext>
            </a:extLst>
          </p:cNvPr>
          <p:cNvGraphicFramePr/>
          <p:nvPr>
            <p:custDataLst>
              <p:tags r:id="rId9"/>
            </p:custDataLst>
          </p:nvPr>
        </p:nvGraphicFramePr>
        <p:xfrm>
          <a:off x="441325" y="2589213"/>
          <a:ext cx="11309350" cy="3402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6EBA52F3-556F-A3F4-74DE-A7DA2283E96B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812801" y="5966942"/>
            <a:ext cx="10128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0C153BA-B6A6-4AD0-A0C8-DDD4C4C43DF8}" type="datetime'''EBI''''''T''''''''D''''''A'' ''201''''9'''''''">
              <a:rPr lang="en-US" altLang="en-US" sz="1400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EBITDA 2019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2E8C0569-BCED-C68E-095D-2B7CFB71C8AF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2609850" y="5966942"/>
            <a:ext cx="60325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Efeito 1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2D794FFE-DCBA-85A1-FF70-3E29DC7B5230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7385050" y="5966942"/>
            <a:ext cx="60325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Efeito 4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ED207125-ACEB-C62D-6793-A1F036D51339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4202113" y="5966942"/>
            <a:ext cx="60325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Efeito 2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853E1076-ACE7-D851-F5EB-F9A544429F6C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10364789" y="5966942"/>
            <a:ext cx="10128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0838B73-D363-46B4-AB3C-13FC4E279011}" type="datetime'''E''''B''I''''''T''D''A ''''''2''''0''20'''''''''''">
              <a:rPr lang="en-US" altLang="en-US" sz="1400" smtClean="0">
                <a:latin typeface="Segoe UI" panose="020B0502040204020203" pitchFamily="34" charset="0"/>
                <a:cs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EBITDA 2020</a:t>
            </a:fld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D3C697D7-3121-6252-6C9C-889DAFFA302F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5792788" y="5967413"/>
            <a:ext cx="60325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Efeito 3
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D213D57F-D062-0B5E-886B-BC31C2A7DAA6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8977313" y="5966942"/>
            <a:ext cx="60325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en-US" sz="1400">
                <a:latin typeface="Segoe UI" panose="020B0502040204020203" pitchFamily="34" charset="0"/>
                <a:cs typeface="Segoe UI" panose="020B0502040204020203" pitchFamily="34" charset="0"/>
              </a:rPr>
              <a:t>Efeito 5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79" name="Textfeld 33">
            <a:extLst>
              <a:ext uri="{FF2B5EF4-FFF2-40B4-BE49-F238E27FC236}">
                <a16:creationId xmlns:a16="http://schemas.microsoft.com/office/drawing/2014/main" id="{47AAAD72-696D-97EB-80CA-DF69179CD4ED}"/>
              </a:ext>
            </a:extLst>
          </p:cNvPr>
          <p:cNvSpPr txBox="1"/>
          <p:nvPr/>
        </p:nvSpPr>
        <p:spPr>
          <a:xfrm>
            <a:off x="8322012" y="1731300"/>
            <a:ext cx="1913851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Observações sobre elementos específicos de um gráfico ou outras contribuições relevantes
</a:t>
            </a:r>
            <a:endParaRPr lang="de-DE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8156C9A-2A28-023B-0C84-441A4599F1DC}"/>
              </a:ext>
            </a:extLst>
          </p:cNvPr>
          <p:cNvSpPr/>
          <p:nvPr/>
        </p:nvSpPr>
        <p:spPr>
          <a:xfrm>
            <a:off x="8776639" y="2864966"/>
            <a:ext cx="1006185" cy="1158892"/>
          </a:xfrm>
          <a:prstGeom prst="roundRect">
            <a:avLst>
              <a:gd name="adj" fmla="val 9198"/>
            </a:avLst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0404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3" imgW="425" imgH="424" progId="TCLayout.ActiveDocument.1">
                  <p:embed/>
                </p:oleObj>
              </mc:Choice>
              <mc:Fallback>
                <p:oleObj name="Slide do think-cell" r:id="rId43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B4BA3E2A-ADE6-5722-BC53-D6ABDF4C6E38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9842500" y="4938713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DBDDF912-4F58-F478-61B5-CDA304F17985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7243763" y="4699000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EC97A7F1-BEFD-770F-BFB5-7E9009F9C640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914650" y="3371850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CF03C3D1-1862-0290-A785-B1EFA0B11FE3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8110538" y="4803775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A9E1532-E0AA-F08D-043A-918E58979B66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1182688" y="1727200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E3445C17-83AD-FAF4-FDE2-F2CFBCE09590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2047875" y="2559050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45A34A2E-BB7A-6453-D7D3-965D3506C733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4646613" y="4211638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14878301-BAD4-2EEE-A604-DA105C4AAA1C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3779838" y="3879850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79C6B201-2F83-CC46-5E05-7311177964DC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5511800" y="4454525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552EDCEF-BEB4-90E9-34F6-D423F79CA894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6378575" y="4586288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B257EB18-6904-FA95-BDB5-DE68707E315F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975725" y="4884738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Conector reto 157">
            <a:extLst>
              <a:ext uri="{FF2B5EF4-FFF2-40B4-BE49-F238E27FC236}">
                <a16:creationId xmlns:a16="http://schemas.microsoft.com/office/drawing/2014/main" id="{29A0FD1D-3439-6D14-CFA4-08885AEB82DD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707688" y="4976813"/>
            <a:ext cx="3841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6748D9D3-EA34-D5D3-8922-2B043D7E7DA3}"/>
              </a:ext>
            </a:extLst>
          </p:cNvPr>
          <p:cNvGraphicFramePr/>
          <p:nvPr>
            <p:custDataLst>
              <p:tags r:id="rId15"/>
            </p:custDataLst>
          </p:nvPr>
        </p:nvGraphicFramePr>
        <p:xfrm>
          <a:off x="425450" y="1644650"/>
          <a:ext cx="11423650" cy="34591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sp>
        <p:nvSpPr>
          <p:cNvPr id="12" name="Espaço Reservado para Texto 2">
            <a:extLst>
              <a:ext uri="{FF2B5EF4-FFF2-40B4-BE49-F238E27FC236}">
                <a16:creationId xmlns:a16="http://schemas.microsoft.com/office/drawing/2014/main" id="{84E195A4-3760-BAB5-7AE1-F53F82C1DEA3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3900488" y="5113338"/>
            <a:ext cx="1009650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E8349EF-A1AB-4E9D-80BB-1287C5C85133}" type="datetime'ES''TAÇ''ÃO'''' D''P'''''' DESGU''''''A''''R''''N''''ECIDA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ESTAÇÃO DP DESGUARNECIDA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2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gray">
          <a:xfrm>
            <a:off x="5149849" y="4237038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9F309C6-703E-4AA9-960A-869E39A5995C}" type="datetime'6''''1''''''''''''''''''''''''''''''''''''''''''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61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6166AD37-F606-F298-CD0F-60C34444B577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4918075" y="5113338"/>
            <a:ext cx="706438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A947005-80BA-498C-9BAE-4CAA6D865A50}" type="datetime'UT''''I''L''''I''ZA''''Ç''''ÃO'''' D''''''''''E'''''''''' EPI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UTILIZAÇÃO DE EPI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566BACBF-7549-C886-F66A-484ADC7B3967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5808663" y="5113338"/>
            <a:ext cx="658813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C2752D6-845F-4E8A-AB43-A8BCF6BDCCDD}" type="datetime'OP''ERA''''''ÇÃ''O'''' MO''D''O ''''''M''''ANU''AL''''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OPERAÇÃO MODO MANUAL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04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6881812" y="4546600"/>
            <a:ext cx="241300" cy="192088"/>
          </a:xfrm>
          <a:prstGeom prst="rect">
            <a:avLst/>
          </a:prstGeom>
          <a:solidFill>
            <a:srgbClr val="364D6E"/>
          </a:solidFill>
          <a:ln>
            <a:noFill/>
          </a:ln>
          <a:effectLst/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26C7044-FE65-4282-B65F-C07C4DD3DD73}" type="datetime'''''''''''''2''''''8''''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28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6F2E5B68-674A-065C-B930-D43F1A85A05A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6570662" y="5113338"/>
            <a:ext cx="86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C49B949-8992-45EE-AAC4-162B75C75E0C}" type="datetime'US''O'''''''''''' ''''''''''''DE L''''U''''''VAS''''''''''''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USO DE LUVAS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25395206-1AC6-235D-485A-3FA59D815488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8355013" y="5113338"/>
            <a:ext cx="758825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953DE17-D08B-4E24-8619-BB1E61D14CCB}" type="datetime'VE''LOC''IDAD''E NA'' Z''ON''A'''''' D''''''E'' 500 METRO''S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VELOCIDADE NA ZONA DE 500 METROS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56" name="Espaço Reservado para Texto 2">
            <a:extLst>
              <a:ext uri="{FF2B5EF4-FFF2-40B4-BE49-F238E27FC236}">
                <a16:creationId xmlns:a16="http://schemas.microsoft.com/office/drawing/2014/main" id="{67D83E5B-8B83-0DFD-BBCF-572849573AEC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11206162" y="4759325"/>
            <a:ext cx="2540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B0DADC9-0F26-40C6-9F5A-5F044FECFA1B}" type="datetime'''''1''''''''''''''''1'''''">
              <a:rPr kumimoji="0" lang="pt-B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</a:t>
            </a:fld>
            <a:endParaRPr kumimoji="0" lang="pt-B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0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3370262" y="3530600"/>
            <a:ext cx="3365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6BE1E84-1BAE-4AC8-BEBD-82D2419C201B}" type="datetime'''''1''''27''''''''''''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127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auto">
          <a:xfrm>
            <a:off x="2293938" y="5113338"/>
            <a:ext cx="760413" cy="40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121DF88-D903-486D-AE5F-5E9B53906481}" type="datetime'N''''AVE''''GAÇ''''''''''ÃO ''FOR''A ''D''O ''C''ANA''''''''L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NAVEGAÇÃO FORA DO CANAL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3A01EC70-1700-2E83-088D-DF05D97EE19E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auto">
          <a:xfrm>
            <a:off x="7496175" y="5113338"/>
            <a:ext cx="7477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355F45F-3E61-4417-9E0F-D8C0E63786D0}" type="datetime'''''''''''''V''EL''O''C''IDAD''E E''''X''CES''S''I''''V''A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VELOCIDADE EXCESSIVA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0" name="Espaço Reservado para Texto 2">
            <a:extLst>
              <a:ext uri="{FF2B5EF4-FFF2-40B4-BE49-F238E27FC236}">
                <a16:creationId xmlns:a16="http://schemas.microsoft.com/office/drawing/2014/main" id="{0C008C88-C59A-58FF-1EF1-92465843DC1E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auto">
          <a:xfrm>
            <a:off x="11082338" y="5113338"/>
            <a:ext cx="5016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D4D8494-31B9-4410-971A-A461CD20F06D}" type="datetime'OU''''T''R''O''''''''''''''''''''''''''''''''''''''''''S''''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OUTROS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07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gray">
          <a:xfrm>
            <a:off x="9480549" y="4816475"/>
            <a:ext cx="241300" cy="192088"/>
          </a:xfrm>
          <a:prstGeom prst="rect">
            <a:avLst/>
          </a:prstGeom>
          <a:solidFill>
            <a:srgbClr val="364D6E"/>
          </a:solidFill>
          <a:ln>
            <a:noFill/>
          </a:ln>
          <a:effectLst/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1490AF4-5415-419A-94EE-20290E9E10A4}" type="datetime'''''''''1''''''''''''4''''''''''''''''''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14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BADF114E-34BD-1230-FEBE-5028E640BF7E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9293224" y="5113338"/>
            <a:ext cx="6175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5D5B9B7-B487-4C2D-88E2-28F18638EE10}" type="datetime'''''''''M''''A''N''''G''''''''''''''''O''TE''''''''''''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MANGOTE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02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gray">
          <a:xfrm>
            <a:off x="763587" y="1509713"/>
            <a:ext cx="3556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9486CDF-9663-493C-87FF-FE179654797B}" type="datetime'''''''''''''''''''''''''''''''''''''8''2''1'''''''''''''''">
              <a:rPr kumimoji="0" lang="pt-BR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821</a:t>
            </a:fld>
            <a:endParaRPr kumimoji="0" lang="pt-B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08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gray">
          <a:xfrm>
            <a:off x="10393363" y="4862513"/>
            <a:ext cx="146050" cy="192088"/>
          </a:xfrm>
          <a:prstGeom prst="rect">
            <a:avLst/>
          </a:prstGeom>
          <a:solidFill>
            <a:srgbClr val="364D6E"/>
          </a:solidFill>
          <a:ln>
            <a:noFill/>
          </a:ln>
          <a:effectLst/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C234345-75EA-424D-B5DC-8ADA6D4AF19F}" type="datetime'''''''''''''''''''''''''''''''''''''''''''''''''''''''''9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C9E7FADE-49CF-460A-4FD5-DD019C6CA60D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auto">
          <a:xfrm>
            <a:off x="10137775" y="5113338"/>
            <a:ext cx="65722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354BFE6-EEA2-49D9-950D-E6ACC529986B}" type="datetime'''''''E''''SCAD''A'''''''''''' DE A''''''''C''''''E''SSO''''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ESCADA DE ACESSO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gray">
          <a:xfrm>
            <a:off x="2505074" y="2870200"/>
            <a:ext cx="3365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CB40D0A-D64C-4BDA-AE13-0D4C64ED7AE9}" type="datetime'''''''''20''''''''''''''''''''''''''3''''''''''''''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203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06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gray">
          <a:xfrm>
            <a:off x="8613774" y="4748213"/>
            <a:ext cx="241300" cy="192088"/>
          </a:xfrm>
          <a:prstGeom prst="rect">
            <a:avLst/>
          </a:prstGeom>
          <a:solidFill>
            <a:srgbClr val="364D6E"/>
          </a:solidFill>
          <a:ln>
            <a:noFill/>
          </a:ln>
          <a:effectLst/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3CE4CA2-359C-43DB-A735-5A48726A267A}" type="datetime'2''''''''0''''''''''''''''''''''''''''''''''''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auto">
          <a:xfrm>
            <a:off x="646112" y="5113338"/>
            <a:ext cx="59213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938E23C-C83E-4D39-B16D-E8DAA54418CF}" type="datetime'''''T''''''''''''o''tal ''''Ev''i''t''''''ad''o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Total Evitado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gray">
          <a:xfrm>
            <a:off x="1638299" y="2047875"/>
            <a:ext cx="3365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7F78EDD-60F7-42F0-A5F2-4FDB82EF2F2B}" type="datetime'''''''''2''''''''''0''7''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207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auto">
          <a:xfrm>
            <a:off x="1420813" y="5113338"/>
            <a:ext cx="7731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CED57CD-FF84-42F7-8B82-AF73D1977A57}" type="datetime'''U''S''O'' ''C''''''OLE''TE ''S''ALV''''A V''I''''''DAS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USO COLETE SALVA VIDAS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03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gray">
          <a:xfrm>
            <a:off x="6016624" y="4424363"/>
            <a:ext cx="241300" cy="192088"/>
          </a:xfrm>
          <a:prstGeom prst="rect">
            <a:avLst/>
          </a:prstGeom>
          <a:solidFill>
            <a:srgbClr val="364D6E"/>
          </a:solidFill>
          <a:ln>
            <a:noFill/>
          </a:ln>
          <a:effectLst/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9AF687C-FB2F-40E1-A4E9-26BE0CC4890A}" type="datetime'''''''''''3''''''''''''3''''''''''''''''''''''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33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1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gray">
          <a:xfrm>
            <a:off x="4284662" y="3949700"/>
            <a:ext cx="2413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64D6E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D7EFB27-443D-4CF9-951F-8CDFB77B215A}" type="datetime'''''''''''''''''8''3''''''''''''''''''''''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83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B98C739E-012C-0D89-1C2C-B755BBB82011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auto">
          <a:xfrm>
            <a:off x="3260725" y="5113338"/>
            <a:ext cx="557213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1682104-BBC3-4603-BC86-F5A961525A2F}" type="datetime'''''M''''''AN''''CH''''A'''''''' ''''''D''E'' ÓL''EO'''''''''">
              <a:rPr kumimoji="0" lang="pt-B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MANCHA DE ÓLEO</a:t>
            </a:fld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05" name="Espaço Reservado para Texto 2">
            <a:extLst>
              <a:ext uri="{FF2B5EF4-FFF2-40B4-BE49-F238E27FC236}">
                <a16:creationId xmlns:a16="http://schemas.microsoft.com/office/drawing/2014/main" id="{31AF6B6F-215A-8CF8-3A39-77D7B0408B6F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gray">
          <a:xfrm>
            <a:off x="7748587" y="4656138"/>
            <a:ext cx="241300" cy="192088"/>
          </a:xfrm>
          <a:prstGeom prst="rect">
            <a:avLst/>
          </a:prstGeom>
          <a:solidFill>
            <a:srgbClr val="364D6E"/>
          </a:solidFill>
          <a:ln>
            <a:noFill/>
          </a:ln>
          <a:effectLst/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7999620F-6CDE-4D78-8A73-D9F19621F4C1}" type="datetime'''''''''''''''''''''''''''''''''''''2''''''''6'''''''''''">
              <a:rPr kumimoji="0" lang="pt-B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26</a:t>
            </a:fld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EBD56E7F-C2EB-3D49-E6A3-63D6AEEB7B2F}"/>
              </a:ext>
            </a:extLst>
          </p:cNvPr>
          <p:cNvSpPr txBox="1"/>
          <p:nvPr/>
        </p:nvSpPr>
        <p:spPr>
          <a:xfrm>
            <a:off x="3736634" y="1015422"/>
            <a:ext cx="537720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Custos Evitados por tipo de intervenção (USD K)</a:t>
            </a:r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3BA5D43F-ABE6-617A-4DA6-88E70382A9DE}"/>
              </a:ext>
            </a:extLst>
          </p:cNvPr>
          <p:cNvSpPr txBox="1"/>
          <p:nvPr/>
        </p:nvSpPr>
        <p:spPr>
          <a:xfrm>
            <a:off x="691620" y="5771093"/>
            <a:ext cx="1089025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Os tipos de intervenção “Uso de colete salva vidas”, “Navegação fora do canal”, “Mancha de óleo” e “Estação DP Desguarnecida” representam 75% dos custos evitados.</a:t>
            </a:r>
            <a:endParaRPr lang="pt-BR" sz="1400" b="1"/>
          </a:p>
        </p:txBody>
      </p:sp>
      <p:sp>
        <p:nvSpPr>
          <p:cNvPr id="23" name="Título 2">
            <a:extLst>
              <a:ext uri="{FF2B5EF4-FFF2-40B4-BE49-F238E27FC236}">
                <a16:creationId xmlns:a16="http://schemas.microsoft.com/office/drawing/2014/main" id="{DACF7133-AC83-6FA8-3D68-2BD6F9621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Quantitativo</a:t>
            </a:r>
          </a:p>
        </p:txBody>
      </p:sp>
      <p:sp>
        <p:nvSpPr>
          <p:cNvPr id="24" name="Espaço Reservado para Texto 9">
            <a:extLst>
              <a:ext uri="{FF2B5EF4-FFF2-40B4-BE49-F238E27FC236}">
                <a16:creationId xmlns:a16="http://schemas.microsoft.com/office/drawing/2014/main" id="{59B829DB-FAD5-70D6-73D0-B33900C64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  <a:endParaRPr lang="en-US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802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6E79EDE-EF06-3A22-3392-D46A1A746743}"/>
              </a:ext>
            </a:extLst>
          </p:cNvPr>
          <p:cNvSpPr txBox="1"/>
          <p:nvPr/>
        </p:nvSpPr>
        <p:spPr>
          <a:xfrm>
            <a:off x="6220220" y="1201352"/>
            <a:ext cx="5579998" cy="2227648"/>
          </a:xfrm>
          <a:prstGeom prst="rect">
            <a:avLst/>
          </a:prstGeom>
          <a:solidFill>
            <a:srgbClr val="F7F7F7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CED7461-A2D2-DD30-8004-EE33644C0E07}"/>
              </a:ext>
            </a:extLst>
          </p:cNvPr>
          <p:cNvSpPr/>
          <p:nvPr/>
        </p:nvSpPr>
        <p:spPr>
          <a:xfrm>
            <a:off x="1703512" y="1201352"/>
            <a:ext cx="4268270" cy="2227648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425" imgH="424" progId="TCLayout.ActiveDocument.1">
                  <p:embed/>
                </p:oleObj>
              </mc:Choice>
              <mc:Fallback>
                <p:oleObj name="Slide do think-cell" r:id="rId5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57BE169F-AB16-3CDA-D36A-0939EC8FCFA7}"/>
              </a:ext>
            </a:extLst>
          </p:cNvPr>
          <p:cNvGraphicFramePr/>
          <p:nvPr/>
        </p:nvGraphicFramePr>
        <p:xfrm>
          <a:off x="6258353" y="1201352"/>
          <a:ext cx="5670295" cy="2227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8" name="Seta: Pentágono 7">
            <a:extLst>
              <a:ext uri="{FF2B5EF4-FFF2-40B4-BE49-F238E27FC236}">
                <a16:creationId xmlns:a16="http://schemas.microsoft.com/office/drawing/2014/main" id="{CADFA435-70A8-78C0-D301-E2A8F8802C1B}"/>
              </a:ext>
            </a:extLst>
          </p:cNvPr>
          <p:cNvSpPr/>
          <p:nvPr/>
        </p:nvSpPr>
        <p:spPr>
          <a:xfrm>
            <a:off x="391782" y="1201352"/>
            <a:ext cx="1620180" cy="2227648"/>
          </a:xfrm>
          <a:prstGeom prst="homePlate">
            <a:avLst>
              <a:gd name="adj" fmla="val 19765"/>
            </a:avLst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Perdas evitáveis</a:t>
            </a:r>
            <a:endParaRPr kumimoji="0" lang="pt-BR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8E796F1B-3B88-87B5-0932-0E99CD870AE0}"/>
              </a:ext>
            </a:extLst>
          </p:cNvPr>
          <p:cNvGraphicFramePr/>
          <p:nvPr/>
        </p:nvGraphicFramePr>
        <p:xfrm>
          <a:off x="1991544" y="1052736"/>
          <a:ext cx="3980238" cy="2376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08226FCF-C921-FE6B-51EE-9CB8FD2DA2FE}"/>
              </a:ext>
            </a:extLst>
          </p:cNvPr>
          <p:cNvSpPr txBox="1"/>
          <p:nvPr/>
        </p:nvSpPr>
        <p:spPr>
          <a:xfrm>
            <a:off x="391782" y="3723997"/>
            <a:ext cx="5580000" cy="2520000"/>
          </a:xfrm>
          <a:prstGeom prst="rect">
            <a:avLst/>
          </a:prstGeom>
          <a:solidFill>
            <a:srgbClr val="F7F7F7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Memória de Cálculo</a:t>
            </a:r>
            <a:endParaRPr kumimoji="0"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defTabSz="914400">
              <a:defRPr/>
            </a:pPr>
            <a:endParaRPr lang="pt-BR" sz="1400" b="1" dirty="0">
              <a:solidFill>
                <a:prstClr val="black"/>
              </a:solidFill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Cargo: Imediato 3</a:t>
            </a:r>
            <a:endParaRPr lang="pt-BR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Custo: R$ 51.416,73</a:t>
            </a:r>
            <a:endParaRPr lang="pt-BR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Qtd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: 4</a:t>
            </a:r>
            <a:endParaRPr lang="pt-BR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Custo Anual: R$ 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cs typeface="Segoe UI"/>
              </a:rPr>
              <a:t>2.468.003</a:t>
            </a:r>
            <a:endParaRPr lang="pt-B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Custo Anual: 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cs typeface="Segoe UI"/>
              </a:rPr>
              <a:t>USD 0,5 MM</a:t>
            </a:r>
            <a:endParaRPr lang="pt-B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cs typeface="Segoe UI"/>
              </a:rPr>
              <a:t>Custo evitado 2022: USD 0,821 MM</a:t>
            </a:r>
            <a:endParaRPr lang="pt-B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cs typeface="Segoe UI"/>
              </a:rPr>
              <a:t>Custo evitado estimado com equipe estendida: USD 1,25 MM</a:t>
            </a:r>
            <a:endParaRPr lang="pt-B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cs typeface="Segoe UI"/>
              </a:rPr>
              <a:t>Média de custo </a:t>
            </a: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cs typeface="Segoe UI"/>
              </a:rPr>
              <a:t>downtime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cs typeface="Segoe UI"/>
              </a:rPr>
              <a:t> anual: USD 0,780 MM + Reparos</a:t>
            </a:r>
            <a:endParaRPr lang="pt-B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Saving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potencial: 1,25 MM + 0,78 MM + Reparos = USD 2.0 MM</a:t>
            </a:r>
            <a:endParaRPr lang="pt-BR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lvl="2" indent="187325" defTabSz="914400">
              <a:buFont typeface="Arial" panose="020B0604020202020204" pitchFamily="34" charset="0"/>
              <a:buChar char="•"/>
              <a:defRPr/>
            </a:pPr>
            <a:r>
              <a:rPr kumimoji="0" lang="pt-BR" sz="13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Saving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potencial líquido: 2,0 MM – 0,5 MM</a:t>
            </a:r>
            <a:r>
              <a:rPr lang="pt-BR" sz="1300" dirty="0">
                <a:latin typeface="Segoe UI"/>
                <a:cs typeface="Segoe UI"/>
              </a:rPr>
              <a:t> </a:t>
            </a:r>
            <a:r>
              <a:rPr kumimoji="0" lang="pt-BR" sz="13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USD 1.5 MM</a:t>
            </a:r>
            <a:endParaRPr lang="en-US" sz="13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7069DD-6CB4-0639-A8FC-ACDBD45D394A}"/>
              </a:ext>
            </a:extLst>
          </p:cNvPr>
          <p:cNvSpPr txBox="1"/>
          <p:nvPr/>
        </p:nvSpPr>
        <p:spPr>
          <a:xfrm>
            <a:off x="6220218" y="3723996"/>
            <a:ext cx="5580000" cy="2520000"/>
          </a:xfrm>
          <a:prstGeom prst="rect">
            <a:avLst/>
          </a:prstGeom>
          <a:solidFill>
            <a:srgbClr val="F7F7F7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Forma de 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acompanhamento</a:t>
            </a:r>
            <a:endParaRPr lang="pt-B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Planilha de gestão de predição do CEOP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448945" marR="0" lvl="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2" indent="-76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 err="1">
                <a:latin typeface="Segoe UI"/>
                <a:cs typeface="Segoe UI"/>
              </a:rPr>
              <a:t>Metrica</a:t>
            </a:r>
            <a:endParaRPr lang="en-US" sz="1400" b="1" i="0" u="none" strike="noStrike" kern="1200" cap="none" spc="0" normalizeH="0" baseline="0" noProof="0" dirty="0" err="1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 defTabSz="914400">
              <a:buFont typeface="Arial" panose="020B0604020202020204" pitchFamily="34" charset="0"/>
              <a:buChar char="•"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Realizado </a:t>
            </a:r>
            <a:r>
              <a:rPr kumimoji="0" lang="pt-BR" sz="14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vs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Valor médio histórico (Últimos 7 anos)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00FA7DB-FA08-FFCE-07BB-84C65122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Quantitativo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2A0F6E59-2E78-664E-1FC8-D460FE629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2FAAF0D-C5C9-715D-7464-DFC4776B19F1}"/>
              </a:ext>
            </a:extLst>
          </p:cNvPr>
          <p:cNvSpPr txBox="1"/>
          <p:nvPr/>
        </p:nvSpPr>
        <p:spPr>
          <a:xfrm>
            <a:off x="1864784" y="711787"/>
            <a:ext cx="2632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Impacto anual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(USD k)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724B763-D46E-BEE8-2C50-3049409C8516}"/>
              </a:ext>
            </a:extLst>
          </p:cNvPr>
          <p:cNvSpPr txBox="1"/>
          <p:nvPr/>
        </p:nvSpPr>
        <p:spPr>
          <a:xfrm>
            <a:off x="7745703" y="711787"/>
            <a:ext cx="263272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Abertura 2023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(USD k)</a:t>
            </a:r>
          </a:p>
        </p:txBody>
      </p:sp>
    </p:spTree>
    <p:extLst>
      <p:ext uri="{BB962C8B-B14F-4D97-AF65-F5344CB8AC3E}">
        <p14:creationId xmlns:p14="http://schemas.microsoft.com/office/powerpoint/2010/main" val="1506525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425" imgH="424" progId="TCLayout.ActiveDocument.1">
                  <p:embed/>
                </p:oleObj>
              </mc:Choice>
              <mc:Fallback>
                <p:oleObj name="Slide do think-cell" r:id="rId5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tângulo 21">
            <a:extLst>
              <a:ext uri="{FF2B5EF4-FFF2-40B4-BE49-F238E27FC236}">
                <a16:creationId xmlns:a16="http://schemas.microsoft.com/office/drawing/2014/main" id="{200C0949-30FE-8C71-AB07-AB006CA3C13A}"/>
              </a:ext>
            </a:extLst>
          </p:cNvPr>
          <p:cNvSpPr/>
          <p:nvPr/>
        </p:nvSpPr>
        <p:spPr>
          <a:xfrm>
            <a:off x="6278502" y="1224886"/>
            <a:ext cx="5578138" cy="22276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00FA7DB-FA08-FFCE-07BB-84C65122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Quantitativo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2A0F6E59-2E78-664E-1FC8-D460FE629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FE5AE0C-968F-E4E4-CF44-292715B703CB}"/>
              </a:ext>
            </a:extLst>
          </p:cNvPr>
          <p:cNvSpPr/>
          <p:nvPr/>
        </p:nvSpPr>
        <p:spPr>
          <a:xfrm>
            <a:off x="1703512" y="1201352"/>
            <a:ext cx="4268270" cy="2227648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C79DBA77-BD78-9A6C-A36E-4480782073B2}"/>
              </a:ext>
            </a:extLst>
          </p:cNvPr>
          <p:cNvGraphicFramePr/>
          <p:nvPr/>
        </p:nvGraphicFramePr>
        <p:xfrm>
          <a:off x="6220221" y="1201352"/>
          <a:ext cx="5636420" cy="2227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" name="Seta: Pentágono 10">
            <a:extLst>
              <a:ext uri="{FF2B5EF4-FFF2-40B4-BE49-F238E27FC236}">
                <a16:creationId xmlns:a16="http://schemas.microsoft.com/office/drawing/2014/main" id="{D8333042-C092-FC98-649A-48E60C9F30FD}"/>
              </a:ext>
            </a:extLst>
          </p:cNvPr>
          <p:cNvSpPr/>
          <p:nvPr/>
        </p:nvSpPr>
        <p:spPr>
          <a:xfrm>
            <a:off x="391782" y="1201352"/>
            <a:ext cx="1620180" cy="2227648"/>
          </a:xfrm>
          <a:prstGeom prst="homePlate">
            <a:avLst>
              <a:gd name="adj" fmla="val 19765"/>
            </a:avLst>
          </a:prstGeom>
          <a:solidFill>
            <a:srgbClr val="364D6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Frete aéreo </a:t>
            </a:r>
            <a:r>
              <a:rPr kumimoji="0" lang="pt-BR" sz="1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vs</a:t>
            </a: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marítimo</a:t>
            </a:r>
            <a:endParaRPr kumimoji="0" lang="pt-BR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917C3D5C-7FE8-5576-5843-8DEBE6CBB6FA}"/>
              </a:ext>
            </a:extLst>
          </p:cNvPr>
          <p:cNvGraphicFramePr/>
          <p:nvPr/>
        </p:nvGraphicFramePr>
        <p:xfrm>
          <a:off x="1991544" y="1201352"/>
          <a:ext cx="3980238" cy="2227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0" name="CaixaDeTexto 19">
            <a:extLst>
              <a:ext uri="{FF2B5EF4-FFF2-40B4-BE49-F238E27FC236}">
                <a16:creationId xmlns:a16="http://schemas.microsoft.com/office/drawing/2014/main" id="{0206D8FF-3CCE-8762-0B02-280EA7A70AFD}"/>
              </a:ext>
            </a:extLst>
          </p:cNvPr>
          <p:cNvSpPr txBox="1"/>
          <p:nvPr/>
        </p:nvSpPr>
        <p:spPr>
          <a:xfrm>
            <a:off x="391782" y="3723997"/>
            <a:ext cx="5580000" cy="2520000"/>
          </a:xfrm>
          <a:prstGeom prst="rect">
            <a:avLst/>
          </a:prstGeom>
          <a:solidFill>
            <a:srgbClr val="F7F7F7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Memória de Cálculo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Utilizar o frete marítimo ao invés do aéreo.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lvl="2" indent="187325" defTabSz="914400">
              <a:buFont typeface="Arial" panose="020B0604020202020204" pitchFamily="34" charset="0"/>
              <a:buChar char="•"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Gasto com frete aéreo CBO Atlântico (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Ref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: 31/10):</a:t>
            </a:r>
            <a:r>
              <a:rPr lang="pt-BR" sz="1400" dirty="0">
                <a:latin typeface="Segoe UI"/>
                <a:cs typeface="Segoe UI"/>
              </a:rPr>
              <a:t> 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USD 308.000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Frete marítimo: 30% do frete aéreo = USD 92.400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Delta: USD 308.000 – USD 92.400 = USD 215.600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Número de embarcações para docagem 2023: 8/13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Número de embarcações para conversão 2023: 4/6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Conservadorismo: 25% - 50%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Saving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: USD 215.600 x 12 x 25% = USD 646.800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54737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97C2F63-CDA5-530E-4DE1-80543D35401F}"/>
              </a:ext>
            </a:extLst>
          </p:cNvPr>
          <p:cNvSpPr txBox="1"/>
          <p:nvPr/>
        </p:nvSpPr>
        <p:spPr>
          <a:xfrm>
            <a:off x="6220220" y="3723996"/>
            <a:ext cx="5636420" cy="2520000"/>
          </a:xfrm>
          <a:prstGeom prst="rect">
            <a:avLst/>
          </a:prstGeom>
          <a:solidFill>
            <a:srgbClr val="F7F7F7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Forma de 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acompanhamento</a:t>
            </a:r>
            <a:endParaRPr lang="pt-BR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61620" marR="0" lvl="2" indent="1873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Indicador BI Acompanhamento de frete</a:t>
            </a:r>
            <a:endParaRPr lang="pt-BR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latin typeface="Segoe UI"/>
                <a:cs typeface="Segoe UI"/>
              </a:rPr>
              <a:t>Metrica</a:t>
            </a:r>
            <a:endParaRPr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Delta % Frete aéreo x marítimo (ajustado, considerando histórico 3 anos</a:t>
            </a:r>
            <a:r>
              <a:rPr lang="pt-BR" sz="1400" dirty="0">
                <a:latin typeface="Segoe UI"/>
                <a:cs typeface="Segoe UI"/>
              </a:rPr>
              <a:t> 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a 5 anos) x</a:t>
            </a:r>
            <a:r>
              <a:rPr lang="pt-BR" sz="1400" dirty="0">
                <a:latin typeface="Segoe UI"/>
                <a:cs typeface="Segoe UI"/>
              </a:rPr>
              <a:t> 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Delta Preço x Volume de 2023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A7CF5DC-0D3A-FEBA-1C99-BB634E608D6A}"/>
              </a:ext>
            </a:extLst>
          </p:cNvPr>
          <p:cNvSpPr txBox="1"/>
          <p:nvPr/>
        </p:nvSpPr>
        <p:spPr>
          <a:xfrm>
            <a:off x="1864784" y="711787"/>
            <a:ext cx="2632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Impacto anual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(USD k)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94F4CA7-F756-6A34-03D9-32A2119161B9}"/>
              </a:ext>
            </a:extLst>
          </p:cNvPr>
          <p:cNvSpPr txBox="1"/>
          <p:nvPr/>
        </p:nvSpPr>
        <p:spPr>
          <a:xfrm>
            <a:off x="7745703" y="711787"/>
            <a:ext cx="263272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Abertura 2023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 (USD k)</a:t>
            </a:r>
          </a:p>
        </p:txBody>
      </p:sp>
    </p:spTree>
    <p:extLst>
      <p:ext uri="{BB962C8B-B14F-4D97-AF65-F5344CB8AC3E}">
        <p14:creationId xmlns:p14="http://schemas.microsoft.com/office/powerpoint/2010/main" val="35845734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23" imgW="425" imgH="424" progId="TCLayout.ActiveDocument.1">
                  <p:embed/>
                </p:oleObj>
              </mc:Choice>
              <mc:Fallback>
                <p:oleObj name="Slide do think-cell" r:id="rId23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00FA7DB-FA08-FFCE-07BB-84C65122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Quantitativo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2A0F6E59-2E78-664E-1FC8-D460FE629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4D5D36-90EE-73D3-EAF1-99DAE729C10C}"/>
              </a:ext>
            </a:extLst>
          </p:cNvPr>
          <p:cNvSpPr txBox="1"/>
          <p:nvPr/>
        </p:nvSpPr>
        <p:spPr>
          <a:xfrm>
            <a:off x="6299200" y="1035210"/>
            <a:ext cx="5580063" cy="5066759"/>
          </a:xfrm>
          <a:prstGeom prst="rect">
            <a:avLst/>
          </a:prstGeom>
          <a:solidFill>
            <a:srgbClr val="F7F7F7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Exemplos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4" name="Chart 3">
            <a:extLst>
              <a:ext uri="{FF2B5EF4-FFF2-40B4-BE49-F238E27FC236}">
                <a16:creationId xmlns:a16="http://schemas.microsoft.com/office/drawing/2014/main" id="{5AB58C34-45F6-9B4B-8B9D-1602DC37C656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6699250" y="2520950"/>
          <a:ext cx="4691063" cy="668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sp>
        <p:nvSpPr>
          <p:cNvPr id="20" name="Espaço Reservado para Texto 2">
            <a:extLst>
              <a:ext uri="{FF2B5EF4-FFF2-40B4-BE49-F238E27FC236}">
                <a16:creationId xmlns:a16="http://schemas.microsoft.com/office/drawing/2014/main" id="{6092ACCE-09A3-6913-2124-195898F16E81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7461249" y="3157538"/>
            <a:ext cx="577850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32BD47A2-E466-400B-9205-BC5DE11A91D4}" type="datetime'Méd''i''a'' ''''S''up''''''e''''''''''''''ri''''o''''''''''r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Média Superior</a:t>
            </a:fld>
            <a:br>
              <a:rPr lang="pt-BR" sz="1200" u="none" strike="noStrike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</a:br>
            <a:endParaRPr lang="pt-BR" sz="1200" u="none" strike="noStrike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F2C44AF3-7624-CB36-2EA4-B9447F0E7820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6827837" y="3157538"/>
            <a:ext cx="5540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036A414D-262A-4BA0-85EF-4EEDE9F72084}" type="datetime'''''M''''''''''''''''á''''''ximo''''''''''''''''''''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Máximo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2" name="Espaço Reservado para Texto 2">
            <a:extLst>
              <a:ext uri="{FF2B5EF4-FFF2-40B4-BE49-F238E27FC236}">
                <a16:creationId xmlns:a16="http://schemas.microsoft.com/office/drawing/2014/main" id="{842710A3-2423-4D87-21A7-DDA8797430A4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8181975" y="3157538"/>
            <a:ext cx="4333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77F58925-042F-49FC-945F-D1F637BD58AC}" type="datetime'''''M''''é''''''''''''''''d''''''''''''i''''''''''''''a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Média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8" name="Espaço Reservado para Texto 2">
            <a:extLst>
              <a:ext uri="{FF2B5EF4-FFF2-40B4-BE49-F238E27FC236}">
                <a16:creationId xmlns:a16="http://schemas.microsoft.com/office/drawing/2014/main" id="{CA933E4D-FD27-E3E4-9D0A-2D3010979CA9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8796337" y="3157539"/>
            <a:ext cx="4968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C1430B43-1C25-46F5-B07B-745CF7A83414}" type="datetime'''''''''''''''M''''éd''''''''''i''a ''In''f''e''r''''ior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Média Inferior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4BCF7DA2-97C5-82B4-5C7E-56FA66778861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9426575" y="3157538"/>
            <a:ext cx="5286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8D1C87E7-A978-47E8-83B1-C52BDECF340E}" type="datetime'''Mín''''''i''m''''''''''''''''o''''''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Mínimo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597D672B-E3E9-5F51-C2F3-2902C9A74E33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10104437" y="3157539"/>
            <a:ext cx="4635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91ED2464-6B6B-495E-973D-913D7398166C}" type="datetime'''''''''Últ''i''mo'''' ''Va''''''''''l''''''''''o''''''''''r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Último Valor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F5BBED73-66BF-3C47-9E07-4E58424864A6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10674350" y="3157539"/>
            <a:ext cx="6207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36C94F58-26DC-413E-9CDE-0E9CF686C84B}" type="datetime'T''a''''r''''get'''' ''''''''P''ro''''p''o''''s''to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Target Proposto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08E80A8-273D-BC4C-501E-0C0780AE0474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10466388" y="2201863"/>
            <a:ext cx="250825" cy="187325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9B7A1CA6-A093-BC11-DB16-26ACE7241862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10768013" y="2197100"/>
            <a:ext cx="8985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fld id="{7FD3F56B-3909-4CD2-ADAD-64455DD65FBE}" type="datetime'''''''Va''lo''''''''''''''''''''r'''' ''''''(U''''''S''D'')'''">
              <a:rPr lang="pt-BR" altLang="en-US" sz="14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Valor (USD)</a:t>
            </a:fld>
            <a:endParaRPr kumimoji="0" lang="pt-BR" sz="14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2E814EA-B636-F37B-835A-7A403F24FBF4}"/>
              </a:ext>
            </a:extLst>
          </p:cNvPr>
          <p:cNvSpPr txBox="1"/>
          <p:nvPr/>
        </p:nvSpPr>
        <p:spPr>
          <a:xfrm>
            <a:off x="6700838" y="3773016"/>
            <a:ext cx="4518025" cy="27699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200" i="0" u="none" strike="noStrike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NOZZLE MAK 9.2260-002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C101F7D-5397-2375-F0C6-92667A74035A}"/>
              </a:ext>
            </a:extLst>
          </p:cNvPr>
          <p:cNvSpPr txBox="1"/>
          <p:nvPr/>
        </p:nvSpPr>
        <p:spPr>
          <a:xfrm>
            <a:off x="361725" y="1052736"/>
            <a:ext cx="5757864" cy="5049234"/>
          </a:xfrm>
          <a:prstGeom prst="rect">
            <a:avLst/>
          </a:prstGeom>
          <a:solidFill>
            <a:srgbClr val="F7F7F7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Proposta de Target Inicial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8" name="Gráfico 27">
            <a:extLst>
              <a:ext uri="{FF2B5EF4-FFF2-40B4-BE49-F238E27FC236}">
                <a16:creationId xmlns:a16="http://schemas.microsoft.com/office/drawing/2014/main" id="{ACB713DA-E250-5B2D-66CE-68F1EAEDADF2}"/>
              </a:ext>
            </a:extLst>
          </p:cNvPr>
          <p:cNvGraphicFramePr/>
          <p:nvPr/>
        </p:nvGraphicFramePr>
        <p:xfrm>
          <a:off x="641125" y="1567502"/>
          <a:ext cx="5307013" cy="2979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29" name="CaixaDeTexto 28">
            <a:extLst>
              <a:ext uri="{FF2B5EF4-FFF2-40B4-BE49-F238E27FC236}">
                <a16:creationId xmlns:a16="http://schemas.microsoft.com/office/drawing/2014/main" id="{C10DD61F-7A74-C9C0-45CC-D0A232C0FDEB}"/>
              </a:ext>
            </a:extLst>
          </p:cNvPr>
          <p:cNvSpPr txBox="1"/>
          <p:nvPr/>
        </p:nvSpPr>
        <p:spPr>
          <a:xfrm>
            <a:off x="626837" y="1454714"/>
            <a:ext cx="1138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Referências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kumimoji="0" lang="pt-BR" sz="1100" b="1" i="0" u="none" strike="noStrike" kern="1200" cap="none" spc="0" normalizeH="0" baseline="0" noProof="0">
              <a:ln>
                <a:noFill/>
              </a:ln>
              <a:solidFill>
                <a:srgbClr val="F7964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E478F4D-FADF-1188-0BD8-465D0DE3EC90}"/>
              </a:ext>
            </a:extLst>
          </p:cNvPr>
          <p:cNvSpPr txBox="1"/>
          <p:nvPr/>
        </p:nvSpPr>
        <p:spPr>
          <a:xfrm>
            <a:off x="590325" y="5055529"/>
            <a:ext cx="563562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Proposta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200" b="1" i="0" u="none" strike="noStrike" kern="1200" cap="none" spc="0" normalizeH="0" baseline="0" noProof="0">
              <a:ln>
                <a:noFill/>
              </a:ln>
              <a:solidFill>
                <a:srgbClr val="F7964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Valor média inferior ou último valor caso ele seja o mínimo da série histórica (manter o ganho obtido)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7964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Chave Esquerda 30">
            <a:extLst>
              <a:ext uri="{FF2B5EF4-FFF2-40B4-BE49-F238E27FC236}">
                <a16:creationId xmlns:a16="http://schemas.microsoft.com/office/drawing/2014/main" id="{CB75C165-94B7-D600-C7C2-DB80BCD75660}"/>
              </a:ext>
            </a:extLst>
          </p:cNvPr>
          <p:cNvSpPr/>
          <p:nvPr/>
        </p:nvSpPr>
        <p:spPr>
          <a:xfrm rot="16200000">
            <a:off x="3928837" y="4284663"/>
            <a:ext cx="388938" cy="597560"/>
          </a:xfrm>
          <a:prstGeom prst="lef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AA5FD82-F2E2-C9F8-5BFF-B65020B3444E}"/>
              </a:ext>
            </a:extLst>
          </p:cNvPr>
          <p:cNvSpPr txBox="1"/>
          <p:nvPr/>
        </p:nvSpPr>
        <p:spPr>
          <a:xfrm>
            <a:off x="3154137" y="4802373"/>
            <a:ext cx="1938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Potencial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pt-BR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último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kumimoji="0" lang="pt-BR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valor</a:t>
            </a:r>
            <a:endParaRPr kumimoji="0" lang="pt-BR" sz="1200" b="1" i="0" u="none" strike="noStrike" kern="1200" cap="none" spc="0" normalizeH="0" baseline="0">
              <a:ln>
                <a:noFill/>
              </a:ln>
              <a:solidFill>
                <a:srgbClr val="F79646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C3CEB38-F3EE-4731-1A3A-68FBED06DF7D}"/>
              </a:ext>
            </a:extLst>
          </p:cNvPr>
          <p:cNvSpPr/>
          <p:nvPr/>
        </p:nvSpPr>
        <p:spPr>
          <a:xfrm>
            <a:off x="626838" y="3075170"/>
            <a:ext cx="5489575" cy="40326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63C22CF-0C23-9D05-38FC-D021F8FE2FC0}"/>
              </a:ext>
            </a:extLst>
          </p:cNvPr>
          <p:cNvSpPr/>
          <p:nvPr/>
        </p:nvSpPr>
        <p:spPr>
          <a:xfrm>
            <a:off x="626838" y="3984422"/>
            <a:ext cx="5489575" cy="403260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40C5109E-9EDB-B44A-DB6D-F36D87E968C9}"/>
              </a:ext>
            </a:extLst>
          </p:cNvPr>
          <p:cNvCxnSpPr>
            <a:cxnSpLocks/>
            <a:stCxn id="33" idx="1"/>
            <a:endCxn id="30" idx="1"/>
          </p:cNvCxnSpPr>
          <p:nvPr/>
        </p:nvCxnSpPr>
        <p:spPr>
          <a:xfrm rot="10800000" flipV="1">
            <a:off x="590326" y="3276799"/>
            <a:ext cx="36513" cy="2301949"/>
          </a:xfrm>
          <a:prstGeom prst="bentConnector3">
            <a:avLst>
              <a:gd name="adj1" fmla="val 5024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ACCBF2DC-C47F-16D9-610D-82D4EBC356B1}"/>
              </a:ext>
            </a:extLst>
          </p:cNvPr>
          <p:cNvCxnSpPr>
            <a:cxnSpLocks/>
            <a:stCxn id="34" idx="1"/>
            <a:endCxn id="30" idx="1"/>
          </p:cNvCxnSpPr>
          <p:nvPr/>
        </p:nvCxnSpPr>
        <p:spPr>
          <a:xfrm rot="10800000" flipV="1">
            <a:off x="590326" y="4186051"/>
            <a:ext cx="36513" cy="1392697"/>
          </a:xfrm>
          <a:prstGeom prst="bentConnector3">
            <a:avLst>
              <a:gd name="adj1" fmla="val 5024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09854543-7B12-E791-AE61-8492432683B7}"/>
              </a:ext>
            </a:extLst>
          </p:cNvPr>
          <p:cNvGraphicFramePr/>
          <p:nvPr>
            <p:custDataLst>
              <p:tags r:id="rId13"/>
            </p:custDataLst>
          </p:nvPr>
        </p:nvGraphicFramePr>
        <p:xfrm>
          <a:off x="6707188" y="4286250"/>
          <a:ext cx="4683125" cy="882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45" name="Espaço Reservado para Texto 2">
            <a:extLst>
              <a:ext uri="{FF2B5EF4-FFF2-40B4-BE49-F238E27FC236}">
                <a16:creationId xmlns:a16="http://schemas.microsoft.com/office/drawing/2014/main" id="{3CF93E9B-7EB4-ABE3-5830-C62AD93E313F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10674350" y="5137151"/>
            <a:ext cx="6207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21042E9C-1CFC-4D71-A75A-273C25BAA065}" type="datetime'Tar''''''''''g''et'' ''Pr''op''''o''''''''s''''''t''''''''''o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Target Proposto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4" name="Espaço Reservado para Texto 2">
            <a:extLst>
              <a:ext uri="{FF2B5EF4-FFF2-40B4-BE49-F238E27FC236}">
                <a16:creationId xmlns:a16="http://schemas.microsoft.com/office/drawing/2014/main" id="{8B56F76C-1CE2-44A8-DFB5-E9BAA1F21C3F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8801099" y="5137151"/>
            <a:ext cx="4968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F4DEA2B7-252C-40F5-A215-67CD7D89911D}" type="datetime'M''''''''''é''''d''i''''''a ''Inf''e''''''r''i''o''r''''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Média Inferior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9" name="Espaço Reservado para Texto 2">
            <a:extLst>
              <a:ext uri="{FF2B5EF4-FFF2-40B4-BE49-F238E27FC236}">
                <a16:creationId xmlns:a16="http://schemas.microsoft.com/office/drawing/2014/main" id="{70E5FE0C-9614-9725-8BC8-DF29D0A6A962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6835774" y="5137150"/>
            <a:ext cx="5540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8853F752-EE2C-4C8E-95E1-E2065305398F}" type="datetime'''''M''''''''á''''''''''xi''''''''''''''''''m''o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Máximo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3" name="Espaço Reservado para Texto 2">
            <a:extLst>
              <a:ext uri="{FF2B5EF4-FFF2-40B4-BE49-F238E27FC236}">
                <a16:creationId xmlns:a16="http://schemas.microsoft.com/office/drawing/2014/main" id="{2D93C5B3-D6FF-04DF-FAB9-5BA8248860B5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7469187" y="5137150"/>
            <a:ext cx="577850" cy="54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F5004910-A4FB-436A-9EC0-38D7F06D5EAB}" type="datetime'''Mé''''d''''''i''''''''a ''S''up''e''''''''''''''r''io''r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Média Superior</a:t>
            </a:fld>
            <a:br>
              <a:rPr lang="pt-BR" sz="1200" u="none" strike="noStrike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</a:br>
            <a:endParaRPr lang="pt-BR" sz="1200" u="none" strike="noStrike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0" name="Espaço Reservado para Texto 2">
            <a:extLst>
              <a:ext uri="{FF2B5EF4-FFF2-40B4-BE49-F238E27FC236}">
                <a16:creationId xmlns:a16="http://schemas.microsoft.com/office/drawing/2014/main" id="{03F49D94-C866-4EB4-A729-76549C4BB0D3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8186738" y="5137150"/>
            <a:ext cx="4333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250D0527-26EE-4F1A-A9F6-A0346D493FFB}" type="datetime'''''M''''''''''''''é''''''''d''''''''''i''a''''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Média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2" name="Espaço Reservado para Texto 2">
            <a:extLst>
              <a:ext uri="{FF2B5EF4-FFF2-40B4-BE49-F238E27FC236}">
                <a16:creationId xmlns:a16="http://schemas.microsoft.com/office/drawing/2014/main" id="{F643C145-CD08-F84C-C680-C0C7A5CFE354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9429750" y="5137150"/>
            <a:ext cx="5286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4ECCB5F9-04A3-4C72-8ABD-0D30EDB22F93}" type="datetime'''''Mí''n''i''''m''''''''o''''''''''''''''''''''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Mínimo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1" name="Espaço Reservado para Texto 2">
            <a:extLst>
              <a:ext uri="{FF2B5EF4-FFF2-40B4-BE49-F238E27FC236}">
                <a16:creationId xmlns:a16="http://schemas.microsoft.com/office/drawing/2014/main" id="{EB5612A9-B032-9EF4-09A6-E870300C59A3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auto">
          <a:xfrm>
            <a:off x="10107612" y="5137151"/>
            <a:ext cx="4635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D4414692-0623-4C43-B60E-63FCE1821D05}" type="datetime'''Ú''''lti''''''''m''o'''''''''' V''al''''''''''o''r''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Último Valor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3C4F246A-530F-80CB-A591-E148A53038E7}"/>
              </a:ext>
            </a:extLst>
          </p:cNvPr>
          <p:cNvSpPr txBox="1"/>
          <p:nvPr/>
        </p:nvSpPr>
        <p:spPr>
          <a:xfrm>
            <a:off x="6699250" y="1783849"/>
            <a:ext cx="4518025" cy="27699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200" i="0" u="none" strike="noStrike">
                <a:solidFill>
                  <a:schemeClr val="bg1"/>
                </a:solidFill>
                <a:effectLst/>
                <a:latin typeface="Calibri" panose="020F050202020403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GRAXA BIOGEN WIRESHIELD ROCOL 20064 18KG 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0824BB5-D46E-C3BE-B353-02E056E18654}"/>
              </a:ext>
            </a:extLst>
          </p:cNvPr>
          <p:cNvSpPr/>
          <p:nvPr/>
        </p:nvSpPr>
        <p:spPr>
          <a:xfrm>
            <a:off x="10652125" y="2644576"/>
            <a:ext cx="665163" cy="946350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A90D48A-2CF6-7AA0-7521-C602045D7CDE}"/>
              </a:ext>
            </a:extLst>
          </p:cNvPr>
          <p:cNvSpPr/>
          <p:nvPr/>
        </p:nvSpPr>
        <p:spPr>
          <a:xfrm>
            <a:off x="10652125" y="4546537"/>
            <a:ext cx="665163" cy="106227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0335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24" imgW="425" imgH="424" progId="TCLayout.ActiveDocument.1">
                  <p:embed/>
                </p:oleObj>
              </mc:Choice>
              <mc:Fallback>
                <p:oleObj name="Slide do think-cell" r:id="rId24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00FA7DB-FA08-FFCE-07BB-84C65122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Quantitativo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2A0F6E59-2E78-664E-1FC8-D460FE629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F9F2329-3114-926D-D61E-EEF3D0E4535E}"/>
              </a:ext>
            </a:extLst>
          </p:cNvPr>
          <p:cNvSpPr/>
          <p:nvPr/>
        </p:nvSpPr>
        <p:spPr>
          <a:xfrm flipH="1">
            <a:off x="314324" y="1433596"/>
            <a:ext cx="5619750" cy="48025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48F61C1-7687-6522-A3C7-569B30E51A05}"/>
              </a:ext>
            </a:extLst>
          </p:cNvPr>
          <p:cNvSpPr/>
          <p:nvPr/>
        </p:nvSpPr>
        <p:spPr>
          <a:xfrm flipH="1">
            <a:off x="6000975" y="1433596"/>
            <a:ext cx="5927673" cy="2768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28EEFA1-F115-9295-5C79-EBD643E1D838}"/>
              </a:ext>
            </a:extLst>
          </p:cNvPr>
          <p:cNvSpPr/>
          <p:nvPr/>
        </p:nvSpPr>
        <p:spPr>
          <a:xfrm>
            <a:off x="314325" y="1028795"/>
            <a:ext cx="5619750" cy="425353"/>
          </a:xfrm>
          <a:prstGeom prst="rect">
            <a:avLst/>
          </a:prstGeom>
          <a:solidFill>
            <a:srgbClr val="0837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COMPARAÇÃO DO ESTOQUE/RECEITA (12 MESES)</a:t>
            </a: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9E922261-9563-A3B1-512A-4F8AE2AB2E06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2565400" y="1711325"/>
          <a:ext cx="1893888" cy="4432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93C049E0-6CA4-D315-0F61-AB3C518E8169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164013" y="1963738"/>
            <a:ext cx="1301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?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8" name="Espaço Reservado para Texto 2">
            <a:extLst>
              <a:ext uri="{FF2B5EF4-FFF2-40B4-BE49-F238E27FC236}">
                <a16:creationId xmlns:a16="http://schemas.microsoft.com/office/drawing/2014/main" id="{1E390C53-508B-4F08-A9EC-947175CCCDD9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152775" y="1963738"/>
            <a:ext cx="4254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  <a:defRPr/>
            </a:pPr>
            <a:fld id="{B14BEC5E-BAB0-444B-9012-5265BEB46A95}" type="datetime'''7,''''''''3''''''''''''''''''''''''''''''''''''''''''%'">
              <a:rPr lang="pt-BR" altLang="en-US" sz="1400" smtClean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7,3%</a:t>
            </a:fld>
            <a:endParaRPr kumimoji="0" lang="pt-BR" sz="1400" b="0" i="0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3117F599-621F-26A4-E158-FA01E5841890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1325563" y="4110038"/>
            <a:ext cx="12207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  <a:defRPr/>
            </a:pPr>
            <a:fld id="{F9DA32ED-7DCE-4C0D-892B-FDECDE15E14B}" type="datetime'''S''i''e''''''''m'' ''''Offshore'' ''Inc''.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Siem Offshore Inc.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5" name="Espaço Reservado para Texto 2">
            <a:extLst>
              <a:ext uri="{FF2B5EF4-FFF2-40B4-BE49-F238E27FC236}">
                <a16:creationId xmlns:a16="http://schemas.microsoft.com/office/drawing/2014/main" id="{77A04390-0153-E20C-C954-B32BF30A5358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3025775" y="4097338"/>
            <a:ext cx="4254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fld id="{3B7F6D57-3AAA-41E0-B05A-2E1716B5FDDF}" type="datetime'''''''''''''''1'''''''''''''''''',''''''''''''8''''''''%'''">
              <a:rPr lang="pt-BR" altLang="en-US" sz="14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1,8%</a:t>
            </a:fld>
            <a:endParaRPr kumimoji="0" lang="pt-BR" sz="14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3" name="Espaço Reservado para Texto 2">
            <a:extLst>
              <a:ext uri="{FF2B5EF4-FFF2-40B4-BE49-F238E27FC236}">
                <a16:creationId xmlns:a16="http://schemas.microsoft.com/office/drawing/2014/main" id="{31A28C93-E32D-E3EA-D860-A7F3E65D69A6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1789112" y="1976438"/>
            <a:ext cx="7572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  <a:defRPr/>
            </a:pPr>
            <a:fld id="{C4FDE8F6-C28D-43DD-A015-7BFC356D69A0}" type="datetime'G''''''''''''''ru''p''''''''''o'''''''' CB''O''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Grupo CBO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C7604D21-BA8D-13EC-BB7F-2574E747A108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1619250" y="3576638"/>
            <a:ext cx="9271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  <a:defRPr/>
            </a:pPr>
            <a:fld id="{6D4BE3A7-9492-4815-88D1-2113001D0DAD}" type="datetime'''''''''''''Tid''''e''w''''''''at''e''''''r In''''c''''''.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Tidewater Inc.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3" name="Espaço Reservado para Texto 2">
            <a:extLst>
              <a:ext uri="{FF2B5EF4-FFF2-40B4-BE49-F238E27FC236}">
                <a16:creationId xmlns:a16="http://schemas.microsoft.com/office/drawing/2014/main" id="{6EA95ED7-645B-6C52-E72C-AB6BB5208227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3430588" y="3030538"/>
            <a:ext cx="4254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fld id="{15E55600-7898-41C2-A26D-75BCA015B771}" type="datetime'''3'''',''''''9''''''''''''''%'''''''''''''">
              <a:rPr lang="pt-BR" altLang="en-US" sz="14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3,9%</a:t>
            </a:fld>
            <a:endParaRPr kumimoji="0" lang="pt-BR" sz="14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2A253490-B1DE-DD24-BB92-4BE04D76E42A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1114425" y="2509838"/>
            <a:ext cx="14319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  <a:defRPr/>
            </a:pPr>
            <a:fld id="{D7495A99-69BC-49AA-83C6-57EDFE5A807A}" type="datetime'S''''ol''st''''a''''d O''''''''ff''shor''''''e ''ASA''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Solstad Offshore ASA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4D36D9E9-12FF-DBA5-6DDB-2288763CC42F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1931988" y="4643438"/>
            <a:ext cx="6143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  <a:defRPr/>
            </a:pPr>
            <a:fld id="{B48F93B9-23CE-4391-86CE-B934DE85E5CC}" type="datetime'''''''''''''''D''''''''''''''''''OF ''''''''A''''S''''A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DOF ASA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C7980B2F-111B-A908-71BF-97FF9E26E50B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401638" y="3043238"/>
            <a:ext cx="21447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  <a:defRPr/>
            </a:pPr>
            <a:fld id="{ABA5FF4E-0DEE-422E-B625-C19F31DD30B8}" type="datetime'Wi''ls''''o''n ''So''ns Ho''''l''dings ''Brasi''''l S.A''''.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Wilson Sons Holdings Brasil S.A.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8" name="Espaço Reservado para Texto 2">
            <a:extLst>
              <a:ext uri="{FF2B5EF4-FFF2-40B4-BE49-F238E27FC236}">
                <a16:creationId xmlns:a16="http://schemas.microsoft.com/office/drawing/2014/main" id="{5BF264C9-97D8-9538-A951-3958338AEA96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1724025" y="5176838"/>
            <a:ext cx="8223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  <a:defRPr/>
            </a:pPr>
            <a:fld id="{01B8131A-0C2C-4200-A5D5-282FCD0D5A94}" type="datetime'''''''''''S''u''''''''bs''''ea ''7'''''''''' ''A''''S''''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Subsea 7 AS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E981E54D-356A-5951-9235-404FEF6DC255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gray">
          <a:xfrm>
            <a:off x="3392488" y="3563938"/>
            <a:ext cx="4254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fld id="{25DDAF55-F5DC-4B7F-8164-1DF15F2CA337}" type="datetime'''''''''''3'''''''',''''''''7''''''''''%'''''''''''''''''''">
              <a:rPr lang="pt-BR" altLang="en-US" sz="14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3,7%</a:t>
            </a:fld>
            <a:endParaRPr kumimoji="0" lang="pt-BR" sz="14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0" name="Espaço Reservado para Texto 2">
            <a:extLst>
              <a:ext uri="{FF2B5EF4-FFF2-40B4-BE49-F238E27FC236}">
                <a16:creationId xmlns:a16="http://schemas.microsoft.com/office/drawing/2014/main" id="{5515D249-3CA0-A160-77F9-431767D2677E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569912" y="5710238"/>
            <a:ext cx="197643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  <a:defRPr/>
            </a:pPr>
            <a:fld id="{6F6CE202-7EDF-47C9-80B4-AF2271133590}" type="datetime'SE''AC''O''R Ma''r''''''ine ''Ho''''''''''''ldings I''''n''c.'">
              <a:rPr lang="pt-BR" altLang="en-US" sz="12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SEACOR Marine Holdings Inc.</a:t>
            </a:fld>
            <a:endParaRPr lang="pt-BR" sz="1200" strike="noStrike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1" name="Espaço Reservado para Texto 2">
            <a:extLst>
              <a:ext uri="{FF2B5EF4-FFF2-40B4-BE49-F238E27FC236}">
                <a16:creationId xmlns:a16="http://schemas.microsoft.com/office/drawing/2014/main" id="{E9ADEA3D-93E1-69C6-3D74-8AA855C95AD3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gray">
          <a:xfrm>
            <a:off x="4402138" y="1963738"/>
            <a:ext cx="1301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t>?</a:t>
            </a: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2" name="Espaço Reservado para Texto 2">
            <a:extLst>
              <a:ext uri="{FF2B5EF4-FFF2-40B4-BE49-F238E27FC236}">
                <a16:creationId xmlns:a16="http://schemas.microsoft.com/office/drawing/2014/main" id="{CCE82331-F479-5502-744C-C26DEBF41DCA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3513138" y="2497138"/>
            <a:ext cx="4254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fld id="{982975FA-A93C-4A55-B5A3-338201DF5B89}" type="datetime'''''4'''''',3''''''''''''''''''%'''''''''''">
              <a:rPr lang="pt-BR" altLang="en-US" sz="14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4,3%</a:t>
            </a:fld>
            <a:endParaRPr kumimoji="0" lang="pt-BR" sz="14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7" name="Espaço Reservado para Texto 2">
            <a:extLst>
              <a:ext uri="{FF2B5EF4-FFF2-40B4-BE49-F238E27FC236}">
                <a16:creationId xmlns:a16="http://schemas.microsoft.com/office/drawing/2014/main" id="{3A06802E-2520-4D70-5570-9794FD97F572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2914650" y="4630738"/>
            <a:ext cx="4254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fld id="{5BA77478-E946-4EB7-B504-E6D92A994966}" type="datetime'''1'''''',''''''''''2''''''%'''''''''''''''''''''">
              <a:rPr lang="pt-BR" altLang="en-US" sz="14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1,2%</a:t>
            </a:fld>
            <a:endParaRPr kumimoji="0" lang="pt-BR" sz="14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6" name="Espaço Reservado para Texto 2">
            <a:extLst>
              <a:ext uri="{FF2B5EF4-FFF2-40B4-BE49-F238E27FC236}">
                <a16:creationId xmlns:a16="http://schemas.microsoft.com/office/drawing/2014/main" id="{C843167F-5014-DF31-AE51-1B07F1EFCC9F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2894013" y="5164138"/>
            <a:ext cx="4254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fld id="{02B24B3C-FAF2-4121-BB82-40FC2EDE0B24}" type="datetime'''''1'''',''''''''''''''''''''''''''''''''1''''''%'">
              <a:rPr lang="pt-BR" altLang="en-US" sz="14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1,1%</a:t>
            </a:fld>
            <a:endParaRPr kumimoji="0" lang="pt-BR" sz="14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7" name="Espaço Reservado para Texto 2">
            <a:extLst>
              <a:ext uri="{FF2B5EF4-FFF2-40B4-BE49-F238E27FC236}">
                <a16:creationId xmlns:a16="http://schemas.microsoft.com/office/drawing/2014/main" id="{282F5A6B-3B1A-4C70-02D0-A8D2E0461D27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gray">
          <a:xfrm>
            <a:off x="2868613" y="5697538"/>
            <a:ext cx="4254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  <a:defRPr/>
            </a:pPr>
            <a:fld id="{BA8B37C0-722D-4D83-B84E-98034D4547A2}" type="datetime'''''''1'''''''''''''''''''''''''''',''''''''''''0%'''''''">
              <a:rPr lang="pt-BR" altLang="en-US" sz="1400" smtClean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1,0%</a:t>
            </a:fld>
            <a:endParaRPr kumimoji="0" lang="pt-BR" sz="14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60" name="Rectangle 2">
            <a:extLst>
              <a:ext uri="{FF2B5EF4-FFF2-40B4-BE49-F238E27FC236}">
                <a16:creationId xmlns:a16="http://schemas.microsoft.com/office/drawing/2014/main" id="{6B3FF1E8-20E0-739C-F8AD-F5982B3EBD7D}"/>
              </a:ext>
            </a:extLst>
          </p:cNvPr>
          <p:cNvSpPr/>
          <p:nvPr/>
        </p:nvSpPr>
        <p:spPr>
          <a:xfrm>
            <a:off x="6000976" y="1033645"/>
            <a:ext cx="5927673" cy="425353"/>
          </a:xfrm>
          <a:prstGeom prst="rect">
            <a:avLst/>
          </a:prstGeom>
          <a:solidFill>
            <a:srgbClr val="0837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egoe UI"/>
                <a:cs typeface="Segoe UI"/>
              </a:rPr>
              <a:t>SIMULAÇÃO - LIBERAÇÃO DE ESTOQUE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2D215B26-3FBF-F6C5-DA12-AAD7069F8D8F}"/>
              </a:ext>
            </a:extLst>
          </p:cNvPr>
          <p:cNvSpPr/>
          <p:nvPr/>
        </p:nvSpPr>
        <p:spPr>
          <a:xfrm>
            <a:off x="4727981" y="1874280"/>
            <a:ext cx="1689223" cy="314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Nível 3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9E7526D2-3056-1DFB-F3D0-D6B0E04A5ACA}"/>
              </a:ext>
            </a:extLst>
          </p:cNvPr>
          <p:cNvSpPr/>
          <p:nvPr/>
        </p:nvSpPr>
        <p:spPr>
          <a:xfrm>
            <a:off x="4727981" y="3009639"/>
            <a:ext cx="1689223" cy="314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Nível 2</a:t>
            </a:r>
          </a:p>
        </p:txBody>
      </p:sp>
      <p:sp>
        <p:nvSpPr>
          <p:cNvPr id="63" name="Chave Esquerda 62">
            <a:extLst>
              <a:ext uri="{FF2B5EF4-FFF2-40B4-BE49-F238E27FC236}">
                <a16:creationId xmlns:a16="http://schemas.microsoft.com/office/drawing/2014/main" id="{2C0C1306-7BBD-DCB6-F2DE-A85ACDA6794C}"/>
              </a:ext>
            </a:extLst>
          </p:cNvPr>
          <p:cNvSpPr/>
          <p:nvPr/>
        </p:nvSpPr>
        <p:spPr>
          <a:xfrm rot="10800000">
            <a:off x="4981575" y="1797510"/>
            <a:ext cx="180975" cy="503238"/>
          </a:xfrm>
          <a:prstGeom prst="leftBrace">
            <a:avLst/>
          </a:prstGeom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Chave Esquerda 63">
            <a:extLst>
              <a:ext uri="{FF2B5EF4-FFF2-40B4-BE49-F238E27FC236}">
                <a16:creationId xmlns:a16="http://schemas.microsoft.com/office/drawing/2014/main" id="{5E69D3EE-8702-583E-2B4E-D4AEC4897881}"/>
              </a:ext>
            </a:extLst>
          </p:cNvPr>
          <p:cNvSpPr/>
          <p:nvPr/>
        </p:nvSpPr>
        <p:spPr>
          <a:xfrm rot="10800000">
            <a:off x="4981574" y="2417888"/>
            <a:ext cx="180975" cy="1485900"/>
          </a:xfrm>
          <a:prstGeom prst="leftBrace">
            <a:avLst/>
          </a:prstGeom>
          <a:ln w="19050">
            <a:solidFill>
              <a:srgbClr val="C0C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Chave Esquerda 64">
            <a:extLst>
              <a:ext uri="{FF2B5EF4-FFF2-40B4-BE49-F238E27FC236}">
                <a16:creationId xmlns:a16="http://schemas.microsoft.com/office/drawing/2014/main" id="{60DB3FD8-22CD-1910-28AC-FEF17A2B39DF}"/>
              </a:ext>
            </a:extLst>
          </p:cNvPr>
          <p:cNvSpPr/>
          <p:nvPr/>
        </p:nvSpPr>
        <p:spPr>
          <a:xfrm rot="10800000">
            <a:off x="4981572" y="3985974"/>
            <a:ext cx="180977" cy="2157650"/>
          </a:xfrm>
          <a:prstGeom prst="leftBrace">
            <a:avLst/>
          </a:prstGeom>
          <a:ln w="19050">
            <a:solidFill>
              <a:srgbClr val="364D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16921190-D8F6-0FCC-1CC8-E1ABF223D5E4}"/>
              </a:ext>
            </a:extLst>
          </p:cNvPr>
          <p:cNvSpPr/>
          <p:nvPr/>
        </p:nvSpPr>
        <p:spPr>
          <a:xfrm>
            <a:off x="4727981" y="4907733"/>
            <a:ext cx="1689223" cy="3141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srgbClr val="364D6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Nível 1</a:t>
            </a:r>
          </a:p>
        </p:txBody>
      </p:sp>
      <p:sp>
        <p:nvSpPr>
          <p:cNvPr id="67" name="Rectangle 2">
            <a:extLst>
              <a:ext uri="{FF2B5EF4-FFF2-40B4-BE49-F238E27FC236}">
                <a16:creationId xmlns:a16="http://schemas.microsoft.com/office/drawing/2014/main" id="{F9D1FB12-37B3-1C31-C6F3-DD366FCDBBFC}"/>
              </a:ext>
            </a:extLst>
          </p:cNvPr>
          <p:cNvSpPr/>
          <p:nvPr/>
        </p:nvSpPr>
        <p:spPr>
          <a:xfrm>
            <a:off x="6196474" y="2274941"/>
            <a:ext cx="762958" cy="467091"/>
          </a:xfrm>
          <a:prstGeom prst="rect">
            <a:avLst/>
          </a:prstGeom>
          <a:solidFill>
            <a:srgbClr val="808080"/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Nível 3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04785B3-32DD-8F90-C27F-8596248C8A9F}"/>
              </a:ext>
            </a:extLst>
          </p:cNvPr>
          <p:cNvSpPr txBox="1"/>
          <p:nvPr/>
        </p:nvSpPr>
        <p:spPr>
          <a:xfrm>
            <a:off x="7041368" y="2274941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127,11</a:t>
            </a: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3E157490-147C-6AA0-3A22-6A55D234220B}"/>
              </a:ext>
            </a:extLst>
          </p:cNvPr>
          <p:cNvSpPr/>
          <p:nvPr/>
        </p:nvSpPr>
        <p:spPr>
          <a:xfrm>
            <a:off x="6940469" y="1858949"/>
            <a:ext cx="1307500" cy="359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Estoque Ref.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R$ MM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EAA59BD5-2328-707D-0482-E470128A4A36}"/>
              </a:ext>
            </a:extLst>
          </p:cNvPr>
          <p:cNvSpPr txBox="1"/>
          <p:nvPr/>
        </p:nvSpPr>
        <p:spPr>
          <a:xfrm>
            <a:off x="8212698" y="2274941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24,44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0A39DFC9-761C-B246-D401-4F46F8C48C80}"/>
              </a:ext>
            </a:extLst>
          </p:cNvPr>
          <p:cNvSpPr txBox="1"/>
          <p:nvPr/>
        </p:nvSpPr>
        <p:spPr>
          <a:xfrm>
            <a:off x="10641768" y="2274941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F8F91B99-61D2-CB4B-71E3-83CEA1D90D51}"/>
              </a:ext>
            </a:extLst>
          </p:cNvPr>
          <p:cNvSpPr/>
          <p:nvPr/>
        </p:nvSpPr>
        <p:spPr>
          <a:xfrm>
            <a:off x="10641770" y="1521485"/>
            <a:ext cx="1099320" cy="697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Liberação de Caixa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(%)</a:t>
            </a:r>
          </a:p>
        </p:txBody>
      </p:sp>
      <p:sp>
        <p:nvSpPr>
          <p:cNvPr id="73" name="Rectangle 2">
            <a:extLst>
              <a:ext uri="{FF2B5EF4-FFF2-40B4-BE49-F238E27FC236}">
                <a16:creationId xmlns:a16="http://schemas.microsoft.com/office/drawing/2014/main" id="{463A948B-9E5A-2FBD-AF7D-F06A54011E0C}"/>
              </a:ext>
            </a:extLst>
          </p:cNvPr>
          <p:cNvSpPr/>
          <p:nvPr/>
        </p:nvSpPr>
        <p:spPr>
          <a:xfrm>
            <a:off x="6196474" y="2914734"/>
            <a:ext cx="762958" cy="449269"/>
          </a:xfrm>
          <a:prstGeom prst="rect">
            <a:avLst/>
          </a:prstGeom>
          <a:solidFill>
            <a:srgbClr val="C0C0C0"/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Nível 2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383C69DB-97F5-1F32-CC3A-B39D675C13CD}"/>
              </a:ext>
            </a:extLst>
          </p:cNvPr>
          <p:cNvSpPr txBox="1"/>
          <p:nvPr/>
        </p:nvSpPr>
        <p:spPr>
          <a:xfrm>
            <a:off x="7041368" y="2896912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68,41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50928105-FD83-6353-0D59-A6541D2ABFCA}"/>
              </a:ext>
            </a:extLst>
          </p:cNvPr>
          <p:cNvSpPr txBox="1"/>
          <p:nvPr/>
        </p:nvSpPr>
        <p:spPr>
          <a:xfrm>
            <a:off x="8212698" y="2896912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13,16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D5DA74D5-0CC0-C693-976F-8EFB09C308A0}"/>
              </a:ext>
            </a:extLst>
          </p:cNvPr>
          <p:cNvSpPr txBox="1"/>
          <p:nvPr/>
        </p:nvSpPr>
        <p:spPr>
          <a:xfrm>
            <a:off x="10641768" y="2896912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46,2%</a:t>
            </a:r>
          </a:p>
        </p:txBody>
      </p:sp>
      <p:sp>
        <p:nvSpPr>
          <p:cNvPr id="77" name="Rectangle 2">
            <a:extLst>
              <a:ext uri="{FF2B5EF4-FFF2-40B4-BE49-F238E27FC236}">
                <a16:creationId xmlns:a16="http://schemas.microsoft.com/office/drawing/2014/main" id="{57396EF3-6A6E-4AB0-6DE6-80FA122A4034}"/>
              </a:ext>
            </a:extLst>
          </p:cNvPr>
          <p:cNvSpPr/>
          <p:nvPr/>
        </p:nvSpPr>
        <p:spPr>
          <a:xfrm>
            <a:off x="6196474" y="3536705"/>
            <a:ext cx="762958" cy="462556"/>
          </a:xfrm>
          <a:prstGeom prst="rect">
            <a:avLst/>
          </a:prstGeom>
          <a:solidFill>
            <a:srgbClr val="364D6E"/>
          </a:solidFill>
          <a:ln w="952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Nível 1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24D33C57-FC88-AB16-E02B-44A8A5078FA5}"/>
              </a:ext>
            </a:extLst>
          </p:cNvPr>
          <p:cNvSpPr txBox="1"/>
          <p:nvPr/>
        </p:nvSpPr>
        <p:spPr>
          <a:xfrm>
            <a:off x="7041368" y="3518883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22,36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E129468A-AA39-558D-624D-1A58059E6ECE}"/>
              </a:ext>
            </a:extLst>
          </p:cNvPr>
          <p:cNvSpPr txBox="1"/>
          <p:nvPr/>
        </p:nvSpPr>
        <p:spPr>
          <a:xfrm>
            <a:off x="8212698" y="3518883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4,3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89144685-C2E1-9336-242E-D60ACE050351}"/>
              </a:ext>
            </a:extLst>
          </p:cNvPr>
          <p:cNvSpPr txBox="1"/>
          <p:nvPr/>
        </p:nvSpPr>
        <p:spPr>
          <a:xfrm>
            <a:off x="10641768" y="3518883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82,4%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05F1FCC6-0632-F151-DB42-C6A8D9FA0F8A}"/>
              </a:ext>
            </a:extLst>
          </p:cNvPr>
          <p:cNvSpPr/>
          <p:nvPr/>
        </p:nvSpPr>
        <p:spPr>
          <a:xfrm>
            <a:off x="6000975" y="4359473"/>
            <a:ext cx="5927673" cy="1876659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Benchmark com outras empresas do setor mostra Grupo CBO acima do mercado (considerando apenas o estoque sistêmico SAP Set/22);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Obs.: “?” se refere ao estoque que existe hoje na empresa fora do sistema;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050" b="1" i="0" u="none" strike="noStrike" kern="1200" cap="none" spc="0" normalizeH="0" baseline="0" noProof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2 níveis de estoque a serem levados em consideração: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Nível 1: Estoque/Receita de 1,0% - 2,0% (Considerado a média do grupo: 1,29%);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Nível 2: Estoque/Receita de 2,0% - 4,5% (Considerado a média do grupo: 3,94%);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050" b="1" i="0" u="none" strike="noStrike" kern="1200" cap="none" spc="0" normalizeH="0" baseline="0" noProof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Potencial de redução de estoque ao Nível 2 para, posteriormente, poder saltar ao Nível 1 (longo prazo);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94A1AF2F-789B-562C-BE94-0C8BA58D18A6}"/>
              </a:ext>
            </a:extLst>
          </p:cNvPr>
          <p:cNvSpPr txBox="1"/>
          <p:nvPr/>
        </p:nvSpPr>
        <p:spPr>
          <a:xfrm>
            <a:off x="9417632" y="2274941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4484686E-7ADC-AFB9-07A5-3EA1F19C4580}"/>
              </a:ext>
            </a:extLst>
          </p:cNvPr>
          <p:cNvSpPr/>
          <p:nvPr/>
        </p:nvSpPr>
        <p:spPr>
          <a:xfrm>
            <a:off x="9417634" y="1521485"/>
            <a:ext cx="1099320" cy="697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Liberação de Caixa (USD MM)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2C5EC6BB-C573-EAA3-7E37-571381DCAD72}"/>
              </a:ext>
            </a:extLst>
          </p:cNvPr>
          <p:cNvSpPr txBox="1"/>
          <p:nvPr/>
        </p:nvSpPr>
        <p:spPr>
          <a:xfrm>
            <a:off x="9417632" y="2896912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11,29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2C3CB917-F5CE-350D-A6C2-839438C7BC86}"/>
              </a:ext>
            </a:extLst>
          </p:cNvPr>
          <p:cNvSpPr txBox="1"/>
          <p:nvPr/>
        </p:nvSpPr>
        <p:spPr>
          <a:xfrm>
            <a:off x="9417632" y="3518883"/>
            <a:ext cx="1099321" cy="467091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1pPr>
            <a:lvl2pPr marL="742950" lvl="1" indent="-285750">
              <a:buFont typeface="Arial" panose="020B0604020202020204" pitchFamily="34" charset="0"/>
              <a:buChar char="•"/>
              <a:defRPr sz="1400" b="1">
                <a:solidFill>
                  <a:schemeClr val="accent5">
                    <a:lumMod val="50000"/>
                  </a:schemeClr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20,14</a:t>
            </a: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A258F355-18CA-A1D2-E716-6FB1BF87087D}"/>
              </a:ext>
            </a:extLst>
          </p:cNvPr>
          <p:cNvSpPr/>
          <p:nvPr/>
        </p:nvSpPr>
        <p:spPr>
          <a:xfrm>
            <a:off x="8140689" y="1858949"/>
            <a:ext cx="1307500" cy="3599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Estoque Ref.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USD MM</a:t>
            </a:r>
          </a:p>
        </p:txBody>
      </p:sp>
    </p:spTree>
    <p:extLst>
      <p:ext uri="{BB962C8B-B14F-4D97-AF65-F5344CB8AC3E}">
        <p14:creationId xmlns:p14="http://schemas.microsoft.com/office/powerpoint/2010/main" val="25757501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7137E683-2169-9B9C-9E89-E61DCB3A2AD0}"/>
              </a:ext>
            </a:extLst>
          </p:cNvPr>
          <p:cNvSpPr/>
          <p:nvPr/>
        </p:nvSpPr>
        <p:spPr>
          <a:xfrm>
            <a:off x="4639800" y="4374083"/>
            <a:ext cx="2912400" cy="57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b="1" dirty="0">
                <a:solidFill>
                  <a:schemeClr val="tx1"/>
                </a:solidFill>
                <a:latin typeface="Segoe UI"/>
                <a:cs typeface="Segoe UI"/>
              </a:rPr>
              <a:t>SLIDE QUANTITATIVO</a:t>
            </a:r>
            <a:r>
              <a:rPr lang="pt-BR" sz="1600" b="1" dirty="0">
                <a:solidFill>
                  <a:schemeClr val="tx1"/>
                </a:solidFill>
                <a:latin typeface="Segoe UI"/>
                <a:cs typeface="Segoe UI"/>
              </a:rPr>
              <a:t>
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C244280-3905-363E-1DD4-FBB87F5DEBBB}"/>
              </a:ext>
            </a:extLst>
          </p:cNvPr>
          <p:cNvSpPr/>
          <p:nvPr/>
        </p:nvSpPr>
        <p:spPr>
          <a:xfrm>
            <a:off x="8420266" y="4374083"/>
            <a:ext cx="2912400" cy="572400"/>
          </a:xfrm>
          <a:prstGeom prst="rect">
            <a:avLst/>
          </a:prstGeom>
          <a:solidFill>
            <a:schemeClr val="bg1"/>
          </a:solidFill>
          <a:ln>
            <a:solidFill>
              <a:srgbClr val="0F6FC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400" b="1" dirty="0">
              <a:solidFill>
                <a:srgbClr val="0F6FC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b="1" dirty="0">
                <a:solidFill>
                  <a:srgbClr val="0F6FC6"/>
                </a:solidFill>
                <a:latin typeface="Segoe UI"/>
                <a:cs typeface="Segoe UI"/>
              </a:rPr>
              <a:t>SLIDE INTEGRADO</a:t>
            </a:r>
            <a:r>
              <a:rPr lang="pt-BR" sz="1600" b="1" dirty="0">
                <a:solidFill>
                  <a:srgbClr val="0F6FC6"/>
                </a:solidFill>
                <a:latin typeface="Segoe UI"/>
                <a:cs typeface="Segoe UI"/>
              </a:rPr>
              <a:t>
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9DC13EA-0D0D-97DB-5CFF-20A7997B9662}"/>
              </a:ext>
            </a:extLst>
          </p:cNvPr>
          <p:cNvSpPr/>
          <p:nvPr/>
        </p:nvSpPr>
        <p:spPr>
          <a:xfrm>
            <a:off x="859801" y="4374603"/>
            <a:ext cx="2911461" cy="5718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pt-BR" sz="1400" b="1" dirty="0">
                <a:solidFill>
                  <a:schemeClr val="tx1"/>
                </a:solidFill>
                <a:latin typeface="Segoe UI"/>
                <a:cs typeface="Segoe UI"/>
              </a:rPr>
              <a:t>SLIDE QUALITATIVO</a:t>
            </a:r>
            <a:r>
              <a:rPr lang="pt-BR" sz="1600" b="1" dirty="0">
                <a:solidFill>
                  <a:schemeClr val="tx1"/>
                </a:solidFill>
                <a:latin typeface="Segoe UI"/>
                <a:cs typeface="Segoe UI"/>
              </a:rPr>
              <a:t>
</a:t>
            </a:r>
          </a:p>
        </p:txBody>
      </p:sp>
      <p:graphicFrame>
        <p:nvGraphicFramePr>
          <p:cNvPr id="5" name="Objeto 4" hidden="1">
            <a:extLst>
              <a:ext uri="{FF2B5EF4-FFF2-40B4-BE49-F238E27FC236}">
                <a16:creationId xmlns:a16="http://schemas.microsoft.com/office/drawing/2014/main" id="{D1867C1A-128E-9C26-C8F3-70700047CF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5" name="Objeto 4" hidden="1">
                        <a:extLst>
                          <a:ext uri="{FF2B5EF4-FFF2-40B4-BE49-F238E27FC236}">
                            <a16:creationId xmlns:a16="http://schemas.microsoft.com/office/drawing/2014/main" id="{D1867C1A-128E-9C26-C8F3-70700047CF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A243AEE-99FE-AF70-1519-2B996756B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3C2570D-3F46-48A8-A1D6-2750696A5204}" type="slidenum">
              <a:rPr lang="pt-BR" smtClean="0"/>
              <a:pPr/>
              <a:t>52</a:t>
            </a:fld>
            <a:endParaRPr lang="pt-BR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9B9EED3D-B07A-7B43-DEDC-4ED02F06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Layouts de Slides Quantitativos, Qualitativos e Integrados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3195B6-9E42-5A81-E9F5-1A007C0BF0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Para slides qualitativos, slides quantitativos e slides integrados, os modelos básicos de layout podem ser aproveitados e expandidos
</a:t>
            </a: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845E6637-5AEA-24CF-A2B4-73888F4DE76B}"/>
              </a:ext>
            </a:extLst>
          </p:cNvPr>
          <p:cNvCxnSpPr>
            <a:cxnSpLocks/>
          </p:cNvCxnSpPr>
          <p:nvPr/>
        </p:nvCxnSpPr>
        <p:spPr>
          <a:xfrm>
            <a:off x="609600" y="4087840"/>
            <a:ext cx="3278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2" name="Picture 130">
            <a:extLst>
              <a:ext uri="{FF2B5EF4-FFF2-40B4-BE49-F238E27FC236}">
                <a16:creationId xmlns:a16="http://schemas.microsoft.com/office/drawing/2014/main" id="{038FE626-43AB-F5DE-DDDC-DD4CB740F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93" y="1784952"/>
            <a:ext cx="3583876" cy="2016126"/>
          </a:xfrm>
          <a:prstGeom prst="rect">
            <a:avLst/>
          </a:prstGeom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3" name="Picture 131">
            <a:extLst>
              <a:ext uri="{FF2B5EF4-FFF2-40B4-BE49-F238E27FC236}">
                <a16:creationId xmlns:a16="http://schemas.microsoft.com/office/drawing/2014/main" id="{E9D67E84-4D5F-9E00-7370-24D40508B0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3967" y="1784951"/>
            <a:ext cx="3583873" cy="2016125"/>
          </a:xfrm>
          <a:prstGeom prst="rect">
            <a:avLst/>
          </a:prstGeom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132">
            <a:extLst>
              <a:ext uri="{FF2B5EF4-FFF2-40B4-BE49-F238E27FC236}">
                <a16:creationId xmlns:a16="http://schemas.microsoft.com/office/drawing/2014/main" id="{7F816B2E-868A-569D-BD46-944BF4390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4529" y="1799328"/>
            <a:ext cx="3583875" cy="2016126"/>
          </a:xfrm>
          <a:prstGeom prst="rect">
            <a:avLst/>
          </a:prstGeom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6EE8E13A-C436-2556-69F5-ADFB7B80FD46}"/>
              </a:ext>
            </a:extLst>
          </p:cNvPr>
          <p:cNvCxnSpPr>
            <a:cxnSpLocks/>
          </p:cNvCxnSpPr>
          <p:nvPr/>
        </p:nvCxnSpPr>
        <p:spPr>
          <a:xfrm>
            <a:off x="4456432" y="4088588"/>
            <a:ext cx="3278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4E98E2B-A8B3-A327-9E63-BB97F9D857D2}"/>
              </a:ext>
            </a:extLst>
          </p:cNvPr>
          <p:cNvCxnSpPr>
            <a:cxnSpLocks/>
          </p:cNvCxnSpPr>
          <p:nvPr/>
        </p:nvCxnSpPr>
        <p:spPr>
          <a:xfrm>
            <a:off x="8236995" y="4087840"/>
            <a:ext cx="3278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8773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0" imgW="344" imgH="345" progId="TCLayout.ActiveDocument.1">
                  <p:embed/>
                </p:oleObj>
              </mc:Choice>
              <mc:Fallback>
                <p:oleObj name="Slide do think-cell" r:id="rId10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53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Integrado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21B9A3-64DB-9389-6979-5CF2920219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
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8AEA9E3-7D89-A867-E935-FD05944E9FAA}"/>
              </a:ext>
            </a:extLst>
          </p:cNvPr>
          <p:cNvGrpSpPr/>
          <p:nvPr/>
        </p:nvGrpSpPr>
        <p:grpSpPr>
          <a:xfrm>
            <a:off x="647412" y="1255252"/>
            <a:ext cx="1570038" cy="233902"/>
            <a:chOff x="3167844" y="845763"/>
            <a:chExt cx="1736746" cy="233945"/>
          </a:xfrm>
        </p:grpSpPr>
        <p:cxnSp>
          <p:nvCxnSpPr>
            <p:cNvPr id="87" name="AutoShape 249">
              <a:extLst>
                <a:ext uri="{FF2B5EF4-FFF2-40B4-BE49-F238E27FC236}">
                  <a16:creationId xmlns:a16="http://schemas.microsoft.com/office/drawing/2014/main" id="{F857DD65-BC1D-6E5B-5BBB-A24903FAB597}"/>
                </a:ext>
              </a:extLst>
            </p:cNvPr>
            <p:cNvCxnSpPr>
              <a:cxnSpLocks noChangeShapeType="1"/>
              <a:stCxn id="88" idx="4"/>
              <a:endCxn id="88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8" name="AutoShape 250">
              <a:extLst>
                <a:ext uri="{FF2B5EF4-FFF2-40B4-BE49-F238E27FC236}">
                  <a16:creationId xmlns:a16="http://schemas.microsoft.com/office/drawing/2014/main" id="{2C713B8F-7716-7D23-858A-885DBDB79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845763"/>
              <a:ext cx="1736746" cy="233945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400" b="1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Medir</a:t>
              </a:r>
              <a:endParaRPr lang="pt-BR" sz="1400">
                <a:solidFill>
                  <a:srgbClr val="0F6FC6"/>
                </a:solidFill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4EE5666-F5FB-B2DD-D6D7-424B5B01D252}"/>
              </a:ext>
            </a:extLst>
          </p:cNvPr>
          <p:cNvGrpSpPr/>
          <p:nvPr/>
        </p:nvGrpSpPr>
        <p:grpSpPr>
          <a:xfrm>
            <a:off x="2328575" y="1039807"/>
            <a:ext cx="3279746" cy="449346"/>
            <a:chOff x="3167844" y="630279"/>
            <a:chExt cx="1736746" cy="449429"/>
          </a:xfrm>
        </p:grpSpPr>
        <p:cxnSp>
          <p:nvCxnSpPr>
            <p:cNvPr id="90" name="AutoShape 249">
              <a:extLst>
                <a:ext uri="{FF2B5EF4-FFF2-40B4-BE49-F238E27FC236}">
                  <a16:creationId xmlns:a16="http://schemas.microsoft.com/office/drawing/2014/main" id="{55E2B73B-71EF-FF22-9733-B4081F76D0A6}"/>
                </a:ext>
              </a:extLst>
            </p:cNvPr>
            <p:cNvCxnSpPr>
              <a:cxnSpLocks noChangeShapeType="1"/>
              <a:stCxn id="91" idx="4"/>
              <a:endCxn id="91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1" name="AutoShape 250">
              <a:extLst>
                <a:ext uri="{FF2B5EF4-FFF2-40B4-BE49-F238E27FC236}">
                  <a16:creationId xmlns:a16="http://schemas.microsoft.com/office/drawing/2014/main" id="{10BFE9ED-77B0-4642-B900-D0A180712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630279"/>
              <a:ext cx="1736746" cy="449429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400" b="1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Impacto do EBIT
</a:t>
              </a:r>
              <a:r>
                <a:rPr lang="pt-BR" sz="1400">
                  <a:solidFill>
                    <a:srgbClr val="000000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EUR milhões, com base em dados de MI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F03B4B5-6424-3E80-9615-0C31E0F8A311}"/>
              </a:ext>
            </a:extLst>
          </p:cNvPr>
          <p:cNvGrpSpPr/>
          <p:nvPr/>
        </p:nvGrpSpPr>
        <p:grpSpPr>
          <a:xfrm>
            <a:off x="5724707" y="1255252"/>
            <a:ext cx="6054536" cy="233902"/>
            <a:chOff x="3167844" y="845266"/>
            <a:chExt cx="1736746" cy="234442"/>
          </a:xfrm>
        </p:grpSpPr>
        <p:cxnSp>
          <p:nvCxnSpPr>
            <p:cNvPr id="93" name="AutoShape 249">
              <a:extLst>
                <a:ext uri="{FF2B5EF4-FFF2-40B4-BE49-F238E27FC236}">
                  <a16:creationId xmlns:a16="http://schemas.microsoft.com/office/drawing/2014/main" id="{ACF2263D-9E24-6C60-1EF3-04F35EE0AC97}"/>
                </a:ext>
              </a:extLst>
            </p:cNvPr>
            <p:cNvCxnSpPr>
              <a:cxnSpLocks noChangeShapeType="1"/>
              <a:stCxn id="94" idx="4"/>
              <a:endCxn id="94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4" name="AutoShape 250">
              <a:extLst>
                <a:ext uri="{FF2B5EF4-FFF2-40B4-BE49-F238E27FC236}">
                  <a16:creationId xmlns:a16="http://schemas.microsoft.com/office/drawing/2014/main" id="{1FB22260-7E1A-DA46-BE68-6F716AF72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845266"/>
              <a:ext cx="1736746" cy="23444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400" b="1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Detalhes</a:t>
              </a:r>
              <a:endParaRPr lang="pt-BR" sz="1400">
                <a:solidFill>
                  <a:srgbClr val="0F6FC6"/>
                </a:solidFill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3AB7E326-D508-8F6C-6272-FCB55A2A3966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2246313" y="1520825"/>
          <a:ext cx="3062287" cy="4910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03" name="Text Placeholder 241">
            <a:extLst>
              <a:ext uri="{FF2B5EF4-FFF2-40B4-BE49-F238E27FC236}">
                <a16:creationId xmlns:a16="http://schemas.microsoft.com/office/drawing/2014/main" id="{41C37E8F-2055-24EB-32FF-6A29447EFF98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657226" y="2921078"/>
            <a:ext cx="13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7" name="Text Placeholder 242">
            <a:extLst>
              <a:ext uri="{FF2B5EF4-FFF2-40B4-BE49-F238E27FC236}">
                <a16:creationId xmlns:a16="http://schemas.microsoft.com/office/drawing/2014/main" id="{612AF242-599E-AFA8-731A-210BC860B88F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657226" y="3868815"/>
            <a:ext cx="13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99" name="Text Placeholder 240">
            <a:extLst>
              <a:ext uri="{FF2B5EF4-FFF2-40B4-BE49-F238E27FC236}">
                <a16:creationId xmlns:a16="http://schemas.microsoft.com/office/drawing/2014/main" id="{9D262109-3215-D31E-5CC8-69EED97069D6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657226" y="1971754"/>
            <a:ext cx="13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8" name="Text Placeholder 243">
            <a:extLst>
              <a:ext uri="{FF2B5EF4-FFF2-40B4-BE49-F238E27FC236}">
                <a16:creationId xmlns:a16="http://schemas.microsoft.com/office/drawing/2014/main" id="{95099C11-FEF5-B7D2-3302-E0B80DDDFF4C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657226" y="4818140"/>
            <a:ext cx="13017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1" name="Text Placeholder 244">
            <a:extLst>
              <a:ext uri="{FF2B5EF4-FFF2-40B4-BE49-F238E27FC236}">
                <a16:creationId xmlns:a16="http://schemas.microsoft.com/office/drawing/2014/main" id="{865A9260-3C5D-89A8-CB2C-BCF4C02F431B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656937" y="5767465"/>
            <a:ext cx="1554163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…	             </a:t>
            </a:r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AF0C173-7235-07F5-56DD-839FE8336B12}"/>
              </a:ext>
            </a:extLst>
          </p:cNvPr>
          <p:cNvSpPr txBox="1"/>
          <p:nvPr/>
        </p:nvSpPr>
        <p:spPr>
          <a:xfrm>
            <a:off x="5724706" y="3639245"/>
            <a:ext cx="605453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3220D53-E79C-F84F-175B-96789A41447E}"/>
              </a:ext>
            </a:extLst>
          </p:cNvPr>
          <p:cNvSpPr txBox="1"/>
          <p:nvPr/>
        </p:nvSpPr>
        <p:spPr>
          <a:xfrm>
            <a:off x="5724706" y="5536146"/>
            <a:ext cx="605453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8E91F49-5E50-3789-DA22-2DD4F9203E52}"/>
              </a:ext>
            </a:extLst>
          </p:cNvPr>
          <p:cNvSpPr txBox="1"/>
          <p:nvPr/>
        </p:nvSpPr>
        <p:spPr>
          <a:xfrm>
            <a:off x="5724706" y="4587695"/>
            <a:ext cx="605453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5C0DC2C-15C7-F2FE-C4B8-17A27C8EA707}"/>
              </a:ext>
            </a:extLst>
          </p:cNvPr>
          <p:cNvSpPr txBox="1"/>
          <p:nvPr/>
        </p:nvSpPr>
        <p:spPr>
          <a:xfrm>
            <a:off x="5724706" y="1742345"/>
            <a:ext cx="605453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E43D23E-CD59-E419-7854-7152DEF62D50}"/>
              </a:ext>
            </a:extLst>
          </p:cNvPr>
          <p:cNvSpPr txBox="1"/>
          <p:nvPr/>
        </p:nvSpPr>
        <p:spPr>
          <a:xfrm>
            <a:off x="5724706" y="2690795"/>
            <a:ext cx="6054536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28D256-BFF7-C870-44AD-88145DC75DEB}"/>
              </a:ext>
            </a:extLst>
          </p:cNvPr>
          <p:cNvGrpSpPr/>
          <p:nvPr/>
        </p:nvGrpSpPr>
        <p:grpSpPr>
          <a:xfrm>
            <a:off x="634430" y="2551825"/>
            <a:ext cx="11144812" cy="2848120"/>
            <a:chOff x="523873" y="2654935"/>
            <a:chExt cx="9588499" cy="2848120"/>
          </a:xfrm>
        </p:grpSpPr>
        <p:cxnSp>
          <p:nvCxnSpPr>
            <p:cNvPr id="134" name="AutoShape 249">
              <a:extLst>
                <a:ext uri="{FF2B5EF4-FFF2-40B4-BE49-F238E27FC236}">
                  <a16:creationId xmlns:a16="http://schemas.microsoft.com/office/drawing/2014/main" id="{18BB462D-1F77-B745-AE6D-391C3387F4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3873" y="2654935"/>
              <a:ext cx="9588499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6" name="AutoShape 249">
              <a:extLst>
                <a:ext uri="{FF2B5EF4-FFF2-40B4-BE49-F238E27FC236}">
                  <a16:creationId xmlns:a16="http://schemas.microsoft.com/office/drawing/2014/main" id="{8F5D659D-0B6C-A8F7-6689-D278DDFF09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3873" y="5503055"/>
              <a:ext cx="9588499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" name="AutoShape 249">
              <a:extLst>
                <a:ext uri="{FF2B5EF4-FFF2-40B4-BE49-F238E27FC236}">
                  <a16:creationId xmlns:a16="http://schemas.microsoft.com/office/drawing/2014/main" id="{23ACEA1A-AC86-F0D9-7737-B63B33FF86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3873" y="4553681"/>
              <a:ext cx="9588499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" name="AutoShape 249">
              <a:extLst>
                <a:ext uri="{FF2B5EF4-FFF2-40B4-BE49-F238E27FC236}">
                  <a16:creationId xmlns:a16="http://schemas.microsoft.com/office/drawing/2014/main" id="{37F91852-9DC9-CF8E-C062-2E33A499CC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3873" y="3604308"/>
              <a:ext cx="9588499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101112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26" imgW="344" imgH="345" progId="TCLayout.ActiveDocument.1">
                  <p:embed/>
                </p:oleObj>
              </mc:Choice>
              <mc:Fallback>
                <p:oleObj name="Slide do think-cell" r:id="rId26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54</a:t>
            </a:fld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Integrado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900B4B-B919-736F-300A-40A21A9A3B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
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8AEA9E3-7D89-A867-E935-FD05944E9FAA}"/>
              </a:ext>
            </a:extLst>
          </p:cNvPr>
          <p:cNvGrpSpPr/>
          <p:nvPr/>
        </p:nvGrpSpPr>
        <p:grpSpPr>
          <a:xfrm>
            <a:off x="531314" y="1142999"/>
            <a:ext cx="1570038" cy="449263"/>
            <a:chOff x="3167844" y="630362"/>
            <a:chExt cx="1736746" cy="449346"/>
          </a:xfrm>
        </p:grpSpPr>
        <p:cxnSp>
          <p:nvCxnSpPr>
            <p:cNvPr id="87" name="AutoShape 249">
              <a:extLst>
                <a:ext uri="{FF2B5EF4-FFF2-40B4-BE49-F238E27FC236}">
                  <a16:creationId xmlns:a16="http://schemas.microsoft.com/office/drawing/2014/main" id="{F857DD65-BC1D-6E5B-5BBB-A24903FAB597}"/>
                </a:ext>
              </a:extLst>
            </p:cNvPr>
            <p:cNvCxnSpPr>
              <a:cxnSpLocks noChangeShapeType="1"/>
              <a:stCxn id="88" idx="4"/>
              <a:endCxn id="88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8" name="AutoShape 250">
              <a:extLst>
                <a:ext uri="{FF2B5EF4-FFF2-40B4-BE49-F238E27FC236}">
                  <a16:creationId xmlns:a16="http://schemas.microsoft.com/office/drawing/2014/main" id="{2C713B8F-7716-7D23-858A-885DBDB79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630362"/>
              <a:ext cx="1736746" cy="44934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Industry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opportunity</a:t>
              </a:r>
              <a:endParaRPr lang="en-US" sz="1400"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4EE5666-F5FB-B2DD-D6D7-424B5B01D252}"/>
              </a:ext>
            </a:extLst>
          </p:cNvPr>
          <p:cNvGrpSpPr/>
          <p:nvPr/>
        </p:nvGrpSpPr>
        <p:grpSpPr>
          <a:xfrm>
            <a:off x="2217738" y="1143000"/>
            <a:ext cx="3279746" cy="449263"/>
            <a:chOff x="3167844" y="630362"/>
            <a:chExt cx="1736746" cy="449346"/>
          </a:xfrm>
        </p:grpSpPr>
        <p:cxnSp>
          <p:nvCxnSpPr>
            <p:cNvPr id="90" name="AutoShape 249">
              <a:extLst>
                <a:ext uri="{FF2B5EF4-FFF2-40B4-BE49-F238E27FC236}">
                  <a16:creationId xmlns:a16="http://schemas.microsoft.com/office/drawing/2014/main" id="{55E2B73B-71EF-FF22-9733-B4081F76D0A6}"/>
                </a:ext>
              </a:extLst>
            </p:cNvPr>
            <p:cNvCxnSpPr>
              <a:cxnSpLocks noChangeShapeType="1"/>
              <a:stCxn id="91" idx="4"/>
              <a:endCxn id="91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1" name="AutoShape 250">
              <a:extLst>
                <a:ext uri="{FF2B5EF4-FFF2-40B4-BE49-F238E27FC236}">
                  <a16:creationId xmlns:a16="http://schemas.microsoft.com/office/drawing/2014/main" id="{10BFE9ED-77B0-4642-B900-D0A180712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630362"/>
              <a:ext cx="1736746" cy="44934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Revenue pool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IT spend, EUR bn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F03B4B5-6424-3E80-9615-0C31E0F8A311}"/>
              </a:ext>
            </a:extLst>
          </p:cNvPr>
          <p:cNvGrpSpPr/>
          <p:nvPr/>
        </p:nvGrpSpPr>
        <p:grpSpPr>
          <a:xfrm>
            <a:off x="5613870" y="1358900"/>
            <a:ext cx="3591089" cy="233363"/>
            <a:chOff x="3167844" y="845806"/>
            <a:chExt cx="1736746" cy="233902"/>
          </a:xfrm>
        </p:grpSpPr>
        <p:cxnSp>
          <p:nvCxnSpPr>
            <p:cNvPr id="93" name="AutoShape 249">
              <a:extLst>
                <a:ext uri="{FF2B5EF4-FFF2-40B4-BE49-F238E27FC236}">
                  <a16:creationId xmlns:a16="http://schemas.microsoft.com/office/drawing/2014/main" id="{ACF2263D-9E24-6C60-1EF3-04F35EE0AC97}"/>
                </a:ext>
              </a:extLst>
            </p:cNvPr>
            <p:cNvCxnSpPr>
              <a:cxnSpLocks noChangeShapeType="1"/>
              <a:stCxn id="94" idx="4"/>
              <a:endCxn id="94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4" name="AutoShape 250">
              <a:extLst>
                <a:ext uri="{FF2B5EF4-FFF2-40B4-BE49-F238E27FC236}">
                  <a16:creationId xmlns:a16="http://schemas.microsoft.com/office/drawing/2014/main" id="{1FB22260-7E1A-DA46-BE68-6F716AF72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845806"/>
              <a:ext cx="1736746" cy="23390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Potential offerings</a:t>
              </a:r>
              <a:endParaRPr lang="en-US" sz="1400"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5C73E7D-2870-4BD5-CB47-BDE3B19365F1}"/>
              </a:ext>
            </a:extLst>
          </p:cNvPr>
          <p:cNvGrpSpPr/>
          <p:nvPr/>
        </p:nvGrpSpPr>
        <p:grpSpPr>
          <a:xfrm>
            <a:off x="9320212" y="1143000"/>
            <a:ext cx="792163" cy="449263"/>
            <a:chOff x="3167844" y="630362"/>
            <a:chExt cx="1736746" cy="449346"/>
          </a:xfrm>
        </p:grpSpPr>
        <p:cxnSp>
          <p:nvCxnSpPr>
            <p:cNvPr id="96" name="AutoShape 249">
              <a:extLst>
                <a:ext uri="{FF2B5EF4-FFF2-40B4-BE49-F238E27FC236}">
                  <a16:creationId xmlns:a16="http://schemas.microsoft.com/office/drawing/2014/main" id="{4BBB485B-AF4E-2214-00A7-AC825216C04A}"/>
                </a:ext>
              </a:extLst>
            </p:cNvPr>
            <p:cNvCxnSpPr>
              <a:cxnSpLocks noChangeShapeType="1"/>
              <a:stCxn id="97" idx="4"/>
              <a:endCxn id="97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7" name="AutoShape 250">
              <a:extLst>
                <a:ext uri="{FF2B5EF4-FFF2-40B4-BE49-F238E27FC236}">
                  <a16:creationId xmlns:a16="http://schemas.microsoft.com/office/drawing/2014/main" id="{F803A816-91F6-FA9F-5807-9DA68E94F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630362"/>
              <a:ext cx="1736746" cy="44934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Strategic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fit</a:t>
              </a:r>
              <a:r>
                <a:rPr lang="en-US" sz="1400" b="1" baseline="30000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1</a:t>
              </a:r>
              <a:endParaRPr lang="en-US" sz="1400" baseline="30000"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61" name="Chart 60">
            <a:extLst>
              <a:ext uri="{FF2B5EF4-FFF2-40B4-BE49-F238E27FC236}">
                <a16:creationId xmlns:a16="http://schemas.microsoft.com/office/drawing/2014/main" id="{002D8180-81D6-FC7A-D9C0-E8FECFCF5F9C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2217738" y="1683473"/>
          <a:ext cx="2890837" cy="451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105" name="Text Placeholder 255">
            <a:extLst>
              <a:ext uri="{FF2B5EF4-FFF2-40B4-BE49-F238E27FC236}">
                <a16:creationId xmlns:a16="http://schemas.microsoft.com/office/drawing/2014/main" id="{5B73D124-5EA2-2201-D335-574F0F408AE2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5069431" y="2097017"/>
            <a:ext cx="382588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0FE4DD7E-D653-447B-8F4F-8FF34C6426A8}" type="datetime'''''''''''''1''''''''''''''''''''''''''1''''''''''''''.0'''">
              <a:rPr lang="en-US" altLang="en-US" sz="14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11.0</a:t>
            </a:fld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99" name="Text Placeholder 240">
            <a:extLst>
              <a:ext uri="{FF2B5EF4-FFF2-40B4-BE49-F238E27FC236}">
                <a16:creationId xmlns:a16="http://schemas.microsoft.com/office/drawing/2014/main" id="{9D262109-3215-D31E-5CC8-69EED97069D6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567644" y="1990153"/>
            <a:ext cx="1241425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8E0FC13-0978-46D2-A0BB-B91862EE79EF}" type="datetime'Expr''es''s ''a''''n''''d&#10;''courier ''''s''er''''''vic''e''s'">
              <a:rPr lang="en-US" altLang="en-US" sz="1400" b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Express and
courier services</a:t>
            </a:fld>
            <a:endParaRPr lang="de-DE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3" name="Text Placeholder 241">
            <a:extLst>
              <a:ext uri="{FF2B5EF4-FFF2-40B4-BE49-F238E27FC236}">
                <a16:creationId xmlns:a16="http://schemas.microsoft.com/office/drawing/2014/main" id="{41C37E8F-2055-24EB-32FF-6A29447EFF98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567644" y="2966967"/>
            <a:ext cx="124142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E0AF1EA-63D5-4EFA-BB06-04477C36E9D5}" type="datetime'''St''''''e''''e''''''''''l'' ''p''''r''odu''''c''er''''''s'">
              <a:rPr lang="en-US" altLang="en-US" sz="1400" b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Steel producers</a:t>
            </a:fld>
            <a:endParaRPr lang="de-DE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7" name="Text Placeholder 242">
            <a:extLst>
              <a:ext uri="{FF2B5EF4-FFF2-40B4-BE49-F238E27FC236}">
                <a16:creationId xmlns:a16="http://schemas.microsoft.com/office/drawing/2014/main" id="{612AF242-599E-AFA8-731A-210BC860B88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72892" y="3827826"/>
            <a:ext cx="1731814" cy="268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A5EAC64-5917-4D72-97AC-CA3CB900CA5A}" type="datetime'''''''C''abl''''e an''d s''a''t''''''el''''li''te''''''''s'">
              <a:rPr lang="en-US" altLang="en-US" sz="1400" b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Cable and satellites</a:t>
            </a:fld>
            <a:endParaRPr lang="de-DE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6" name="Text Placeholder 256">
            <a:extLst>
              <a:ext uri="{FF2B5EF4-FFF2-40B4-BE49-F238E27FC236}">
                <a16:creationId xmlns:a16="http://schemas.microsoft.com/office/drawing/2014/main" id="{DB3C6DA4-81E5-1B59-0517-C1AA22B46DC3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5029744" y="2966967"/>
            <a:ext cx="395288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3C011D9-1180-42AF-AD04-9E3FF75B4383}" type="datetime'''''1''''0''.''''''''''''''''''''8'''''''''''''''''">
              <a:rPr lang="en-US" altLang="en-US" sz="14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10.8</a:t>
            </a:fld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1" name="Text Placeholder 244">
            <a:extLst>
              <a:ext uri="{FF2B5EF4-FFF2-40B4-BE49-F238E27FC236}">
                <a16:creationId xmlns:a16="http://schemas.microsoft.com/office/drawing/2014/main" id="{865A9260-3C5D-89A8-CB2C-BCF4C02F431B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571899" y="5576817"/>
            <a:ext cx="641350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A0E8EA8-6D3C-41AB-AF55-3A7DBB68F94B}" type="datetime'''''''''''''''C''a''s''''''''''''''''i''''''''''''''''''nos'">
              <a:rPr lang="en-US" altLang="en-US" sz="1400" b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Casinos</a:t>
            </a:fld>
            <a:endParaRPr lang="de-DE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8" name="Text Placeholder 243">
            <a:extLst>
              <a:ext uri="{FF2B5EF4-FFF2-40B4-BE49-F238E27FC236}">
                <a16:creationId xmlns:a16="http://schemas.microsoft.com/office/drawing/2014/main" id="{95099C11-FEF5-B7D2-3302-E0B80DDDFF4C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578126" y="4693014"/>
            <a:ext cx="936625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E9F927B-4475-4BEB-A978-762F7A7C8FA8}" type="datetime'''C''o''a''''''''''''''''''''''l'''''' ''mi''nin''g'''''''''''">
              <a:rPr lang="en-US" altLang="en-US" sz="1400" b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Coal mining</a:t>
            </a:fld>
            <a:endParaRPr lang="de-DE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2" name="Text Placeholder 257">
            <a:extLst>
              <a:ext uri="{FF2B5EF4-FFF2-40B4-BE49-F238E27FC236}">
                <a16:creationId xmlns:a16="http://schemas.microsoft.com/office/drawing/2014/main" id="{8CB4154A-1E2C-8B04-964F-84C521D0F15B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4496344" y="3836917"/>
            <a:ext cx="296863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8ED2060-EBEB-490E-9CFB-7B0FF41AB8DB}" type="datetime'''''''''''''''8''''''''.''''''''''''''''''''''''7'''''''''''">
              <a:rPr lang="en-US" altLang="en-US" sz="14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8.7</a:t>
            </a:fld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4" name="Text Placeholder 258">
            <a:extLst>
              <a:ext uri="{FF2B5EF4-FFF2-40B4-BE49-F238E27FC236}">
                <a16:creationId xmlns:a16="http://schemas.microsoft.com/office/drawing/2014/main" id="{07362600-FAED-3BE1-61DD-BD250C2F171F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4456656" y="4706867"/>
            <a:ext cx="296863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08B6999-1270-4027-962D-C26548EDDEA3}" type="datetime'''''''''''''''''''8''''''''''''.''''''''''''''''''5'">
              <a:rPr lang="en-US" altLang="en-US" sz="14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8.5</a:t>
            </a:fld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0" name="Text Placeholder 259">
            <a:extLst>
              <a:ext uri="{FF2B5EF4-FFF2-40B4-BE49-F238E27FC236}">
                <a16:creationId xmlns:a16="http://schemas.microsoft.com/office/drawing/2014/main" id="{001CE7FA-6A5A-7B67-EF97-EDBF0E394283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gray">
          <a:xfrm>
            <a:off x="3391444" y="5576817"/>
            <a:ext cx="296863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2F27E5F-27FD-425E-BBFC-614749B70DCC}" type="datetime'''4.''''''''''''2'''''''''''''">
              <a:rPr lang="en-US" altLang="en-US" sz="1400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4.2</a:t>
            </a:fld>
            <a:endParaRPr lang="de-DE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AF0C173-7235-07F5-56DD-839FE8336B12}"/>
              </a:ext>
            </a:extLst>
          </p:cNvPr>
          <p:cNvSpPr txBox="1"/>
          <p:nvPr/>
        </p:nvSpPr>
        <p:spPr>
          <a:xfrm>
            <a:off x="5626573" y="3646417"/>
            <a:ext cx="3549180" cy="430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Database services (extensive data volumes)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3220D53-E79C-F84F-175B-96789A41447E}"/>
              </a:ext>
            </a:extLst>
          </p:cNvPr>
          <p:cNvSpPr txBox="1"/>
          <p:nvPr/>
        </p:nvSpPr>
        <p:spPr>
          <a:xfrm>
            <a:off x="5626573" y="5359330"/>
            <a:ext cx="3549180" cy="688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>
                <a:latin typeface="Segoe UI" panose="020B0502040204020203" pitchFamily="34" charset="0"/>
                <a:cs typeface="Segoe UI" panose="020B0502040204020203" pitchFamily="34" charset="0"/>
              </a:rPr>
              <a:t>Advanced analytics for assessing player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>
                <a:latin typeface="Segoe UI" panose="020B0502040204020203" pitchFamily="34" charset="0"/>
                <a:cs typeface="Segoe UI" panose="020B0502040204020203" pitchFamily="34" charset="0"/>
              </a:rPr>
              <a:t>Database services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8E91F49-5E50-3789-DA22-2DD4F9203E52}"/>
              </a:ext>
            </a:extLst>
          </p:cNvPr>
          <p:cNvSpPr txBox="1"/>
          <p:nvPr/>
        </p:nvSpPr>
        <p:spPr>
          <a:xfrm>
            <a:off x="5626573" y="4503667"/>
            <a:ext cx="3549180" cy="430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>
                <a:latin typeface="Segoe UI" panose="020B0502040204020203" pitchFamily="34" charset="0"/>
                <a:cs typeface="Segoe UI" panose="020B0502040204020203" pitchFamily="34" charset="0"/>
              </a:rPr>
              <a:t>Improvement of coal discovery process with big data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5C0DC2C-15C7-F2FE-C4B8-17A27C8EA707}"/>
              </a:ext>
            </a:extLst>
          </p:cNvPr>
          <p:cNvSpPr txBox="1"/>
          <p:nvPr/>
        </p:nvSpPr>
        <p:spPr>
          <a:xfrm>
            <a:off x="5626573" y="1901755"/>
            <a:ext cx="3549180" cy="688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Consulting services for improved IT setup for efficient deliveries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Database services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E43D23E-CD59-E419-7854-7152DEF62D50}"/>
              </a:ext>
            </a:extLst>
          </p:cNvPr>
          <p:cNvSpPr txBox="1"/>
          <p:nvPr/>
        </p:nvSpPr>
        <p:spPr>
          <a:xfrm>
            <a:off x="5626573" y="2773292"/>
            <a:ext cx="3549180" cy="688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Optimization of steel production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Creation of new business models/optimized value chains</a:t>
            </a:r>
          </a:p>
        </p:txBody>
      </p:sp>
      <p:grpSp>
        <p:nvGrpSpPr>
          <p:cNvPr id="114" name="Moon 6">
            <a:extLst>
              <a:ext uri="{FF2B5EF4-FFF2-40B4-BE49-F238E27FC236}">
                <a16:creationId xmlns:a16="http://schemas.microsoft.com/office/drawing/2014/main" id="{87154D72-9FE1-E0EE-BCB1-C1959DDBE32C}"/>
              </a:ext>
            </a:extLst>
          </p:cNvPr>
          <p:cNvGrpSpPr>
            <a:grpSpLocks noChangeAspect="1"/>
          </p:cNvGrpSpPr>
          <p:nvPr>
            <p:custDataLst>
              <p:tags r:id="rId14"/>
            </p:custDataLst>
          </p:nvPr>
        </p:nvGrpSpPr>
        <p:grpSpPr>
          <a:xfrm>
            <a:off x="9562957" y="2038280"/>
            <a:ext cx="332077" cy="328613"/>
            <a:chOff x="759323" y="1270000"/>
            <a:chExt cx="256677" cy="254000"/>
          </a:xfrm>
          <a:solidFill>
            <a:srgbClr val="7F7F7F"/>
          </a:solidFill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C8B26BB9-2353-E6E6-1ECF-37DC3AD7D968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6" name="Arc 115">
              <a:extLst>
                <a:ext uri="{FF2B5EF4-FFF2-40B4-BE49-F238E27FC236}">
                  <a16:creationId xmlns:a16="http://schemas.microsoft.com/office/drawing/2014/main" id="{777E7780-C11F-FC23-2BBC-785622BD4B0B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59323" y="1270000"/>
              <a:ext cx="256677" cy="254000"/>
            </a:xfrm>
            <a:prstGeom prst="arc">
              <a:avLst>
                <a:gd name="adj1" fmla="val 16200000"/>
                <a:gd name="adj2" fmla="val 16200000"/>
              </a:avLst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9A5ED89-FF39-46DE-F012-7B49CC702323}"/>
              </a:ext>
            </a:extLst>
          </p:cNvPr>
          <p:cNvGrpSpPr/>
          <p:nvPr/>
        </p:nvGrpSpPr>
        <p:grpSpPr>
          <a:xfrm>
            <a:off x="9562957" y="2906647"/>
            <a:ext cx="332074" cy="339939"/>
            <a:chOff x="9562957" y="2906647"/>
            <a:chExt cx="332074" cy="339939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1A1100EA-1D36-C4B9-D437-C8E997AE5F1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9566423" y="2906647"/>
              <a:ext cx="328608" cy="328608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9" name="Arc 118">
              <a:extLst>
                <a:ext uri="{FF2B5EF4-FFF2-40B4-BE49-F238E27FC236}">
                  <a16:creationId xmlns:a16="http://schemas.microsoft.com/office/drawing/2014/main" id="{78EAABF4-8705-F4F9-38B5-01F791B3481A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9562957" y="2917978"/>
              <a:ext cx="332071" cy="328608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7F7F7F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1" name="Oval 120">
            <a:extLst>
              <a:ext uri="{FF2B5EF4-FFF2-40B4-BE49-F238E27FC236}">
                <a16:creationId xmlns:a16="http://schemas.microsoft.com/office/drawing/2014/main" id="{BFE7B582-A1AE-D755-EDD6-1D7E09CD811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9566417" y="3776592"/>
            <a:ext cx="328614" cy="328613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2" name="Arc 121">
            <a:extLst>
              <a:ext uri="{FF2B5EF4-FFF2-40B4-BE49-F238E27FC236}">
                <a16:creationId xmlns:a16="http://schemas.microsoft.com/office/drawing/2014/main" id="{C470BFF1-BC90-24EF-810A-EF4E12FDF53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9562957" y="3776592"/>
            <a:ext cx="332077" cy="328613"/>
          </a:xfrm>
          <a:prstGeom prst="arc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CEC3BA9-CC7A-8012-332E-5315E8CE3578}"/>
              </a:ext>
            </a:extLst>
          </p:cNvPr>
          <p:cNvGrpSpPr/>
          <p:nvPr/>
        </p:nvGrpSpPr>
        <p:grpSpPr>
          <a:xfrm>
            <a:off x="9562957" y="4644955"/>
            <a:ext cx="332077" cy="328613"/>
            <a:chOff x="9562957" y="4644955"/>
            <a:chExt cx="332077" cy="328613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EB9943E2-1C81-A87B-9D7C-C29992EF4FBD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9566420" y="4644955"/>
              <a:ext cx="328614" cy="328613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9821B392-CE76-E8B7-8B72-D2BCF33AF90C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562957" y="4644955"/>
              <a:ext cx="332077" cy="328613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rgbClr val="7F7F7F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7" name="Oval 126">
            <a:extLst>
              <a:ext uri="{FF2B5EF4-FFF2-40B4-BE49-F238E27FC236}">
                <a16:creationId xmlns:a16="http://schemas.microsoft.com/office/drawing/2014/main" id="{3B4D14C9-C774-9BAC-CF15-61CC606B774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566421" y="5513318"/>
            <a:ext cx="328612" cy="328612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8" name="Arc 127">
            <a:extLst>
              <a:ext uri="{FF2B5EF4-FFF2-40B4-BE49-F238E27FC236}">
                <a16:creationId xmlns:a16="http://schemas.microsoft.com/office/drawing/2014/main" id="{E9CEBEF1-2444-EAB0-72A6-38924FC81E3A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562958" y="5513317"/>
            <a:ext cx="332075" cy="328612"/>
          </a:xfrm>
          <a:prstGeom prst="arc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0" name="AutoShape 249">
            <a:extLst>
              <a:ext uri="{FF2B5EF4-FFF2-40B4-BE49-F238E27FC236}">
                <a16:creationId xmlns:a16="http://schemas.microsoft.com/office/drawing/2014/main" id="{D5EDD98B-AB4A-DE9C-5EC0-CDABFE767E16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0218740" y="2076380"/>
            <a:ext cx="0" cy="287338"/>
          </a:xfrm>
          <a:prstGeom prst="straightConnector1">
            <a:avLst/>
          </a:prstGeom>
          <a:noFill/>
          <a:ln w="9525">
            <a:solidFill>
              <a:srgbClr val="BFBFBF"/>
            </a:solidFill>
            <a:round/>
            <a:headEnd/>
            <a:tailEnd type="oval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AutoShape 249">
            <a:extLst>
              <a:ext uri="{FF2B5EF4-FFF2-40B4-BE49-F238E27FC236}">
                <a16:creationId xmlns:a16="http://schemas.microsoft.com/office/drawing/2014/main" id="{0530C064-3C30-4E3B-5843-919565D25D6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0218740" y="4669922"/>
            <a:ext cx="0" cy="287338"/>
          </a:xfrm>
          <a:prstGeom prst="straightConnector1">
            <a:avLst/>
          </a:prstGeom>
          <a:noFill/>
          <a:ln w="9525">
            <a:solidFill>
              <a:srgbClr val="BFBFBF"/>
            </a:solidFill>
            <a:round/>
            <a:headEnd/>
            <a:tailEnd type="oval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9385D4E1-E577-3869-DE97-2CD1DBF44D9E}"/>
              </a:ext>
            </a:extLst>
          </p:cNvPr>
          <p:cNvSpPr txBox="1"/>
          <p:nvPr/>
        </p:nvSpPr>
        <p:spPr>
          <a:xfrm>
            <a:off x="10533743" y="2174663"/>
            <a:ext cx="1223963" cy="34901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Serviços expressos e de correio </a:t>
            </a: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</a:t>
            </a: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indústria de mineração de carvão </a:t>
            </a: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devem ser </a:t>
            </a: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priorizados</a:t>
            </a: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como medidas potenciais de crescimento devido ao </a:t>
            </a:r>
            <a:r>
              <a:rPr lang="pt-BR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grande pool de receita </a:t>
            </a:r>
            <a:r>
              <a:rPr lang="pt-BR"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adequação estratégica
</a:t>
            </a:r>
            <a:endParaRPr lang="en-US" sz="14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9F2547B-677D-2FDC-C02C-CB732109CA2D}"/>
              </a:ext>
            </a:extLst>
          </p:cNvPr>
          <p:cNvGrpSpPr/>
          <p:nvPr/>
        </p:nvGrpSpPr>
        <p:grpSpPr>
          <a:xfrm>
            <a:off x="536575" y="2655817"/>
            <a:ext cx="9588499" cy="2598738"/>
            <a:chOff x="523874" y="2444750"/>
            <a:chExt cx="7145338" cy="2598738"/>
          </a:xfrm>
        </p:grpSpPr>
        <p:cxnSp>
          <p:nvCxnSpPr>
            <p:cNvPr id="134" name="AutoShape 249">
              <a:extLst>
                <a:ext uri="{FF2B5EF4-FFF2-40B4-BE49-F238E27FC236}">
                  <a16:creationId xmlns:a16="http://schemas.microsoft.com/office/drawing/2014/main" id="{18BB462D-1F77-B745-AE6D-391C3387F4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3874" y="2444750"/>
              <a:ext cx="7145338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6" name="AutoShape 249">
              <a:extLst>
                <a:ext uri="{FF2B5EF4-FFF2-40B4-BE49-F238E27FC236}">
                  <a16:creationId xmlns:a16="http://schemas.microsoft.com/office/drawing/2014/main" id="{8F5D659D-0B6C-A8F7-6689-D278DDFF09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3874" y="5043488"/>
              <a:ext cx="7145338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7" name="AutoShape 249">
              <a:extLst>
                <a:ext uri="{FF2B5EF4-FFF2-40B4-BE49-F238E27FC236}">
                  <a16:creationId xmlns:a16="http://schemas.microsoft.com/office/drawing/2014/main" id="{23ACEA1A-AC86-F0D9-7737-B63B33FF86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3874" y="4176713"/>
              <a:ext cx="7145338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8" name="AutoShape 249">
              <a:extLst>
                <a:ext uri="{FF2B5EF4-FFF2-40B4-BE49-F238E27FC236}">
                  <a16:creationId xmlns:a16="http://schemas.microsoft.com/office/drawing/2014/main" id="{37F91852-9DC9-CF8E-C062-2E33A499CC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3874" y="3309938"/>
              <a:ext cx="7145338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" name="Rectangle 29">
            <a:extLst>
              <a:ext uri="{FF2B5EF4-FFF2-40B4-BE49-F238E27FC236}">
                <a16:creationId xmlns:a16="http://schemas.microsoft.com/office/drawing/2014/main" id="{134E1D24-8014-53A5-C1A8-0A0CCEA9F1FE}"/>
              </a:ext>
            </a:extLst>
          </p:cNvPr>
          <p:cNvSpPr/>
          <p:nvPr/>
        </p:nvSpPr>
        <p:spPr>
          <a:xfrm>
            <a:off x="10362409" y="2038279"/>
            <a:ext cx="1443540" cy="3475037"/>
          </a:xfrm>
          <a:prstGeom prst="rect">
            <a:avLst/>
          </a:prstGeom>
          <a:noFill/>
          <a:ln w="1270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err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1804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2" imgW="344" imgH="345" progId="TCLayout.ActiveDocument.1">
                  <p:embed/>
                </p:oleObj>
              </mc:Choice>
              <mc:Fallback>
                <p:oleObj name="Slide do think-cell" r:id="rId12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Integrado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A66ED-B3D5-E56A-CD8F-ABC08766CE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
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F8EC5E-1524-CE8D-55A0-D8698F446B95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080250" y="4687889"/>
            <a:ext cx="0" cy="506413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F56004C-72B1-BD63-8D58-101346E94CF9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772025" y="2408239"/>
            <a:ext cx="0" cy="506413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551BB46-112B-3CD3-18F5-41BB42A2C25E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6864350" y="3548064"/>
            <a:ext cx="0" cy="506413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2" name="Chart 141">
            <a:extLst>
              <a:ext uri="{FF2B5EF4-FFF2-40B4-BE49-F238E27FC236}">
                <a16:creationId xmlns:a16="http://schemas.microsoft.com/office/drawing/2014/main" id="{E2365042-1BD6-B766-2ACE-761B3AE11B44}"/>
              </a:ext>
            </a:extLst>
          </p:cNvPr>
          <p:cNvGraphicFramePr/>
          <p:nvPr>
            <p:custDataLst>
              <p:tags r:id="rId6"/>
            </p:custDataLst>
          </p:nvPr>
        </p:nvGraphicFramePr>
        <p:xfrm>
          <a:off x="1946275" y="1439863"/>
          <a:ext cx="5526088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94" name="Text Placeholder 29">
            <a:extLst>
              <a:ext uri="{FF2B5EF4-FFF2-40B4-BE49-F238E27FC236}">
                <a16:creationId xmlns:a16="http://schemas.microsoft.com/office/drawing/2014/main" id="{04EABDBF-AD15-E4A1-1406-30CECE10F693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555625" y="1878013"/>
            <a:ext cx="1300163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3AED0BF-D820-4371-90CB-69A33B2708E4}" type="datetime'C''''''urren''t''''''''ly'' ''''served&#10;''''b''y ''c''ompany'">
              <a:rPr lang="en-US" altLang="en-US" sz="1400" b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Currently served
by company</a:t>
            </a:fld>
            <a:endParaRPr lang="en-SG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95" name="Text Placeholder 30">
            <a:extLst>
              <a:ext uri="{FF2B5EF4-FFF2-40B4-BE49-F238E27FC236}">
                <a16:creationId xmlns:a16="http://schemas.microsoft.com/office/drawing/2014/main" id="{968E8421-AB07-7E7E-A41D-920DC9DCC8C5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555626" y="3017838"/>
            <a:ext cx="1355725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4D4C9C2-E59F-4C14-98DB-F4B03B1EDE74}" type="datetime'Lacking re''l''''e''va''''n''''t''''&#10;co''m''''pany offer''ing'">
              <a:rPr lang="en-US" altLang="en-US" sz="1400" b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Lacking relevant
company offering</a:t>
            </a:fld>
            <a:endParaRPr lang="en-SG" sz="1400" b="1" baseline="300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93" name="Text Placeholder 31">
            <a:extLst>
              <a:ext uri="{FF2B5EF4-FFF2-40B4-BE49-F238E27FC236}">
                <a16:creationId xmlns:a16="http://schemas.microsoft.com/office/drawing/2014/main" id="{AC0DF84F-C46B-00B6-3697-3C8C7AD3723C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555625" y="5403850"/>
            <a:ext cx="374650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03CA3F5-488A-4E69-A75C-C93DC628B52A}" type="datetime'''''''''''''T''''''''''''''''''ota''''''''''''''''''''''l'''">
              <a:rPr lang="en-US" altLang="en-US" sz="1400" b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Total</a:t>
            </a:fld>
            <a:endParaRPr lang="en-SG" sz="1400" b="1" baseline="300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96" name="Text Placeholder 32">
            <a:extLst>
              <a:ext uri="{FF2B5EF4-FFF2-40B4-BE49-F238E27FC236}">
                <a16:creationId xmlns:a16="http://schemas.microsoft.com/office/drawing/2014/main" id="{26FF1603-DEE6-39BD-B3C6-5C78972892B8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555625" y="4157663"/>
            <a:ext cx="1054100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9342CA9-C9D3-4F8F-B1B7-50A88EBCD52C}" type="datetime'''P''ot''''''enti''al'' &#10;O''''p''p''''o''rt''unitie''''''''s'">
              <a:rPr lang="en-US" altLang="en-US" sz="1400" b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Potential 
Opportunities</a:t>
            </a:fld>
            <a:endParaRPr lang="en-SG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B128CAC-F8AB-7B50-5BA5-2D5187CEAAFA}"/>
              </a:ext>
            </a:extLst>
          </p:cNvPr>
          <p:cNvGrpSpPr/>
          <p:nvPr/>
        </p:nvGrpSpPr>
        <p:grpSpPr>
          <a:xfrm>
            <a:off x="563563" y="1156063"/>
            <a:ext cx="7896716" cy="233902"/>
            <a:chOff x="3167844" y="845806"/>
            <a:chExt cx="1736746" cy="233902"/>
          </a:xfrm>
        </p:grpSpPr>
        <p:cxnSp>
          <p:nvCxnSpPr>
            <p:cNvPr id="99" name="AutoShape 249">
              <a:extLst>
                <a:ext uri="{FF2B5EF4-FFF2-40B4-BE49-F238E27FC236}">
                  <a16:creationId xmlns:a16="http://schemas.microsoft.com/office/drawing/2014/main" id="{0DE9716A-96D6-7510-99DF-1E94BD1062A6}"/>
                </a:ext>
              </a:extLst>
            </p:cNvPr>
            <p:cNvCxnSpPr>
              <a:cxnSpLocks noChangeShapeType="1"/>
              <a:stCxn id="100" idx="4"/>
              <a:endCxn id="100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0" name="AutoShape 250">
              <a:extLst>
                <a:ext uri="{FF2B5EF4-FFF2-40B4-BE49-F238E27FC236}">
                  <a16:creationId xmlns:a16="http://schemas.microsoft.com/office/drawing/2014/main" id="{4493603F-12ED-01F8-F866-69C963CB5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845806"/>
              <a:ext cx="1736746" cy="23390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Industries</a:t>
              </a:r>
              <a:r>
                <a:rPr lang="en-US" sz="1400" b="1">
                  <a:solidFill>
                    <a:schemeClr val="tx2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, </a:t>
              </a:r>
              <a:r>
                <a:rPr lang="en-US" sz="140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Market volume, EUR bn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9FCC6AC-698C-DF69-6348-359C4CC81A9F}"/>
              </a:ext>
            </a:extLst>
          </p:cNvPr>
          <p:cNvGrpSpPr/>
          <p:nvPr/>
        </p:nvGrpSpPr>
        <p:grpSpPr>
          <a:xfrm>
            <a:off x="8876139" y="1156063"/>
            <a:ext cx="2796972" cy="233902"/>
            <a:chOff x="3167844" y="845806"/>
            <a:chExt cx="1736746" cy="233902"/>
          </a:xfrm>
        </p:grpSpPr>
        <p:cxnSp>
          <p:nvCxnSpPr>
            <p:cNvPr id="102" name="AutoShape 249">
              <a:extLst>
                <a:ext uri="{FF2B5EF4-FFF2-40B4-BE49-F238E27FC236}">
                  <a16:creationId xmlns:a16="http://schemas.microsoft.com/office/drawing/2014/main" id="{95DA28EA-CE5F-8AD9-130C-B6DB933F63AC}"/>
                </a:ext>
              </a:extLst>
            </p:cNvPr>
            <p:cNvCxnSpPr>
              <a:cxnSpLocks noChangeShapeType="1"/>
              <a:stCxn id="103" idx="4"/>
              <a:endCxn id="103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3" name="AutoShape 250">
              <a:extLst>
                <a:ext uri="{FF2B5EF4-FFF2-40B4-BE49-F238E27FC236}">
                  <a16:creationId xmlns:a16="http://schemas.microsoft.com/office/drawing/2014/main" id="{A657DA02-CC85-6131-EDBC-E0DD51B54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845806"/>
              <a:ext cx="1736746" cy="23390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Details</a:t>
              </a:r>
              <a:endParaRPr lang="en-US" sz="1400">
                <a:solidFill>
                  <a:srgbClr val="0F6FC6"/>
                </a:solidFill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9264A606-A1B3-B273-EB01-A53DC856E618}"/>
              </a:ext>
            </a:extLst>
          </p:cNvPr>
          <p:cNvSpPr txBox="1"/>
          <p:nvPr/>
        </p:nvSpPr>
        <p:spPr>
          <a:xfrm>
            <a:off x="8876138" y="1522413"/>
            <a:ext cx="279697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Company could capture </a:t>
            </a:r>
            <a:r>
              <a:rPr lang="en-US" sz="1400" b="1">
                <a:solidFill>
                  <a:srgbClr val="0F6F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growth opportunities</a:t>
            </a:r>
            <a:r>
              <a:rPr lang="en-US" sz="1400">
                <a:solidFill>
                  <a:srgbClr val="0F6F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by addressing the following </a:t>
            </a:r>
            <a:r>
              <a:rPr lang="en-US" sz="1400" b="1">
                <a:solidFill>
                  <a:srgbClr val="0F6F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industries: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Express and courier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Steel producers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Coal mining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Cable and satellites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Segoe UI" panose="020B0502040204020203" pitchFamily="34" charset="0"/>
                <a:cs typeface="Segoe UI" panose="020B0502040204020203" pitchFamily="34" charset="0"/>
              </a:rPr>
              <a:t>Casinos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4154F7F-D427-B1ED-9ED5-97154CB89665}"/>
              </a:ext>
            </a:extLst>
          </p:cNvPr>
          <p:cNvGrpSpPr/>
          <p:nvPr/>
        </p:nvGrpSpPr>
        <p:grpSpPr>
          <a:xfrm>
            <a:off x="8876140" y="4995863"/>
            <a:ext cx="2540006" cy="879475"/>
            <a:chOff x="6285099" y="4014128"/>
            <a:chExt cx="2539272" cy="880233"/>
          </a:xfrm>
        </p:grpSpPr>
        <p:sp>
          <p:nvSpPr>
            <p:cNvPr id="106" name="AutoShape 250">
              <a:extLst>
                <a:ext uri="{FF2B5EF4-FFF2-40B4-BE49-F238E27FC236}">
                  <a16:creationId xmlns:a16="http://schemas.microsoft.com/office/drawing/2014/main" id="{7F076B31-668B-E213-4076-0619B537C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8895" y="4014128"/>
              <a:ext cx="1895476" cy="880233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18280" anchor="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Further assessment required based on </a:t>
              </a:r>
              <a:r>
                <a:rPr lang="en-US" sz="1400" b="1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revenue opportunity </a:t>
              </a:r>
              <a:r>
                <a:rPr lang="en-US" sz="1400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and </a:t>
              </a:r>
              <a:r>
                <a:rPr lang="en-US" sz="1400" b="1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strategic fit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9593F0E-4C26-03DD-27AB-C4952AB70A60}"/>
                </a:ext>
              </a:extLst>
            </p:cNvPr>
            <p:cNvSpPr/>
            <p:nvPr/>
          </p:nvSpPr>
          <p:spPr bwMode="gray">
            <a:xfrm>
              <a:off x="6285099" y="4039528"/>
              <a:ext cx="432048" cy="432048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solidFill>
                <a:schemeClr val="accent1"/>
              </a:solidFill>
              <a:prstDash val="solid"/>
            </a:ln>
            <a:effectLst>
              <a:outerShdw sx="110000" sy="110000" algn="ctr" rotWithShape="0">
                <a:srgbClr val="FFFFFF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900" b="1" kern="0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!</a:t>
              </a:r>
              <a:endPara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0F6FC6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AE88B98-61CB-14C9-6106-580F14CF4F62}"/>
              </a:ext>
            </a:extLst>
          </p:cNvPr>
          <p:cNvGrpSpPr/>
          <p:nvPr/>
        </p:nvGrpSpPr>
        <p:grpSpPr>
          <a:xfrm>
            <a:off x="7688753" y="5303838"/>
            <a:ext cx="771525" cy="431800"/>
            <a:chOff x="4644008" y="1772816"/>
            <a:chExt cx="864096" cy="432000"/>
          </a:xfrm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C4579769-5573-931A-E9B1-C0C780DE1F91}"/>
                </a:ext>
              </a:extLst>
            </p:cNvPr>
            <p:cNvSpPr/>
            <p:nvPr/>
          </p:nvSpPr>
          <p:spPr>
            <a:xfrm>
              <a:off x="4644008" y="1772816"/>
              <a:ext cx="864096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BD3B738-83EB-521A-F677-11DAF2EBC512}"/>
                </a:ext>
              </a:extLst>
            </p:cNvPr>
            <p:cNvSpPr txBox="1"/>
            <p:nvPr/>
          </p:nvSpPr>
          <p:spPr>
            <a:xfrm>
              <a:off x="4716055" y="1881094"/>
              <a:ext cx="720000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49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94641A3-3E81-1082-CA14-BAC29BDD8A07}"/>
              </a:ext>
            </a:extLst>
          </p:cNvPr>
          <p:cNvGrpSpPr/>
          <p:nvPr/>
        </p:nvGrpSpPr>
        <p:grpSpPr>
          <a:xfrm>
            <a:off x="7688753" y="1887538"/>
            <a:ext cx="771525" cy="431800"/>
            <a:chOff x="4644008" y="1772816"/>
            <a:chExt cx="864096" cy="432000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A5BBB3E-9856-B3F6-CE3C-9DF33603D919}"/>
                </a:ext>
              </a:extLst>
            </p:cNvPr>
            <p:cNvSpPr/>
            <p:nvPr/>
          </p:nvSpPr>
          <p:spPr>
            <a:xfrm>
              <a:off x="4644008" y="1772816"/>
              <a:ext cx="864096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F45BC4F-A161-8CEF-5A55-19A6F49F9D6D}"/>
                </a:ext>
              </a:extLst>
            </p:cNvPr>
            <p:cNvSpPr txBox="1"/>
            <p:nvPr/>
          </p:nvSpPr>
          <p:spPr>
            <a:xfrm>
              <a:off x="4716055" y="1881094"/>
              <a:ext cx="720000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17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FF2C238-69A8-6506-4A68-891CCD973F7A}"/>
              </a:ext>
            </a:extLst>
          </p:cNvPr>
          <p:cNvGrpSpPr/>
          <p:nvPr/>
        </p:nvGrpSpPr>
        <p:grpSpPr>
          <a:xfrm>
            <a:off x="7688753" y="3025775"/>
            <a:ext cx="771525" cy="431800"/>
            <a:chOff x="4644008" y="1772816"/>
            <a:chExt cx="864096" cy="432000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291B8D8-52C3-A2B7-0DCD-257CF3BF8F52}"/>
                </a:ext>
              </a:extLst>
            </p:cNvPr>
            <p:cNvSpPr/>
            <p:nvPr/>
          </p:nvSpPr>
          <p:spPr>
            <a:xfrm>
              <a:off x="4644008" y="1772816"/>
              <a:ext cx="864096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05C5A2A-C632-0CA1-1377-948FCB9B9F6B}"/>
                </a:ext>
              </a:extLst>
            </p:cNvPr>
            <p:cNvSpPr txBox="1"/>
            <p:nvPr/>
          </p:nvSpPr>
          <p:spPr>
            <a:xfrm>
              <a:off x="4716055" y="1881094"/>
              <a:ext cx="720000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27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2CDE10B-84AA-C07C-8CC4-754B766221AD}"/>
              </a:ext>
            </a:extLst>
          </p:cNvPr>
          <p:cNvGrpSpPr/>
          <p:nvPr/>
        </p:nvGrpSpPr>
        <p:grpSpPr>
          <a:xfrm>
            <a:off x="7688753" y="4165600"/>
            <a:ext cx="771525" cy="431800"/>
            <a:chOff x="4644008" y="1772816"/>
            <a:chExt cx="864096" cy="432000"/>
          </a:xfrm>
          <a:solidFill>
            <a:srgbClr val="7F7F7F"/>
          </a:solidFill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D6320628-DD2A-5496-51DE-21451AF3AEA7}"/>
                </a:ext>
              </a:extLst>
            </p:cNvPr>
            <p:cNvSpPr/>
            <p:nvPr/>
          </p:nvSpPr>
          <p:spPr>
            <a:xfrm>
              <a:off x="4644008" y="1772816"/>
              <a:ext cx="864096" cy="43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A6D6195-711F-40F5-658C-47141301009F}"/>
                </a:ext>
              </a:extLst>
            </p:cNvPr>
            <p:cNvSpPr txBox="1"/>
            <p:nvPr/>
          </p:nvSpPr>
          <p:spPr>
            <a:xfrm>
              <a:off x="4716055" y="1881094"/>
              <a:ext cx="720000" cy="215444"/>
            </a:xfrm>
            <a:prstGeom prst="rect">
              <a:avLst/>
            </a:prstGeom>
            <a:grpFill/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4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A997472-362A-C8A7-0173-EA684423086F}"/>
              </a:ext>
            </a:extLst>
          </p:cNvPr>
          <p:cNvGrpSpPr/>
          <p:nvPr/>
        </p:nvGrpSpPr>
        <p:grpSpPr>
          <a:xfrm>
            <a:off x="6701502" y="1086819"/>
            <a:ext cx="379413" cy="212725"/>
            <a:chOff x="4644008" y="1772816"/>
            <a:chExt cx="864096" cy="432000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FB730B1F-B21E-D97F-1149-399B2D433F0B}"/>
                </a:ext>
              </a:extLst>
            </p:cNvPr>
            <p:cNvSpPr/>
            <p:nvPr/>
          </p:nvSpPr>
          <p:spPr>
            <a:xfrm>
              <a:off x="4644008" y="1772816"/>
              <a:ext cx="864096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430801B-0E44-517B-9E67-62E371802CD0}"/>
                </a:ext>
              </a:extLst>
            </p:cNvPr>
            <p:cNvSpPr txBox="1"/>
            <p:nvPr/>
          </p:nvSpPr>
          <p:spPr>
            <a:xfrm>
              <a:off x="4716055" y="1865705"/>
              <a:ext cx="720000" cy="2821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9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30C9CA5A-0154-402C-19EE-7151DAACCB97}"/>
              </a:ext>
            </a:extLst>
          </p:cNvPr>
          <p:cNvSpPr txBox="1"/>
          <p:nvPr/>
        </p:nvSpPr>
        <p:spPr>
          <a:xfrm>
            <a:off x="7158702" y="1109044"/>
            <a:ext cx="139206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1100">
                <a:latin typeface="Segoe UI" panose="020B0502040204020203" pitchFamily="34" charset="0"/>
                <a:cs typeface="Segoe UI" panose="020B0502040204020203" pitchFamily="34" charset="0"/>
              </a:rPr>
              <a:t>Number of industries</a:t>
            </a:r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DF40DAA8-4A39-2F70-FE40-6BC82E4A61E9}"/>
              </a:ext>
            </a:extLst>
          </p:cNvPr>
          <p:cNvSpPr/>
          <p:nvPr/>
        </p:nvSpPr>
        <p:spPr>
          <a:xfrm>
            <a:off x="426720" y="905421"/>
            <a:ext cx="11357946" cy="5258835"/>
          </a:xfrm>
          <a:custGeom>
            <a:avLst/>
            <a:gdLst>
              <a:gd name="connsiteX0" fmla="*/ 8249948 w 11357946"/>
              <a:gd name="connsiteY0" fmla="*/ 0 h 5258835"/>
              <a:gd name="connsiteX1" fmla="*/ 11357946 w 11357946"/>
              <a:gd name="connsiteY1" fmla="*/ 0 h 5258835"/>
              <a:gd name="connsiteX2" fmla="*/ 11357946 w 11357946"/>
              <a:gd name="connsiteY2" fmla="*/ 5258835 h 5258835"/>
              <a:gd name="connsiteX3" fmla="*/ 8249948 w 11357946"/>
              <a:gd name="connsiteY3" fmla="*/ 5258835 h 5258835"/>
              <a:gd name="connsiteX4" fmla="*/ 8249948 w 11357946"/>
              <a:gd name="connsiteY4" fmla="*/ 4072322 h 5258835"/>
              <a:gd name="connsiteX5" fmla="*/ 0 w 11357946"/>
              <a:gd name="connsiteY5" fmla="*/ 4072322 h 5258835"/>
              <a:gd name="connsiteX6" fmla="*/ 0 w 11357946"/>
              <a:gd name="connsiteY6" fmla="*/ 2890724 h 5258835"/>
              <a:gd name="connsiteX7" fmla="*/ 8249948 w 11357946"/>
              <a:gd name="connsiteY7" fmla="*/ 2890724 h 525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57946" h="5258835">
                <a:moveTo>
                  <a:pt x="8249948" y="0"/>
                </a:moveTo>
                <a:lnTo>
                  <a:pt x="11357946" y="0"/>
                </a:lnTo>
                <a:lnTo>
                  <a:pt x="11357946" y="5258835"/>
                </a:lnTo>
                <a:lnTo>
                  <a:pt x="8249948" y="5258835"/>
                </a:lnTo>
                <a:lnTo>
                  <a:pt x="8249948" y="4072322"/>
                </a:lnTo>
                <a:lnTo>
                  <a:pt x="0" y="4072322"/>
                </a:lnTo>
                <a:lnTo>
                  <a:pt x="0" y="2890724"/>
                </a:lnTo>
                <a:lnTo>
                  <a:pt x="8249948" y="2890724"/>
                </a:lnTo>
                <a:close/>
              </a:path>
            </a:pathLst>
          </a:custGeom>
          <a:no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4205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3" imgW="344" imgH="345" progId="TCLayout.ActiveDocument.1">
                  <p:embed/>
                </p:oleObj>
              </mc:Choice>
              <mc:Fallback>
                <p:oleObj name="Slide do think-cell" r:id="rId13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7FE52-E1B3-4B6B-8CA0-4B7EF9E430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B1C6C0-191C-40CF-84D4-50BF0AA51CFD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36A57-88E9-4D02-B9DB-589801AC6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Integrado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A66ED-B3D5-E56A-CD8F-ABC08766CE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Páginas de exemplo
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0F8EC5E-1524-CE8D-55A0-D8698F446B95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080250" y="4687889"/>
            <a:ext cx="0" cy="506413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F56004C-72B1-BD63-8D58-101346E94CF9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772025" y="2408239"/>
            <a:ext cx="0" cy="506413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551BB46-112B-3CD3-18F5-41BB42A2C25E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6864350" y="3548064"/>
            <a:ext cx="0" cy="506413"/>
          </a:xfrm>
          <a:prstGeom prst="line">
            <a:avLst/>
          </a:prstGeom>
          <a:ln w="3175">
            <a:solidFill>
              <a:schemeClr val="tx1"/>
            </a:solidFill>
            <a:prstDash val="lg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2" name="Chart 141">
            <a:extLst>
              <a:ext uri="{FF2B5EF4-FFF2-40B4-BE49-F238E27FC236}">
                <a16:creationId xmlns:a16="http://schemas.microsoft.com/office/drawing/2014/main" id="{E2365042-1BD6-B766-2ACE-761B3AE11B44}"/>
              </a:ext>
            </a:extLst>
          </p:cNvPr>
          <p:cNvGraphicFramePr/>
          <p:nvPr>
            <p:custDataLst>
              <p:tags r:id="rId6"/>
            </p:custDataLst>
          </p:nvPr>
        </p:nvGraphicFramePr>
        <p:xfrm>
          <a:off x="1946275" y="1439863"/>
          <a:ext cx="5526088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94" name="Text Placeholder 29">
            <a:extLst>
              <a:ext uri="{FF2B5EF4-FFF2-40B4-BE49-F238E27FC236}">
                <a16:creationId xmlns:a16="http://schemas.microsoft.com/office/drawing/2014/main" id="{04EABDBF-AD15-E4A1-1406-30CECE10F693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07334" y="1878013"/>
            <a:ext cx="1300163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Atualmente servido
pela empresa</a:t>
            </a:r>
            <a:endParaRPr lang="pt-BR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95" name="Text Placeholder 30">
            <a:extLst>
              <a:ext uri="{FF2B5EF4-FFF2-40B4-BE49-F238E27FC236}">
                <a16:creationId xmlns:a16="http://schemas.microsoft.com/office/drawing/2014/main" id="{968E8421-AB07-7E7E-A41D-920DC9DCC8C5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414948" y="3032125"/>
            <a:ext cx="1355725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Falta relevância
oferta da empresa</a:t>
            </a:r>
            <a:endParaRPr lang="en-SG" sz="1400" b="1" baseline="300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93" name="Text Placeholder 31">
            <a:extLst>
              <a:ext uri="{FF2B5EF4-FFF2-40B4-BE49-F238E27FC236}">
                <a16:creationId xmlns:a16="http://schemas.microsoft.com/office/drawing/2014/main" id="{AC0DF84F-C46B-00B6-3697-3C8C7AD3723C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555625" y="5403850"/>
            <a:ext cx="374650" cy="21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03CA3F5-488A-4E69-A75C-C93DC628B52A}" type="datetime'''''''''''''T''''''''''''''''''ota''''''''''''''''''''''l'''">
              <a:rPr lang="en-US" altLang="en-US" sz="1400" b="1" smtClean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Total</a:t>
            </a:fld>
            <a:endParaRPr lang="en-SG" sz="1400" b="1" baseline="3000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96" name="Text Placeholder 32">
            <a:extLst>
              <a:ext uri="{FF2B5EF4-FFF2-40B4-BE49-F238E27FC236}">
                <a16:creationId xmlns:a16="http://schemas.microsoft.com/office/drawing/2014/main" id="{26FF1603-DEE6-39BD-B3C6-5C78972892B8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555624" y="4157663"/>
            <a:ext cx="1797831" cy="42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de-DE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Oportunidades 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 sz="14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potenciais</a:t>
            </a:r>
            <a:endParaRPr lang="pt-BR" sz="1400" b="1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B128CAC-F8AB-7B50-5BA5-2D5187CEAAFA}"/>
              </a:ext>
            </a:extLst>
          </p:cNvPr>
          <p:cNvGrpSpPr/>
          <p:nvPr/>
        </p:nvGrpSpPr>
        <p:grpSpPr>
          <a:xfrm>
            <a:off x="563563" y="1156063"/>
            <a:ext cx="7896716" cy="233902"/>
            <a:chOff x="3167844" y="845806"/>
            <a:chExt cx="1736746" cy="233902"/>
          </a:xfrm>
        </p:grpSpPr>
        <p:cxnSp>
          <p:nvCxnSpPr>
            <p:cNvPr id="99" name="AutoShape 249">
              <a:extLst>
                <a:ext uri="{FF2B5EF4-FFF2-40B4-BE49-F238E27FC236}">
                  <a16:creationId xmlns:a16="http://schemas.microsoft.com/office/drawing/2014/main" id="{0DE9716A-96D6-7510-99DF-1E94BD1062A6}"/>
                </a:ext>
              </a:extLst>
            </p:cNvPr>
            <p:cNvCxnSpPr>
              <a:cxnSpLocks noChangeShapeType="1"/>
              <a:stCxn id="100" idx="4"/>
              <a:endCxn id="100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0" name="AutoShape 250">
              <a:extLst>
                <a:ext uri="{FF2B5EF4-FFF2-40B4-BE49-F238E27FC236}">
                  <a16:creationId xmlns:a16="http://schemas.microsoft.com/office/drawing/2014/main" id="{4493603F-12ED-01F8-F866-69C963CB5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845806"/>
              <a:ext cx="1736746" cy="23390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400" b="1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Indústrias</a:t>
              </a:r>
              <a:r>
                <a:rPr lang="pt-BR" sz="1400" b="1">
                  <a:solidFill>
                    <a:schemeClr val="tx2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, </a:t>
              </a:r>
              <a:r>
                <a:rPr lang="pt-BR" sz="1400">
                  <a:solidFill>
                    <a:schemeClr val="bg1">
                      <a:lumMod val="50000"/>
                    </a:schemeClr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Volume de mercado, Bilhões de euros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9FCC6AC-698C-DF69-6348-359C4CC81A9F}"/>
              </a:ext>
            </a:extLst>
          </p:cNvPr>
          <p:cNvGrpSpPr/>
          <p:nvPr/>
        </p:nvGrpSpPr>
        <p:grpSpPr>
          <a:xfrm>
            <a:off x="8876139" y="1156063"/>
            <a:ext cx="2796972" cy="233902"/>
            <a:chOff x="3167844" y="845806"/>
            <a:chExt cx="1736746" cy="233902"/>
          </a:xfrm>
        </p:grpSpPr>
        <p:cxnSp>
          <p:nvCxnSpPr>
            <p:cNvPr id="102" name="AutoShape 249">
              <a:extLst>
                <a:ext uri="{FF2B5EF4-FFF2-40B4-BE49-F238E27FC236}">
                  <a16:creationId xmlns:a16="http://schemas.microsoft.com/office/drawing/2014/main" id="{95DA28EA-CE5F-8AD9-130C-B6DB933F63AC}"/>
                </a:ext>
              </a:extLst>
            </p:cNvPr>
            <p:cNvCxnSpPr>
              <a:cxnSpLocks noChangeShapeType="1"/>
              <a:stCxn id="103" idx="4"/>
              <a:endCxn id="103" idx="6"/>
            </p:cNvCxnSpPr>
            <p:nvPr/>
          </p:nvCxnSpPr>
          <p:spPr bwMode="auto">
            <a:xfrm>
              <a:off x="3167844" y="1079708"/>
              <a:ext cx="1736746" cy="0"/>
            </a:xfrm>
            <a:prstGeom prst="straightConnector1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3" name="AutoShape 250">
              <a:extLst>
                <a:ext uri="{FF2B5EF4-FFF2-40B4-BE49-F238E27FC236}">
                  <a16:creationId xmlns:a16="http://schemas.microsoft.com/office/drawing/2014/main" id="{A657DA02-CC85-6131-EDBC-E0DD51B54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7844" y="845806"/>
              <a:ext cx="1736746" cy="23390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0" anchor="b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Details</a:t>
              </a:r>
              <a:endParaRPr lang="en-US" sz="1400">
                <a:solidFill>
                  <a:srgbClr val="0F6FC6"/>
                </a:solidFill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9264A606-A1B3-B273-EB01-A53DC856E618}"/>
              </a:ext>
            </a:extLst>
          </p:cNvPr>
          <p:cNvSpPr txBox="1"/>
          <p:nvPr/>
        </p:nvSpPr>
        <p:spPr>
          <a:xfrm>
            <a:off x="8876138" y="1522413"/>
            <a:ext cx="279697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A empresa poderia capturar </a:t>
            </a:r>
            <a:r>
              <a:rPr lang="pt-BR" sz="1400" b="1">
                <a:solidFill>
                  <a:srgbClr val="0F6F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oportunidades de crescimento </a:t>
            </a: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abordando os </a:t>
            </a:r>
            <a:r>
              <a:rPr lang="pt-BR" sz="1400" b="1">
                <a:solidFill>
                  <a:srgbClr val="0F6F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seguintes setores</a:t>
            </a:r>
            <a:r>
              <a:rPr lang="en-US" sz="1400" b="1">
                <a:solidFill>
                  <a:srgbClr val="0F6FC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>
                <a:latin typeface="Segoe UI" panose="020B0502040204020203" pitchFamily="34" charset="0"/>
                <a:cs typeface="Segoe UI" panose="020B0502040204020203" pitchFamily="34" charset="0"/>
              </a:rPr>
              <a:t>Serviços de expresso e correio
Produtores de aço
Mineração de carvão
Cabo e satélites
Casinos</a:t>
            </a:r>
            <a:endParaRPr lang="en-US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4154F7F-D427-B1ED-9ED5-97154CB89665}"/>
              </a:ext>
            </a:extLst>
          </p:cNvPr>
          <p:cNvGrpSpPr/>
          <p:nvPr/>
        </p:nvGrpSpPr>
        <p:grpSpPr>
          <a:xfrm>
            <a:off x="8876140" y="4995863"/>
            <a:ext cx="2540006" cy="1311120"/>
            <a:chOff x="6285099" y="4014128"/>
            <a:chExt cx="2539272" cy="1312250"/>
          </a:xfrm>
        </p:grpSpPr>
        <p:sp>
          <p:nvSpPr>
            <p:cNvPr id="106" name="AutoShape 250">
              <a:extLst>
                <a:ext uri="{FF2B5EF4-FFF2-40B4-BE49-F238E27FC236}">
                  <a16:creationId xmlns:a16="http://schemas.microsoft.com/office/drawing/2014/main" id="{7F076B31-668B-E213-4076-0619B537C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8895" y="4014128"/>
              <a:ext cx="1895476" cy="131225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18280" anchor="t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pt-BR" sz="1400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Avaliação necessária com base na </a:t>
              </a:r>
              <a:r>
                <a:rPr lang="pt-BR" sz="1400" b="1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oportunidade de receita e adequação estratégica</a:t>
              </a:r>
              <a:r>
                <a:rPr lang="pt-BR" sz="1400"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
</a:t>
              </a:r>
              <a:endParaRPr lang="en-US" sz="1400" b="1">
                <a:solidFill>
                  <a:srgbClr val="0F6FC6"/>
                </a:solidFill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19593F0E-4C26-03DD-27AB-C4952AB70A60}"/>
                </a:ext>
              </a:extLst>
            </p:cNvPr>
            <p:cNvSpPr/>
            <p:nvPr/>
          </p:nvSpPr>
          <p:spPr bwMode="gray">
            <a:xfrm>
              <a:off x="6285099" y="4039528"/>
              <a:ext cx="432048" cy="432048"/>
            </a:xfrm>
            <a:prstGeom prst="ellipse">
              <a:avLst/>
            </a:prstGeom>
            <a:solidFill>
              <a:srgbClr val="FFFFFF"/>
            </a:solidFill>
            <a:ln w="28575" cap="flat" cmpd="sng" algn="ctr">
              <a:solidFill>
                <a:schemeClr val="accent1"/>
              </a:solidFill>
              <a:prstDash val="solid"/>
            </a:ln>
            <a:effectLst>
              <a:outerShdw sx="110000" sy="110000" algn="ctr" rotWithShape="0">
                <a:srgbClr val="FFFFFF"/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900" b="1" kern="0">
                  <a:solidFill>
                    <a:srgbClr val="0F6FC6"/>
                  </a:solidFill>
                  <a:latin typeface="Segoe UI" panose="020B0502040204020203" pitchFamily="34" charset="0"/>
                  <a:ea typeface="ＭＳ Ｐゴシック"/>
                  <a:cs typeface="Segoe UI" panose="020B0502040204020203" pitchFamily="34" charset="0"/>
                </a:rPr>
                <a:t>!</a:t>
              </a:r>
              <a:endParaRPr kumimoji="0" lang="en-US" sz="2900" b="1" i="0" u="none" strike="noStrike" kern="0" cap="none" spc="0" normalizeH="0" baseline="0" noProof="0">
                <a:ln>
                  <a:noFill/>
                </a:ln>
                <a:solidFill>
                  <a:srgbClr val="0F6FC6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AE88B98-61CB-14C9-6106-580F14CF4F62}"/>
              </a:ext>
            </a:extLst>
          </p:cNvPr>
          <p:cNvGrpSpPr/>
          <p:nvPr/>
        </p:nvGrpSpPr>
        <p:grpSpPr>
          <a:xfrm>
            <a:off x="7688753" y="5303838"/>
            <a:ext cx="771525" cy="431800"/>
            <a:chOff x="4644008" y="1772816"/>
            <a:chExt cx="864096" cy="432000"/>
          </a:xfrm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C4579769-5573-931A-E9B1-C0C780DE1F91}"/>
                </a:ext>
              </a:extLst>
            </p:cNvPr>
            <p:cNvSpPr/>
            <p:nvPr/>
          </p:nvSpPr>
          <p:spPr>
            <a:xfrm>
              <a:off x="4644008" y="1772816"/>
              <a:ext cx="864096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BD3B738-83EB-521A-F677-11DAF2EBC512}"/>
                </a:ext>
              </a:extLst>
            </p:cNvPr>
            <p:cNvSpPr txBox="1"/>
            <p:nvPr/>
          </p:nvSpPr>
          <p:spPr>
            <a:xfrm>
              <a:off x="4716055" y="1881094"/>
              <a:ext cx="720000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49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94641A3-3E81-1082-CA14-BAC29BDD8A07}"/>
              </a:ext>
            </a:extLst>
          </p:cNvPr>
          <p:cNvGrpSpPr/>
          <p:nvPr/>
        </p:nvGrpSpPr>
        <p:grpSpPr>
          <a:xfrm>
            <a:off x="7688753" y="1887538"/>
            <a:ext cx="771525" cy="431800"/>
            <a:chOff x="4644008" y="1772816"/>
            <a:chExt cx="864096" cy="432000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A5BBB3E-9856-B3F6-CE3C-9DF33603D919}"/>
                </a:ext>
              </a:extLst>
            </p:cNvPr>
            <p:cNvSpPr/>
            <p:nvPr/>
          </p:nvSpPr>
          <p:spPr>
            <a:xfrm>
              <a:off x="4644008" y="1772816"/>
              <a:ext cx="864096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2F45BC4F-A161-8CEF-5A55-19A6F49F9D6D}"/>
                </a:ext>
              </a:extLst>
            </p:cNvPr>
            <p:cNvSpPr txBox="1"/>
            <p:nvPr/>
          </p:nvSpPr>
          <p:spPr>
            <a:xfrm>
              <a:off x="4716055" y="1881094"/>
              <a:ext cx="720000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17</a:t>
              </a: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FF2C238-69A8-6506-4A68-891CCD973F7A}"/>
              </a:ext>
            </a:extLst>
          </p:cNvPr>
          <p:cNvGrpSpPr/>
          <p:nvPr/>
        </p:nvGrpSpPr>
        <p:grpSpPr>
          <a:xfrm>
            <a:off x="7688753" y="3025775"/>
            <a:ext cx="771525" cy="431800"/>
            <a:chOff x="4644008" y="1772816"/>
            <a:chExt cx="864096" cy="432000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291B8D8-52C3-A2B7-0DCD-257CF3BF8F52}"/>
                </a:ext>
              </a:extLst>
            </p:cNvPr>
            <p:cNvSpPr/>
            <p:nvPr/>
          </p:nvSpPr>
          <p:spPr>
            <a:xfrm>
              <a:off x="4644008" y="1772816"/>
              <a:ext cx="864096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05C5A2A-C632-0CA1-1377-948FCB9B9F6B}"/>
                </a:ext>
              </a:extLst>
            </p:cNvPr>
            <p:cNvSpPr txBox="1"/>
            <p:nvPr/>
          </p:nvSpPr>
          <p:spPr>
            <a:xfrm>
              <a:off x="4716055" y="1881094"/>
              <a:ext cx="720000" cy="21544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400">
                  <a:latin typeface="Segoe UI" panose="020B0502040204020203" pitchFamily="34" charset="0"/>
                  <a:cs typeface="Segoe UI" panose="020B0502040204020203" pitchFamily="34" charset="0"/>
                </a:rPr>
                <a:t>27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2CDE10B-84AA-C07C-8CC4-754B766221AD}"/>
              </a:ext>
            </a:extLst>
          </p:cNvPr>
          <p:cNvGrpSpPr/>
          <p:nvPr/>
        </p:nvGrpSpPr>
        <p:grpSpPr>
          <a:xfrm>
            <a:off x="7688753" y="4165600"/>
            <a:ext cx="771525" cy="431800"/>
            <a:chOff x="4644008" y="1772816"/>
            <a:chExt cx="864096" cy="432000"/>
          </a:xfrm>
          <a:solidFill>
            <a:srgbClr val="7F7F7F"/>
          </a:solidFill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D6320628-DD2A-5496-51DE-21451AF3AEA7}"/>
                </a:ext>
              </a:extLst>
            </p:cNvPr>
            <p:cNvSpPr/>
            <p:nvPr/>
          </p:nvSpPr>
          <p:spPr>
            <a:xfrm>
              <a:off x="4644008" y="1772816"/>
              <a:ext cx="864096" cy="43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A6D6195-711F-40F5-658C-47141301009F}"/>
                </a:ext>
              </a:extLst>
            </p:cNvPr>
            <p:cNvSpPr txBox="1"/>
            <p:nvPr/>
          </p:nvSpPr>
          <p:spPr>
            <a:xfrm>
              <a:off x="4716055" y="1881094"/>
              <a:ext cx="720000" cy="215444"/>
            </a:xfrm>
            <a:prstGeom prst="rect">
              <a:avLst/>
            </a:prstGeom>
            <a:grpFill/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14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A997472-362A-C8A7-0173-EA684423086F}"/>
              </a:ext>
            </a:extLst>
          </p:cNvPr>
          <p:cNvGrpSpPr/>
          <p:nvPr/>
        </p:nvGrpSpPr>
        <p:grpSpPr>
          <a:xfrm>
            <a:off x="6701502" y="1086819"/>
            <a:ext cx="379413" cy="212725"/>
            <a:chOff x="4644008" y="1772816"/>
            <a:chExt cx="864096" cy="432000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FB730B1F-B21E-D97F-1149-399B2D433F0B}"/>
                </a:ext>
              </a:extLst>
            </p:cNvPr>
            <p:cNvSpPr/>
            <p:nvPr/>
          </p:nvSpPr>
          <p:spPr>
            <a:xfrm>
              <a:off x="4644008" y="1772816"/>
              <a:ext cx="864096" cy="43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430801B-0E44-517B-9E67-62E371802CD0}"/>
                </a:ext>
              </a:extLst>
            </p:cNvPr>
            <p:cNvSpPr txBox="1"/>
            <p:nvPr/>
          </p:nvSpPr>
          <p:spPr>
            <a:xfrm>
              <a:off x="4716055" y="1865705"/>
              <a:ext cx="720000" cy="28211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R="0" lvl="0" indent="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1pPr>
              <a:lvl2pPr marL="742950" marR="0" lvl="1" indent="-28575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–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2pPr>
              <a:lvl3pPr marL="1143000" marR="0" lvl="2" indent="-228600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Char char="»"/>
                <a:tabLst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3pPr>
              <a:lvl4pPr marL="1600200" lvl="3" indent="-228600">
                <a:spcBef>
                  <a:spcPct val="20000"/>
                </a:spcBef>
                <a:buFont typeface="Arial" pitchFamily="34" charset="0"/>
                <a:buChar char="–"/>
                <a:defRPr kumimoji="0" lang="en-US" sz="1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</a:defRPr>
              </a:lvl4pPr>
              <a:lvl5pPr marL="2057400" indent="-228600">
                <a:spcBef>
                  <a:spcPct val="20000"/>
                </a:spcBef>
                <a:buFont typeface="Arial" pitchFamily="34" charset="0"/>
                <a:buChar char="»"/>
                <a:defRPr lang="de-DE" sz="2000" dirty="0" smtClean="0"/>
              </a:lvl5pPr>
              <a:lvl6pPr marL="25146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29718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290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886200" indent="-228600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 algn="ctr"/>
              <a:r>
                <a:rPr lang="en-US" sz="900"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30C9CA5A-0154-402C-19EE-7151DAACCB97}"/>
              </a:ext>
            </a:extLst>
          </p:cNvPr>
          <p:cNvSpPr txBox="1"/>
          <p:nvPr/>
        </p:nvSpPr>
        <p:spPr>
          <a:xfrm>
            <a:off x="7158702" y="1109044"/>
            <a:ext cx="1392064" cy="37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R="0" lvl="0" indent="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1pPr>
            <a:lvl2pPr marL="742950" marR="0" lvl="1" indent="-28575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2pPr>
            <a:lvl3pPr marL="1143000" marR="0" lvl="2" indent="-2286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»"/>
              <a:tabLst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3pPr>
            <a:lvl4pPr marL="1600200" lvl="3" indent="-228600">
              <a:spcBef>
                <a:spcPct val="20000"/>
              </a:spcBef>
              <a:buFont typeface="Arial" pitchFamily="34" charset="0"/>
              <a:buChar char="–"/>
              <a:defRPr kumimoji="0" lang="en-US" sz="1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lang="de-DE" sz="2000" dirty="0" smtClean="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pt-BR" sz="1100">
                <a:latin typeface="Segoe UI" panose="020B0502040204020203" pitchFamily="34" charset="0"/>
                <a:cs typeface="Segoe UI" panose="020B0502040204020203" pitchFamily="34" charset="0"/>
              </a:rPr>
              <a:t>Número de indústrias</a:t>
            </a:r>
            <a:r>
              <a:rPr lang="en-US" sz="1100">
                <a:latin typeface="Segoe UI" panose="020B0502040204020203" pitchFamily="34" charset="0"/>
                <a:cs typeface="Segoe UI" panose="020B0502040204020203" pitchFamily="34" charset="0"/>
              </a:rPr>
              <a:t>
</a:t>
            </a:r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DF40DAA8-4A39-2F70-FE40-6BC82E4A61E9}"/>
              </a:ext>
            </a:extLst>
          </p:cNvPr>
          <p:cNvSpPr/>
          <p:nvPr/>
        </p:nvSpPr>
        <p:spPr>
          <a:xfrm>
            <a:off x="426720" y="905421"/>
            <a:ext cx="11357946" cy="5258835"/>
          </a:xfrm>
          <a:custGeom>
            <a:avLst/>
            <a:gdLst>
              <a:gd name="connsiteX0" fmla="*/ 8249948 w 11357946"/>
              <a:gd name="connsiteY0" fmla="*/ 0 h 5258835"/>
              <a:gd name="connsiteX1" fmla="*/ 11357946 w 11357946"/>
              <a:gd name="connsiteY1" fmla="*/ 0 h 5258835"/>
              <a:gd name="connsiteX2" fmla="*/ 11357946 w 11357946"/>
              <a:gd name="connsiteY2" fmla="*/ 5258835 h 5258835"/>
              <a:gd name="connsiteX3" fmla="*/ 8249948 w 11357946"/>
              <a:gd name="connsiteY3" fmla="*/ 5258835 h 5258835"/>
              <a:gd name="connsiteX4" fmla="*/ 8249948 w 11357946"/>
              <a:gd name="connsiteY4" fmla="*/ 4072322 h 5258835"/>
              <a:gd name="connsiteX5" fmla="*/ 0 w 11357946"/>
              <a:gd name="connsiteY5" fmla="*/ 4072322 h 5258835"/>
              <a:gd name="connsiteX6" fmla="*/ 0 w 11357946"/>
              <a:gd name="connsiteY6" fmla="*/ 2890724 h 5258835"/>
              <a:gd name="connsiteX7" fmla="*/ 8249948 w 11357946"/>
              <a:gd name="connsiteY7" fmla="*/ 2890724 h 5258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57946" h="5258835">
                <a:moveTo>
                  <a:pt x="8249948" y="0"/>
                </a:moveTo>
                <a:lnTo>
                  <a:pt x="11357946" y="0"/>
                </a:lnTo>
                <a:lnTo>
                  <a:pt x="11357946" y="5258835"/>
                </a:lnTo>
                <a:lnTo>
                  <a:pt x="8249948" y="5258835"/>
                </a:lnTo>
                <a:lnTo>
                  <a:pt x="8249948" y="4072322"/>
                </a:lnTo>
                <a:lnTo>
                  <a:pt x="0" y="4072322"/>
                </a:lnTo>
                <a:lnTo>
                  <a:pt x="0" y="2890724"/>
                </a:lnTo>
                <a:lnTo>
                  <a:pt x="8249948" y="2890724"/>
                </a:lnTo>
                <a:close/>
              </a:path>
            </a:pathLst>
          </a:custGeom>
          <a:noFill/>
          <a:ln w="1905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4707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to 36" hidden="1">
            <a:extLst>
              <a:ext uri="{FF2B5EF4-FFF2-40B4-BE49-F238E27FC236}">
                <a16:creationId xmlns:a16="http://schemas.microsoft.com/office/drawing/2014/main" id="{6FEA5C62-30A2-4E38-BA68-96EBB19481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25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4" imgW="425" imgH="424" progId="TCLayout.ActiveDocument.1">
                  <p:embed/>
                </p:oleObj>
              </mc:Choice>
              <mc:Fallback>
                <p:oleObj name="Slide do think-cell" r:id="rId64" imgW="425" imgH="424" progId="TCLayout.ActiveDocument.1">
                  <p:embed/>
                  <p:pic>
                    <p:nvPicPr>
                      <p:cNvPr id="37" name="Objeto 36" hidden="1">
                        <a:extLst>
                          <a:ext uri="{FF2B5EF4-FFF2-40B4-BE49-F238E27FC236}">
                            <a16:creationId xmlns:a16="http://schemas.microsoft.com/office/drawing/2014/main" id="{6FEA5C62-30A2-4E38-BA68-96EBB1948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1525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ângulo 4" hidden="1">
            <a:extLst>
              <a:ext uri="{FF2B5EF4-FFF2-40B4-BE49-F238E27FC236}">
                <a16:creationId xmlns:a16="http://schemas.microsoft.com/office/drawing/2014/main" id="{74247667-9447-4C90-952C-CC65FCE7F32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52400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2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  <a:sym typeface="Calibri" panose="020F050202020403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00FA7DB-FA08-FFCE-07BB-84C65122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793" y="92796"/>
            <a:ext cx="10515600" cy="303580"/>
          </a:xfrm>
        </p:spPr>
        <p:txBody>
          <a:bodyPr vert="horz"/>
          <a:lstStyle/>
          <a:p>
            <a:r>
              <a:rPr lang="pt-BR"/>
              <a:t>Slide Integrado</a:t>
            </a:r>
          </a:p>
        </p:txBody>
      </p:sp>
      <p:sp>
        <p:nvSpPr>
          <p:cNvPr id="10" name="Espaço Reservado para Texto 3">
            <a:extLst>
              <a:ext uri="{FF2B5EF4-FFF2-40B4-BE49-F238E27FC236}">
                <a16:creationId xmlns:a16="http://schemas.microsoft.com/office/drawing/2014/main" id="{2A0F6E59-2E78-664E-1FC8-D460FE629E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4793" y="364292"/>
            <a:ext cx="10515600" cy="309562"/>
          </a:xfrm>
        </p:spPr>
        <p:txBody>
          <a:bodyPr/>
          <a:lstStyle/>
          <a:p>
            <a:r>
              <a:rPr lang="pt-BR"/>
              <a:t>Páginas de exemplo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B2D6DD2-BB05-49B8-8804-E68D6766B4E8}"/>
              </a:ext>
            </a:extLst>
          </p:cNvPr>
          <p:cNvSpPr/>
          <p:nvPr/>
        </p:nvSpPr>
        <p:spPr>
          <a:xfrm>
            <a:off x="1320800" y="1203325"/>
            <a:ext cx="3505198" cy="438150"/>
          </a:xfrm>
          <a:prstGeom prst="rect">
            <a:avLst/>
          </a:prstGeom>
          <a:solidFill>
            <a:srgbClr val="364D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</a:pPr>
            <a:r>
              <a:rPr lang="pt-BR" sz="1400" b="1" dirty="0">
                <a:solidFill>
                  <a:schemeClr val="bg1"/>
                </a:solidFill>
                <a:latin typeface="Segoe UI"/>
                <a:cs typeface="Segoe UI"/>
              </a:rPr>
              <a:t>PREMISSAS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632450-50B2-1F20-E010-97CBA3EE98DA}"/>
              </a:ext>
            </a:extLst>
          </p:cNvPr>
          <p:cNvSpPr/>
          <p:nvPr/>
        </p:nvSpPr>
        <p:spPr>
          <a:xfrm>
            <a:off x="4914902" y="1203325"/>
            <a:ext cx="4775198" cy="438150"/>
          </a:xfrm>
          <a:prstGeom prst="rect">
            <a:avLst/>
          </a:prstGeom>
          <a:solidFill>
            <a:srgbClr val="364D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</a:pPr>
            <a:r>
              <a:rPr lang="pt-BR" sz="1400" b="1" dirty="0">
                <a:solidFill>
                  <a:schemeClr val="bg1"/>
                </a:solidFill>
                <a:latin typeface="Segoe UI"/>
                <a:cs typeface="Segoe UI"/>
              </a:rPr>
              <a:t>ABERTURA 2023 (USD k)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EFE57FD-36A1-EBF3-7E44-C8E71A784C5B}"/>
              </a:ext>
            </a:extLst>
          </p:cNvPr>
          <p:cNvSpPr/>
          <p:nvPr/>
        </p:nvSpPr>
        <p:spPr>
          <a:xfrm>
            <a:off x="204171" y="3973513"/>
            <a:ext cx="1027729" cy="2087563"/>
          </a:xfrm>
          <a:prstGeom prst="rect">
            <a:avLst/>
          </a:prstGeom>
          <a:solidFill>
            <a:srgbClr val="364D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sz="1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CENÁRIO 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C0A3568-10B9-D3E8-3391-AE01AE613F62}"/>
              </a:ext>
            </a:extLst>
          </p:cNvPr>
          <p:cNvSpPr/>
          <p:nvPr/>
        </p:nvSpPr>
        <p:spPr>
          <a:xfrm>
            <a:off x="9779001" y="1203325"/>
            <a:ext cx="2108198" cy="438150"/>
          </a:xfrm>
          <a:prstGeom prst="rect">
            <a:avLst/>
          </a:prstGeom>
          <a:solidFill>
            <a:srgbClr val="364D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90000"/>
              </a:lnSpc>
            </a:pPr>
            <a:r>
              <a:rPr lang="pt-BR" sz="1400" b="1" dirty="0">
                <a:solidFill>
                  <a:schemeClr val="bg1"/>
                </a:solidFill>
                <a:latin typeface="Segoe UI"/>
                <a:cs typeface="Segoe UI"/>
              </a:rPr>
              <a:t>SAVING (USD</a:t>
            </a:r>
            <a:r>
              <a:rPr lang="pt-BR" b="1" dirty="0">
                <a:solidFill>
                  <a:schemeClr val="bg1"/>
                </a:solidFill>
                <a:latin typeface="Segoe UI"/>
                <a:cs typeface="Segoe UI"/>
              </a:rPr>
              <a:t>)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E97C990-208F-F9D6-0393-2C5270D366FF}"/>
              </a:ext>
            </a:extLst>
          </p:cNvPr>
          <p:cNvSpPr/>
          <p:nvPr/>
        </p:nvSpPr>
        <p:spPr>
          <a:xfrm>
            <a:off x="204171" y="1763713"/>
            <a:ext cx="1027729" cy="2087563"/>
          </a:xfrm>
          <a:prstGeom prst="rect">
            <a:avLst/>
          </a:prstGeom>
          <a:solidFill>
            <a:srgbClr val="364D6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pt-BR" sz="14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CENÁRIO 1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BB1F7C9-43B5-3B82-1AE3-9A1AE45C5329}"/>
              </a:ext>
            </a:extLst>
          </p:cNvPr>
          <p:cNvSpPr/>
          <p:nvPr/>
        </p:nvSpPr>
        <p:spPr>
          <a:xfrm>
            <a:off x="4914899" y="1763713"/>
            <a:ext cx="4775200" cy="2087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1356388-98BC-B40B-4AB3-097BDBEC556E}"/>
              </a:ext>
            </a:extLst>
          </p:cNvPr>
          <p:cNvSpPr/>
          <p:nvPr/>
        </p:nvSpPr>
        <p:spPr>
          <a:xfrm>
            <a:off x="9779000" y="1763713"/>
            <a:ext cx="2108200" cy="2087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B94019A-9327-B75B-FF86-6D0D405DDBAA}"/>
              </a:ext>
            </a:extLst>
          </p:cNvPr>
          <p:cNvSpPr/>
          <p:nvPr/>
        </p:nvSpPr>
        <p:spPr>
          <a:xfrm>
            <a:off x="4914899" y="3973513"/>
            <a:ext cx="4775199" cy="2087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5057156-C903-3380-D6E7-AD5C3333E6E2}"/>
              </a:ext>
            </a:extLst>
          </p:cNvPr>
          <p:cNvSpPr/>
          <p:nvPr/>
        </p:nvSpPr>
        <p:spPr>
          <a:xfrm>
            <a:off x="9779000" y="3973513"/>
            <a:ext cx="2108200" cy="2087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200" b="1">
              <a:solidFill>
                <a:schemeClr val="accent5">
                  <a:lumMod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5" name="Chart 3">
            <a:extLst>
              <a:ext uri="{FF2B5EF4-FFF2-40B4-BE49-F238E27FC236}">
                <a16:creationId xmlns:a16="http://schemas.microsoft.com/office/drawing/2014/main" id="{04493132-9375-4B35-2DE6-35C8B13CC580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4953000" y="4132263"/>
          <a:ext cx="4700588" cy="1349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6"/>
          </a:graphicData>
        </a:graphic>
      </p:graphicFrame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5601325B-90D1-38E6-79EE-7B5AA434F855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8583613" y="4427538"/>
            <a:ext cx="39688" cy="1524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4F54E8F-71D2-C118-0060-BA2F262612C2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959850" y="4467225"/>
            <a:ext cx="41275" cy="171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04137F5A-627A-06BD-6424-9A32CDACDE5E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9329738" y="4465638"/>
            <a:ext cx="49213" cy="1762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36" name="Espaço Reservado para Texto 2">
            <a:extLst>
              <a:ext uri="{FF2B5EF4-FFF2-40B4-BE49-F238E27FC236}">
                <a16:creationId xmlns:a16="http://schemas.microsoft.com/office/drawing/2014/main" id="{7DEE742E-14AC-4AAC-EDFA-E6CD6960F090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7764463" y="4476750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7C276645-E5A6-4B50-BF49-7ECCB964FA93}" type="datetime'''''''''3''''''''''''''''''''''''''2''''''1''''''''''''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321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1" name="Espaço Reservado para Texto 2">
            <a:extLst>
              <a:ext uri="{FF2B5EF4-FFF2-40B4-BE49-F238E27FC236}">
                <a16:creationId xmlns:a16="http://schemas.microsoft.com/office/drawing/2014/main" id="{6D4D708B-D109-3A22-697E-772D57910DE1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5126038" y="5499100"/>
            <a:ext cx="1952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7C1EBBC-10DF-4A48-890C-9575A11B8639}" type="datetime'''''J''''''''''''''''a''''''n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Jan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CF496B8D-6033-F123-1E37-D619EFDDD91C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9267825" y="5499100"/>
            <a:ext cx="2254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259ABE6-B6D9-4E0D-95C5-BB7328B17501}" type="datetime'D''''''''e''''''''''''''''''''''''''''''''''''''z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Dez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4" name="Espaço Reservado para Texto 2">
            <a:extLst>
              <a:ext uri="{FF2B5EF4-FFF2-40B4-BE49-F238E27FC236}">
                <a16:creationId xmlns:a16="http://schemas.microsoft.com/office/drawing/2014/main" id="{09748372-D0F8-CE31-7F65-1A157A1A164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7013575" y="5499100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7164C66-AFF0-4B80-AF72-B21267782314}" type="datetime'''''''''''''J''''''''''''''''''u''''''''''''''''''''''''n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Jun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AF97261A-E326-D759-8070-96133D1C0CE7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5500688" y="5499100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8D4A91B-2DBE-49FA-966E-9E733BF65BD3}" type="datetime'''''''''''''''''''''''''''''''''''''''''''F''''''''ev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Fev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3" name="Espaço Reservado para Texto 2">
            <a:extLst>
              <a:ext uri="{FF2B5EF4-FFF2-40B4-BE49-F238E27FC236}">
                <a16:creationId xmlns:a16="http://schemas.microsoft.com/office/drawing/2014/main" id="{0961458D-E983-DF5B-784C-20E95B1D6F0A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249988" y="5499100"/>
            <a:ext cx="2143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D912498-F3CB-4848-82E5-0346F7F5EBF3}" type="datetime'''''''''''''''''A''''b''''''r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Abr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0" name="Espaço Reservado para Texto 2">
            <a:extLst>
              <a:ext uri="{FF2B5EF4-FFF2-40B4-BE49-F238E27FC236}">
                <a16:creationId xmlns:a16="http://schemas.microsoft.com/office/drawing/2014/main" id="{D81B7F50-8FCC-ED6D-9E01-E1AF715212E3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5861049" y="5499100"/>
            <a:ext cx="2365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58E5740-5764-42B9-9096-B5775B63DFC3}" type="datetime'''''''M''''''''''''''''''a''''''''''r''''''''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Mar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5" name="Espaço Reservado para Texto 2">
            <a:extLst>
              <a:ext uri="{FF2B5EF4-FFF2-40B4-BE49-F238E27FC236}">
                <a16:creationId xmlns:a16="http://schemas.microsoft.com/office/drawing/2014/main" id="{C3AF144F-BF63-514A-F74E-37D22AF6EE5D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623050" y="5499100"/>
            <a:ext cx="2222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E761A6A-C447-45A9-BEA9-5B176CBA4303}" type="datetime'''''''''''''''''''''''''''''M''a''''''''''''''''''''''''''''i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Mai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32" name="Espaço Reservado para Texto 2">
            <a:extLst>
              <a:ext uri="{FF2B5EF4-FFF2-40B4-BE49-F238E27FC236}">
                <a16:creationId xmlns:a16="http://schemas.microsoft.com/office/drawing/2014/main" id="{751CFC62-05C2-9D3A-32DD-0D438BDA9FD0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gray">
          <a:xfrm>
            <a:off x="6238875" y="4433888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430AEB4-06DE-4B4A-A427-35746D302DA0}" type="datetime'3''''''''5''''''''''''''''''''''''''''''''''''5''''''''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355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4177EF93-D195-AC48-F001-FC951FD26B9C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7412037" y="5499100"/>
            <a:ext cx="1603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2294239-16C2-41E4-9A6A-9E7D5C5EDE3B}" type="datetime'''''''''''''''''''''''''''Ju''l''''''''''''''''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Jul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38" name="Espaço Reservado para Texto 2">
            <a:extLst>
              <a:ext uri="{FF2B5EF4-FFF2-40B4-BE49-F238E27FC236}">
                <a16:creationId xmlns:a16="http://schemas.microsoft.com/office/drawing/2014/main" id="{2EF5224E-C21F-FC21-38E9-9A7FDE7281E2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7747000" y="5499100"/>
            <a:ext cx="2444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6145B85-18B3-4A35-8466-ABAF71C387A5}" type="datetime'''''''''''''''''A''''g''''''''o''''''''''''''''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Ago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39" name="Espaço Reservado para Texto 2">
            <a:extLst>
              <a:ext uri="{FF2B5EF4-FFF2-40B4-BE49-F238E27FC236}">
                <a16:creationId xmlns:a16="http://schemas.microsoft.com/office/drawing/2014/main" id="{CAD10D37-C639-1DBB-5C65-1063CB5717F4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8129588" y="4557713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F5D056A-F618-4F68-A0AB-496AA0A5E51A}" type="datetime'''''''''''''''''2''''9''''''''''''''3''''''''''''''''''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293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0" name="Espaço Reservado para Texto 2">
            <a:extLst>
              <a:ext uri="{FF2B5EF4-FFF2-40B4-BE49-F238E27FC236}">
                <a16:creationId xmlns:a16="http://schemas.microsoft.com/office/drawing/2014/main" id="{5CB7C2E4-EC41-E434-7197-A440B565095A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auto">
          <a:xfrm>
            <a:off x="8151813" y="5499100"/>
            <a:ext cx="1905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9D3086F-476B-4A79-8E1C-7CC7588AEA40}" type="datetime'''''S''''''e''''t''''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Set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41" name="Espaço Reservado para Texto 2">
            <a:extLst>
              <a:ext uri="{FF2B5EF4-FFF2-40B4-BE49-F238E27FC236}">
                <a16:creationId xmlns:a16="http://schemas.microsoft.com/office/drawing/2014/main" id="{27FAAA3A-7564-4D0A-1EBD-CAA9EF8B8807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gray">
          <a:xfrm>
            <a:off x="8501063" y="4578350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9591B3B-8A03-4096-8DD3-12D78707C3C0}" type="datetime'''''''''''2''''''''''''9''''''''6''''''''''''''''''''''''''''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296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2" name="Espaço Reservado para Texto 2">
            <a:extLst>
              <a:ext uri="{FF2B5EF4-FFF2-40B4-BE49-F238E27FC236}">
                <a16:creationId xmlns:a16="http://schemas.microsoft.com/office/drawing/2014/main" id="{3D961C69-D1C0-2A46-B9AE-BAF955720BCF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auto">
          <a:xfrm>
            <a:off x="8513762" y="5499100"/>
            <a:ext cx="2222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BEAE538-B0E0-433B-A062-292AF7E4EF5A}" type="datetime'''''''O''''u''''''''''''''''''''''''''''''''''t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Out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43" name="Espaço Reservado para Texto 2">
            <a:extLst>
              <a:ext uri="{FF2B5EF4-FFF2-40B4-BE49-F238E27FC236}">
                <a16:creationId xmlns:a16="http://schemas.microsoft.com/office/drawing/2014/main" id="{AD82C9F4-23C1-45A9-3826-48D113D3F345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8885238" y="4608513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3172366-9F7B-429B-B87D-DE78D14B288F}" type="datetime'''''2''''6''8''''''''''''''''''''''''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268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4" name="Espaço Reservado para Texto 2">
            <a:extLst>
              <a:ext uri="{FF2B5EF4-FFF2-40B4-BE49-F238E27FC236}">
                <a16:creationId xmlns:a16="http://schemas.microsoft.com/office/drawing/2014/main" id="{BE028821-6EEE-6942-1B27-F7F997A01376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8882062" y="5499100"/>
            <a:ext cx="2428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C67A8E2-7286-4DDA-BD75-3E73C29611E1}" type="datetime'''N''o''''v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Nov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45" name="Espaço Reservado para Texto 2">
            <a:extLst>
              <a:ext uri="{FF2B5EF4-FFF2-40B4-BE49-F238E27FC236}">
                <a16:creationId xmlns:a16="http://schemas.microsoft.com/office/drawing/2014/main" id="{900912E0-7CDA-08C6-316B-61751D08E79C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gray">
          <a:xfrm>
            <a:off x="9263063" y="4611688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E800D12-B906-4D61-8A66-5A505F6FCC4B}" type="datetime'''''''''''''''''''''''''''''2''6''''6''''''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266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53B0C16E-B817-6E58-E475-737D89C7FE7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5086350" y="5786438"/>
            <a:ext cx="179388" cy="133350"/>
          </a:xfrm>
          <a:prstGeom prst="rect">
            <a:avLst/>
          </a:prstGeom>
          <a:solidFill>
            <a:srgbClr val="6F8DB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F6BBC5B0-8B79-924F-70DE-2692BD663FD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gray">
          <a:xfrm>
            <a:off x="6327775" y="5853113"/>
            <a:ext cx="150813" cy="0"/>
          </a:xfrm>
          <a:prstGeom prst="line">
            <a:avLst/>
          </a:prstGeom>
          <a:ln w="28575" cap="rnd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D46C39FD-75FD-F48C-C9C3-E006321C149F}"/>
              </a:ext>
            </a:extLst>
          </p:cNvPr>
          <p:cNvCxnSpPr/>
          <p:nvPr>
            <p:custDataLst>
              <p:tags r:id="rId27"/>
            </p:custDataLst>
          </p:nvPr>
        </p:nvCxnSpPr>
        <p:spPr bwMode="gray">
          <a:xfrm>
            <a:off x="7116763" y="5853113"/>
            <a:ext cx="150813" cy="0"/>
          </a:xfrm>
          <a:prstGeom prst="line">
            <a:avLst/>
          </a:prstGeom>
          <a:ln w="28575" cap="rnd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Espaço Reservado para Texto 2">
            <a:extLst>
              <a:ext uri="{FF2B5EF4-FFF2-40B4-BE49-F238E27FC236}">
                <a16:creationId xmlns:a16="http://schemas.microsoft.com/office/drawing/2014/main" id="{6CD27783-9A7A-ADC8-03F9-5CCE8ECC189E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5316537" y="5794375"/>
            <a:ext cx="8953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06626A84-F045-40EC-9CB6-B4CCD42F4718}" type="datetime'''I''m''''p''''''''''''''a''c''to'''' ''Me''n''''''''''sa''l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Impacto Mensal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1" name="Espaço Reservado para Texto 2">
            <a:extLst>
              <a:ext uri="{FF2B5EF4-FFF2-40B4-BE49-F238E27FC236}">
                <a16:creationId xmlns:a16="http://schemas.microsoft.com/office/drawing/2014/main" id="{3808166C-8B15-7F62-D995-A47C0BF79737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auto">
          <a:xfrm>
            <a:off x="6543674" y="5794375"/>
            <a:ext cx="4572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94DB9E98-D33D-4708-A68D-07FBC63CDC03}" type="datetime'B''a''''''''''''s''e''''''l''''''''''''''''''''''i''n''''e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Baseline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49" name="Espaço Reservado para Texto 2">
            <a:extLst>
              <a:ext uri="{FF2B5EF4-FFF2-40B4-BE49-F238E27FC236}">
                <a16:creationId xmlns:a16="http://schemas.microsoft.com/office/drawing/2014/main" id="{1E6D7A1C-2EEF-4EE8-3724-45DE914E257C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auto">
          <a:xfrm>
            <a:off x="7332662" y="5794375"/>
            <a:ext cx="4445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0883CE2C-2EDA-4155-9912-8162C0733781}" type="datetime'''''''P''''r''''''''''''''''''''''e''vi''s''t''''''''''o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Previsto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CF2CBFFE-88D2-0BDB-A02B-2F8DC406464B}"/>
              </a:ext>
            </a:extLst>
          </p:cNvPr>
          <p:cNvSpPr/>
          <p:nvPr/>
        </p:nvSpPr>
        <p:spPr>
          <a:xfrm>
            <a:off x="1332821" y="3973513"/>
            <a:ext cx="3505200" cy="2087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Baseline: R$ 74,8 (Índice orçamento 2023);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Previsão - Jan, </a:t>
            </a:r>
            <a:r>
              <a:rPr lang="pt-BR" sz="1200" b="1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Fev</a:t>
            </a: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Mar, </a:t>
            </a:r>
            <a:r>
              <a:rPr lang="pt-BR" sz="1200" b="1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Abr</a:t>
            </a: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R$ 82,49 (Índice médio 2022);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Previsão - Mai, </a:t>
            </a:r>
            <a:r>
              <a:rPr lang="pt-BR" sz="1200" b="1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Jun</a:t>
            </a: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Jul: R$ 74,8 (Índice orçamento 2023);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Previsão - A partir de </a:t>
            </a:r>
            <a:r>
              <a:rPr lang="pt-BR" sz="1200" b="1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Ago</a:t>
            </a: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R$ 70,5 (Índice orçamento 2022);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 </a:t>
            </a:r>
            <a:r>
              <a:rPr lang="pt-BR" sz="1200" b="1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Nutriqualy</a:t>
            </a: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partir de Abril;</a:t>
            </a:r>
          </a:p>
        </p:txBody>
      </p: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A6445669-22AA-9FA5-2151-E5905D9769D7}"/>
              </a:ext>
            </a:extLst>
          </p:cNvPr>
          <p:cNvGraphicFramePr/>
          <p:nvPr>
            <p:custDataLst>
              <p:tags r:id="rId31"/>
            </p:custDataLst>
          </p:nvPr>
        </p:nvGraphicFramePr>
        <p:xfrm>
          <a:off x="4953000" y="1974850"/>
          <a:ext cx="4700588" cy="1271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7"/>
          </a:graphicData>
        </a:graphic>
      </p:graphicFrame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4DE5D1C9-0B6F-68A2-8952-62BF3CA35835}"/>
              </a:ext>
            </a:extLst>
          </p:cNvPr>
          <p:cNvCxnSpPr/>
          <p:nvPr>
            <p:custDataLst>
              <p:tags r:id="rId32"/>
            </p:custDataLst>
          </p:nvPr>
        </p:nvCxnSpPr>
        <p:spPr bwMode="auto">
          <a:xfrm>
            <a:off x="9329738" y="2249488"/>
            <a:ext cx="49213" cy="1762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B12764B6-CE65-1C74-EC45-7FB1CDED6FD8}"/>
              </a:ext>
            </a:extLst>
          </p:cNvPr>
          <p:cNvCxnSpPr/>
          <p:nvPr>
            <p:custDataLst>
              <p:tags r:id="rId33"/>
            </p:custDataLst>
          </p:nvPr>
        </p:nvCxnSpPr>
        <p:spPr bwMode="auto">
          <a:xfrm>
            <a:off x="8583613" y="2205038"/>
            <a:ext cx="39688" cy="1524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F9F38455-71C0-7770-0947-E52761E9C68A}"/>
              </a:ext>
            </a:extLst>
          </p:cNvPr>
          <p:cNvCxnSpPr/>
          <p:nvPr>
            <p:custDataLst>
              <p:tags r:id="rId34"/>
            </p:custDataLst>
          </p:nvPr>
        </p:nvCxnSpPr>
        <p:spPr bwMode="auto">
          <a:xfrm>
            <a:off x="8959850" y="2251075"/>
            <a:ext cx="41275" cy="1714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Espaço Reservado para Texto 2">
            <a:extLst>
              <a:ext uri="{FF2B5EF4-FFF2-40B4-BE49-F238E27FC236}">
                <a16:creationId xmlns:a16="http://schemas.microsoft.com/office/drawing/2014/main" id="{74842471-59A3-3AF9-5F03-1E9607330D38}"/>
              </a:ext>
            </a:extLst>
          </p:cNvPr>
          <p:cNvSpPr>
            <a:spLocks noGrp="1"/>
          </p:cNvSpPr>
          <p:nvPr>
            <p:custDataLst>
              <p:tags r:id="rId35"/>
            </p:custDataLst>
          </p:nvPr>
        </p:nvSpPr>
        <p:spPr bwMode="auto">
          <a:xfrm>
            <a:off x="8882062" y="3263900"/>
            <a:ext cx="2428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29DD022-9335-48A6-98ED-63BA02C9B655}" type="datetime'''''''''''''''''''''''''''''''''''''''N''''''''o''''''v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Nov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24C46CD3-3BBC-B173-C265-82992E9B1040}"/>
              </a:ext>
            </a:extLst>
          </p:cNvPr>
          <p:cNvSpPr>
            <a:spLocks noGrp="1"/>
          </p:cNvSpPr>
          <p:nvPr>
            <p:custDataLst>
              <p:tags r:id="rId36"/>
            </p:custDataLst>
          </p:nvPr>
        </p:nvSpPr>
        <p:spPr bwMode="auto">
          <a:xfrm>
            <a:off x="5126038" y="3263900"/>
            <a:ext cx="1952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47502A6-EF3A-43FE-958A-F079BFE5F9F2}" type="datetime'''''''''''''''''J''''''''''''''''''''a''''''''''''''n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Jan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94B0757-6C07-7A50-A806-206FF5D02541}"/>
              </a:ext>
            </a:extLst>
          </p:cNvPr>
          <p:cNvSpPr>
            <a:spLocks noGrp="1"/>
          </p:cNvSpPr>
          <p:nvPr>
            <p:custDataLst>
              <p:tags r:id="rId37"/>
            </p:custDataLst>
          </p:nvPr>
        </p:nvSpPr>
        <p:spPr bwMode="auto">
          <a:xfrm>
            <a:off x="5500688" y="3263900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807AC96-4D79-4192-A815-A62035C06B8C}" type="datetime'''''''''''''''''''F''''''''''e''''''''''''''''''''''v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Fev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BFEF64F7-8B4B-68E3-3E3C-3E0C200FBAF1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auto">
          <a:xfrm>
            <a:off x="7013575" y="3263900"/>
            <a:ext cx="2016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C7CE043-63A8-4736-B846-A89EDA655C09}" type="datetime'''''''''''''''''''''''''J''''''''''''''''''''''''''''''u''n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Jun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33C0C88D-40AB-76E7-2FEE-C81DD5BF7E69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6249988" y="3263900"/>
            <a:ext cx="2143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1A5C74C-E2A3-490A-9610-1677D066BEEC}" type="datetime'''''''''''''''''''''A''''''''''''''''''''''b''''''r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Abr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8" name="Espaço Reservado para Texto 2">
            <a:extLst>
              <a:ext uri="{FF2B5EF4-FFF2-40B4-BE49-F238E27FC236}">
                <a16:creationId xmlns:a16="http://schemas.microsoft.com/office/drawing/2014/main" id="{27493ECA-8E0B-A9A8-4FE1-6977E1979D06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auto">
          <a:xfrm>
            <a:off x="5861049" y="3263900"/>
            <a:ext cx="2365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2C1AC85-BCBA-4F12-8D8F-7CAB78E929DE}" type="datetime'''''''''''''''Ma''''''''''''r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Mar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0DD9FB95-096B-45EC-A57E-86637201AAC2}"/>
              </a:ext>
            </a:extLst>
          </p:cNvPr>
          <p:cNvSpPr>
            <a:spLocks noGrp="1"/>
          </p:cNvSpPr>
          <p:nvPr>
            <p:custDataLst>
              <p:tags r:id="rId41"/>
            </p:custDataLst>
          </p:nvPr>
        </p:nvSpPr>
        <p:spPr bwMode="gray">
          <a:xfrm>
            <a:off x="6238875" y="2203450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33DBC83-89D3-41F3-A9BE-69499ABCCF0C}" type="datetime'''''3''''''''9''''''1''''''''''''''''''''''''''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391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57" name="Espaço Reservado para Texto 2">
            <a:extLst>
              <a:ext uri="{FF2B5EF4-FFF2-40B4-BE49-F238E27FC236}">
                <a16:creationId xmlns:a16="http://schemas.microsoft.com/office/drawing/2014/main" id="{6EA902F8-9CAC-5E54-0F8C-587C16FA4A72}"/>
              </a:ext>
            </a:extLst>
          </p:cNvPr>
          <p:cNvSpPr>
            <a:spLocks noGrp="1"/>
          </p:cNvSpPr>
          <p:nvPr>
            <p:custDataLst>
              <p:tags r:id="rId42"/>
            </p:custDataLst>
          </p:nvPr>
        </p:nvSpPr>
        <p:spPr bwMode="auto">
          <a:xfrm>
            <a:off x="7412037" y="3263900"/>
            <a:ext cx="1603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18F0818-6868-4E0E-AA19-53C150DA491F}" type="datetime'''''''J''''''''''''''''''ul''''''''''''''''''''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Jul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0D76313B-031A-0B78-B1A7-74E4F6A9E05F}"/>
              </a:ext>
            </a:extLst>
          </p:cNvPr>
          <p:cNvSpPr>
            <a:spLocks noGrp="1"/>
          </p:cNvSpPr>
          <p:nvPr>
            <p:custDataLst>
              <p:tags r:id="rId43"/>
            </p:custDataLst>
          </p:nvPr>
        </p:nvSpPr>
        <p:spPr bwMode="auto">
          <a:xfrm>
            <a:off x="6623050" y="3263900"/>
            <a:ext cx="2222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92790C5-8797-4E9B-91F7-3C631B3838CA}" type="datetime'''M''''a''i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Mai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50CA3B38-EA87-31B6-ED85-4019F540E094}"/>
              </a:ext>
            </a:extLst>
          </p:cNvPr>
          <p:cNvSpPr>
            <a:spLocks noGrp="1"/>
          </p:cNvSpPr>
          <p:nvPr>
            <p:custDataLst>
              <p:tags r:id="rId44"/>
            </p:custDataLst>
          </p:nvPr>
        </p:nvSpPr>
        <p:spPr bwMode="gray">
          <a:xfrm>
            <a:off x="7764463" y="2317750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B6C18AFF-B196-4A6E-B6FD-BB55707C9D3D}" type="datetime'''''''''''''''''''''''''''''''''''''''''''32''''''''''''1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321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66" name="Espaço Reservado para Texto 2">
            <a:extLst>
              <a:ext uri="{FF2B5EF4-FFF2-40B4-BE49-F238E27FC236}">
                <a16:creationId xmlns:a16="http://schemas.microsoft.com/office/drawing/2014/main" id="{08F471E9-F374-50C9-9F17-14C1716D6D85}"/>
              </a:ext>
            </a:extLst>
          </p:cNvPr>
          <p:cNvSpPr>
            <a:spLocks noGrp="1"/>
          </p:cNvSpPr>
          <p:nvPr>
            <p:custDataLst>
              <p:tags r:id="rId45"/>
            </p:custDataLst>
          </p:nvPr>
        </p:nvSpPr>
        <p:spPr bwMode="auto">
          <a:xfrm>
            <a:off x="7747000" y="3263900"/>
            <a:ext cx="2444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D186EA7-2745-41CA-843C-0E36B386223E}" type="datetime'''''''''''Ago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Ago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67" name="Espaço Reservado para Texto 2">
            <a:extLst>
              <a:ext uri="{FF2B5EF4-FFF2-40B4-BE49-F238E27FC236}">
                <a16:creationId xmlns:a16="http://schemas.microsoft.com/office/drawing/2014/main" id="{6F606BFF-B36C-FD10-3DDE-D3BA1679A943}"/>
              </a:ext>
            </a:extLst>
          </p:cNvPr>
          <p:cNvSpPr>
            <a:spLocks noGrp="1"/>
          </p:cNvSpPr>
          <p:nvPr>
            <p:custDataLst>
              <p:tags r:id="rId46"/>
            </p:custDataLst>
          </p:nvPr>
        </p:nvSpPr>
        <p:spPr bwMode="gray">
          <a:xfrm>
            <a:off x="8129588" y="2398713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22C10BB-C937-4489-8539-24D92D16BFEF}" type="datetime'''2''''''''''''''''9''''''''''''''''''''''''''''3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293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68" name="Espaço Reservado para Texto 2">
            <a:extLst>
              <a:ext uri="{FF2B5EF4-FFF2-40B4-BE49-F238E27FC236}">
                <a16:creationId xmlns:a16="http://schemas.microsoft.com/office/drawing/2014/main" id="{926D3132-D329-3BD3-13F1-0A5DDC79A45A}"/>
              </a:ext>
            </a:extLst>
          </p:cNvPr>
          <p:cNvSpPr>
            <a:spLocks noGrp="1"/>
          </p:cNvSpPr>
          <p:nvPr>
            <p:custDataLst>
              <p:tags r:id="rId47"/>
            </p:custDataLst>
          </p:nvPr>
        </p:nvSpPr>
        <p:spPr bwMode="auto">
          <a:xfrm>
            <a:off x="8151813" y="3263900"/>
            <a:ext cx="1905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3EE6713-8D98-4574-8E08-A4B2EAE10CB0}" type="datetime'''S''''''''''''''''''e''''''''t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Set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74" name="Espaço Reservado para Texto 2">
            <a:extLst>
              <a:ext uri="{FF2B5EF4-FFF2-40B4-BE49-F238E27FC236}">
                <a16:creationId xmlns:a16="http://schemas.microsoft.com/office/drawing/2014/main" id="{03D2546C-E41A-24A2-4AAB-2A8C9DE2D68E}"/>
              </a:ext>
            </a:extLst>
          </p:cNvPr>
          <p:cNvSpPr>
            <a:spLocks noGrp="1"/>
          </p:cNvSpPr>
          <p:nvPr>
            <p:custDataLst>
              <p:tags r:id="rId48"/>
            </p:custDataLst>
          </p:nvPr>
        </p:nvSpPr>
        <p:spPr bwMode="gray">
          <a:xfrm>
            <a:off x="9263063" y="2452688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69B6041-39CF-475D-9D04-45922FB4B0B2}" type="datetime'''''''''''''''''''''''''''''''2''''''''66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266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69" name="Espaço Reservado para Texto 2">
            <a:extLst>
              <a:ext uri="{FF2B5EF4-FFF2-40B4-BE49-F238E27FC236}">
                <a16:creationId xmlns:a16="http://schemas.microsoft.com/office/drawing/2014/main" id="{5DB37610-4910-96D0-2CBE-E5E3A2EC6D8C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gray">
          <a:xfrm>
            <a:off x="8501063" y="2420938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8642C518-7954-41C5-AE50-9681DED8FBA5}" type="datetime'''''''''''''''''2''''''''9''''6''''''''''''''''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296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70" name="Espaço Reservado para Texto 2">
            <a:extLst>
              <a:ext uri="{FF2B5EF4-FFF2-40B4-BE49-F238E27FC236}">
                <a16:creationId xmlns:a16="http://schemas.microsoft.com/office/drawing/2014/main" id="{D1D38577-330E-570D-2E73-3CE32F5E8A31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8513762" y="3263900"/>
            <a:ext cx="2222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83E75FA-6100-46D7-82D1-E132BAD341BE}" type="datetime'''''''''''''''''''''''''''''O''u''''''''t''''''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Out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 useBgFill="1">
        <p:nvSpPr>
          <p:cNvPr id="71" name="Espaço Reservado para Texto 2">
            <a:extLst>
              <a:ext uri="{FF2B5EF4-FFF2-40B4-BE49-F238E27FC236}">
                <a16:creationId xmlns:a16="http://schemas.microsoft.com/office/drawing/2014/main" id="{EA543CCD-1280-B561-A42E-DE19BABF6CE6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gray">
          <a:xfrm>
            <a:off x="8885238" y="2449513"/>
            <a:ext cx="239713" cy="136525"/>
          </a:xfrm>
          <a:prstGeom prst="rect">
            <a:avLst/>
          </a:prstGeom>
          <a:ln>
            <a:noFill/>
          </a:ln>
          <a:effectLst/>
        </p:spPr>
        <p:txBody>
          <a:bodyPr vert="horz" wrap="none" lIns="17463" tIns="0" rIns="17463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72FF26C-1FEC-4F97-9F21-7D59299CADCC}" type="datetime'''''''''26''''''''8'''''''''''''''''''">
              <a:rPr lang="pt-BR" altLang="en-US" sz="1000" smtClean="0">
                <a:effectLst/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268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73" name="Espaço Reservado para Texto 2">
            <a:extLst>
              <a:ext uri="{FF2B5EF4-FFF2-40B4-BE49-F238E27FC236}">
                <a16:creationId xmlns:a16="http://schemas.microsoft.com/office/drawing/2014/main" id="{69391108-083A-8260-2AB1-3F906894E036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auto">
          <a:xfrm>
            <a:off x="9267825" y="3263900"/>
            <a:ext cx="2254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A58C0B6-9958-4EFC-8EEF-B36C6C2EE989}" type="datetime'''''''''''''''D''''''e''''''''z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Dez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75" name="Espaço Reservado para Texto 2">
            <a:extLst>
              <a:ext uri="{FF2B5EF4-FFF2-40B4-BE49-F238E27FC236}">
                <a16:creationId xmlns:a16="http://schemas.microsoft.com/office/drawing/2014/main" id="{EE7EB918-CC97-3D01-4DE4-5554F7690B27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gray">
          <a:xfrm>
            <a:off x="5172074" y="2886075"/>
            <a:ext cx="1031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C987F4C-2DF1-4CD7-8932-93FADE8E73C1}" type="datetime'''''''''''''''''''''''''''''''''''''''''''''''0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76" name="Espaço Reservado para Texto 2">
            <a:extLst>
              <a:ext uri="{FF2B5EF4-FFF2-40B4-BE49-F238E27FC236}">
                <a16:creationId xmlns:a16="http://schemas.microsoft.com/office/drawing/2014/main" id="{E3C55816-7A0C-9E43-1A0E-106AC91320BE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gray">
          <a:xfrm>
            <a:off x="5549899" y="2886075"/>
            <a:ext cx="1031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192D557-A772-47AC-9625-F1B1F0A777BE}" type="datetime'''0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77" name="Espaço Reservado para Texto 2">
            <a:extLst>
              <a:ext uri="{FF2B5EF4-FFF2-40B4-BE49-F238E27FC236}">
                <a16:creationId xmlns:a16="http://schemas.microsoft.com/office/drawing/2014/main" id="{D6C60083-636E-43E9-2818-F20B786A2E88}"/>
              </a:ext>
            </a:extLst>
          </p:cNvPr>
          <p:cNvSpPr>
            <a:spLocks noGrp="1"/>
          </p:cNvSpPr>
          <p:nvPr>
            <p:custDataLst>
              <p:tags r:id="rId55"/>
            </p:custDataLst>
          </p:nvPr>
        </p:nvSpPr>
        <p:spPr bwMode="gray">
          <a:xfrm>
            <a:off x="5927724" y="2886075"/>
            <a:ext cx="1031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numCol="1" spcCol="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593AB54-643C-48E2-B047-0E9EDFFA0D27}" type="datetime'''''''''''''0''''''''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45B3CF89-BF07-B2D8-9DB6-B98AE31EEBF3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5086350" y="3541713"/>
            <a:ext cx="179388" cy="133350"/>
          </a:xfrm>
          <a:prstGeom prst="rect">
            <a:avLst/>
          </a:prstGeom>
          <a:solidFill>
            <a:srgbClr val="6F8DB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ADA7D35A-C6E0-BEFB-EC3E-C33541F149C9}"/>
              </a:ext>
            </a:extLst>
          </p:cNvPr>
          <p:cNvCxnSpPr/>
          <p:nvPr>
            <p:custDataLst>
              <p:tags r:id="rId57"/>
            </p:custDataLst>
          </p:nvPr>
        </p:nvCxnSpPr>
        <p:spPr bwMode="gray">
          <a:xfrm>
            <a:off x="6327775" y="3608388"/>
            <a:ext cx="150813" cy="0"/>
          </a:xfrm>
          <a:prstGeom prst="line">
            <a:avLst/>
          </a:prstGeom>
          <a:ln w="28575" cap="rnd" cmpd="sng" algn="ctr">
            <a:solidFill>
              <a:schemeClr val="accent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0F9F33BB-E212-273A-EA61-C5AF9B9DF1C9}"/>
              </a:ext>
            </a:extLst>
          </p:cNvPr>
          <p:cNvCxnSpPr/>
          <p:nvPr>
            <p:custDataLst>
              <p:tags r:id="rId58"/>
            </p:custDataLst>
          </p:nvPr>
        </p:nvCxnSpPr>
        <p:spPr bwMode="gray">
          <a:xfrm>
            <a:off x="7116763" y="3608388"/>
            <a:ext cx="150813" cy="0"/>
          </a:xfrm>
          <a:prstGeom prst="line">
            <a:avLst/>
          </a:prstGeom>
          <a:ln w="28575" cap="rnd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Espaço Reservado para Texto 2">
            <a:extLst>
              <a:ext uri="{FF2B5EF4-FFF2-40B4-BE49-F238E27FC236}">
                <a16:creationId xmlns:a16="http://schemas.microsoft.com/office/drawing/2014/main" id="{355D1ACD-D673-E2B8-5E81-94A6421AA61B}"/>
              </a:ext>
            </a:extLst>
          </p:cNvPr>
          <p:cNvSpPr>
            <a:spLocks noGrp="1"/>
          </p:cNvSpPr>
          <p:nvPr>
            <p:custDataLst>
              <p:tags r:id="rId59"/>
            </p:custDataLst>
          </p:nvPr>
        </p:nvSpPr>
        <p:spPr bwMode="auto">
          <a:xfrm>
            <a:off x="5316537" y="3549650"/>
            <a:ext cx="8953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DDB78B91-18FC-42D4-8F46-57B8BB6EEB4A}" type="datetime'I''m''p''a''''''''''''c''''to'''''''' ''Me''''''n''''sal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Impacto Mensal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83" name="Espaço Reservado para Texto 2">
            <a:extLst>
              <a:ext uri="{FF2B5EF4-FFF2-40B4-BE49-F238E27FC236}">
                <a16:creationId xmlns:a16="http://schemas.microsoft.com/office/drawing/2014/main" id="{CA89B93A-81B9-FB9B-064E-49DB69D2189A}"/>
              </a:ext>
            </a:extLst>
          </p:cNvPr>
          <p:cNvSpPr>
            <a:spLocks noGrp="1"/>
          </p:cNvSpPr>
          <p:nvPr>
            <p:custDataLst>
              <p:tags r:id="rId60"/>
            </p:custDataLst>
          </p:nvPr>
        </p:nvSpPr>
        <p:spPr bwMode="auto">
          <a:xfrm>
            <a:off x="6543674" y="3549650"/>
            <a:ext cx="4572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C96278CF-39C7-438D-9645-BFCA7FAE8C90}" type="datetime'B''''as''''''''''''''''''''''e''''l''''i''''ne''''''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Baseline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82" name="Espaço Reservado para Texto 2">
            <a:extLst>
              <a:ext uri="{FF2B5EF4-FFF2-40B4-BE49-F238E27FC236}">
                <a16:creationId xmlns:a16="http://schemas.microsoft.com/office/drawing/2014/main" id="{54F2AAE0-6BE6-6839-585B-ED9669C0C8A0}"/>
              </a:ext>
            </a:extLst>
          </p:cNvPr>
          <p:cNvSpPr>
            <a:spLocks noGrp="1"/>
          </p:cNvSpPr>
          <p:nvPr>
            <p:custDataLst>
              <p:tags r:id="rId61"/>
            </p:custDataLst>
          </p:nvPr>
        </p:nvSpPr>
        <p:spPr bwMode="auto">
          <a:xfrm>
            <a:off x="7332662" y="3549650"/>
            <a:ext cx="4445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058963CD-5B08-40E7-8B60-06FD63D019E1}" type="datetime'''Pr''''''''''e''''v''''''''''i''''st''''''''o'''''''''">
              <a:rPr lang="pt-BR" altLang="en-US" sz="1000" smtClean="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Previsto</a:t>
            </a:fld>
            <a:endParaRPr lang="pt-BR" sz="1000">
              <a:latin typeface="Segoe UI" panose="020B0502040204020203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8E500D0A-89D7-0389-B453-9BDE64405E4A}"/>
              </a:ext>
            </a:extLst>
          </p:cNvPr>
          <p:cNvSpPr/>
          <p:nvPr/>
        </p:nvSpPr>
        <p:spPr>
          <a:xfrm>
            <a:off x="1320799" y="1763713"/>
            <a:ext cx="3505200" cy="20875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Baseline: R$ 82,49 (Índice médio 2022);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Previsão - Jan, </a:t>
            </a:r>
            <a:r>
              <a:rPr lang="pt-BR" sz="1200" b="1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Fev</a:t>
            </a: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Mar, </a:t>
            </a:r>
            <a:r>
              <a:rPr lang="pt-BR" sz="1200" b="1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Abr</a:t>
            </a: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R$ 82,49 (Índice médio 2022);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Previsão – Mai, </a:t>
            </a:r>
            <a:r>
              <a:rPr lang="pt-BR" sz="1200" b="1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Jun</a:t>
            </a: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Jul: R$ 74,8 (Índice orçamento 2023);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Previsão - A partir de </a:t>
            </a:r>
            <a:r>
              <a:rPr lang="pt-BR" sz="1200" b="1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Ago</a:t>
            </a: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R$ 70,5 (Índice orçamento 2022);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 </a:t>
            </a:r>
            <a:r>
              <a:rPr lang="pt-BR" sz="1200" b="1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Nutriqualy</a:t>
            </a:r>
            <a:r>
              <a:rPr lang="pt-BR" sz="1200" b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 partir de Abril;</a:t>
            </a:r>
          </a:p>
        </p:txBody>
      </p:sp>
      <p:pic>
        <p:nvPicPr>
          <p:cNvPr id="87" name="Imagem 86">
            <a:extLst>
              <a:ext uri="{FF2B5EF4-FFF2-40B4-BE49-F238E27FC236}">
                <a16:creationId xmlns:a16="http://schemas.microsoft.com/office/drawing/2014/main" id="{C335C36E-0E03-088E-41AF-54E273AF036F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0053412" y="2214563"/>
            <a:ext cx="1552575" cy="1019175"/>
          </a:xfrm>
          <a:prstGeom prst="rect">
            <a:avLst/>
          </a:prstGeom>
        </p:spPr>
      </p:pic>
      <p:pic>
        <p:nvPicPr>
          <p:cNvPr id="88" name="Imagem 87">
            <a:extLst>
              <a:ext uri="{FF2B5EF4-FFF2-40B4-BE49-F238E27FC236}">
                <a16:creationId xmlns:a16="http://schemas.microsoft.com/office/drawing/2014/main" id="{9FE12FD0-A878-3783-2CCF-70D1A15DAB03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0053411" y="4489450"/>
            <a:ext cx="155257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727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to 10" hidden="1">
            <a:extLst>
              <a:ext uri="{FF2B5EF4-FFF2-40B4-BE49-F238E27FC236}">
                <a16:creationId xmlns:a16="http://schemas.microsoft.com/office/drawing/2014/main" id="{E5A1163C-E1C9-3E58-1186-99F127C6AE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11" name="Objeto 10" hidden="1">
                        <a:extLst>
                          <a:ext uri="{FF2B5EF4-FFF2-40B4-BE49-F238E27FC236}">
                            <a16:creationId xmlns:a16="http://schemas.microsoft.com/office/drawing/2014/main" id="{E5A1163C-E1C9-3E58-1186-99F127C6AE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0BFD11D-7232-8568-B11D-7EDAA4EBE9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80175"/>
            <a:ext cx="793750" cy="301625"/>
          </a:xfrm>
        </p:spPr>
        <p:txBody>
          <a:bodyPr/>
          <a:lstStyle/>
          <a:p>
            <a:fld id="{63C2570D-3F46-48A8-A1D6-2750696A5204}" type="slidenum">
              <a:rPr lang="pt-BR" smtClean="0"/>
              <a:pPr/>
              <a:t>58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92C74747-E8BD-98B2-F628-894763ACCD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783" y="2135805"/>
            <a:ext cx="3838575" cy="828675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A66285C9-5C55-435F-D4B9-AB226903A2F1}"/>
              </a:ext>
            </a:extLst>
          </p:cNvPr>
          <p:cNvSpPr/>
          <p:nvPr/>
        </p:nvSpPr>
        <p:spPr>
          <a:xfrm>
            <a:off x="7829887" y="4691375"/>
            <a:ext cx="23734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0"/>
            <a:r>
              <a:rPr lang="pt-BR" sz="1400" spc="225">
                <a:latin typeface="Segoe UI" panose="020B0502040204020203" pitchFamily="34" charset="0"/>
                <a:cs typeface="Segoe UI" panose="020B0502040204020203" pitchFamily="34" charset="0"/>
              </a:rPr>
              <a:t>www.galeazzi.com.br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EE37AF5-02AD-26B9-C76A-D3D94757B481}"/>
              </a:ext>
            </a:extLst>
          </p:cNvPr>
          <p:cNvSpPr/>
          <p:nvPr/>
        </p:nvSpPr>
        <p:spPr>
          <a:xfrm>
            <a:off x="7820362" y="5193361"/>
            <a:ext cx="29033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0"/>
            <a:r>
              <a:rPr lang="pt-BR" sz="1400" spc="225">
                <a:latin typeface="Segoe UI" panose="020B0502040204020203" pitchFamily="34" charset="0"/>
                <a:cs typeface="Segoe UI" panose="020B0502040204020203" pitchFamily="34" charset="0"/>
              </a:rPr>
              <a:t>galeazzi@galeazzi.com.br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AACEA4A-1A4E-C5FA-FD56-FD2710356E7E}"/>
              </a:ext>
            </a:extLst>
          </p:cNvPr>
          <p:cNvSpPr/>
          <p:nvPr/>
        </p:nvSpPr>
        <p:spPr>
          <a:xfrm>
            <a:off x="7826410" y="5646944"/>
            <a:ext cx="20954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rtl="0"/>
            <a:r>
              <a:rPr lang="pt-BR" sz="1400" spc="225">
                <a:latin typeface="Segoe UI" panose="020B0502040204020203" pitchFamily="34" charset="0"/>
                <a:cs typeface="Segoe UI" panose="020B0502040204020203" pitchFamily="34" charset="0"/>
              </a:rPr>
              <a:t>+55 11 3383-9600</a:t>
            </a:r>
            <a:endParaRPr lang="pt-BR" sz="14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Freeform 50">
            <a:extLst>
              <a:ext uri="{FF2B5EF4-FFF2-40B4-BE49-F238E27FC236}">
                <a16:creationId xmlns:a16="http://schemas.microsoft.com/office/drawing/2014/main" id="{B7151F84-02E7-0FE1-0EC7-EFE1C4040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519" y="5577711"/>
            <a:ext cx="469191" cy="384307"/>
          </a:xfrm>
          <a:custGeom>
            <a:avLst/>
            <a:gdLst>
              <a:gd name="T0" fmla="*/ 115666 w 444"/>
              <a:gd name="T1" fmla="*/ 114750 h 443"/>
              <a:gd name="T2" fmla="*/ 115666 w 444"/>
              <a:gd name="T3" fmla="*/ 114750 h 443"/>
              <a:gd name="T4" fmla="*/ 72010 w 444"/>
              <a:gd name="T5" fmla="*/ 138414 h 443"/>
              <a:gd name="T6" fmla="*/ 27904 w 444"/>
              <a:gd name="T7" fmla="*/ 138414 h 443"/>
              <a:gd name="T8" fmla="*/ 31954 w 444"/>
              <a:gd name="T9" fmla="*/ 181724 h 443"/>
              <a:gd name="T10" fmla="*/ 139520 w 444"/>
              <a:gd name="T11" fmla="*/ 138414 h 443"/>
              <a:gd name="T12" fmla="*/ 187226 w 444"/>
              <a:gd name="T13" fmla="*/ 27236 h 443"/>
              <a:gd name="T14" fmla="*/ 143570 w 444"/>
              <a:gd name="T15" fmla="*/ 23664 h 443"/>
              <a:gd name="T16" fmla="*/ 143570 w 444"/>
              <a:gd name="T17" fmla="*/ 67421 h 443"/>
              <a:gd name="T18" fmla="*/ 115666 w 444"/>
              <a:gd name="T19" fmla="*/ 114750 h 44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44" h="443">
                <a:moveTo>
                  <a:pt x="257" y="257"/>
                </a:moveTo>
                <a:lnTo>
                  <a:pt x="257" y="257"/>
                </a:lnTo>
                <a:cubicBezTo>
                  <a:pt x="222" y="292"/>
                  <a:pt x="177" y="327"/>
                  <a:pt x="160" y="310"/>
                </a:cubicBezTo>
                <a:cubicBezTo>
                  <a:pt x="133" y="283"/>
                  <a:pt x="115" y="265"/>
                  <a:pt x="62" y="310"/>
                </a:cubicBezTo>
                <a:cubicBezTo>
                  <a:pt x="0" y="354"/>
                  <a:pt x="44" y="389"/>
                  <a:pt x="71" y="407"/>
                </a:cubicBezTo>
                <a:cubicBezTo>
                  <a:pt x="97" y="442"/>
                  <a:pt x="204" y="416"/>
                  <a:pt x="310" y="310"/>
                </a:cubicBezTo>
                <a:cubicBezTo>
                  <a:pt x="416" y="204"/>
                  <a:pt x="443" y="97"/>
                  <a:pt x="416" y="61"/>
                </a:cubicBezTo>
                <a:cubicBezTo>
                  <a:pt x="390" y="35"/>
                  <a:pt x="363" y="0"/>
                  <a:pt x="319" y="53"/>
                </a:cubicBezTo>
                <a:cubicBezTo>
                  <a:pt x="275" y="106"/>
                  <a:pt x="293" y="123"/>
                  <a:pt x="319" y="151"/>
                </a:cubicBezTo>
                <a:cubicBezTo>
                  <a:pt x="337" y="167"/>
                  <a:pt x="302" y="212"/>
                  <a:pt x="257" y="257"/>
                </a:cubicBezTo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pPr rtl="0"/>
            <a:endParaRPr lang="pt-BR" sz="1800"/>
          </a:p>
        </p:txBody>
      </p:sp>
      <p:sp>
        <p:nvSpPr>
          <p:cNvPr id="18" name="Freeform 51">
            <a:extLst>
              <a:ext uri="{FF2B5EF4-FFF2-40B4-BE49-F238E27FC236}">
                <a16:creationId xmlns:a16="http://schemas.microsoft.com/office/drawing/2014/main" id="{77640BE1-8FEF-F65F-C2E7-108FF49EA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519" y="5239515"/>
            <a:ext cx="469191" cy="253916"/>
          </a:xfrm>
          <a:custGeom>
            <a:avLst/>
            <a:gdLst>
              <a:gd name="T0" fmla="*/ 8111 w 461"/>
              <a:gd name="T1" fmla="*/ 12180 h 285"/>
              <a:gd name="T2" fmla="*/ 8111 w 461"/>
              <a:gd name="T3" fmla="*/ 12180 h 285"/>
              <a:gd name="T4" fmla="*/ 91479 w 461"/>
              <a:gd name="T5" fmla="*/ 56390 h 285"/>
              <a:gd name="T6" fmla="*/ 104096 w 461"/>
              <a:gd name="T7" fmla="*/ 59999 h 285"/>
              <a:gd name="T8" fmla="*/ 111757 w 461"/>
              <a:gd name="T9" fmla="*/ 56390 h 285"/>
              <a:gd name="T10" fmla="*/ 195575 w 461"/>
              <a:gd name="T11" fmla="*/ 12180 h 285"/>
              <a:gd name="T12" fmla="*/ 199631 w 461"/>
              <a:gd name="T13" fmla="*/ 0 h 285"/>
              <a:gd name="T14" fmla="*/ 8111 w 461"/>
              <a:gd name="T15" fmla="*/ 0 h 285"/>
              <a:gd name="T16" fmla="*/ 8111 w 461"/>
              <a:gd name="T17" fmla="*/ 12180 h 285"/>
              <a:gd name="T18" fmla="*/ 199631 w 461"/>
              <a:gd name="T19" fmla="*/ 36090 h 285"/>
              <a:gd name="T20" fmla="*/ 199631 w 461"/>
              <a:gd name="T21" fmla="*/ 36090 h 285"/>
              <a:gd name="T22" fmla="*/ 111757 w 461"/>
              <a:gd name="T23" fmla="*/ 80299 h 285"/>
              <a:gd name="T24" fmla="*/ 104096 w 461"/>
              <a:gd name="T25" fmla="*/ 80299 h 285"/>
              <a:gd name="T26" fmla="*/ 91479 w 461"/>
              <a:gd name="T27" fmla="*/ 80299 h 285"/>
              <a:gd name="T28" fmla="*/ 8111 w 461"/>
              <a:gd name="T29" fmla="*/ 36090 h 285"/>
              <a:gd name="T30" fmla="*/ 4056 w 461"/>
              <a:gd name="T31" fmla="*/ 36090 h 285"/>
              <a:gd name="T32" fmla="*/ 4056 w 461"/>
              <a:gd name="T33" fmla="*/ 119998 h 285"/>
              <a:gd name="T34" fmla="*/ 15772 w 461"/>
              <a:gd name="T35" fmla="*/ 128118 h 285"/>
              <a:gd name="T36" fmla="*/ 191519 w 461"/>
              <a:gd name="T37" fmla="*/ 128118 h 285"/>
              <a:gd name="T38" fmla="*/ 203686 w 461"/>
              <a:gd name="T39" fmla="*/ 119998 h 285"/>
              <a:gd name="T40" fmla="*/ 203686 w 461"/>
              <a:gd name="T41" fmla="*/ 36090 h 285"/>
              <a:gd name="T42" fmla="*/ 199631 w 461"/>
              <a:gd name="T43" fmla="*/ 36090 h 285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461" h="285">
                <a:moveTo>
                  <a:pt x="18" y="27"/>
                </a:moveTo>
                <a:lnTo>
                  <a:pt x="18" y="27"/>
                </a:lnTo>
                <a:cubicBezTo>
                  <a:pt x="35" y="35"/>
                  <a:pt x="203" y="125"/>
                  <a:pt x="203" y="125"/>
                </a:cubicBezTo>
                <a:cubicBezTo>
                  <a:pt x="212" y="133"/>
                  <a:pt x="221" y="133"/>
                  <a:pt x="231" y="133"/>
                </a:cubicBezTo>
                <a:cubicBezTo>
                  <a:pt x="239" y="133"/>
                  <a:pt x="248" y="133"/>
                  <a:pt x="248" y="125"/>
                </a:cubicBezTo>
                <a:cubicBezTo>
                  <a:pt x="256" y="125"/>
                  <a:pt x="425" y="35"/>
                  <a:pt x="434" y="27"/>
                </a:cubicBezTo>
                <a:cubicBezTo>
                  <a:pt x="452" y="18"/>
                  <a:pt x="460" y="0"/>
                  <a:pt x="443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0" y="0"/>
                  <a:pt x="9" y="18"/>
                  <a:pt x="18" y="27"/>
                </a:cubicBezTo>
                <a:close/>
                <a:moveTo>
                  <a:pt x="443" y="80"/>
                </a:moveTo>
                <a:lnTo>
                  <a:pt x="443" y="80"/>
                </a:lnTo>
                <a:cubicBezTo>
                  <a:pt x="434" y="80"/>
                  <a:pt x="256" y="169"/>
                  <a:pt x="248" y="178"/>
                </a:cubicBezTo>
                <a:cubicBezTo>
                  <a:pt x="248" y="178"/>
                  <a:pt x="239" y="178"/>
                  <a:pt x="231" y="178"/>
                </a:cubicBezTo>
                <a:cubicBezTo>
                  <a:pt x="221" y="178"/>
                  <a:pt x="212" y="178"/>
                  <a:pt x="203" y="178"/>
                </a:cubicBezTo>
                <a:cubicBezTo>
                  <a:pt x="194" y="169"/>
                  <a:pt x="27" y="80"/>
                  <a:pt x="18" y="80"/>
                </a:cubicBezTo>
                <a:cubicBezTo>
                  <a:pt x="9" y="72"/>
                  <a:pt x="9" y="80"/>
                  <a:pt x="9" y="80"/>
                </a:cubicBezTo>
                <a:cubicBezTo>
                  <a:pt x="9" y="88"/>
                  <a:pt x="9" y="266"/>
                  <a:pt x="9" y="266"/>
                </a:cubicBezTo>
                <a:cubicBezTo>
                  <a:pt x="9" y="275"/>
                  <a:pt x="18" y="284"/>
                  <a:pt x="35" y="284"/>
                </a:cubicBezTo>
                <a:cubicBezTo>
                  <a:pt x="425" y="284"/>
                  <a:pt x="425" y="284"/>
                  <a:pt x="425" y="284"/>
                </a:cubicBezTo>
                <a:cubicBezTo>
                  <a:pt x="443" y="284"/>
                  <a:pt x="452" y="275"/>
                  <a:pt x="452" y="266"/>
                </a:cubicBezTo>
                <a:cubicBezTo>
                  <a:pt x="452" y="266"/>
                  <a:pt x="452" y="88"/>
                  <a:pt x="452" y="80"/>
                </a:cubicBezTo>
                <a:cubicBezTo>
                  <a:pt x="452" y="80"/>
                  <a:pt x="452" y="72"/>
                  <a:pt x="443" y="8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pPr rtl="0"/>
            <a:endParaRPr lang="pt-BR" sz="180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5EAD2BC-9F5D-17B6-11D4-876D85984B0F}"/>
              </a:ext>
            </a:extLst>
          </p:cNvPr>
          <p:cNvSpPr/>
          <p:nvPr/>
        </p:nvSpPr>
        <p:spPr>
          <a:xfrm>
            <a:off x="2109110" y="4907481"/>
            <a:ext cx="24707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3600" b="1" spc="225">
                <a:latin typeface="Segoe UI" panose="020B0502040204020203" pitchFamily="34" charset="0"/>
                <a:cs typeface="Segoe UI" panose="020B0502040204020203" pitchFamily="34" charset="0"/>
              </a:rPr>
              <a:t>Obrigado</a:t>
            </a:r>
            <a:endParaRPr lang="pt-BR" altLang="pt-BR" sz="3600" spc="225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" name="Gráfico 19" descr="Internet com preenchimento sólido">
            <a:extLst>
              <a:ext uri="{FF2B5EF4-FFF2-40B4-BE49-F238E27FC236}">
                <a16:creationId xmlns:a16="http://schemas.microsoft.com/office/drawing/2014/main" id="{4115CD7D-0987-77FC-0E62-3CF2C772E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6858" y="4574721"/>
            <a:ext cx="580513" cy="58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6419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95AFB6A-A7DC-4EAF-ACF4-31C38EC81F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5" imgW="344" imgH="345" progId="TCLayout.ActiveDocument.1">
                  <p:embed/>
                </p:oleObj>
              </mc:Choice>
              <mc:Fallback>
                <p:oleObj name="Slide do think-cell" r:id="rId5" imgW="344" imgH="345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95AFB6A-A7DC-4EAF-ACF4-31C38EC81F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Rectangle 134" hidden="1">
            <a:extLst>
              <a:ext uri="{FF2B5EF4-FFF2-40B4-BE49-F238E27FC236}">
                <a16:creationId xmlns:a16="http://schemas.microsoft.com/office/drawing/2014/main" id="{35A648C3-A63D-4D7B-B791-15F2F1B449B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200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E0869D6-FA3F-A1C5-14BB-BF10ECD7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/>
              <a:t>Slide para Otimização de Busca de Arquivos na Rede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3BE06F61-1458-9A0F-F260-36CBEE03FE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Palavras-chaves que otimizam a busca de arquivos na rede 
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0FD87D0B-23F3-B602-9244-75D290CD7EA6}"/>
              </a:ext>
            </a:extLst>
          </p:cNvPr>
          <p:cNvGrpSpPr/>
          <p:nvPr/>
        </p:nvGrpSpPr>
        <p:grpSpPr>
          <a:xfrm>
            <a:off x="498826" y="1599587"/>
            <a:ext cx="11194347" cy="432000"/>
            <a:chOff x="498826" y="1599587"/>
            <a:chExt cx="11194347" cy="432000"/>
          </a:xfrm>
        </p:grpSpPr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9EB0ABB6-B8A5-297A-FD10-B66B036E79E6}"/>
                </a:ext>
              </a:extLst>
            </p:cNvPr>
            <p:cNvSpPr txBox="1"/>
            <p:nvPr/>
          </p:nvSpPr>
          <p:spPr>
            <a:xfrm>
              <a:off x="508301" y="1661699"/>
              <a:ext cx="2108451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Nome do cliente</a:t>
              </a:r>
            </a:p>
          </p:txBody>
        </p:sp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id="{643C9A50-B485-C236-04D7-85638C7774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1689587"/>
              <a:ext cx="0" cy="25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CFDB2D68-B938-56C8-95C6-48E10776061D}"/>
                </a:ext>
              </a:extLst>
            </p:cNvPr>
            <p:cNvSpPr/>
            <p:nvPr/>
          </p:nvSpPr>
          <p:spPr>
            <a:xfrm>
              <a:off x="498826" y="1599587"/>
              <a:ext cx="11194347" cy="432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ítulo 1">
              <a:extLst>
                <a:ext uri="{FF2B5EF4-FFF2-40B4-BE49-F238E27FC236}">
                  <a16:creationId xmlns:a16="http://schemas.microsoft.com/office/drawing/2014/main" id="{C82B8BDD-AB30-09C3-C717-6ECA6EABB333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1646310"/>
              <a:ext cx="6543589" cy="3385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r>
                <a:rPr lang="pt-BR" sz="1400" err="1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Sequóia</a:t>
              </a: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 Logística e Transporte</a:t>
              </a:r>
            </a:p>
          </p:txBody>
        </p:sp>
      </p:grpSp>
      <p:sp>
        <p:nvSpPr>
          <p:cNvPr id="32" name="Retângulo 31">
            <a:extLst>
              <a:ext uri="{FF2B5EF4-FFF2-40B4-BE49-F238E27FC236}">
                <a16:creationId xmlns:a16="http://schemas.microsoft.com/office/drawing/2014/main" id="{10DC9ACD-B43B-F1C3-4028-BCD728F5B84C}"/>
              </a:ext>
            </a:extLst>
          </p:cNvPr>
          <p:cNvSpPr/>
          <p:nvPr/>
        </p:nvSpPr>
        <p:spPr>
          <a:xfrm>
            <a:off x="497707" y="1049699"/>
            <a:ext cx="3318930" cy="468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b="1">
                <a:solidFill>
                  <a:srgbClr val="257CCA"/>
                </a:solidFill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rPr>
              <a:t>Tópicos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FAFAE157-73F7-E63A-0088-CB8311A0AB07}"/>
              </a:ext>
            </a:extLst>
          </p:cNvPr>
          <p:cNvSpPr/>
          <p:nvPr/>
        </p:nvSpPr>
        <p:spPr>
          <a:xfrm>
            <a:off x="3933239" y="1046915"/>
            <a:ext cx="7759934" cy="468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b="1">
                <a:solidFill>
                  <a:srgbClr val="257CCA"/>
                </a:solidFill>
                <a:latin typeface="Segoe UI" panose="020B0502040204020203" pitchFamily="34" charset="0"/>
                <a:ea typeface="ＭＳ Ｐゴシック"/>
                <a:cs typeface="Segoe UI" panose="020B0502040204020203" pitchFamily="34" charset="0"/>
              </a:rPr>
              <a:t>Descrição</a:t>
            </a:r>
          </a:p>
        </p:txBody>
      </p: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C6B037EC-BA98-FD50-D8DA-0276D5C38062}"/>
              </a:ext>
            </a:extLst>
          </p:cNvPr>
          <p:cNvGrpSpPr/>
          <p:nvPr/>
        </p:nvGrpSpPr>
        <p:grpSpPr>
          <a:xfrm>
            <a:off x="498826" y="2107100"/>
            <a:ext cx="11194347" cy="432000"/>
            <a:chOff x="498826" y="2208670"/>
            <a:chExt cx="11194347" cy="432000"/>
          </a:xfrm>
        </p:grpSpPr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D3FA176F-8070-0326-166D-817A2B8C1B28}"/>
                </a:ext>
              </a:extLst>
            </p:cNvPr>
            <p:cNvSpPr txBox="1"/>
            <p:nvPr/>
          </p:nvSpPr>
          <p:spPr>
            <a:xfrm>
              <a:off x="508301" y="2270782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Setor de Atuação</a:t>
              </a:r>
            </a:p>
          </p:txBody>
        </p:sp>
        <p:cxnSp>
          <p:nvCxnSpPr>
            <p:cNvPr id="39" name="Conector reto 38">
              <a:extLst>
                <a:ext uri="{FF2B5EF4-FFF2-40B4-BE49-F238E27FC236}">
                  <a16:creationId xmlns:a16="http://schemas.microsoft.com/office/drawing/2014/main" id="{049630CA-AD25-C12C-2AC4-395C61F0CC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2298670"/>
              <a:ext cx="0" cy="25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Retângulo 39">
              <a:extLst>
                <a:ext uri="{FF2B5EF4-FFF2-40B4-BE49-F238E27FC236}">
                  <a16:creationId xmlns:a16="http://schemas.microsoft.com/office/drawing/2014/main" id="{D24BF88A-65BF-1DB7-CE9D-9D0D8E097CC2}"/>
                </a:ext>
              </a:extLst>
            </p:cNvPr>
            <p:cNvSpPr/>
            <p:nvPr/>
          </p:nvSpPr>
          <p:spPr>
            <a:xfrm>
              <a:off x="498826" y="2208670"/>
              <a:ext cx="11194347" cy="432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ítulo 1">
              <a:extLst>
                <a:ext uri="{FF2B5EF4-FFF2-40B4-BE49-F238E27FC236}">
                  <a16:creationId xmlns:a16="http://schemas.microsoft.com/office/drawing/2014/main" id="{CC5467D4-A1AC-FC0E-4C05-BD3596109678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2255393"/>
              <a:ext cx="6543589" cy="3385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Transporte Rodoviário</a:t>
              </a:r>
            </a:p>
          </p:txBody>
        </p:sp>
      </p:grpSp>
      <p:grpSp>
        <p:nvGrpSpPr>
          <p:cNvPr id="148" name="Agrupar 147">
            <a:extLst>
              <a:ext uri="{FF2B5EF4-FFF2-40B4-BE49-F238E27FC236}">
                <a16:creationId xmlns:a16="http://schemas.microsoft.com/office/drawing/2014/main" id="{43E7E649-6A80-347A-FEC9-53DB2A19ED71}"/>
              </a:ext>
            </a:extLst>
          </p:cNvPr>
          <p:cNvGrpSpPr/>
          <p:nvPr/>
        </p:nvGrpSpPr>
        <p:grpSpPr>
          <a:xfrm>
            <a:off x="498826" y="2614613"/>
            <a:ext cx="11194347" cy="432000"/>
            <a:chOff x="498826" y="2675937"/>
            <a:chExt cx="11194347" cy="432000"/>
          </a:xfrm>
        </p:grpSpPr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789350EE-43D4-7F2C-DCE9-BD96ABC8D38A}"/>
                </a:ext>
              </a:extLst>
            </p:cNvPr>
            <p:cNvSpPr txBox="1"/>
            <p:nvPr/>
          </p:nvSpPr>
          <p:spPr>
            <a:xfrm>
              <a:off x="508301" y="2738049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Assunto da Apresentação</a:t>
              </a:r>
            </a:p>
          </p:txBody>
        </p:sp>
        <p:cxnSp>
          <p:nvCxnSpPr>
            <p:cNvPr id="45" name="Conector reto 44">
              <a:extLst>
                <a:ext uri="{FF2B5EF4-FFF2-40B4-BE49-F238E27FC236}">
                  <a16:creationId xmlns:a16="http://schemas.microsoft.com/office/drawing/2014/main" id="{5AADF663-9636-F8CC-FA05-7072DCFB95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2765937"/>
              <a:ext cx="0" cy="25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Retângulo 45">
              <a:extLst>
                <a:ext uri="{FF2B5EF4-FFF2-40B4-BE49-F238E27FC236}">
                  <a16:creationId xmlns:a16="http://schemas.microsoft.com/office/drawing/2014/main" id="{D1970D85-74BB-FA2A-7E0F-897B976CA9DB}"/>
                </a:ext>
              </a:extLst>
            </p:cNvPr>
            <p:cNvSpPr/>
            <p:nvPr/>
          </p:nvSpPr>
          <p:spPr>
            <a:xfrm>
              <a:off x="498826" y="2675937"/>
              <a:ext cx="11194347" cy="432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Título 1">
              <a:extLst>
                <a:ext uri="{FF2B5EF4-FFF2-40B4-BE49-F238E27FC236}">
                  <a16:creationId xmlns:a16="http://schemas.microsoft.com/office/drawing/2014/main" id="{EF16D985-1C1F-1AF5-A3B0-E8EE40F2AEDB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2722660"/>
              <a:ext cx="6543589" cy="3385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Rede Credenciada</a:t>
              </a:r>
            </a:p>
          </p:txBody>
        </p:sp>
      </p:grpSp>
      <p:grpSp>
        <p:nvGrpSpPr>
          <p:cNvPr id="149" name="Agrupar 148">
            <a:extLst>
              <a:ext uri="{FF2B5EF4-FFF2-40B4-BE49-F238E27FC236}">
                <a16:creationId xmlns:a16="http://schemas.microsoft.com/office/drawing/2014/main" id="{D4BDACA4-B2F0-7CBD-C583-836308A13363}"/>
              </a:ext>
            </a:extLst>
          </p:cNvPr>
          <p:cNvGrpSpPr/>
          <p:nvPr/>
        </p:nvGrpSpPr>
        <p:grpSpPr>
          <a:xfrm>
            <a:off x="498826" y="3122126"/>
            <a:ext cx="11194347" cy="612000"/>
            <a:chOff x="498826" y="3143204"/>
            <a:chExt cx="11194347" cy="612000"/>
          </a:xfrm>
        </p:grpSpPr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E7CEAB6C-9613-2B53-7D49-0305BCA1138B}"/>
                </a:ext>
              </a:extLst>
            </p:cNvPr>
            <p:cNvSpPr txBox="1"/>
            <p:nvPr/>
          </p:nvSpPr>
          <p:spPr>
            <a:xfrm>
              <a:off x="508301" y="3295316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Metodologia</a:t>
              </a: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id="{0E09A034-BC34-8795-0865-3CCFBE3F326E}"/>
                </a:ext>
              </a:extLst>
            </p:cNvPr>
            <p:cNvSpPr/>
            <p:nvPr/>
          </p:nvSpPr>
          <p:spPr>
            <a:xfrm>
              <a:off x="498826" y="3143204"/>
              <a:ext cx="11194347" cy="612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ítulo 1">
              <a:extLst>
                <a:ext uri="{FF2B5EF4-FFF2-40B4-BE49-F238E27FC236}">
                  <a16:creationId xmlns:a16="http://schemas.microsoft.com/office/drawing/2014/main" id="{94A35C38-6FE2-CE36-B488-210C797388F8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3217802"/>
              <a:ext cx="6543589" cy="46280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Receita incremental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Growth</a:t>
              </a:r>
            </a:p>
          </p:txBody>
        </p:sp>
        <p:cxnSp>
          <p:nvCxnSpPr>
            <p:cNvPr id="55" name="Conector reto 54">
              <a:extLst>
                <a:ext uri="{FF2B5EF4-FFF2-40B4-BE49-F238E27FC236}">
                  <a16:creationId xmlns:a16="http://schemas.microsoft.com/office/drawing/2014/main" id="{411F4D26-5845-05EA-C4F3-34525E5592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3251204"/>
              <a:ext cx="0" cy="396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0" name="Agrupar 149">
            <a:extLst>
              <a:ext uri="{FF2B5EF4-FFF2-40B4-BE49-F238E27FC236}">
                <a16:creationId xmlns:a16="http://schemas.microsoft.com/office/drawing/2014/main" id="{A8479272-0D0E-B021-7CA0-BB0AF09CD998}"/>
              </a:ext>
            </a:extLst>
          </p:cNvPr>
          <p:cNvGrpSpPr/>
          <p:nvPr/>
        </p:nvGrpSpPr>
        <p:grpSpPr>
          <a:xfrm>
            <a:off x="499946" y="3809639"/>
            <a:ext cx="11193227" cy="432000"/>
            <a:chOff x="499946" y="3790471"/>
            <a:chExt cx="11193227" cy="432000"/>
          </a:xfrm>
        </p:grpSpPr>
        <p:sp>
          <p:nvSpPr>
            <p:cNvPr id="56" name="CaixaDeTexto 55">
              <a:extLst>
                <a:ext uri="{FF2B5EF4-FFF2-40B4-BE49-F238E27FC236}">
                  <a16:creationId xmlns:a16="http://schemas.microsoft.com/office/drawing/2014/main" id="{C209402C-7933-8E1A-40C2-8ECB80E7B860}"/>
                </a:ext>
              </a:extLst>
            </p:cNvPr>
            <p:cNvSpPr txBox="1"/>
            <p:nvPr/>
          </p:nvSpPr>
          <p:spPr>
            <a:xfrm>
              <a:off x="508301" y="3852583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 dirty="0">
                  <a:latin typeface="Segoe UI"/>
                  <a:cs typeface="Segoe UI"/>
                </a:rPr>
                <a:t>Tipo de Apresentação</a:t>
              </a: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86EB1749-0F28-2AD3-1211-38CB57250926}"/>
                </a:ext>
              </a:extLst>
            </p:cNvPr>
            <p:cNvSpPr/>
            <p:nvPr/>
          </p:nvSpPr>
          <p:spPr>
            <a:xfrm>
              <a:off x="499946" y="3790471"/>
              <a:ext cx="11193227" cy="432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8" name="Título 1">
              <a:extLst>
                <a:ext uri="{FF2B5EF4-FFF2-40B4-BE49-F238E27FC236}">
                  <a16:creationId xmlns:a16="http://schemas.microsoft.com/office/drawing/2014/main" id="{7D915E47-A967-25F3-0D42-0CBF89D03EA3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3837194"/>
              <a:ext cx="6543589" cy="33855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r>
                <a:rPr lang="pt-BR" sz="1400" dirty="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Para o comitê executivo</a:t>
              </a:r>
            </a:p>
          </p:txBody>
        </p:sp>
        <p:cxnSp>
          <p:nvCxnSpPr>
            <p:cNvPr id="59" name="Conector reto 58">
              <a:extLst>
                <a:ext uri="{FF2B5EF4-FFF2-40B4-BE49-F238E27FC236}">
                  <a16:creationId xmlns:a16="http://schemas.microsoft.com/office/drawing/2014/main" id="{9D84DB51-5603-7F1B-FE44-F9B890A662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3880471"/>
              <a:ext cx="0" cy="252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1" name="Agrupar 150">
            <a:extLst>
              <a:ext uri="{FF2B5EF4-FFF2-40B4-BE49-F238E27FC236}">
                <a16:creationId xmlns:a16="http://schemas.microsoft.com/office/drawing/2014/main" id="{AAE4BCC2-ADA0-0CB5-0D48-706465515D9D}"/>
              </a:ext>
            </a:extLst>
          </p:cNvPr>
          <p:cNvGrpSpPr/>
          <p:nvPr/>
        </p:nvGrpSpPr>
        <p:grpSpPr>
          <a:xfrm>
            <a:off x="498826" y="4317152"/>
            <a:ext cx="11194347" cy="936000"/>
            <a:chOff x="498826" y="4257738"/>
            <a:chExt cx="11194347" cy="936000"/>
          </a:xfrm>
        </p:grpSpPr>
        <p:sp>
          <p:nvSpPr>
            <p:cNvPr id="128" name="CaixaDeTexto 127">
              <a:extLst>
                <a:ext uri="{FF2B5EF4-FFF2-40B4-BE49-F238E27FC236}">
                  <a16:creationId xmlns:a16="http://schemas.microsoft.com/office/drawing/2014/main" id="{F1B4264E-3C44-E408-7C10-FD570657FCC3}"/>
                </a:ext>
              </a:extLst>
            </p:cNvPr>
            <p:cNvSpPr txBox="1"/>
            <p:nvPr/>
          </p:nvSpPr>
          <p:spPr>
            <a:xfrm>
              <a:off x="507181" y="4571850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Tipos de Análise</a:t>
              </a:r>
            </a:p>
          </p:txBody>
        </p:sp>
        <p:sp>
          <p:nvSpPr>
            <p:cNvPr id="129" name="Retângulo 128">
              <a:extLst>
                <a:ext uri="{FF2B5EF4-FFF2-40B4-BE49-F238E27FC236}">
                  <a16:creationId xmlns:a16="http://schemas.microsoft.com/office/drawing/2014/main" id="{FCE0C62F-4AB5-D651-615E-F9942C72BBF8}"/>
                </a:ext>
              </a:extLst>
            </p:cNvPr>
            <p:cNvSpPr/>
            <p:nvPr/>
          </p:nvSpPr>
          <p:spPr>
            <a:xfrm>
              <a:off x="498826" y="4257738"/>
              <a:ext cx="11194347" cy="936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0" name="Título 1">
              <a:extLst>
                <a:ext uri="{FF2B5EF4-FFF2-40B4-BE49-F238E27FC236}">
                  <a16:creationId xmlns:a16="http://schemas.microsoft.com/office/drawing/2014/main" id="{938CBA6C-6CA9-F1FF-5C88-0FA2BBED1BB2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4383477"/>
              <a:ext cx="2655617" cy="68452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Benchmark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Mercado embarcador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Market </a:t>
              </a:r>
              <a:r>
                <a:rPr lang="pt-BR" sz="1400" err="1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share</a:t>
              </a:r>
              <a:endParaRPr lang="pt-BR" sz="1400">
                <a:solidFill>
                  <a:schemeClr val="tx1"/>
                </a:solidFill>
                <a:highlight>
                  <a:srgbClr val="FFFF00"/>
                </a:highlight>
                <a:latin typeface="Segoe UI"/>
                <a:cs typeface="Segoe UI"/>
              </a:endParaRPr>
            </a:p>
          </p:txBody>
        </p:sp>
        <p:cxnSp>
          <p:nvCxnSpPr>
            <p:cNvPr id="131" name="Conector reto 130">
              <a:extLst>
                <a:ext uri="{FF2B5EF4-FFF2-40B4-BE49-F238E27FC236}">
                  <a16:creationId xmlns:a16="http://schemas.microsoft.com/office/drawing/2014/main" id="{9738A6A6-164A-0F28-44BE-7AE96ADEFD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4401738"/>
              <a:ext cx="0" cy="648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578D2376-B9CE-43DD-46E8-CE4E82899E5D}"/>
                </a:ext>
              </a:extLst>
            </p:cNvPr>
            <p:cNvSpPr txBox="1">
              <a:spLocks/>
            </p:cNvSpPr>
            <p:nvPr/>
          </p:nvSpPr>
          <p:spPr>
            <a:xfrm>
              <a:off x="6943615" y="4371026"/>
              <a:ext cx="2655617" cy="70942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Receita incremental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Análise de custo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Estratégia de Cenários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D840F306-2F77-5E9D-5C4C-BA30FDC595EC}"/>
              </a:ext>
            </a:extLst>
          </p:cNvPr>
          <p:cNvGrpSpPr/>
          <p:nvPr/>
        </p:nvGrpSpPr>
        <p:grpSpPr>
          <a:xfrm>
            <a:off x="498826" y="5328664"/>
            <a:ext cx="11194347" cy="936000"/>
            <a:chOff x="498826" y="5229003"/>
            <a:chExt cx="11194347" cy="936000"/>
          </a:xfrm>
        </p:grpSpPr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id="{5ED02A20-04EA-74BE-F91C-40B99D52B2EB}"/>
                </a:ext>
              </a:extLst>
            </p:cNvPr>
            <p:cNvSpPr txBox="1"/>
            <p:nvPr/>
          </p:nvSpPr>
          <p:spPr>
            <a:xfrm>
              <a:off x="507181" y="5543115"/>
              <a:ext cx="3233344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b="1">
                  <a:latin typeface="Segoe UI"/>
                  <a:cs typeface="Segoe UI"/>
                </a:rPr>
                <a:t>Equipe</a:t>
              </a:r>
            </a:p>
          </p:txBody>
        </p:sp>
        <p:sp>
          <p:nvSpPr>
            <p:cNvPr id="134" name="Retângulo 133">
              <a:extLst>
                <a:ext uri="{FF2B5EF4-FFF2-40B4-BE49-F238E27FC236}">
                  <a16:creationId xmlns:a16="http://schemas.microsoft.com/office/drawing/2014/main" id="{3AF8C607-F7B6-9169-A7B4-DAA8E08CD76B}"/>
                </a:ext>
              </a:extLst>
            </p:cNvPr>
            <p:cNvSpPr/>
            <p:nvPr/>
          </p:nvSpPr>
          <p:spPr>
            <a:xfrm>
              <a:off x="498826" y="5229003"/>
              <a:ext cx="11194347" cy="936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6" name="Título 1">
              <a:extLst>
                <a:ext uri="{FF2B5EF4-FFF2-40B4-BE49-F238E27FC236}">
                  <a16:creationId xmlns:a16="http://schemas.microsoft.com/office/drawing/2014/main" id="{C74A7296-9577-41AA-2A52-D09E2697109A}"/>
                </a:ext>
              </a:extLst>
            </p:cNvPr>
            <p:cNvSpPr txBox="1">
              <a:spLocks/>
            </p:cNvSpPr>
            <p:nvPr/>
          </p:nvSpPr>
          <p:spPr>
            <a:xfrm>
              <a:off x="4105882" y="5354742"/>
              <a:ext cx="2655617" cy="68452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Claudio Santos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José Eduardo Lima Mollo 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Adriano Bezerra de Siqueira</a:t>
              </a:r>
            </a:p>
          </p:txBody>
        </p:sp>
        <p:cxnSp>
          <p:nvCxnSpPr>
            <p:cNvPr id="137" name="Conector reto 136">
              <a:extLst>
                <a:ext uri="{FF2B5EF4-FFF2-40B4-BE49-F238E27FC236}">
                  <a16:creationId xmlns:a16="http://schemas.microsoft.com/office/drawing/2014/main" id="{7BF604B1-6490-A2C4-A0FF-9B861148C8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3765" y="5373003"/>
              <a:ext cx="0" cy="648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ítulo 1">
              <a:extLst>
                <a:ext uri="{FF2B5EF4-FFF2-40B4-BE49-F238E27FC236}">
                  <a16:creationId xmlns:a16="http://schemas.microsoft.com/office/drawing/2014/main" id="{6A2CC3BD-FFDB-B658-D007-6514B5DCB94E}"/>
                </a:ext>
              </a:extLst>
            </p:cNvPr>
            <p:cNvSpPr txBox="1">
              <a:spLocks/>
            </p:cNvSpPr>
            <p:nvPr/>
          </p:nvSpPr>
          <p:spPr>
            <a:xfrm>
              <a:off x="6943615" y="5342291"/>
              <a:ext cx="2655617" cy="70942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>
                  <a:solidFill>
                    <a:schemeClr val="accent1">
                      <a:lumMod val="50000"/>
                    </a:schemeClr>
                  </a:solidFill>
                  <a:latin typeface="Poppins"/>
                  <a:ea typeface="Poppins"/>
                  <a:cs typeface="+mj-cs"/>
                </a:defRPr>
              </a:lvl1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Alex </a:t>
              </a:r>
              <a:r>
                <a:rPr lang="pt-BR" sz="1400" err="1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Yuwan</a:t>
              </a: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 </a:t>
              </a:r>
              <a:r>
                <a:rPr lang="pt-BR" sz="1400" err="1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Tjong</a:t>
              </a:r>
              <a:endParaRPr lang="pt-BR" sz="1400">
                <a:solidFill>
                  <a:schemeClr val="tx1"/>
                </a:solidFill>
                <a:highlight>
                  <a:srgbClr val="FFFF00"/>
                </a:highlight>
                <a:latin typeface="Segoe UI"/>
                <a:cs typeface="Segoe UI"/>
              </a:endParaRP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Thaís </a:t>
              </a:r>
              <a:r>
                <a:rPr lang="pt-BR" sz="1400" err="1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Lucchiari</a:t>
              </a:r>
              <a:r>
                <a:rPr lang="pt-BR" sz="1400">
                  <a:solidFill>
                    <a:schemeClr val="tx1"/>
                  </a:solidFill>
                  <a:highlight>
                    <a:srgbClr val="FFFF00"/>
                  </a:highlight>
                  <a:latin typeface="Segoe UI"/>
                  <a:cs typeface="Segoe UI"/>
                </a:rPr>
                <a:t> de Queiroz</a:t>
              </a:r>
            </a:p>
          </p:txBody>
        </p:sp>
      </p:grp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660FD72-F02E-7D5F-2E8D-8F2E8BC511E3}"/>
              </a:ext>
            </a:extLst>
          </p:cNvPr>
          <p:cNvSpPr/>
          <p:nvPr/>
        </p:nvSpPr>
        <p:spPr>
          <a:xfrm>
            <a:off x="7615345" y="2263173"/>
            <a:ext cx="4080026" cy="1575134"/>
          </a:xfrm>
          <a:prstGeom prst="roundRect">
            <a:avLst>
              <a:gd name="adj" fmla="val 0"/>
            </a:avLst>
          </a:prstGeom>
          <a:solidFill>
            <a:srgbClr val="4466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solidFill>
                  <a:schemeClr val="bg1"/>
                </a:solidFill>
              </a:rPr>
              <a:t>Principais palavras-chaves que auxiliariam na busca por esse arquivo (de preferência as não presentes na apresentação). Sinta-se a vontade para inserir os tópicos que achar necessário. Esse slide deve ser incluído ao final de toda apresentação operacional, sempre oculto.</a:t>
            </a:r>
          </a:p>
        </p:txBody>
      </p:sp>
      <p:sp>
        <p:nvSpPr>
          <p:cNvPr id="4" name="Quadro 3">
            <a:extLst>
              <a:ext uri="{FF2B5EF4-FFF2-40B4-BE49-F238E27FC236}">
                <a16:creationId xmlns:a16="http://schemas.microsoft.com/office/drawing/2014/main" id="{BE886991-9009-BC60-FECA-799CAFAEB229}"/>
              </a:ext>
            </a:extLst>
          </p:cNvPr>
          <p:cNvSpPr/>
          <p:nvPr/>
        </p:nvSpPr>
        <p:spPr>
          <a:xfrm>
            <a:off x="9952864" y="112133"/>
            <a:ext cx="2140884" cy="411236"/>
          </a:xfrm>
          <a:prstGeom prst="frame">
            <a:avLst>
              <a:gd name="adj1" fmla="val 1423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4466A2"/>
                </a:solidFill>
              </a:rPr>
              <a:t>SLIDE OCULTO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90D3B88-FF3F-B474-392A-412F8F8C6019}"/>
              </a:ext>
            </a:extLst>
          </p:cNvPr>
          <p:cNvSpPr/>
          <p:nvPr/>
        </p:nvSpPr>
        <p:spPr>
          <a:xfrm>
            <a:off x="7160261" y="749755"/>
            <a:ext cx="3614360" cy="1056551"/>
          </a:xfrm>
          <a:prstGeom prst="roundRect">
            <a:avLst>
              <a:gd name="adj" fmla="val 0"/>
            </a:avLst>
          </a:prstGeom>
          <a:solidFill>
            <a:srgbClr val="4466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solidFill>
                  <a:schemeClr val="bg1"/>
                </a:solidFill>
              </a:rPr>
              <a:t>Somente para apresentações mais importantes do projeto.</a:t>
            </a:r>
            <a:endParaRPr lang="pt-BR" sz="1600" dirty="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01181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7037&quot;&gt;&lt;version val=&quot;3306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1&quot;&gt;&lt;elem m_fUsage=&quot;2.62900000000000000355E+00&quot;&gt;&lt;m_msothmcolidx val=&quot;0&quot;/&gt;&lt;m_rgb r=&quot;D9&quot; g=&quot;D9&quot; b=&quot;D9&quot;/&gt;&lt;/elem&gt;&lt;elem m_fUsage=&quot;1.46609999999999995879E+00&quot;&gt;&lt;m_msothmcolidx val=&quot;0&quot;/&gt;&lt;m_rgb r=&quot;0B&quot; g=&quot;53&quot; b=&quot;95&quot;/&gt;&lt;/elem&gt;&lt;elem m_fUsage=&quot;1.05631784749854906735E+00&quot;&gt;&lt;m_msothmcolidx val=&quot;0&quot;/&gt;&lt;m_rgb r=&quot;97&quot; g=&quot;F7&quot; b=&quot;DC&quot;/&gt;&lt;/elem&gt;&lt;elem m_fUsage=&quot;7.39494324881849962594E-01&quot;&gt;&lt;m_msothmcolidx val=&quot;0&quot;/&gt;&lt;m_rgb r=&quot;FF&quot; g=&quot;AE&quot; b=&quot;AE&quot;/&gt;&lt;/elem&gt;&lt;elem m_fUsage=&quot;6.33858247164298505005E-01&quot;&gt;&lt;m_msothmcolidx val=&quot;0&quot;/&gt;&lt;m_rgb r=&quot;F1&quot; g=&quot;8C&quot; b=&quot;7A&quot;/&gt;&lt;/elem&gt;&lt;elem m_fUsage=&quot;5.90490000000000181402E-01&quot;&gt;&lt;m_msothmcolidx val=&quot;0&quot;/&gt;&lt;m_rgb r=&quot;C8&quot; g=&quot;E3&quot; b=&quot;FB&quot;/&gt;&lt;/elem&gt;&lt;elem m_fUsage=&quot;5.31441000000000163261E-01&quot;&gt;&lt;m_msothmcolidx val=&quot;0&quot;/&gt;&lt;m_rgb r=&quot;59&quot; g=&quot;AA&quot; b=&quot;F2&quot;/&gt;&lt;/elem&gt;&lt;elem m_fUsage=&quot;4.97868558213840517457E-01&quot;&gt;&lt;m_msothmcolidx val=&quot;0&quot;/&gt;&lt;m_rgb r=&quot;1D&quot; g=&quot;69&quot; b=&quot;A7&quot;/&gt;&lt;/elem&gt;&lt;elem m_fUsage=&quot;4.78296900000000135833E-01&quot;&gt;&lt;m_msothmcolidx val=&quot;0&quot;/&gt;&lt;m_rgb r=&quot;91&quot; g=&quot;C6&quot; b=&quot;F7&quot;/&gt;&lt;/elem&gt;&lt;elem m_fUsage=&quot;4.30467210000000155556E-01&quot;&gt;&lt;m_msothmcolidx val=&quot;0&quot;/&gt;&lt;m_rgb r=&quot;AF&quot; g=&quot;10&quot; b=&quot;03&quot;/&gt;&lt;/elem&gt;&lt;elem m_fUsage=&quot;2.28767924549610118801E-01&quot;&gt;&lt;m_msothmcolidx val=&quot;0&quot;/&gt;&lt;m_rgb r=&quot;47&quot; g=&quot;E0&quot; b=&quot;E9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lmKJaFExH5Q9O8Vp8DN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daJ2U88pXm.Uivv2moc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PoJTRmKvwPvj1tLbC6j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G6W3QioyD9t77V9ejlC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9wUCl7WFJ3gwuzOK7KHw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8i.xXvXWHLAFopyn0zH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j.Dxv517Hv9dkM.b7Lq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T4I_9wkHaAmCnTTmOPz5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lkXwfGd..YzE.WDSK3i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d1IW7HRcrzd8flT2sLR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75rDTAQolwGQk3XscCw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4ZvofFhBz6px7RCg6oO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jMOHDOaVk233jKhhTai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bpPclL7oRpzkiEs92KF.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G.5yvPzuQVaj4jI9C1c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UeJWBfbuUSQVKK8KnMi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7AsHRVOZXJuQJMCo2wuI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9cpMUlM4xRqnsugA7.lf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Ghf8BttWIds0MnUFYz0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eW5E.ujRlLySXkBSABa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ZhmMyYa96B34cIR5__N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oUIhDICAPmW0GgNgsDD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ka1IXiQCrQAwXsNk8xT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mE4zYPvp4kKd9nroOHm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W9GGjPC3MycagwoXwTs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ZeFZzM.tM1QeV33RPAB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WVOoo0zfUo7XVqavj8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7uGK0OjcJVv.5IH_m7iF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6bPzi_h7VLkOdxpxvSB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DtnWgjDRgfPsalrbKuJ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P.SPmqpqB5.ODFQLcgV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u9i9wLlHFPXZ94fSmI.G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ZoywJ9zLyKW_vO8cEEG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D0U4e4w6Cn6q1.row9g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Bma3gm44VMfXZPHyzAju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OtNz5jizGzbzIKIy_RU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KA4hdgsS5H71dFo27B9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D99IbS.oQeMJwCOF8TgS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1OHyZk8yuLAhEKyxzPYD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DH2rutM6qcC_Vb3U2sb7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2G2aVCxHXFEivoFeNcvj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SoOrFx5TXXUlkOGKmN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HkkwIePZKg8cNQ.bue6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Drvg90YxYHcqjDHpUXMY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uIN7J2dv.Uapxnrlf4Vb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_U0SmYJp4TDFY7.toHD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aclqTezL8yc5f0hDxoe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o7sKKnIlDuvaGqC50lwo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HUvwfXPJXUZw9wxWSZG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eTgVag98ig.pVIcmyf_Q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pgxKFUVBukYZ0rigck3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RVdTDaZVqLh7Ko4YSXx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8yg6i6_LgN6H6_FnqHGq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9LLX3.7FfFoSd5.KdgY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_hPHzH7HrGFBwylg.QRT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OvdIi54lr.b0kQLFH_M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kYnXYFL6sVQVpOhJUXL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Gao3EL9vIWK051Q0B3m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1KR4KjEeD..uvms0fQug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DchRYq4SOOx_3JtGlicZ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tXZiYUoQBHzp8JEi8cYc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3JU8MP3yAxyyt9KaM0I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ceIeM.NgoUA9cAwEFluU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6vttFCGR5pJxqKcRgeyl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.KfO8OhpExqigLTFOnQ6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xE5Bs0VSeyvrZVtHCnbE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NY5cIG2tAde39Ikt8Hhs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5rfv5Altq98CH2T67TI4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S9QE8cWX1sy06HfuMrk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EPYXQURgARgJWtdyTiB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58kYMTTunq6zOcUpNDdT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e.VWxK4BeaeC9BfWgSl.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EOGMhmZJkshJojFCVCp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PXWzBBjtATNx9Hof6Jd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1_tlRrrlV5nm3dFkyPE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keohuO0djHMJGV8ZeEs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KZZbLlopnf.2A_Cw3Uc1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j6HoAnypqAVq26giNCK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Y4TQUseEcXdJmEmJ23P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0I98wqrNh0PVHmZPkLP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6s7QwEUsTidEaYhpS3G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4hJuT_pduSxQP33_0OU5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lRhvpt7QYBHfwgOkMei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6upVRYkiG8faHscYZt0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wFGhuYlxZhwHxg2.b.5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84tl4R8GhUAF1OiFdzNBQ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hcR9BetprGZtCXq7tBH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5zpcP5Ctr.sVqknK6oE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KUrhIRX4s0y9._N_hLE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X.1kjEHW5YzUj0j46Ck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aQIALiBOpYNwDQHKcJy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Mn.auwqLqaJ9aCp3GXd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5xBT42X2ItpDJDzLYPZ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aJ9lgqvInFRsOUQ.NrW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hjiVRjn8.JJBWchU0r3M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Zf_eD3F1ISDQNf0rTpW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5aNhhqh53aBLm7JJm8U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7z12tRvbwIGHyvCUJjk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Ej36nU8tg4vGuJqcTL0t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9PeHK4bwvtWPW3QFqo_z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hWn3fOucErVJJU0GmBkQ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DinVKc_6f9c7VAeJ1sA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PtEJL1f2goJj7OOEQD8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PMevefwV6kkdNKEvrN83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4vYJrQJ1id7ljG7xjm6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qEK3pxOpRUNMwsE4aMX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hX6TSI.SW6KSncNZFvQ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e5WpuKiky3PlObuJeIiK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9nt51RunLnRGu8b8lc1d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IovRVYY9bnyDyJWFgjX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vXWtciT2_7n2dgFnNln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4blRuXfiIE3JvPEuwEYQ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_dVQ3zntco5GYqxd9SSO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Bxcw8F3EyEiRmm_b7Wxv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BinCWVUwaMGoHPQXpYQ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qJsMD0kGZGXoGM1xAfQ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Rrsp8xXwvn2SrB7hd9T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RadwSotihAfAgkm2gM3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3ZXfY7tB.y2xTiTcjaTS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tp7lKjkgROWyLE.Urkf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kE7Kww9c34Ff_wEureQc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D3FLld28dD5kxCnRg_X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on6hQx4KjX7t55NBpkLK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1eXf.icpgiU8mI07y5S3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dpl.FwGV0rYMsmm17Xt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O5TpbC2wn9t4sPEJGdu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vtp9Lh.N6Zb3pujjtXVz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nsIguecCBh67SmTiJOz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ILAVCJd1Hms1tkSL4lHw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jqa73VAaPQYBbRsCEZ8g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7WK_GqbkZh7k6vviCci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wqZ7CoWXTmZrWEdUF.As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gnju00mnXwjdkCMzBWr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Uy7bi6RXcwx_K8t1p71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HcJXaKMlSWR8EfL1Dag7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GgEW_zjAGcHzej5gNQ4c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oQli5jK.xMULJVUEvT5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3wIEtGg.A0zQsFmfC6NQ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GyOF.8R23fTmY1492mN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9QaQ677Es6y86T12Anb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YBoay0wwg0anB5XiT7B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Ka3A0vYgJMkiqX.M6ils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5ljtGiwgml9v1nIpm2D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O3n_DcyJfYCAWPvCB1i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07RXyNmULILOgASwveq5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kXWzoUh8C_dNYmn941Mq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434QeSv_jCKAi34ZdOL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AN4n7Y0fv.0IfB1cS0z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9VWsZ7Line7tQUHGyIrN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tmbBZYvkXSNlLqOYGJQw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wpfx2UqNjM9pxxlFC3D.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Gk123lU9LtFYljFLADrp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HDdLZ4i1y0VmTy.JSS0A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Q3xvGX1_h6Hwj6W28BP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Q3xvGX1_h6Hwj6W28BP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3ZD42oaqJZNm8TyyOTa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FF77ezdxSMTzeSxE9ghmA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8KldPzIB4YqUAMZwTSD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gaLgEScwZZBu7nSkYsc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BmGHxObEXobH1dxghRmyA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kYVIKJTeoW1.fisrQWx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lbQqF1r9e2_1vUWaJUSQ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vS1nKYqPQz7lTudN9wj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bjoGcFNuXoEvZZE_ZOHQ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ZRqnPfz1OgEvcQM4ZjxN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qibuxPUr9vWZ_qg2Dr4A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V_k5A_rIskzt4b8ro4qw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Kms_at8uAj.ne86Q6ewg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dEY5R7IUVY1Uff2HA8v.Q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_U_O5IcnKHIpf2IZOZxw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XJClcRtXndxwVQiGwAfg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SzgniW60P7DK98_jZo3Tw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Wl36fUk4M3YoE.wkZO5w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7pUk3oVrs5bZtCzNXmB4Q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DsLCIvafIYMCQWX77G.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2t3lYUzT0E_d7kQDV8HWQ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0rdsikvCMcpLRCnyQFjw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5YLi48QGPtML0Kv8yxo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h6xuFP0cJEvrihOfj4yKw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KJH8o4gmYcfYeCXiaL7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0qCRe_KldUTE63Nw4zcw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2NpHmWsu1W10Z5CBrPIA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gnV0YnV57lVIj6bunxLQ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XvM2w1Py.LN25ZKC2mGw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Yog0Pme6gCpBpCQaKvDg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B_lNrAwninMNJtx9bU7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gXX9x5iNkGJAy7vU.COQ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7kqgoLMoZJnuvE1UxoKy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2yjj50KAUuCGlfPN9L5DA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IgWaFNYGncK9Nm6GQ_Fg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Hqh_36JoTAxv8bQxAddQ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wyn4fuxVr30ssAG6ET8w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FznMo4YiCSjCwXVdDppQ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1tNnxJWdcDmTM6eMopU9Q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D_f8.RvkcKLHCz6sL2YQ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rHrQjL9RV.EvQQ9RW.nA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M5NkCR3rV8xMCJpxB4Ag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LS.SxfeHJ4DrqtSj9yeA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G0kxLagVr1nqmpx_Ca7w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9K5nY7Qy5z9yt3JsxZVw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oAOkOKJ9ruozYIXqxY9g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2l1VW0ojnvain.BebDW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u0WgBowXBrvWoaI4wKRg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wpiXzLmVT5fJ1FLlFo.w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LEFT" val=" 143.875"/>
  <p:tag name="LTOP" val=" 208.75"/>
  <p:tag name="THINKCELLSHAPEDONOTDELETE" val="ppSSGvrfaf0yFOTbMNv2tOA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8bvg1Ej3EaV5NPNUe4ujA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aazc.wmKDyCwkvK0Efjg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KNmEhw4oK_QzDb1XAlz9Q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gnRctRRyUDUQzmjGCr_w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UKQNEdAhaUlMG4zvmn0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rO0j4Gwsk2b1xXAgan5g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cYwMVVDVJdrA01OJV_HQ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ajyrP_FXfmVqy82cfB_uA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8y0Xf.9Nj.pb__7OmgF9w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GVz4Kcueq8U12lhLAp7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VerZEpjXQWmlyoVEWyY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mXqdLT76CKuZKXsjBOug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MIEvsb1sicyjirPUgvew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W60RyP2sipcyZsTkdze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LkWOqHhfwX0YLDcelM3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K8e5MQP2J6rRxnAHycz2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6skNX.lJCWCKPgSZrom5A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kqCRAIV_GmRqO4lImR.1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tKMkPlD5l_S0fZHBsa8y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6TM6Kc4x9dmMMlNAfChw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9cI4oCgAOPPxLpBFyPmkw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7CT8CS1ZCj8Peu9ElHz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SKp2gMu56E79Fh3uC7jQ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KJ0amL2Me9V6s3BjtYUg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ZwLBnSg0ZQQ7m9pYPPfQ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xGdC8URlH4jHcGrEB9J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3YUvElQmxVl9Xw0.vpqg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3rnBZKw.N5j0AowY4hW2Q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HONa7KJpP0D8bH3TIhbCQ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BJcbf6BmNTQ28bT92mmw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KVXueYTisG_jltRDceuHA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4qB0vEqzQx5wKvkXLByg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NsWgIzurBVvNxcrzKWAA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Vs9neeX4oqyapEm86_t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SJHOrOU7_Na3RPDZg4FE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qMc_3ZCz0EbyHV8.25jg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XNINvWc_UagsTBlGWQfA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tmyvkXAwO4v0kz3KRe_Q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ufNAVZT8lYu1ZmoVIGuQ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XpsyOVpRlJHljINlfVwQ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qZyW5nH9Qk6CFMdcrPeyA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P2bK_z4r3CDrnIM7iQOA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2i3LFsIiTo4fIXmkxAlQ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7sS.Ok1DrZgqkxtts_oA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38zcQUqR30lvfObjQ4aw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7TgLGeSqDtJiZ6Of7L2Mg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KxP.u_RUi_vRmesWctmkg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Xx71bzUqQZmZMmGKnTmA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JVFCCcalX0RNlQx3ISfDg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SN44yd_Z.wbvV94LvDy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R3Zfa3iwE6TMgs5g6dMQ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Ikv200ATB1TQ4NFNQ7ww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XW1rxRTQVHYF9vYEu6DQ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yZfRHOrOi444NKKTBsxCA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kM7yxnfdZpUuqgDE3arYw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OphVOJs3gA6bHL9YeZ3Q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EQtmPnRvjeym38EcW4Dw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UAF4ZtlLKn22lTXV0sKw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kV2PkFdeWJnTMZOT8OMw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kEttkhk2t_o7enuuW1qg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6DmkmlQ_3MgB6FnKrSag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HHzZpxqffDmsxQOUAHPlA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IXDxrG.YsorbY0Kmk2lRA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DO0KA93quOF9UhFRIHww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.xJXVQBpIiUc91rlviw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6fMgt1y6QqdTnNJLda0Yw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tjLHheirFTCFhsu42t5g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W5l2JjtsrEu11tAxC7cfQ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mxaAJyX7Vlla2ExH8obg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OrRMsdOjDK58jsl8Bz7A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dOlRKA4uhWB74JUGGeSA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N5tdWHGzkZqguUg542CA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68Em16BZGFG9gLkbEz29A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NCEBHvHlRxIXWZ9HgdMw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qfBir3_Tf0oyklFwV9uhQ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TS2szpbfYtLug7FQ_Rlw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04uQflS52ZVFDzob8VTg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dqUYeWP96NLQ8DIgClNQ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fXxDYe6AMMlpADioB49A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McOSX5uinisogGcdQkhA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LW4.F3eFIOU.t0YHu.sQ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ywxeT7GgiUa8OmDDq6qw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lMqkrv1aF5MTAH2MgsBQ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dqUYeWP96NLQ8DIgClNQ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TQbgNw7qyRvU_g2.0Stg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LW4.F3eFIOU.t0YHu.sQ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fXxDYe6AMMlpADioB49A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McOSX5uinisogGcdQkhA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2IiYUSvyUsA6gYFYtyqg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lMqkrv1aF5MTAH2MgsBQ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ywxeT7GgiUa8OmDDq6qw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Q8SxY_eaX1L.fxOop2aA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pG2smlfGCpxX_50IJDYg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kdOHgLG5_mX47n246Xcw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UZ8icjRuRpF1QxcZ3v6w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MHOfLWQMMetFoQg6SbsA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zh.hp4Hil11CMaaX_wUw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KtVFKT_0sGUW4BRgA_rBw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rcSIBSAjFLo9C_4OxjsTw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cqkWTN8y8jdE5k4Kr5yA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MWfX6hsTHg.28rgC6Utg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gvZthcr8MUrbkI7ai5zw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UZ8icjRuRpF1QxcZ3v6w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MHOfLWQMMetFoQg6SbsA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zh.hp4Hil11CMaaX_wUw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KtVFKT_0sGUW4BRgA_rBw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rcSIBSAjFLo9C_4OxjsTw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cqkWTN8y8jdE5k4Kr5yA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MWfX6hsTHg.28rgC6Utg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gvZthcr8MUrbkI7ai5zw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hLCYzn4kp6kAyBX0cI1g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jsQkTR.YRo3HwlW1hPYg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ajFXpH2riCeJcqcNwnbA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q_wmRWBxxl4G7pQgrX8g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CzDlBidQapsc1ec.iluA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T1SUqBY1SWMt8O9TCu04w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zzH84gaaOy2SsMroMtZHw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fgmcrrjE1jAVaMmgmaZA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no67EpnW9NaLZI7aqAIw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Tm71cTPE2ygQZCeIsbwg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tH3T5a._em3D3tkPTGGw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xkd7wwOX8BtJIsBPs78w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x8yst8kBpgro6.kvyViA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fdEu0f1NwLvhq4eH7viA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8ThvyQUhE0W0QToqixDiA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3iCJcUP8oAxAe4titthQ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MXtT0aEqLAL_3zdeLsYg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aaiwalJhLoMAfm0cSyUA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5h7rgIcUXHKefgkeefrw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FbhSZj9pfmVbuvi0JOHA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pXGb0Vi6SO_KxUtYpOIg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dhf8EkDlmgiq.0hqjeIA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4et.G9izYPONSuxlDZDw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1kw6uQg4Ebq5TCHN5L13Q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.55LOVoo8hoxkKBCV0T7g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x3E5sP5eyeasykuyq8_Qw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r59eCpElb7mVgqZGKjmQ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nnQ8ZcT1DO.kwli7DxIg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hUvKP_nWUNywFOqybF6w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cL9tsxiEjyyaj92Wf1zQ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i3frkQ8e6nqKXu69gHGpg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1woTxDqKQcCLckPrDKig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zSa0C6XKF_hskFT3TzVA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1tp6q.TN9u1u3J_mNv3Q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aiqQrIYc93EDPHI1FW14g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3czYquevFaDpcq4PlxFw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FZzzqa0eCAxAigYKiPZSg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6tiEulrqZSAHfD6WYE_g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TWChSPb2DTKFw24SkVbog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6JD2gHQkD2esjeXSTPaw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ti4zx3ZyrxDn7BDJ70pQ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2sTlGoGJfRQn7OnpJRxw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SKVkjYnci0y1rzylZMlQ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2UIfRrHv3MBpo9ZscPVpA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Fu.JSMRxQuA1qp3ttTulA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My4xMks2AYiDfEJlyxLQ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QuMLyLSOPS4cRj2J2yvA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wn0QFZRmCey1vjXVHMvA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4v8KYUUHHIQQ_jWLMzPQ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T0Z_dkktTqbm4o6ioZHQ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xt16ZJSJHm3swMKQtLx0w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2JgZRvEG2RdVHNEPsdnlw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ZZWHNA.vA4Jky.XjBBlyg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C859lG2Cj9PtSjAcSm8jg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4xsbUn3eomGWDzfEbTIUQ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c6TtNqa6atBfcU1qajGA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spXWMHOdneCziQDZ16yg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XLMIPqcE2wrP8u3IVCIGw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kcNQ7fKvjnHQgTaGYd.gA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.S_LCNMfS0fcSrMWe0sg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.Lo2K9L_F8UEFfAjp0RQ"/>
</p:tagLst>
</file>

<file path=ppt/theme/theme1.xml><?xml version="1.0" encoding="utf-8"?>
<a:theme xmlns:a="http://schemas.openxmlformats.org/drawingml/2006/main" name="Office Them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583E0BC3149DA4698E1440208B6C518" ma:contentTypeVersion="14" ma:contentTypeDescription="Crie um novo documento." ma:contentTypeScope="" ma:versionID="c2cc376db73b66d21801106abc2c8680">
  <xsd:schema xmlns:xsd="http://www.w3.org/2001/XMLSchema" xmlns:xs="http://www.w3.org/2001/XMLSchema" xmlns:p="http://schemas.microsoft.com/office/2006/metadata/properties" xmlns:ns2="44a7523e-b0b3-4fa9-8239-4748bfaf40b1" xmlns:ns3="85046b4c-bf48-4d4f-ace6-aebc0b54b428" targetNamespace="http://schemas.microsoft.com/office/2006/metadata/properties" ma:root="true" ma:fieldsID="243afe8022136f5dd1a46e3bf2dc590f" ns2:_="" ns3:_="">
    <xsd:import namespace="44a7523e-b0b3-4fa9-8239-4748bfaf40b1"/>
    <xsd:import namespace="85046b4c-bf48-4d4f-ace6-aebc0b54b4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7523e-b0b3-4fa9-8239-4748bfaf40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Marcações de imagem" ma:readOnly="false" ma:fieldId="{5cf76f15-5ced-4ddc-b409-7134ff3c332f}" ma:taxonomyMulti="true" ma:sspId="fcbe2cfb-1e0d-40e7-be73-023ce3100c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046b4c-bf48-4d4f-ace6-aebc0b54b42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0cecdfdf-5b97-4b49-926b-b7308a1579e5}" ma:internalName="TaxCatchAll" ma:showField="CatchAllData" ma:web="85046b4c-bf48-4d4f-ace6-aebc0b54b4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5046b4c-bf48-4d4f-ace6-aebc0b54b428" xsi:nil="true"/>
    <lcf76f155ced4ddcb4097134ff3c332f xmlns="44a7523e-b0b3-4fa9-8239-4748bfaf40b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2C70BDF-F4A7-4A86-A2F2-74B482D660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3544B0-0D04-413B-8EF7-037C11BC966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4a7523e-b0b3-4fa9-8239-4748bfaf40b1"/>
    <ds:schemaRef ds:uri="85046b4c-bf48-4d4f-ace6-aebc0b54b428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F0AE07-FA2F-4946-8F32-D52520F0B528}">
  <ds:schemaRefs>
    <ds:schemaRef ds:uri="http://schemas.microsoft.com/office/2006/metadata/properties"/>
    <ds:schemaRef ds:uri="http://www.w3.org/2000/xmlns/"/>
    <ds:schemaRef ds:uri="85046b4c-bf48-4d4f-ace6-aebc0b54b428"/>
    <ds:schemaRef ds:uri="http://www.w3.org/2001/XMLSchema-instance"/>
    <ds:schemaRef ds:uri="44a7523e-b0b3-4fa9-8239-4748bfaf40b1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4743</Words>
  <Application>Microsoft Office PowerPoint</Application>
  <PresentationFormat>Widescreen</PresentationFormat>
  <Paragraphs>1287</Paragraphs>
  <Slides>59</Slides>
  <Notes>16</Notes>
  <HiddenSlides>1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59</vt:i4>
      </vt:variant>
    </vt:vector>
  </HeadingPairs>
  <TitlesOfParts>
    <vt:vector size="67" baseType="lpstr">
      <vt:lpstr>Arial</vt:lpstr>
      <vt:lpstr>Calibri</vt:lpstr>
      <vt:lpstr>Calibri Light</vt:lpstr>
      <vt:lpstr>Segoe UI</vt:lpstr>
      <vt:lpstr>Symbol</vt:lpstr>
      <vt:lpstr>Wingdings</vt:lpstr>
      <vt:lpstr>Office Theme</vt:lpstr>
      <vt:lpstr>Slide do think-cell</vt:lpstr>
      <vt:lpstr>Identidade visual</vt:lpstr>
      <vt:lpstr>Identidade visual</vt:lpstr>
      <vt:lpstr>Identidade visual</vt:lpstr>
      <vt:lpstr>Apresentação do PowerPoint</vt:lpstr>
      <vt:lpstr>Agenda</vt:lpstr>
      <vt:lpstr>Agenda</vt:lpstr>
      <vt:lpstr>Quem</vt:lpstr>
      <vt:lpstr>Quem Somos</vt:lpstr>
      <vt:lpstr>Nossa</vt:lpstr>
      <vt:lpstr>Nossa Cultura</vt:lpstr>
      <vt:lpstr>Segmentos</vt:lpstr>
      <vt:lpstr>Segmentos de Atuação</vt:lpstr>
      <vt:lpstr>Agenda</vt:lpstr>
      <vt:lpstr>Nossas</vt:lpstr>
      <vt:lpstr>Nossas Soluções</vt:lpstr>
      <vt:lpstr>Soluções em melhoria de performance</vt:lpstr>
      <vt:lpstr>Soluções em reestruturação operacional e financeira</vt:lpstr>
      <vt:lpstr>Agenda</vt:lpstr>
      <vt:lpstr>Otimização de Custos e Despesas</vt:lpstr>
      <vt:lpstr>Melhoria de </vt:lpstr>
      <vt:lpstr>Cases G&amp;A </vt:lpstr>
      <vt:lpstr>Apresentação do PowerPoint</vt:lpstr>
      <vt:lpstr>Slide para Otimização de Busca de Arquivos na Rede</vt:lpstr>
      <vt:lpstr>Apresentação do PowerPoint</vt:lpstr>
      <vt:lpstr>Agenda</vt:lpstr>
      <vt:lpstr>Agenda</vt:lpstr>
      <vt:lpstr>Layouts de Slides Quantitativos, Qualitativos e Integrados</vt:lpstr>
      <vt:lpstr>Slide Qualitativo</vt:lpstr>
      <vt:lpstr>Slide Qualitativo</vt:lpstr>
      <vt:lpstr>Slide Qualitativo</vt:lpstr>
      <vt:lpstr>Slide Qualitativo</vt:lpstr>
      <vt:lpstr>Slide Qualitativo</vt:lpstr>
      <vt:lpstr>Slide Qualitativo</vt:lpstr>
      <vt:lpstr>Slide Qualitativo</vt:lpstr>
      <vt:lpstr>Slide Qualitativo</vt:lpstr>
      <vt:lpstr>Slide Qualitativo</vt:lpstr>
      <vt:lpstr>Slide Qualitativo</vt:lpstr>
      <vt:lpstr>Slide Quantitativo </vt:lpstr>
      <vt:lpstr>Slide Quantitativo</vt:lpstr>
      <vt:lpstr>Slide Quantitativo</vt:lpstr>
      <vt:lpstr>Slide Qualitativo</vt:lpstr>
      <vt:lpstr>Layouts de Slides Quantitativos, Qualitativos e Integrados</vt:lpstr>
      <vt:lpstr>Slide Quantitativo</vt:lpstr>
      <vt:lpstr>Slide Quantitativo</vt:lpstr>
      <vt:lpstr>Slide Quantitativo</vt:lpstr>
      <vt:lpstr>Slide Quantitativo</vt:lpstr>
      <vt:lpstr>Slide Quantitativo</vt:lpstr>
      <vt:lpstr>Slide Quantitativo</vt:lpstr>
      <vt:lpstr>Slide Quantitativo</vt:lpstr>
      <vt:lpstr>Slide Quantitativo</vt:lpstr>
      <vt:lpstr>Slide Quantitativo</vt:lpstr>
      <vt:lpstr>Layouts de Slides Quantitativos, Qualitativos e Integrados</vt:lpstr>
      <vt:lpstr>Slide Integrado</vt:lpstr>
      <vt:lpstr>Slide Integrado</vt:lpstr>
      <vt:lpstr>Slide Integrado</vt:lpstr>
      <vt:lpstr>Slide Integrado</vt:lpstr>
      <vt:lpstr>Slide Integrado</vt:lpstr>
      <vt:lpstr>Apresentação do PowerPoint</vt:lpstr>
      <vt:lpstr>Slide para Otimização de Busca de Arquivos na Rede</vt:lpstr>
    </vt:vector>
  </TitlesOfParts>
  <Company>Azul Linhas Aéreas Brasileiras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Sugestões para inclusões/alterações no contrato</dc:title>
  <dc:creator>Priscilla Fernanda Martins</dc:creator>
  <cp:lastModifiedBy>Eduardo Mollo</cp:lastModifiedBy>
  <cp:revision>2</cp:revision>
  <dcterms:created xsi:type="dcterms:W3CDTF">2021-03-23T19:53:29Z</dcterms:created>
  <dcterms:modified xsi:type="dcterms:W3CDTF">2026-04-24T14:33:48Z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0x010100F583E0BC3149DA4698E1440208B6C518</vt:lpwstr>
  </property>
  <property fmtid="{D5CDD505-2E9C-101B-9397-08002B2CF9AE}" pid="3" name="MediaServiceImageTags">
    <vt:lpwstr/>
  </property>
</Properties>
</file>